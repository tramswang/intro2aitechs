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94" r:id="rId3"/>
    <p:sldId id="310" r:id="rId4"/>
    <p:sldId id="311" r:id="rId5"/>
    <p:sldId id="314" r:id="rId6"/>
    <p:sldId id="312" r:id="rId7"/>
    <p:sldId id="313" r:id="rId8"/>
    <p:sldId id="315" r:id="rId9"/>
    <p:sldId id="316" r:id="rId10"/>
    <p:sldId id="318" r:id="rId11"/>
    <p:sldId id="319" r:id="rId12"/>
    <p:sldId id="322" r:id="rId13"/>
    <p:sldId id="317" r:id="rId14"/>
    <p:sldId id="320" r:id="rId15"/>
    <p:sldId id="321" r:id="rId16"/>
    <p:sldId id="274" r:id="rId17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E5FF"/>
    <a:srgbClr val="69F0AE"/>
    <a:srgbClr val="FFE3B1"/>
    <a:srgbClr val="B388FF"/>
    <a:srgbClr val="061323"/>
    <a:srgbClr val="00E5FA"/>
    <a:srgbClr val="1E1E1E"/>
    <a:srgbClr val="5A5A5A"/>
    <a:srgbClr val="121212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3" autoAdjust="0"/>
    <p:restoredTop sz="75338" autoAdjust="0"/>
  </p:normalViewPr>
  <p:slideViewPr>
    <p:cSldViewPr snapToGrid="0" showGuides="1">
      <p:cViewPr varScale="1">
        <p:scale>
          <a:sx n="124" d="100"/>
          <a:sy n="124" d="100"/>
        </p:scale>
        <p:origin x="3738" y="108"/>
      </p:cViewPr>
      <p:guideLst>
        <p:guide orient="horz" pos="2257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/>
              <a:t>首先，大家要知道大模型是一种神经网络模型，目前主流的大模型都是基于一种叫做</a:t>
            </a:r>
            <a:r>
              <a:rPr lang="en-US" altLang="zh-CN"/>
              <a:t> Transformer </a:t>
            </a:r>
            <a:r>
              <a:rPr lang="zh-CN" altLang="en-US"/>
              <a:t>的特殊架构搭建的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/>
              <a:t>Transformer </a:t>
            </a:r>
            <a:r>
              <a:rPr lang="zh-CN" altLang="en-US"/>
              <a:t>架构的核心是一种叫做</a:t>
            </a:r>
            <a:r>
              <a:rPr lang="en-US" altLang="zh-CN"/>
              <a:t>“</a:t>
            </a:r>
            <a:r>
              <a:rPr lang="zh-CN" altLang="en-US"/>
              <a:t>注意力</a:t>
            </a:r>
            <a:r>
              <a:rPr lang="en-US" altLang="zh-CN"/>
              <a:t>”</a:t>
            </a:r>
            <a:r>
              <a:rPr lang="zh-CN" altLang="en-US"/>
              <a:t>的机制，它可以分析一段文本中，各个</a:t>
            </a:r>
            <a:r>
              <a:rPr lang="en-US" altLang="zh-CN"/>
              <a:t> token </a:t>
            </a:r>
            <a:r>
              <a:rPr lang="zh-CN" altLang="en-US"/>
              <a:t>之间的关联关系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/>
              <a:t>这个架构在</a:t>
            </a:r>
            <a:r>
              <a:rPr lang="en-US" altLang="zh-CN"/>
              <a:t> 2016</a:t>
            </a:r>
            <a:r>
              <a:rPr lang="zh-CN" altLang="en-US"/>
              <a:t>年的时候由微软研究院的科学家提出，《</a:t>
            </a:r>
            <a:r>
              <a:rPr lang="en-US" altLang="zh-CN"/>
              <a:t>Attention is All You Need</a:t>
            </a:r>
            <a:r>
              <a:rPr lang="zh-CN" altLang="en-US"/>
              <a:t>》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/>
              <a:t>Transformer </a:t>
            </a:r>
            <a:r>
              <a:rPr lang="zh-CN" altLang="en-US"/>
              <a:t>是一种全局的、并行计算的模型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/>
              <a:t>从实现注意力的这个结构可以看出，同一批计算被拆分为了好几个互相独立的部分。。。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/>
              <a:t>当数据输入进来之后，这个部分同时拿到数据，同时进行彼此互相独立的计算，最后输出的计算结果再进行合并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/>
              <a:t>在</a:t>
            </a:r>
            <a:r>
              <a:rPr lang="en-US" altLang="zh-CN"/>
              <a:t> Transformer </a:t>
            </a:r>
            <a:r>
              <a:rPr lang="zh-CN" altLang="en-US"/>
              <a:t>之前，也有一些其他的神经网络模型也能够处理文本，</a:t>
            </a:r>
            <a:r>
              <a:rPr lang="en-US" altLang="zh-CN"/>
              <a:t>RNN/LSTM </a:t>
            </a:r>
            <a:r>
              <a:rPr lang="zh-CN" altLang="en-US"/>
              <a:t>就是其中代表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/>
              <a:t>那么为什么现在是</a:t>
            </a:r>
            <a:r>
              <a:rPr lang="en-US" altLang="zh-CN"/>
              <a:t> Transformer </a:t>
            </a:r>
            <a:r>
              <a:rPr lang="zh-CN" altLang="en-US"/>
              <a:t>一统天下，而不是</a:t>
            </a:r>
            <a:r>
              <a:rPr lang="en-US" altLang="zh-CN"/>
              <a:t> RNN/LSTM </a:t>
            </a:r>
            <a:r>
              <a:rPr lang="zh-CN" altLang="en-US"/>
              <a:t>呢？</a:t>
            </a:r>
          </a:p>
          <a:p>
            <a:pPr indent="0">
              <a:buFont typeface="Arial" panose="020B0604020202020204" pitchFamily="34" charset="0"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transformer explainer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indent="0">
              <a:buFont typeface="Arial" panose="020B0604020202020204" pitchFamily="34" charset="0"/>
              <a:buNone/>
            </a:pPr>
            <a:r>
              <a:rPr lang="zh-CN" altLang="en-US" dirty="0"/>
              <a:t>注意力机制非常的有效，可以说是力大砖飞，但它的缺点也同样明显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/>
              <a:t>参数量受限所以上下文长度会受限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/>
              <a:t>大家可能觉得一百万字很长了，已经相当于一本《基督山伯爵》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/>
              <a:t>生产环境中一轮对话差不多要几十</a:t>
            </a:r>
            <a:r>
              <a:rPr lang="en-US" altLang="zh-CN"/>
              <a:t>K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刚才提到</a:t>
            </a:r>
            <a:r>
              <a:rPr lang="en-US" altLang="zh-CN" dirty="0"/>
              <a:t> Transformer </a:t>
            </a:r>
            <a:r>
              <a:rPr lang="zh-CN" altLang="en-US" dirty="0"/>
              <a:t>从提出到大模型真正商用经过了</a:t>
            </a:r>
            <a:r>
              <a:rPr lang="en-US" altLang="zh-CN" dirty="0"/>
              <a:t>7</a:t>
            </a:r>
            <a:r>
              <a:rPr lang="zh-CN" altLang="en-US" dirty="0"/>
              <a:t>年时间，这段时间里主要是在等什么呢？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/>
              <a:t>主要就是在等</a:t>
            </a:r>
            <a:r>
              <a:rPr lang="en-US" altLang="zh-CN" dirty="0"/>
              <a:t> GPU </a:t>
            </a:r>
            <a:r>
              <a:rPr lang="zh-CN" altLang="en-US" dirty="0"/>
              <a:t>提供的算力的提升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只有基于这些设备搭建的“算力中心”才能真正承载当前最先进的大模型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以前硬件设备计算能力不足是制约大模型发展的瓶颈。</a:t>
            </a:r>
          </a:p>
          <a:p>
            <a:endParaRPr lang="zh-CN" altLang="en-US"/>
          </a:p>
          <a:p>
            <a:r>
              <a:rPr lang="zh-CN" altLang="en-US"/>
              <a:t>现在，支撑这些硬件进行计算的能源开始逐渐变为了新的发展瓶颈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为了减少大模型的计算量，科学家发明了一项</a:t>
            </a:r>
            <a:r>
              <a:rPr lang="en-US" altLang="zh-CN"/>
              <a:t>“</a:t>
            </a:r>
            <a:r>
              <a:rPr lang="zh-CN" altLang="en-US"/>
              <a:t>提示缓存</a:t>
            </a:r>
            <a:r>
              <a:rPr lang="en-US" altLang="zh-CN"/>
              <a:t>”</a:t>
            </a:r>
            <a:r>
              <a:rPr lang="zh-CN" altLang="en-US"/>
              <a:t>技术</a:t>
            </a:r>
          </a:p>
          <a:p>
            <a:endParaRPr lang="zh-CN" alt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/>
              <a:t>与前文</a:t>
            </a:r>
            <a:r>
              <a:rPr lang="en-US" altLang="zh-CN"/>
              <a:t> token </a:t>
            </a:r>
            <a:r>
              <a:rPr lang="zh-CN" altLang="en-US"/>
              <a:t>的一部分信息有关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/>
              <a:t>我们说</a:t>
            </a:r>
            <a:r>
              <a:rPr lang="en-US" altLang="zh-CN"/>
              <a:t>LLM</a:t>
            </a:r>
            <a:r>
              <a:rPr lang="zh-CN" altLang="en-US"/>
              <a:t>从表现上模拟了人类思考和说话的过程，但本质上是否一致还存在争议，并且可以预见，这种争议还会存在很久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indent="0">
              <a:buFont typeface="Arial" panose="020B0604020202020204" pitchFamily="34" charset="0"/>
              <a:buNone/>
            </a:pPr>
            <a:r>
              <a:rPr lang="zh-CN" altLang="en-US" dirty="0"/>
              <a:t>所以在选择模型的时候，我们首先要考虑的是模型的大小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zh-CN" alt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/>
              <a:t>这里所说的大模型和</a:t>
            </a:r>
            <a:r>
              <a:rPr lang="en-US" altLang="zh-CN" dirty="0"/>
              <a:t>“</a:t>
            </a:r>
            <a:r>
              <a:rPr lang="zh-CN" altLang="en-US" dirty="0"/>
              <a:t>小模型</a:t>
            </a:r>
            <a:r>
              <a:rPr lang="en-US" altLang="zh-CN" dirty="0"/>
              <a:t>”</a:t>
            </a:r>
            <a:r>
              <a:rPr lang="zh-CN" altLang="en-US" dirty="0"/>
              <a:t>其实都是广义的大模型本体，</a:t>
            </a:r>
            <a:r>
              <a:rPr lang="en-US" altLang="zh-CN" dirty="0"/>
              <a:t>“</a:t>
            </a:r>
            <a:r>
              <a:rPr lang="zh-CN" altLang="en-US" dirty="0"/>
              <a:t>小模型</a:t>
            </a:r>
            <a:r>
              <a:rPr lang="en-US" altLang="zh-CN" dirty="0"/>
              <a:t>”</a:t>
            </a:r>
            <a:r>
              <a:rPr lang="zh-CN" altLang="en-US" dirty="0"/>
              <a:t>专门指参数量小一些的模型，比如</a:t>
            </a:r>
            <a:r>
              <a:rPr lang="en-US" altLang="zh-CN" dirty="0"/>
              <a:t> DeepSeek V4 Pro </a:t>
            </a:r>
            <a:r>
              <a:rPr lang="zh-CN" altLang="en-US" dirty="0"/>
              <a:t>的参数量大约在</a:t>
            </a:r>
            <a:r>
              <a:rPr lang="en-US" altLang="zh-CN" dirty="0"/>
              <a:t>2.5</a:t>
            </a:r>
            <a:r>
              <a:rPr lang="zh-CN" altLang="en-US" dirty="0"/>
              <a:t>万亿，</a:t>
            </a:r>
            <a:r>
              <a:rPr lang="en-US" altLang="zh-CN" dirty="0"/>
              <a:t>Qwen 3 </a:t>
            </a:r>
            <a:r>
              <a:rPr lang="zh-CN" altLang="en-US" dirty="0"/>
              <a:t>的部分公开小模型参数量只有</a:t>
            </a:r>
            <a:r>
              <a:rPr lang="en-US" altLang="zh-CN" dirty="0"/>
              <a:t> </a:t>
            </a:r>
            <a:r>
              <a:rPr lang="zh-CN" altLang="en-US" dirty="0"/>
              <a:t>几十亿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zh-CN" alt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/>
              <a:t>数据格式转换、标记：小模型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/>
              <a:t>任务理解、规划、分析：大模型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/>
              <a:t>大家在使用大模型服务的时候一定要合理选择适当大小的模型。</a:t>
            </a: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- </a:t>
            </a:r>
            <a:r>
              <a:rPr lang="zh-CN" altLang="en-US" dirty="0"/>
              <a:t>比如：我们在使用 </a:t>
            </a:r>
            <a:r>
              <a:rPr lang="en-US" altLang="zh-CN" dirty="0" err="1"/>
              <a:t>CodeX</a:t>
            </a:r>
            <a:r>
              <a:rPr lang="en-US" altLang="zh-CN" dirty="0"/>
              <a:t> </a:t>
            </a:r>
            <a:r>
              <a:rPr lang="zh-CN" altLang="en-US" dirty="0"/>
              <a:t>的时候，就会建议大家不要使用最新的 </a:t>
            </a:r>
            <a:r>
              <a:rPr lang="en-US" altLang="zh-CN" dirty="0"/>
              <a:t>GPT 6</a:t>
            </a:r>
            <a:r>
              <a:rPr lang="zh-CN" altLang="en-US" dirty="0"/>
              <a:t>，因为我们平常很多任务用它都是“杀鸡用牛刀”，进行了很多不必要的运算，过 于浪费 </a:t>
            </a:r>
            <a:r>
              <a:rPr lang="en-US" altLang="zh-CN" dirty="0"/>
              <a:t>token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/>
              <a:t>当前的主流模型都是用的这一套相同的技术底座，为什么最终展现的技能各有侧重，实力也有强弱之分？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2"/>
          <p:cNvSpPr/>
          <p:nvPr userDrawn="1"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pattFill prst="lgGrid">
            <a:fgClr>
              <a:srgbClr val="FFFFFF">
                <a:alpha val="5098"/>
              </a:srgbClr>
            </a:fgClr>
            <a:bgClr>
              <a:srgbClr val="121212">
                <a:alpha val="0"/>
              </a:srgbClr>
            </a:bgClr>
          </a:pattFill>
          <a:ln cap="flat" cmpd="sng">
            <a:solidFill>
              <a:srgbClr val="FFFFFF">
                <a:alpha val="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5"/>
          <p:cNvSpPr/>
          <p:nvPr userDrawn="1"/>
        </p:nvSpPr>
        <p:spPr>
          <a:xfrm>
            <a:off x="2286000" y="1524000"/>
            <a:ext cx="7620000" cy="4064000"/>
          </a:xfrm>
          <a:prstGeom prst="ellipse">
            <a:avLst/>
          </a:prstGeom>
          <a:gradFill rotWithShape="1">
            <a:gsLst>
              <a:gs pos="0">
                <a:srgbClr val="FFFFFF">
                  <a:alpha val="9000"/>
                </a:srgbClr>
              </a:gs>
              <a:gs pos="35000">
                <a:srgbClr val="FFFFFF">
                  <a:alpha val="3000"/>
                </a:srgbClr>
              </a:gs>
              <a:gs pos="65000">
                <a:srgbClr val="12121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E6CFCF">
                    <a:alpha val="9000"/>
                  </a:srgbClr>
                </a:gs>
                <a:gs pos="35000">
                  <a:srgbClr val="E6CFCF">
                    <a:alpha val="3000"/>
                  </a:srgbClr>
                </a:gs>
                <a:gs pos="65000">
                  <a:srgbClr val="00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3"/>
          <p:cNvSpPr/>
          <p:nvPr userDrawn="1"/>
        </p:nvSpPr>
        <p:spPr>
          <a:xfrm>
            <a:off x="-2032000" y="-2032000"/>
            <a:ext cx="5588000" cy="5588000"/>
          </a:xfrm>
          <a:prstGeom prst="ellipse">
            <a:avLst/>
          </a:prstGeom>
          <a:gradFill rotWithShape="1">
            <a:gsLst>
              <a:gs pos="0">
                <a:srgbClr val="00E5FF">
                  <a:alpha val="20000"/>
                </a:srgbClr>
              </a:gs>
              <a:gs pos="30000">
                <a:srgbClr val="00E5FF">
                  <a:alpha val="8000"/>
                </a:srgbClr>
              </a:gs>
              <a:gs pos="65000">
                <a:srgbClr val="12121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00CEE6">
                    <a:alpha val="20000"/>
                  </a:srgbClr>
                </a:gs>
                <a:gs pos="30000">
                  <a:srgbClr val="00CEE6">
                    <a:alpha val="8000"/>
                  </a:srgbClr>
                </a:gs>
                <a:gs pos="65000">
                  <a:srgbClr val="00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4"/>
          <p:cNvSpPr/>
          <p:nvPr userDrawn="1"/>
        </p:nvSpPr>
        <p:spPr>
          <a:xfrm>
            <a:off x="8636000" y="3556000"/>
            <a:ext cx="5588000" cy="5588000"/>
          </a:xfrm>
          <a:prstGeom prst="ellipse">
            <a:avLst/>
          </a:prstGeom>
          <a:gradFill rotWithShape="1">
            <a:gsLst>
              <a:gs pos="0">
                <a:srgbClr val="B388FF">
                  <a:alpha val="20000"/>
                </a:srgbClr>
              </a:gs>
              <a:gs pos="30000">
                <a:srgbClr val="B388FF">
                  <a:alpha val="8000"/>
                </a:srgbClr>
              </a:gs>
              <a:gs pos="65000">
                <a:srgbClr val="12121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9263E6">
                    <a:alpha val="20000"/>
                  </a:srgbClr>
                </a:gs>
                <a:gs pos="30000">
                  <a:srgbClr val="9263E6">
                    <a:alpha val="8000"/>
                  </a:srgbClr>
                </a:gs>
                <a:gs pos="65000">
                  <a:srgbClr val="00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6"/>
          <p:cNvSpPr/>
          <p:nvPr userDrawn="1"/>
        </p:nvSpPr>
        <p:spPr>
          <a:xfrm>
            <a:off x="1016000" y="2159000"/>
            <a:ext cx="76200" cy="177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E5FF">
                  <a:alpha val="0"/>
                </a:srgbClr>
              </a:gs>
              <a:gs pos="50000">
                <a:srgbClr val="00E5FF">
                  <a:alpha val="55000"/>
                </a:srgbClr>
              </a:gs>
              <a:gs pos="100000">
                <a:srgbClr val="00E5FF">
                  <a:alpha val="0"/>
                </a:srgbClr>
              </a:gs>
            </a:gsLst>
            <a:lin ang="5400000"/>
          </a:gradFill>
          <a:ln cap="flat" cmpd="sng">
            <a:gradFill rotWithShape="1">
              <a:gsLst>
                <a:gs pos="0">
                  <a:srgbClr val="00CEE6">
                    <a:alpha val="0"/>
                  </a:srgbClr>
                </a:gs>
                <a:gs pos="50000">
                  <a:srgbClr val="00CEE6">
                    <a:alpha val="55000"/>
                  </a:srgbClr>
                </a:gs>
                <a:gs pos="100000">
                  <a:srgbClr val="00CEE6">
                    <a:alpha val="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7"/>
          <p:cNvSpPr/>
          <p:nvPr userDrawn="1"/>
        </p:nvSpPr>
        <p:spPr>
          <a:xfrm>
            <a:off x="11099800" y="2159000"/>
            <a:ext cx="76200" cy="177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B388FF">
                  <a:alpha val="0"/>
                </a:srgbClr>
              </a:gs>
              <a:gs pos="50000">
                <a:srgbClr val="B388FF">
                  <a:alpha val="55000"/>
                </a:srgbClr>
              </a:gs>
              <a:gs pos="100000">
                <a:srgbClr val="B388FF">
                  <a:alpha val="0"/>
                </a:srgbClr>
              </a:gs>
            </a:gsLst>
            <a:lin ang="5400000"/>
          </a:gradFill>
          <a:ln cap="flat" cmpd="sng">
            <a:gradFill rotWithShape="1">
              <a:gsLst>
                <a:gs pos="0">
                  <a:srgbClr val="9263E6">
                    <a:alpha val="0"/>
                  </a:srgbClr>
                </a:gs>
                <a:gs pos="50000">
                  <a:srgbClr val="9263E6">
                    <a:alpha val="55000"/>
                  </a:srgbClr>
                </a:gs>
                <a:gs pos="100000">
                  <a:srgbClr val="9263E6">
                    <a:alpha val="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0"/>
          <p:cNvSpPr/>
          <p:nvPr userDrawn="1"/>
        </p:nvSpPr>
        <p:spPr>
          <a:xfrm>
            <a:off x="2921000" y="5207000"/>
            <a:ext cx="6350000" cy="127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E5FF">
                  <a:alpha val="0"/>
                </a:srgbClr>
              </a:gs>
              <a:gs pos="28000">
                <a:srgbClr val="00E5FF">
                  <a:alpha val="55000"/>
                </a:srgbClr>
              </a:gs>
              <a:gs pos="72000">
                <a:srgbClr val="B388FF">
                  <a:alpha val="55000"/>
                </a:srgbClr>
              </a:gs>
              <a:gs pos="100000">
                <a:srgbClr val="B388FF">
                  <a:alpha val="0"/>
                </a:srgbClr>
              </a:gs>
            </a:gsLst>
            <a:lin ang="0"/>
          </a:gradFill>
          <a:ln cap="flat" cmpd="sng">
            <a:gradFill rotWithShape="1">
              <a:gsLst>
                <a:gs pos="0">
                  <a:srgbClr val="00CEE6">
                    <a:alpha val="0"/>
                  </a:srgbClr>
                </a:gs>
                <a:gs pos="28000">
                  <a:srgbClr val="00CEE6">
                    <a:alpha val="55000"/>
                  </a:srgbClr>
                </a:gs>
                <a:gs pos="72000">
                  <a:srgbClr val="9263E6">
                    <a:alpha val="55000"/>
                  </a:srgbClr>
                </a:gs>
                <a:gs pos="100000">
                  <a:srgbClr val="9263E6">
                    <a:alpha val="0"/>
                  </a:srgbClr>
                </a:gs>
              </a:gsLst>
              <a:lin ang="0"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9" name="Connector 12"/>
          <p:cNvCxnSpPr/>
          <p:nvPr userDrawn="1"/>
        </p:nvCxnSpPr>
        <p:spPr>
          <a:xfrm rot="5256843">
            <a:off x="5943600" y="5810382"/>
            <a:ext cx="30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762000" y="1433195"/>
            <a:ext cx="10668000" cy="2325370"/>
          </a:xfrm>
        </p:spPr>
        <p:txBody>
          <a:bodyPr anchor="b">
            <a:normAutofit/>
          </a:bodyPr>
          <a:lstStyle>
            <a:lvl1pPr marL="0" marR="0" lvl="0" algn="ctr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lvl1pPr>
          </a:lstStyle>
          <a:p>
            <a:r>
              <a:rPr lang="zh-CN" altLang="en-US" dirty="0"/>
              <a:t>单击此处添加标题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762000" y="4012565"/>
            <a:ext cx="10668000" cy="175387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>
                    <a:lumMod val="7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</a:p>
        </p:txBody>
      </p:sp>
      <p:sp>
        <p:nvSpPr>
          <p:cNvPr id="21" name="文本占位符 20"/>
          <p:cNvSpPr>
            <a:spLocks noGrp="1"/>
          </p:cNvSpPr>
          <p:nvPr>
            <p:ph type="body" idx="13" hasCustomPrompt="1"/>
          </p:nvPr>
        </p:nvSpPr>
        <p:spPr>
          <a:xfrm>
            <a:off x="757555" y="5588000"/>
            <a:ext cx="4831080" cy="431800"/>
          </a:xfrm>
        </p:spPr>
        <p:txBody>
          <a:bodyPr/>
          <a:lstStyle>
            <a:lvl1pPr indent="0">
              <a:buNone/>
              <a:defRPr sz="2000"/>
            </a:lvl1pPr>
          </a:lstStyle>
          <a:p>
            <a:pPr marL="0" indent="0" algn="l">
              <a:lnSpc>
                <a:spcPct val="100000"/>
              </a:lnSpc>
              <a:defRPr/>
            </a:pPr>
            <a:r>
              <a:rPr lang="en-US" spc="300">
                <a:solidFill>
                  <a:srgbClr val="BEBE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【授课人】</a:t>
            </a:r>
            <a:endParaRPr lang="zh-CN" altLang="en-US"/>
          </a:p>
        </p:txBody>
      </p:sp>
      <p:sp>
        <p:nvSpPr>
          <p:cNvPr id="24" name="文本占位符 23"/>
          <p:cNvSpPr>
            <a:spLocks noGrp="1"/>
          </p:cNvSpPr>
          <p:nvPr>
            <p:ph type="body" idx="16" hasCustomPrompt="1"/>
          </p:nvPr>
        </p:nvSpPr>
        <p:spPr>
          <a:xfrm>
            <a:off x="6604000" y="5588000"/>
            <a:ext cx="4830445" cy="431800"/>
          </a:xfrm>
        </p:spPr>
        <p:txBody>
          <a:bodyPr/>
          <a:lstStyle>
            <a:lvl1pPr marL="0" indent="0" algn="r">
              <a:buNone/>
              <a:defRPr kumimoji="0" lang="zh-CN" altLang="en-US" sz="2000" b="0" i="0" u="none" strike="noStrike" kern="1200" cap="none" spc="300" normalizeH="0" baseline="0" noProof="1">
                <a:solidFill>
                  <a:srgbClr val="BEBEBE"/>
                </a:solidFill>
                <a:latin typeface="Noto Sans SC" panose="020B0200000000000000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defRPr>
            </a:lvl1pPr>
            <a:lvl5pPr algn="ctr">
              <a:defRPr/>
            </a:lvl5pPr>
          </a:lstStyle>
          <a:p>
            <a:pPr lvl="0"/>
            <a:r>
              <a:rPr lang="zh-CN" altLang="en-US"/>
              <a:t>【日期】</a:t>
            </a:r>
          </a:p>
          <a:p>
            <a:pPr lvl="0"/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3"/>
          <p:cNvSpPr/>
          <p:nvPr userDrawn="1"/>
        </p:nvSpPr>
        <p:spPr>
          <a:xfrm>
            <a:off x="9144000" y="4572000"/>
            <a:ext cx="4572000" cy="4572000"/>
          </a:xfrm>
          <a:prstGeom prst="ellipse">
            <a:avLst/>
          </a:prstGeom>
          <a:gradFill rotWithShape="1">
            <a:gsLst>
              <a:gs pos="0">
                <a:srgbClr val="00E5FF">
                  <a:alpha val="6000"/>
                </a:srgbClr>
              </a:gs>
              <a:gs pos="70000">
                <a:srgbClr val="00E5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2"/>
          <p:cNvSpPr/>
          <p:nvPr userDrawn="1"/>
        </p:nvSpPr>
        <p:spPr>
          <a:xfrm>
            <a:off x="-2032000" y="-2032000"/>
            <a:ext cx="4826000" cy="4826000"/>
          </a:xfrm>
          <a:prstGeom prst="ellipse">
            <a:avLst/>
          </a:prstGeom>
          <a:gradFill rotWithShape="1">
            <a:gsLst>
              <a:gs pos="0">
                <a:srgbClr val="00E5FF">
                  <a:alpha val="10000"/>
                </a:srgbClr>
              </a:gs>
              <a:gs pos="70000">
                <a:srgbClr val="00E5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2000" y="609600"/>
            <a:ext cx="10401300" cy="660400"/>
          </a:xfrm>
        </p:spPr>
        <p:txBody>
          <a:bodyPr anchor="ctr" anchorCtr="0">
            <a:normAutofit/>
          </a:bodyPr>
          <a:lstStyle>
            <a:lvl1pPr>
              <a:defRPr kumimoji="0" lang="en-US" sz="3600" b="1" i="0" u="none" strike="noStrike" kern="0" cap="none" spc="200" normalizeH="0" baseline="0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2000" y="1825625"/>
            <a:ext cx="10401300" cy="4351655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buClr>
                <a:srgbClr val="00E5FA"/>
              </a:buClr>
              <a:defRPr sz="2000">
                <a:solidFill>
                  <a:schemeClr val="bg1"/>
                </a:solidFill>
              </a:defRPr>
            </a:lvl1pPr>
            <a:lvl2pPr>
              <a:lnSpc>
                <a:spcPct val="150000"/>
              </a:lnSpc>
              <a:buClr>
                <a:srgbClr val="00E5FA"/>
              </a:buClr>
              <a:defRPr sz="1800">
                <a:solidFill>
                  <a:schemeClr val="bg1"/>
                </a:solidFill>
              </a:defRPr>
            </a:lvl2pPr>
            <a:lvl3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3pPr>
            <a:lvl4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4pPr>
            <a:lvl5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4201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760FBDFE-C587-4B4C-A407-44438C67B59E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90525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62000" y="6356350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en-US" altLang="zh-CN"/>
          </a:p>
        </p:txBody>
      </p:sp>
      <p:sp>
        <p:nvSpPr>
          <p:cNvPr id="8" name="AutoShape 5"/>
          <p:cNvSpPr/>
          <p:nvPr userDrawn="1"/>
        </p:nvSpPr>
        <p:spPr>
          <a:xfrm>
            <a:off x="762000" y="1422400"/>
            <a:ext cx="914400" cy="508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6" name="Connector 16"/>
          <p:cNvCxnSpPr/>
          <p:nvPr userDrawn="1"/>
        </p:nvCxnSpPr>
        <p:spPr>
          <a:xfrm rot="-4092">
            <a:off x="762004" y="6216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3"/>
          <p:cNvSpPr/>
          <p:nvPr userDrawn="1"/>
        </p:nvSpPr>
        <p:spPr>
          <a:xfrm>
            <a:off x="9144000" y="4572000"/>
            <a:ext cx="4572000" cy="4572000"/>
          </a:xfrm>
          <a:prstGeom prst="ellipse">
            <a:avLst/>
          </a:prstGeom>
          <a:gradFill rotWithShape="1">
            <a:gsLst>
              <a:gs pos="0">
                <a:srgbClr val="00E5FF">
                  <a:alpha val="6000"/>
                </a:srgbClr>
              </a:gs>
              <a:gs pos="70000">
                <a:srgbClr val="00E5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2"/>
          <p:cNvSpPr/>
          <p:nvPr userDrawn="1"/>
        </p:nvSpPr>
        <p:spPr>
          <a:xfrm>
            <a:off x="-2032000" y="-2032000"/>
            <a:ext cx="4826000" cy="4826000"/>
          </a:xfrm>
          <a:prstGeom prst="ellipse">
            <a:avLst/>
          </a:prstGeom>
          <a:gradFill rotWithShape="1">
            <a:gsLst>
              <a:gs pos="0">
                <a:srgbClr val="00E5FF">
                  <a:alpha val="10000"/>
                </a:srgbClr>
              </a:gs>
              <a:gs pos="70000">
                <a:srgbClr val="00E5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2000" y="609600"/>
            <a:ext cx="10401300" cy="660400"/>
          </a:xfrm>
        </p:spPr>
        <p:txBody>
          <a:bodyPr anchor="ctr" anchorCtr="0">
            <a:normAutofit/>
          </a:bodyPr>
          <a:lstStyle>
            <a:lvl1pPr>
              <a:defRPr kumimoji="0" lang="en-US" sz="3600" b="1" i="0" u="none" strike="noStrike" kern="0" cap="none" spc="200" normalizeH="0" baseline="0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2000" y="3298825"/>
            <a:ext cx="10401300" cy="2878455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buClr>
                <a:srgbClr val="00E5FA"/>
              </a:buClr>
              <a:defRPr sz="2000">
                <a:solidFill>
                  <a:schemeClr val="bg1"/>
                </a:solidFill>
              </a:defRPr>
            </a:lvl1pPr>
            <a:lvl2pPr>
              <a:lnSpc>
                <a:spcPct val="150000"/>
              </a:lnSpc>
              <a:buClr>
                <a:srgbClr val="00E5FA"/>
              </a:buClr>
              <a:defRPr sz="1800">
                <a:solidFill>
                  <a:schemeClr val="bg1"/>
                </a:solidFill>
              </a:defRPr>
            </a:lvl2pPr>
            <a:lvl3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3pPr>
            <a:lvl4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4pPr>
            <a:lvl5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4201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760FBDFE-C587-4B4C-A407-44438C67B59E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90525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62000" y="6356350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en-US" altLang="zh-CN"/>
          </a:p>
        </p:txBody>
      </p:sp>
      <p:sp>
        <p:nvSpPr>
          <p:cNvPr id="8" name="AutoShape 5"/>
          <p:cNvSpPr/>
          <p:nvPr userDrawn="1"/>
        </p:nvSpPr>
        <p:spPr>
          <a:xfrm>
            <a:off x="762000" y="1422400"/>
            <a:ext cx="914400" cy="508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6" name="Connector 16"/>
          <p:cNvCxnSpPr/>
          <p:nvPr userDrawn="1"/>
        </p:nvCxnSpPr>
        <p:spPr>
          <a:xfrm rot="-4092">
            <a:off x="762004" y="6216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 userDrawn="1"/>
        </p:nvSpPr>
        <p:spPr>
          <a:xfrm>
            <a:off x="762000" y="1676400"/>
            <a:ext cx="10401300" cy="1422400"/>
          </a:xfrm>
          <a:prstGeom prst="snip2DiagRect">
            <a:avLst/>
          </a:prstGeom>
          <a:solidFill>
            <a:srgbClr val="00E5FF">
              <a:alpha val="15000"/>
            </a:srgbClr>
          </a:solidFill>
          <a:ln w="12700" cap="flat" cmpd="sng">
            <a:solidFill>
              <a:srgbClr val="00E5FF">
                <a:alpha val="100000"/>
              </a:srgbClr>
            </a:solidFill>
            <a:prstDash val="solid"/>
            <a:round/>
          </a:ln>
          <a:effectLst>
            <a:outerShdw blurRad="304800" dir="5400000" algn="ctr" rotWithShape="0">
              <a:srgbClr val="00E5FF">
                <a:alpha val="3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内容占位符 8"/>
          <p:cNvSpPr>
            <a:spLocks noGrp="1"/>
          </p:cNvSpPr>
          <p:nvPr>
            <p:ph idx="13" hasCustomPrompt="1"/>
          </p:nvPr>
        </p:nvSpPr>
        <p:spPr>
          <a:xfrm>
            <a:off x="762000" y="1678305"/>
            <a:ext cx="10401300" cy="1421130"/>
          </a:xfrm>
        </p:spPr>
        <p:txBody>
          <a:bodyPr anchor="ctr" anchorCtr="0"/>
          <a:lstStyle>
            <a:lvl1pPr marL="0" indent="0" algn="ctr">
              <a:buNone/>
              <a:defRPr b="1"/>
            </a:lvl1pPr>
          </a:lstStyle>
          <a:p>
            <a:pPr lvl="0"/>
            <a:r>
              <a:rPr lang="zh-CN" altLang="en-US"/>
              <a:t>插入定义文本</a:t>
            </a:r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AutoShape 2"/>
          <p:cNvSpPr/>
          <p:nvPr userDrawn="1"/>
        </p:nvSpPr>
        <p:spPr>
          <a:xfrm>
            <a:off x="-2286000" y="-2032000"/>
            <a:ext cx="5588000" cy="5588000"/>
          </a:xfrm>
          <a:prstGeom prst="ellipse">
            <a:avLst/>
          </a:prstGeom>
          <a:gradFill rotWithShape="1">
            <a:gsLst>
              <a:gs pos="0">
                <a:srgbClr val="00E5FF">
                  <a:alpha val="18000"/>
                </a:srgbClr>
              </a:gs>
              <a:gs pos="70000">
                <a:srgbClr val="00E5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00CEE6">
                    <a:alpha val="18000"/>
                  </a:srgbClr>
                </a:gs>
                <a:gs pos="70000">
                  <a:srgbClr val="00CEE6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3"/>
          <p:cNvSpPr/>
          <p:nvPr userDrawn="1"/>
        </p:nvSpPr>
        <p:spPr>
          <a:xfrm>
            <a:off x="8890000" y="4318000"/>
            <a:ext cx="5334000" cy="5334000"/>
          </a:xfrm>
          <a:prstGeom prst="ellipse">
            <a:avLst/>
          </a:prstGeom>
          <a:gradFill rotWithShape="1">
            <a:gsLst>
              <a:gs pos="0">
                <a:srgbClr val="69F0AE">
                  <a:alpha val="14000"/>
                </a:srgbClr>
              </a:gs>
              <a:gs pos="70000">
                <a:srgbClr val="69F0AE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48D691">
                    <a:alpha val="14000"/>
                  </a:srgbClr>
                </a:gs>
                <a:gs pos="70000">
                  <a:srgbClr val="48D691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62000" y="609600"/>
            <a:ext cx="10401300" cy="660400"/>
          </a:xfrm>
        </p:spPr>
        <p:txBody>
          <a:bodyPr anchor="ctr" anchorCtr="0">
            <a:normAutofit/>
          </a:bodyPr>
          <a:lstStyle>
            <a:lvl1pPr>
              <a:defRPr kumimoji="0" lang="en-US" sz="3600" b="1" i="0" u="none" strike="noStrike" kern="0" cap="none" spc="200" normalizeH="0" baseline="0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lvl1pPr>
          </a:lstStyle>
          <a:p>
            <a:r>
              <a:rPr lang="zh-CN" altLang="en-US" dirty="0"/>
              <a:t>【思考与讨论】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762000" y="4382135"/>
            <a:ext cx="10401300" cy="76136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Clr>
                <a:srgbClr val="00E5FA"/>
              </a:buClr>
              <a:buNone/>
              <a:defRPr kumimoji="0" lang="en-US" sz="2800" b="0" i="0" u="none" strike="noStrike" kern="0" cap="none" spc="300" normalizeH="0" baseline="0" noProof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lvl1pPr>
            <a:lvl2pPr>
              <a:lnSpc>
                <a:spcPct val="150000"/>
              </a:lnSpc>
              <a:buClr>
                <a:srgbClr val="00E5FA"/>
              </a:buClr>
              <a:defRPr sz="1800">
                <a:solidFill>
                  <a:schemeClr val="bg1"/>
                </a:solidFill>
              </a:defRPr>
            </a:lvl2pPr>
            <a:lvl3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3pPr>
            <a:lvl4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4pPr>
            <a:lvl5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【提出一个开放性问题,引导学生思考】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4201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760FBDFE-C587-4B4C-A407-44438C67B59E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90525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62000" y="6356350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en-US" altLang="zh-CN"/>
          </a:p>
        </p:txBody>
      </p:sp>
      <p:cxnSp>
        <p:nvCxnSpPr>
          <p:cNvPr id="16" name="Connector 16"/>
          <p:cNvCxnSpPr/>
          <p:nvPr userDrawn="1"/>
        </p:nvCxnSpPr>
        <p:spPr>
          <a:xfrm rot="-4092">
            <a:off x="762004" y="6216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5"/>
          <p:cNvSpPr/>
          <p:nvPr userDrawn="1"/>
        </p:nvSpPr>
        <p:spPr>
          <a:xfrm>
            <a:off x="762000" y="1524000"/>
            <a:ext cx="10668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E5FF">
                  <a:alpha val="0"/>
                </a:srgbClr>
              </a:gs>
              <a:gs pos="30000">
                <a:srgbClr val="00E5FF">
                  <a:alpha val="100000"/>
                </a:srgbClr>
              </a:gs>
              <a:gs pos="70000">
                <a:srgbClr val="00E5FF">
                  <a:alpha val="100000"/>
                </a:srgbClr>
              </a:gs>
              <a:gs pos="100000">
                <a:srgbClr val="00E5FF">
                  <a:alpha val="0"/>
                </a:srgbClr>
              </a:gs>
            </a:gsLst>
            <a:lin ang="0"/>
          </a:gradFill>
          <a:ln cap="flat" cmpd="sng">
            <a:gradFill rotWithShape="1">
              <a:gsLst>
                <a:gs pos="0">
                  <a:srgbClr val="00CEE6">
                    <a:alpha val="0"/>
                  </a:srgbClr>
                </a:gs>
                <a:gs pos="30000">
                  <a:srgbClr val="00CEE6">
                    <a:alpha val="100000"/>
                  </a:srgbClr>
                </a:gs>
                <a:gs pos="70000">
                  <a:srgbClr val="00CEE6">
                    <a:alpha val="100000"/>
                  </a:srgbClr>
                </a:gs>
                <a:gs pos="100000">
                  <a:srgbClr val="00CEE6">
                    <a:alpha val="0"/>
                  </a:srgbClr>
                </a:gs>
              </a:gsLst>
              <a:lin ang="0"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6"/>
          <p:cNvSpPr/>
          <p:nvPr userDrawn="1"/>
        </p:nvSpPr>
        <p:spPr>
          <a:xfrm>
            <a:off x="0" y="2032000"/>
            <a:ext cx="12192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571500" dir="5400000" algn="ctr" rotWithShape="0">
              <a:srgbClr val="69F0AE">
                <a:alpha val="5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12000" b="1" i="0" u="none" strike="noStrike">
                <a:solidFill>
                  <a:srgbClr val="69F0A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?</a:t>
            </a:r>
            <a:endParaRPr lang="en-US" sz="1100"/>
          </a:p>
        </p:txBody>
      </p:sp>
      <p:sp>
        <p:nvSpPr>
          <p:cNvPr id="19" name="内容占位符 18"/>
          <p:cNvSpPr>
            <a:spLocks noGrp="1"/>
          </p:cNvSpPr>
          <p:nvPr>
            <p:ph idx="13" hasCustomPrompt="1"/>
          </p:nvPr>
        </p:nvSpPr>
        <p:spPr>
          <a:xfrm>
            <a:off x="762000" y="5398135"/>
            <a:ext cx="10401300" cy="40576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Clr>
                <a:srgbClr val="00E5FA"/>
              </a:buClr>
              <a:buNone/>
              <a:defRPr kumimoji="0" lang="en-US" sz="1800" b="0" i="0" u="none" strike="noStrike" kern="0" cap="none" spc="200" normalizeH="0" baseline="0" noProof="1">
                <a:solidFill>
                  <a:srgbClr val="C8C8D2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lvl1pPr>
            <a:lvl2pPr>
              <a:lnSpc>
                <a:spcPct val="150000"/>
              </a:lnSpc>
              <a:buClr>
                <a:srgbClr val="00E5FA"/>
              </a:buClr>
              <a:defRPr sz="1800">
                <a:solidFill>
                  <a:schemeClr val="bg1"/>
                </a:solidFill>
              </a:defRPr>
            </a:lvl2pPr>
            <a:lvl3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3pPr>
            <a:lvl4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4pPr>
            <a:lvl5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【提示:可以分组讨论 / 举手回答 / 课后思考】</a:t>
            </a:r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635" y="508000"/>
            <a:ext cx="10847070" cy="661035"/>
          </a:xfrm>
        </p:spPr>
        <p:txBody>
          <a:bodyPr/>
          <a:lstStyle>
            <a:lvl1pPr marL="0" marR="0" lvl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3600" b="1" i="0" u="none" strike="noStrike" kern="0" cap="none" spc="200" normalizeH="0" baseline="0" noProof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62635" y="1904365"/>
            <a:ext cx="5234940" cy="508635"/>
          </a:xfrm>
        </p:spPr>
        <p:txBody>
          <a:bodyPr anchor="b"/>
          <a:lstStyle>
            <a:lvl1pPr marL="0" indent="0">
              <a:buNone/>
              <a:defRPr kumimoji="0" lang="en-US" sz="2400" b="1" i="0" u="none" strike="noStrike" kern="1200" cap="none" spc="0" normalizeH="0" baseline="0" noProof="1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62635" y="2480310"/>
            <a:ext cx="5234940" cy="3709035"/>
          </a:xfrm>
        </p:spPr>
        <p:txBody>
          <a:bodyPr/>
          <a:lstStyle>
            <a:lvl1pPr>
              <a:lnSpc>
                <a:spcPct val="150000"/>
              </a:lnSpc>
              <a:buClr>
                <a:srgbClr val="00E5FF"/>
              </a:buClr>
              <a:defRPr/>
            </a:lvl1pPr>
            <a:lvl2pPr>
              <a:lnSpc>
                <a:spcPct val="150000"/>
              </a:lnSpc>
              <a:buClr>
                <a:srgbClr val="00E5FF"/>
              </a:buClr>
              <a:defRPr/>
            </a:lvl2pPr>
            <a:lvl3pPr>
              <a:lnSpc>
                <a:spcPct val="150000"/>
              </a:lnSpc>
              <a:buClr>
                <a:srgbClr val="00E5FF"/>
              </a:buClr>
              <a:defRPr/>
            </a:lvl3pPr>
            <a:lvl4pPr>
              <a:lnSpc>
                <a:spcPct val="150000"/>
              </a:lnSpc>
              <a:buClr>
                <a:srgbClr val="00E5FF"/>
              </a:buClr>
              <a:defRPr/>
            </a:lvl4pPr>
            <a:lvl5pPr>
              <a:lnSpc>
                <a:spcPct val="150000"/>
              </a:lnSpc>
              <a:buClr>
                <a:srgbClr val="00E5FF"/>
              </a:buClr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604635" y="1903730"/>
            <a:ext cx="5079365" cy="509905"/>
          </a:xfrm>
        </p:spPr>
        <p:txBody>
          <a:bodyPr anchor="b"/>
          <a:lstStyle>
            <a:lvl1pPr marL="0" indent="0">
              <a:buNone/>
              <a:defRPr kumimoji="0" lang="en-US" sz="2400" b="1" i="0" u="none" strike="noStrike" kern="0" cap="none" spc="0" normalizeH="0" baseline="0" noProof="1">
                <a:solidFill>
                  <a:srgbClr val="B388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604635" y="2480310"/>
            <a:ext cx="5078730" cy="3709035"/>
          </a:xfrm>
        </p:spPr>
        <p:txBody>
          <a:bodyPr/>
          <a:lstStyle>
            <a:lvl1pPr>
              <a:lnSpc>
                <a:spcPct val="150000"/>
              </a:lnSpc>
              <a:buClr>
                <a:srgbClr val="B388FF"/>
              </a:buClr>
              <a:defRPr/>
            </a:lvl1pPr>
            <a:lvl2pPr>
              <a:lnSpc>
                <a:spcPct val="150000"/>
              </a:lnSpc>
              <a:buClr>
                <a:srgbClr val="B388FF"/>
              </a:buClr>
              <a:defRPr/>
            </a:lvl2pPr>
            <a:lvl3pPr>
              <a:lnSpc>
                <a:spcPct val="150000"/>
              </a:lnSpc>
              <a:buClr>
                <a:srgbClr val="B388FF"/>
              </a:buClr>
              <a:defRPr/>
            </a:lvl3pPr>
            <a:lvl4pPr>
              <a:lnSpc>
                <a:spcPct val="150000"/>
              </a:lnSpc>
              <a:buClr>
                <a:srgbClr val="B388FF"/>
              </a:buClr>
              <a:defRPr/>
            </a:lvl4pPr>
            <a:lvl5pPr>
              <a:lnSpc>
                <a:spcPct val="150000"/>
              </a:lnSpc>
              <a:buClr>
                <a:srgbClr val="B388FF"/>
              </a:buClr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" name="AutoShape 2"/>
          <p:cNvSpPr/>
          <p:nvPr userDrawn="1"/>
        </p:nvSpPr>
        <p:spPr>
          <a:xfrm>
            <a:off x="-2286000" y="-2286000"/>
            <a:ext cx="4826000" cy="4826000"/>
          </a:xfrm>
          <a:prstGeom prst="ellipse">
            <a:avLst/>
          </a:prstGeom>
          <a:gradFill rotWithShape="1">
            <a:gsLst>
              <a:gs pos="0">
                <a:srgbClr val="00E5FF">
                  <a:alpha val="10000"/>
                </a:srgbClr>
              </a:gs>
              <a:gs pos="70000">
                <a:srgbClr val="00E5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3"/>
          <p:cNvSpPr/>
          <p:nvPr userDrawn="1"/>
        </p:nvSpPr>
        <p:spPr>
          <a:xfrm>
            <a:off x="9398000" y="4318000"/>
            <a:ext cx="4826000" cy="4826000"/>
          </a:xfrm>
          <a:prstGeom prst="ellipse">
            <a:avLst/>
          </a:prstGeom>
          <a:gradFill rotWithShape="1">
            <a:gsLst>
              <a:gs pos="0">
                <a:srgbClr val="B388FF">
                  <a:alpha val="10000"/>
                </a:srgbClr>
              </a:gs>
              <a:gs pos="70000">
                <a:srgbClr val="B388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1"/>
          <p:cNvSpPr/>
          <p:nvPr userDrawn="1"/>
        </p:nvSpPr>
        <p:spPr>
          <a:xfrm>
            <a:off x="762000" y="5740400"/>
            <a:ext cx="482600" cy="482600"/>
          </a:xfrm>
          <a:prstGeom prst="ellipse">
            <a:avLst/>
          </a:prstGeom>
          <a:solidFill>
            <a:srgbClr val="00E5FF">
              <a:alpha val="0"/>
            </a:srgbClr>
          </a:solidFill>
          <a:ln w="25400" cap="flat" cmpd="sng">
            <a:solidFill>
              <a:srgbClr val="00E5FF">
                <a:alpha val="5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2"/>
          <p:cNvSpPr/>
          <p:nvPr userDrawn="1"/>
        </p:nvSpPr>
        <p:spPr>
          <a:xfrm>
            <a:off x="1397000" y="5740400"/>
            <a:ext cx="279400" cy="279400"/>
          </a:xfrm>
          <a:prstGeom prst="ellipse">
            <a:avLst/>
          </a:prstGeom>
          <a:solidFill>
            <a:srgbClr val="00E5FF">
              <a:alpha val="18000"/>
            </a:srgbClr>
          </a:solidFill>
          <a:ln w="12700" cap="flat" cmpd="sng">
            <a:solidFill>
              <a:srgbClr val="00E5FF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 userDrawn="1"/>
        </p:nvSpPr>
        <p:spPr>
          <a:xfrm rot="2700000">
            <a:off x="6604000" y="5740400"/>
            <a:ext cx="431800" cy="431800"/>
          </a:xfrm>
          <a:prstGeom prst="roundRect">
            <a:avLst>
              <a:gd name="adj" fmla="val 0"/>
            </a:avLst>
          </a:prstGeom>
          <a:solidFill>
            <a:srgbClr val="B388FF">
              <a:alpha val="0"/>
            </a:srgbClr>
          </a:solidFill>
          <a:ln w="25400" cap="flat" cmpd="sng">
            <a:solidFill>
              <a:srgbClr val="B388FF">
                <a:alpha val="5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 userDrawn="1"/>
        </p:nvSpPr>
        <p:spPr>
          <a:xfrm rot="2700000">
            <a:off x="7264400" y="5816600"/>
            <a:ext cx="279400" cy="279400"/>
          </a:xfrm>
          <a:prstGeom prst="roundRect">
            <a:avLst>
              <a:gd name="adj" fmla="val 0"/>
            </a:avLst>
          </a:prstGeom>
          <a:solidFill>
            <a:srgbClr val="B388FF">
              <a:alpha val="18000"/>
            </a:srgbClr>
          </a:solidFill>
          <a:ln w="12700" cap="flat" cmpd="sng">
            <a:solidFill>
              <a:srgbClr val="B388FF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5" name="Connector 6"/>
          <p:cNvCxnSpPr/>
          <p:nvPr userDrawn="1"/>
        </p:nvCxnSpPr>
        <p:spPr>
          <a:xfrm rot="5388540">
            <a:off x="4191000" y="3676661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5"/>
          <p:cNvSpPr/>
          <p:nvPr userDrawn="1"/>
        </p:nvSpPr>
        <p:spPr>
          <a:xfrm>
            <a:off x="508000" y="1295400"/>
            <a:ext cx="11176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E5FF">
                  <a:alpha val="100000"/>
                </a:srgbClr>
              </a:gs>
              <a:gs pos="45000">
                <a:srgbClr val="00E5FF">
                  <a:alpha val="35000"/>
                </a:srgbClr>
              </a:gs>
              <a:gs pos="100000">
                <a:srgbClr val="00E5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>
            <a:lvl1pPr algn="ctr">
              <a:defRPr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635" y="508000"/>
            <a:ext cx="10847070" cy="661035"/>
          </a:xfrm>
        </p:spPr>
        <p:txBody>
          <a:bodyPr/>
          <a:lstStyle>
            <a:lvl1pPr marL="0" marR="0" lvl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3600" b="1" i="0" u="none" strike="noStrike" kern="0" cap="none" spc="200" normalizeH="0" baseline="0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" name="AutoShape 2"/>
          <p:cNvSpPr/>
          <p:nvPr userDrawn="1"/>
        </p:nvSpPr>
        <p:spPr>
          <a:xfrm>
            <a:off x="-2286000" y="-2286000"/>
            <a:ext cx="4826000" cy="4826000"/>
          </a:xfrm>
          <a:prstGeom prst="ellipse">
            <a:avLst/>
          </a:prstGeom>
          <a:gradFill rotWithShape="1">
            <a:gsLst>
              <a:gs pos="0">
                <a:srgbClr val="00E5FF">
                  <a:alpha val="10000"/>
                </a:srgbClr>
              </a:gs>
              <a:gs pos="70000">
                <a:srgbClr val="00E5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3"/>
          <p:cNvSpPr/>
          <p:nvPr userDrawn="1"/>
        </p:nvSpPr>
        <p:spPr>
          <a:xfrm>
            <a:off x="9398000" y="4318000"/>
            <a:ext cx="4826000" cy="4826000"/>
          </a:xfrm>
          <a:prstGeom prst="ellipse">
            <a:avLst/>
          </a:prstGeom>
          <a:gradFill rotWithShape="1">
            <a:gsLst>
              <a:gs pos="0">
                <a:srgbClr val="B388FF">
                  <a:alpha val="10000"/>
                </a:srgbClr>
              </a:gs>
              <a:gs pos="70000">
                <a:srgbClr val="B388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5"/>
          <p:cNvSpPr/>
          <p:nvPr userDrawn="1"/>
        </p:nvSpPr>
        <p:spPr>
          <a:xfrm>
            <a:off x="508000" y="1295400"/>
            <a:ext cx="11176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E5FF">
                  <a:alpha val="100000"/>
                </a:srgbClr>
              </a:gs>
              <a:gs pos="45000">
                <a:srgbClr val="00E5FF">
                  <a:alpha val="35000"/>
                </a:srgbClr>
              </a:gs>
              <a:gs pos="100000">
                <a:srgbClr val="00E5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>
            <a:lvl1pPr algn="ctr">
              <a:defRPr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en-US" altLang="zh-CN"/>
          </a:p>
        </p:txBody>
      </p:sp>
      <p:cxnSp>
        <p:nvCxnSpPr>
          <p:cNvPr id="7" name="Connector 7"/>
          <p:cNvCxnSpPr/>
          <p:nvPr userDrawn="1"/>
        </p:nvCxnSpPr>
        <p:spPr>
          <a:xfrm rot="5388145">
            <a:off x="2374900" y="3867161"/>
            <a:ext cx="368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Connector 8"/>
          <p:cNvCxnSpPr/>
          <p:nvPr userDrawn="1"/>
        </p:nvCxnSpPr>
        <p:spPr>
          <a:xfrm rot="5388145">
            <a:off x="6134100" y="3867161"/>
            <a:ext cx="368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88635" y="1651635"/>
            <a:ext cx="5967730" cy="2440305"/>
          </a:xfrm>
        </p:spPr>
        <p:txBody>
          <a:bodyPr anchor="b" anchorCtr="0"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AutoShape 2"/>
          <p:cNvSpPr/>
          <p:nvPr userDrawn="1"/>
        </p:nvSpPr>
        <p:spPr>
          <a:xfrm>
            <a:off x="7112000" y="3048000"/>
            <a:ext cx="7874000" cy="7874000"/>
          </a:xfrm>
          <a:prstGeom prst="ellipse">
            <a:avLst/>
          </a:prstGeom>
          <a:gradFill rotWithShape="1">
            <a:gsLst>
              <a:gs pos="0">
                <a:srgbClr val="00E5FF">
                  <a:alpha val="22000"/>
                </a:srgbClr>
              </a:gs>
              <a:gs pos="28000">
                <a:srgbClr val="B388FF">
                  <a:alpha val="12000"/>
                </a:srgbClr>
              </a:gs>
              <a:gs pos="65000">
                <a:srgbClr val="12121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00CEE6">
                    <a:alpha val="22000"/>
                  </a:srgbClr>
                </a:gs>
                <a:gs pos="28000">
                  <a:srgbClr val="9263E6">
                    <a:alpha val="12000"/>
                  </a:srgbClr>
                </a:gs>
                <a:gs pos="65000">
                  <a:srgbClr val="00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3"/>
          <p:cNvSpPr/>
          <p:nvPr userDrawn="1"/>
        </p:nvSpPr>
        <p:spPr>
          <a:xfrm>
            <a:off x="5588635" y="4572000"/>
            <a:ext cx="6350000" cy="6350000"/>
          </a:xfrm>
          <a:prstGeom prst="ellipse">
            <a:avLst/>
          </a:prstGeom>
          <a:gradFill rotWithShape="1">
            <a:gsLst>
              <a:gs pos="0">
                <a:srgbClr val="B388FF">
                  <a:alpha val="18000"/>
                </a:srgbClr>
              </a:gs>
              <a:gs pos="60000">
                <a:srgbClr val="12121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9263E6">
                    <a:alpha val="18000"/>
                  </a:srgbClr>
                </a:gs>
                <a:gs pos="60000">
                  <a:srgbClr val="00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6"/>
          <p:cNvSpPr/>
          <p:nvPr userDrawn="1"/>
        </p:nvSpPr>
        <p:spPr>
          <a:xfrm>
            <a:off x="6350000" y="4110355"/>
            <a:ext cx="762000" cy="381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E5FF">
                  <a:alpha val="100000"/>
                </a:srgbClr>
              </a:gs>
              <a:gs pos="100000">
                <a:srgbClr val="B388FF">
                  <a:alpha val="100000"/>
                </a:srgbClr>
              </a:gs>
            </a:gsLst>
            <a:lin ang="0"/>
          </a:gradFill>
          <a:ln cap="flat" cmpd="sng">
            <a:gradFill rotWithShape="1">
              <a:gsLst>
                <a:gs pos="0">
                  <a:srgbClr val="00CEE6">
                    <a:alpha val="100000"/>
                  </a:srgbClr>
                </a:gs>
                <a:gs pos="100000">
                  <a:srgbClr val="9263E6">
                    <a:alpha val="100000"/>
                  </a:srgbClr>
                </a:gs>
              </a:gsLst>
              <a:lin ang="0"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文本占位符 5"/>
          <p:cNvSpPr>
            <a:spLocks noGrp="1"/>
          </p:cNvSpPr>
          <p:nvPr>
            <p:ph type="body" idx="13" hasCustomPrompt="1"/>
          </p:nvPr>
        </p:nvSpPr>
        <p:spPr>
          <a:xfrm>
            <a:off x="889635" y="1651635"/>
            <a:ext cx="4699000" cy="3160395"/>
          </a:xfrm>
        </p:spPr>
        <p:txBody>
          <a:bodyPr anchor="ctr" anchorCtr="0"/>
          <a:lstStyle>
            <a:lvl1pPr marL="0" marR="0" lvl="0" indent="0" algn="ctr" defTabSz="914400" rtl="0" eaLnBrk="1" fontAlgn="auto" latinLnBrk="0" hangingPunct="1">
              <a:lnSpc>
                <a:spcPct val="92000"/>
              </a:lnSpc>
              <a:spcBef>
                <a:spcPts val="1000"/>
              </a:spcBef>
              <a:buClrTx/>
              <a:buSzTx/>
              <a:buFontTx/>
              <a:buNone/>
              <a:defRPr/>
            </a:lvl1pPr>
          </a:lstStyle>
          <a:p>
            <a:pPr lvl="0"/>
            <a:r>
              <a:rPr lang="zh-CN" altLang="en-US"/>
              <a:t>编号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4" hasCustomPrompt="1"/>
          </p:nvPr>
        </p:nvSpPr>
        <p:spPr>
          <a:xfrm>
            <a:off x="6096000" y="4304030"/>
            <a:ext cx="5461635" cy="683895"/>
          </a:xfrm>
        </p:spPr>
        <p:txBody>
          <a:bodyPr anchor="ctr" anchorCtr="0"/>
          <a:lstStyle>
            <a:lvl1pPr marL="0" marR="0" lvl="0" indent="0" algn="l" defTabSz="914400" rtl="0" eaLnBrk="1" fontAlgn="auto" latinLnBrk="0" hangingPunct="1">
              <a:lnSpc>
                <a:spcPct val="117000"/>
              </a:lnSpc>
              <a:spcBef>
                <a:spcPts val="1000"/>
              </a:spcBef>
              <a:buClrTx/>
              <a:buSzTx/>
              <a:buFontTx/>
              <a:buNone/>
              <a:defRPr/>
            </a:lvl1pPr>
          </a:lstStyle>
          <a:p>
            <a:pPr marL="0" indent="0" algn="l">
              <a:lnSpc>
                <a:spcPct val="117000"/>
              </a:lnSpc>
              <a:defRPr/>
            </a:pPr>
            <a:r>
              <a:rPr lang="en-US" spc="300">
                <a:solidFill>
                  <a:srgbClr val="B4B4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【章节副标题 / 引言】</a:t>
            </a: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2026/9/13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/>
          <p:nvPr userDrawn="1"/>
        </p:nvSpPr>
        <p:spPr>
          <a:xfrm>
            <a:off x="-2286000" y="-2286000"/>
            <a:ext cx="16764000" cy="9144000"/>
          </a:xfrm>
          <a:prstGeom prst="ellipse">
            <a:avLst/>
          </a:prstGeom>
          <a:gradFill rotWithShape="1">
            <a:gsLst>
              <a:gs pos="0">
                <a:srgbClr val="38BDF8">
                  <a:alpha val="22000"/>
                </a:srgbClr>
              </a:gs>
              <a:gs pos="22000">
                <a:srgbClr val="A855F7">
                  <a:alpha val="14000"/>
                </a:srgbClr>
              </a:gs>
              <a:gs pos="62000">
                <a:srgbClr val="12121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1CA3DF">
                    <a:alpha val="22000"/>
                  </a:srgbClr>
                </a:gs>
                <a:gs pos="22000">
                  <a:srgbClr val="8C36DE">
                    <a:alpha val="14000"/>
                  </a:srgbClr>
                </a:gs>
                <a:gs pos="62000">
                  <a:srgbClr val="00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3"/>
          <p:cNvSpPr/>
          <p:nvPr userDrawn="1"/>
        </p:nvSpPr>
        <p:spPr>
          <a:xfrm>
            <a:off x="-1778000" y="-1524000"/>
            <a:ext cx="15748000" cy="7874000"/>
          </a:xfrm>
          <a:prstGeom prst="ellipse">
            <a:avLst/>
          </a:prstGeom>
          <a:gradFill rotWithShape="1">
            <a:gsLst>
              <a:gs pos="0">
                <a:srgbClr val="A855F7">
                  <a:alpha val="18000"/>
                </a:srgbClr>
              </a:gs>
              <a:gs pos="20000">
                <a:srgbClr val="38BDF8">
                  <a:alpha val="8000"/>
                </a:srgbClr>
              </a:gs>
              <a:gs pos="57999">
                <a:srgbClr val="12121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8C36DE">
                    <a:alpha val="18000"/>
                  </a:srgbClr>
                </a:gs>
                <a:gs pos="20000">
                  <a:srgbClr val="1CA3DF">
                    <a:alpha val="8000"/>
                  </a:srgbClr>
                </a:gs>
                <a:gs pos="57999">
                  <a:srgbClr val="00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AutoShape 4"/>
          <p:cNvSpPr/>
          <p:nvPr userDrawn="1"/>
        </p:nvSpPr>
        <p:spPr>
          <a:xfrm>
            <a:off x="762000" y="1778000"/>
            <a:ext cx="1066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7200" b="1" i="0" u="none" strike="noStrike" spc="12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谢谢聆听</a:t>
            </a:r>
            <a:endParaRPr lang="en-US" sz="1100"/>
          </a:p>
        </p:txBody>
      </p:sp>
      <p:sp>
        <p:nvSpPr>
          <p:cNvPr id="9" name="AutoShape 5"/>
          <p:cNvSpPr/>
          <p:nvPr userDrawn="1"/>
        </p:nvSpPr>
        <p:spPr>
          <a:xfrm>
            <a:off x="762000" y="3530600"/>
            <a:ext cx="10668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2800" b="0" i="0" u="none" strike="noStrike" spc="800">
                <a:solidFill>
                  <a:srgbClr val="E5E7EB">
                    <a:alpha val="87843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【Q &amp; A / 提问交流环节】</a:t>
            </a:r>
            <a:endParaRPr lang="en-US" sz="1100"/>
          </a:p>
        </p:txBody>
      </p:sp>
      <p:cxnSp>
        <p:nvCxnSpPr>
          <p:cNvPr id="10" name="Connector 6"/>
          <p:cNvCxnSpPr/>
          <p:nvPr userDrawn="1"/>
        </p:nvCxnSpPr>
        <p:spPr>
          <a:xfrm rot="-57290">
            <a:off x="5715053" y="4565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855F7">
                <a:alpha val="6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11" name="Picture 7"/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86000" y="4978400"/>
            <a:ext cx="279400" cy="279400"/>
          </a:xfrm>
          <a:prstGeom prst="rect">
            <a:avLst/>
          </a:prstGeom>
        </p:spPr>
      </p:pic>
      <p:cxnSp>
        <p:nvCxnSpPr>
          <p:cNvPr id="13" name="Connector 9"/>
          <p:cNvCxnSpPr/>
          <p:nvPr userDrawn="1"/>
        </p:nvCxnSpPr>
        <p:spPr>
          <a:xfrm rot="5267844">
            <a:off x="4787900" y="5162672"/>
            <a:ext cx="33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4" name="Picture 10"/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0" y="4978400"/>
            <a:ext cx="279400" cy="279400"/>
          </a:xfrm>
          <a:prstGeom prst="rect">
            <a:avLst/>
          </a:prstGeom>
        </p:spPr>
      </p:pic>
      <p:cxnSp>
        <p:nvCxnSpPr>
          <p:cNvPr id="16" name="Connector 12"/>
          <p:cNvCxnSpPr/>
          <p:nvPr userDrawn="1"/>
        </p:nvCxnSpPr>
        <p:spPr>
          <a:xfrm rot="5267844">
            <a:off x="7772400" y="5162672"/>
            <a:ext cx="33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" name="Picture 13"/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18500" y="4978400"/>
            <a:ext cx="279400" cy="279400"/>
          </a:xfrm>
          <a:prstGeom prst="rect">
            <a:avLst/>
          </a:prstGeom>
        </p:spPr>
      </p:pic>
      <p:sp>
        <p:nvSpPr>
          <p:cNvPr id="21" name="内容占位符 20"/>
          <p:cNvSpPr>
            <a:spLocks noGrp="1"/>
          </p:cNvSpPr>
          <p:nvPr>
            <p:ph idx="13" hasCustomPrompt="1"/>
          </p:nvPr>
        </p:nvSpPr>
        <p:spPr>
          <a:xfrm>
            <a:off x="2693035" y="4952365"/>
            <a:ext cx="2030730" cy="330835"/>
          </a:xfrm>
        </p:spPr>
        <p:txBody>
          <a:bodyPr/>
          <a:lstStyle>
            <a:lvl1pPr marL="0" indent="0" algn="r">
              <a:buNone/>
              <a:defRPr kumimoji="0" lang="en-US" sz="1600" b="0" i="0" u="none" strike="noStrike" kern="1200" cap="none" spc="0" normalizeH="0" baseline="0" noProof="1">
                <a:solidFill>
                  <a:srgbClr val="D1D5DB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  <a:defRPr/>
            </a:pPr>
            <a:r>
              <a:rPr>
                <a:sym typeface="Noto Sans SC" panose="020B0200000000000000" charset="-122"/>
              </a:rPr>
              <a:t>contact@xxx.com</a:t>
            </a:r>
            <a:endParaRPr lang="en-US" altLang="zh-CN"/>
          </a:p>
        </p:txBody>
      </p:sp>
      <p:sp>
        <p:nvSpPr>
          <p:cNvPr id="22" name="内容占位符 21"/>
          <p:cNvSpPr>
            <a:spLocks noGrp="1"/>
          </p:cNvSpPr>
          <p:nvPr>
            <p:ph idx="14" hasCustomPrompt="1"/>
          </p:nvPr>
        </p:nvSpPr>
        <p:spPr>
          <a:xfrm>
            <a:off x="5740400" y="4953000"/>
            <a:ext cx="2032000" cy="330835"/>
          </a:xfrm>
        </p:spPr>
        <p:txBody>
          <a:bodyPr/>
          <a:lstStyle>
            <a:lvl1pPr marL="0" indent="0" algn="r">
              <a:buNone/>
              <a:defRPr kumimoji="0" lang="en-US" sz="1600" b="0" i="0" u="none" strike="noStrike" kern="1200" cap="none" spc="0" normalizeH="0" baseline="0" noProof="1">
                <a:solidFill>
                  <a:srgbClr val="D1D5DB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  <a:defRPr/>
            </a:pPr>
            <a:r>
              <a:rPr lang="zh-CN" altLang="en-US"/>
              <a:t>公众号：</a:t>
            </a:r>
            <a:r>
              <a:rPr altLang="zh-CN"/>
              <a:t>XXX</a:t>
            </a:r>
          </a:p>
        </p:txBody>
      </p:sp>
      <p:sp>
        <p:nvSpPr>
          <p:cNvPr id="23" name="内容占位符 22"/>
          <p:cNvSpPr>
            <a:spLocks noGrp="1"/>
          </p:cNvSpPr>
          <p:nvPr>
            <p:ph idx="15" hasCustomPrompt="1"/>
          </p:nvPr>
        </p:nvSpPr>
        <p:spPr>
          <a:xfrm>
            <a:off x="8724900" y="4953000"/>
            <a:ext cx="2159000" cy="330835"/>
          </a:xfrm>
        </p:spPr>
        <p:txBody>
          <a:bodyPr/>
          <a:lstStyle>
            <a:lvl1pPr marL="0" indent="0" algn="r">
              <a:buNone/>
              <a:defRPr kumimoji="0" lang="en-US" sz="1600" b="0" i="0" u="none" strike="noStrike" kern="1200" cap="none" spc="0" normalizeH="0" baseline="0" noProof="1">
                <a:solidFill>
                  <a:srgbClr val="D1D5DB">
                    <a:alpha val="85098"/>
                  </a:srgbClr>
                </a:solidFill>
                <a:latin typeface="Noto Sans SC" panose="020B0200000000000000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  <a:defRPr/>
            </a:pPr>
            <a:r>
              <a:rPr lang="zh-CN" altLang="en-US"/>
              <a:t>公众号：</a:t>
            </a:r>
            <a:r>
              <a:rPr altLang="zh-CN"/>
              <a:t>XXX</a:t>
            </a:r>
            <a:r>
              <a:rPr lang="zh-CN" altLang="en-US"/>
              <a:t>事实</a:t>
            </a:r>
          </a:p>
        </p:txBody>
      </p:sp>
      <p:sp>
        <p:nvSpPr>
          <p:cNvPr id="25" name="内容占位符 24"/>
          <p:cNvSpPr>
            <a:spLocks noGrp="1"/>
          </p:cNvSpPr>
          <p:nvPr>
            <p:ph idx="16" hasCustomPrompt="1"/>
          </p:nvPr>
        </p:nvSpPr>
        <p:spPr>
          <a:xfrm>
            <a:off x="3215958" y="6121400"/>
            <a:ext cx="5760085" cy="329565"/>
          </a:xfrm>
        </p:spPr>
        <p:txBody>
          <a:bodyPr anchor="ctr" anchorCtr="0"/>
          <a:lstStyle>
            <a:lvl1pPr marL="0" indent="0" algn="ctr">
              <a:buNone/>
              <a:defRPr kumimoji="0" lang="en-US" sz="1400" b="0" i="0" u="none" strike="noStrike" kern="1200" cap="none" spc="400" normalizeH="0" baseline="0" noProof="1">
                <a:solidFill>
                  <a:srgbClr val="FFFFFF">
                    <a:alpha val="4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  <a:defRPr/>
            </a:pPr>
            <a:r>
              <a:rPr>
                <a:sym typeface="Noto Sans SC" panose="020B0200000000000000" charset="-122"/>
              </a:rPr>
              <a:t>【课程名称 / 机构名】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34" name="Image 0" descr="香港科技大学与上海产教融合中心反白Logo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741664" y="274320"/>
            <a:ext cx="2788920" cy="6858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6000"/>
              <a:t>第四课</a:t>
            </a:r>
            <a:br>
              <a:rPr lang="zh-CN" altLang="en-US" sz="6000"/>
            </a:br>
            <a:r>
              <a:rPr lang="zh-CN" altLang="en-US" sz="6000"/>
              <a:t>为什么</a:t>
            </a:r>
            <a:r>
              <a:rPr lang="en-US" altLang="zh-CN" sz="6000"/>
              <a:t>AI</a:t>
            </a:r>
            <a:r>
              <a:rPr lang="zh-CN" altLang="en-US" sz="6000"/>
              <a:t>有时聪明有时“蠢”</a:t>
            </a:r>
          </a:p>
        </p:txBody>
      </p:sp>
      <p:sp>
        <p:nvSpPr>
          <p:cNvPr id="11" name="副标题 10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/>
              <a:t>港科大人工智能前沿系列课程——大模型基础通识</a:t>
            </a:r>
          </a:p>
          <a:p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zh-CN" altLang="en-US"/>
              <a:t>授课人：王若愚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en-US" altLang="zh-CN" dirty="0"/>
              <a:t>2026/09/01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回顾</a:t>
            </a:r>
          </a:p>
        </p:txBody>
      </p:sp>
      <p:sp>
        <p:nvSpPr>
          <p:cNvPr id="24" name="内容占位符 2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sym typeface="+mn-ea"/>
              </a:rPr>
              <a:t>文本被分词器拆解为若干</a:t>
            </a:r>
            <a:r>
              <a:rPr lang="zh-CN" altLang="en-US" sz="2800" b="1" dirty="0">
                <a:solidFill>
                  <a:srgbClr val="00E5FF"/>
                </a:solidFill>
                <a:sym typeface="+mn-ea"/>
              </a:rPr>
              <a:t>词元（</a:t>
            </a:r>
            <a:r>
              <a:rPr lang="en-US" altLang="zh-CN" sz="2800" b="1" dirty="0">
                <a:solidFill>
                  <a:srgbClr val="00E5FF"/>
                </a:solidFill>
                <a:sym typeface="+mn-ea"/>
              </a:rPr>
              <a:t>Token</a:t>
            </a:r>
            <a:r>
              <a:rPr lang="zh-CN" altLang="en-US" sz="2800" b="1" dirty="0">
                <a:solidFill>
                  <a:srgbClr val="00E5FF"/>
                </a:solidFill>
                <a:sym typeface="+mn-ea"/>
              </a:rPr>
              <a:t>）</a:t>
            </a:r>
            <a:endParaRPr lang="en-US" altLang="zh-CN" sz="2800" dirty="0">
              <a:solidFill>
                <a:schemeClr val="bg1"/>
              </a:solidFill>
            </a:endParaRPr>
          </a:p>
          <a:p>
            <a:r>
              <a:rPr lang="zh-CN" altLang="en-US" sz="2800" dirty="0">
                <a:sym typeface="+mn-ea"/>
              </a:rPr>
              <a:t>词元经过</a:t>
            </a:r>
            <a:r>
              <a:rPr lang="zh-CN" altLang="en-US" sz="2800" b="1" dirty="0">
                <a:solidFill>
                  <a:srgbClr val="00E5FF"/>
                </a:solidFill>
                <a:sym typeface="+mn-ea"/>
              </a:rPr>
              <a:t>向量嵌入（</a:t>
            </a:r>
            <a:r>
              <a:rPr lang="en-US" altLang="zh-CN" sz="2800" b="1" dirty="0">
                <a:solidFill>
                  <a:srgbClr val="00E5FF"/>
                </a:solidFill>
                <a:sym typeface="+mn-ea"/>
              </a:rPr>
              <a:t>Embedding</a:t>
            </a:r>
            <a:r>
              <a:rPr lang="zh-CN" altLang="en-US" sz="2800" b="1" dirty="0">
                <a:solidFill>
                  <a:srgbClr val="00E5FF"/>
                </a:solidFill>
                <a:sym typeface="+mn-ea"/>
              </a:rPr>
              <a:t>）</a:t>
            </a:r>
            <a:r>
              <a:rPr lang="zh-CN" altLang="en-US" sz="2800" dirty="0">
                <a:sym typeface="+mn-ea"/>
              </a:rPr>
              <a:t>转变为向量数值输入大模型进行计算</a:t>
            </a:r>
            <a:endParaRPr lang="zh-CN" altLang="en-US" sz="2800" dirty="0">
              <a:solidFill>
                <a:schemeClr val="bg1"/>
              </a:solidFill>
            </a:endParaRPr>
          </a:p>
          <a:p>
            <a:r>
              <a:rPr lang="zh-CN" altLang="en-US" sz="2800" dirty="0">
                <a:sym typeface="+mn-ea"/>
              </a:rPr>
              <a:t>一段文本也可以计算</a:t>
            </a:r>
            <a:r>
              <a:rPr lang="en-US" altLang="zh-CN" sz="2800" dirty="0">
                <a:sym typeface="+mn-ea"/>
              </a:rPr>
              <a:t> Embedding </a:t>
            </a:r>
            <a:r>
              <a:rPr lang="zh-CN" altLang="en-US" sz="2800" dirty="0">
                <a:sym typeface="+mn-ea"/>
              </a:rPr>
              <a:t>并进行</a:t>
            </a:r>
            <a:r>
              <a:rPr lang="zh-CN" altLang="en-US" sz="2800" b="1" dirty="0">
                <a:solidFill>
                  <a:srgbClr val="00E5FF"/>
                </a:solidFill>
                <a:sym typeface="+mn-ea"/>
              </a:rPr>
              <a:t>相似度查询</a:t>
            </a:r>
          </a:p>
          <a:p>
            <a:pPr lvl="1"/>
            <a:r>
              <a:rPr lang="zh-CN" altLang="en-US" sz="2520" dirty="0">
                <a:solidFill>
                  <a:schemeClr val="bg1"/>
                </a:solidFill>
                <a:sym typeface="+mn-ea"/>
              </a:rPr>
              <a:t>检索增强生成：</a:t>
            </a:r>
            <a:r>
              <a:rPr lang="en-US" altLang="zh-CN" sz="2520" dirty="0">
                <a:solidFill>
                  <a:schemeClr val="bg1"/>
                </a:solidFill>
                <a:sym typeface="+mn-ea"/>
              </a:rPr>
              <a:t>RAG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</a:t>
            </a:fld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14166215" y="47561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uiExpand="1" build="p"/>
      <p:bldP spid="24" grpI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altLang="zh-CN" dirty="0">
                <a:solidFill>
                  <a:schemeClr val="bg1"/>
                </a:solidFill>
                <a:sym typeface="+mn-ea"/>
              </a:rPr>
              <a:t>Token </a:t>
            </a:r>
            <a:r>
              <a:rPr lang="zh-CN" altLang="en-US" dirty="0">
                <a:solidFill>
                  <a:schemeClr val="bg1"/>
                </a:solidFill>
                <a:sym typeface="+mn-ea"/>
              </a:rPr>
              <a:t>对应的向量数值是如何在大模型内参与计算的？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</a:t>
            </a:fld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课程路线图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</a:t>
            </a:fld>
            <a:endParaRPr lang="en-US" altLang="zh-CN"/>
          </a:p>
        </p:txBody>
      </p:sp>
      <p:sp>
        <p:nvSpPr>
          <p:cNvPr id="6" name="AutoShape 6"/>
          <p:cNvSpPr/>
          <p:nvPr/>
        </p:nvSpPr>
        <p:spPr>
          <a:xfrm>
            <a:off x="2231390" y="1752600"/>
            <a:ext cx="899795" cy="4319905"/>
          </a:xfrm>
          <a:prstGeom prst="roundRect">
            <a:avLst>
              <a:gd name="adj" fmla="val 0"/>
            </a:avLst>
          </a:prstGeom>
          <a:solidFill>
            <a:srgbClr val="00E5FF">
              <a:alpha val="8000"/>
            </a:srgbClr>
          </a:solidFill>
          <a:ln w="25400" cap="flat" cmpd="sng">
            <a:solidFill>
              <a:srgbClr val="00E5FF">
                <a:alpha val="100000"/>
              </a:srgbClr>
            </a:solidFill>
            <a:prstDash val="solid"/>
            <a:round/>
          </a:ln>
          <a:effectLst>
            <a:outerShdw blurRad="152400" dir="2700000" algn="tl" rotWithShape="0">
              <a:srgbClr val="00E5FF">
                <a:alpha val="4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大</a:t>
            </a:r>
          </a:p>
          <a:p>
            <a:pPr marL="0" indent="0" algn="ctr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模</a:t>
            </a:r>
          </a:p>
          <a:p>
            <a:pPr marL="0" indent="0" algn="ctr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型</a:t>
            </a:r>
          </a:p>
          <a:p>
            <a:pPr marL="0" indent="0" algn="ctr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产</a:t>
            </a:r>
          </a:p>
          <a:p>
            <a:pPr marL="0" indent="0" algn="ctr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品</a:t>
            </a:r>
          </a:p>
        </p:txBody>
      </p:sp>
      <p:sp>
        <p:nvSpPr>
          <p:cNvPr id="5" name="AutoShape 6"/>
          <p:cNvSpPr/>
          <p:nvPr/>
        </p:nvSpPr>
        <p:spPr>
          <a:xfrm>
            <a:off x="3395980" y="1753235"/>
            <a:ext cx="899795" cy="1543050"/>
          </a:xfrm>
          <a:prstGeom prst="roundRect">
            <a:avLst>
              <a:gd name="adj" fmla="val 0"/>
            </a:avLst>
          </a:prstGeom>
          <a:solidFill>
            <a:srgbClr val="B388FF">
              <a:alpha val="8000"/>
            </a:srgbClr>
          </a:solidFill>
          <a:ln w="25400" cap="flat" cmpd="sng">
            <a:solidFill>
              <a:srgbClr val="B388FF">
                <a:alpha val="100000"/>
              </a:srgbClr>
            </a:solidFill>
            <a:prstDash val="solid"/>
            <a:round/>
          </a:ln>
          <a:effectLst>
            <a:outerShdw blurRad="152400" dir="2700000" algn="tl" rotWithShape="0">
              <a:srgbClr val="06F0D2">
                <a:alpha val="4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模型</a:t>
            </a:r>
          </a:p>
          <a:p>
            <a:pPr marL="0" indent="0" algn="ctr">
              <a:lnSpc>
                <a:spcPct val="125000"/>
              </a:lnSpc>
              <a:defRPr/>
            </a:pPr>
            <a:r>
              <a:rPr lang="zh-CN" alt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原理</a:t>
            </a:r>
          </a:p>
        </p:txBody>
      </p:sp>
      <p:sp>
        <p:nvSpPr>
          <p:cNvPr id="7" name="AutoShape 6"/>
          <p:cNvSpPr/>
          <p:nvPr/>
        </p:nvSpPr>
        <p:spPr>
          <a:xfrm>
            <a:off x="3395980" y="3416935"/>
            <a:ext cx="899795" cy="1547495"/>
          </a:xfrm>
          <a:prstGeom prst="roundRect">
            <a:avLst>
              <a:gd name="adj" fmla="val 0"/>
            </a:avLst>
          </a:prstGeom>
          <a:solidFill>
            <a:srgbClr val="B388FF">
              <a:alpha val="8000"/>
            </a:srgbClr>
          </a:solidFill>
          <a:ln w="25400" cap="flat" cmpd="sng">
            <a:solidFill>
              <a:srgbClr val="B388FF">
                <a:alpha val="100000"/>
              </a:srgbClr>
            </a:solidFill>
            <a:prstDash val="solid"/>
            <a:round/>
          </a:ln>
          <a:effectLst>
            <a:outerShdw blurRad="152400" dir="2700000" algn="tl" rotWithShape="0">
              <a:srgbClr val="06F0D2">
                <a:alpha val="40000"/>
              </a:srgbClr>
            </a:outerShdw>
          </a:effectLst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ctr">
              <a:lnSpc>
                <a:spcPct val="125000"/>
              </a:lnSpc>
              <a:buClrTx/>
              <a:buSzTx/>
              <a:buFontTx/>
              <a:defRPr/>
            </a:pPr>
            <a:r>
              <a:rPr lang="zh-CN" altLang="en-US" sz="2400" b="1">
                <a:solidFill>
                  <a:srgbClr val="FFFFFF"/>
                </a:solidFill>
                <a:latin typeface="Noto Sans SC" panose="020B0200000000000000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模型</a:t>
            </a:r>
          </a:p>
          <a:p>
            <a:pPr lvl="0" algn="ctr">
              <a:lnSpc>
                <a:spcPct val="125000"/>
              </a:lnSpc>
              <a:buClrTx/>
              <a:buSzTx/>
              <a:buFontTx/>
              <a:defRPr/>
            </a:pPr>
            <a:r>
              <a:rPr lang="zh-CN" altLang="en-US" sz="2400" b="1">
                <a:solidFill>
                  <a:srgbClr val="FFFFFF"/>
                </a:solidFill>
                <a:latin typeface="Noto Sans SC" panose="020B0200000000000000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应用</a:t>
            </a:r>
          </a:p>
        </p:txBody>
      </p:sp>
      <p:sp>
        <p:nvSpPr>
          <p:cNvPr id="8" name="AutoShape 6"/>
          <p:cNvSpPr/>
          <p:nvPr/>
        </p:nvSpPr>
        <p:spPr>
          <a:xfrm>
            <a:off x="3395980" y="5086985"/>
            <a:ext cx="899795" cy="989330"/>
          </a:xfrm>
          <a:prstGeom prst="roundRect">
            <a:avLst>
              <a:gd name="adj" fmla="val 0"/>
            </a:avLst>
          </a:prstGeom>
          <a:solidFill>
            <a:srgbClr val="B388FF">
              <a:alpha val="8000"/>
            </a:srgbClr>
          </a:solidFill>
          <a:ln w="25400" cap="flat" cmpd="sng">
            <a:solidFill>
              <a:srgbClr val="B388FF">
                <a:alpha val="100000"/>
              </a:srgbClr>
            </a:solidFill>
            <a:prstDash val="solid"/>
            <a:round/>
          </a:ln>
          <a:effectLst>
            <a:outerShdw blurRad="152400" dir="2700000" algn="tl" rotWithShape="0">
              <a:srgbClr val="06F0D2">
                <a:alpha val="40000"/>
              </a:srgbClr>
            </a:outerShdw>
          </a:effectLst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ctr">
              <a:lnSpc>
                <a:spcPct val="125000"/>
              </a:lnSpc>
              <a:buClrTx/>
              <a:buSzTx/>
              <a:buFontTx/>
              <a:defRPr/>
            </a:pPr>
            <a:r>
              <a:rPr lang="zh-CN" altLang="en-US" sz="2400" b="1">
                <a:solidFill>
                  <a:srgbClr val="FFFFFF"/>
                </a:solidFill>
                <a:latin typeface="Noto Sans SC" panose="020B0200000000000000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智</a:t>
            </a:r>
          </a:p>
          <a:p>
            <a:pPr lvl="0" algn="ctr">
              <a:lnSpc>
                <a:spcPct val="125000"/>
              </a:lnSpc>
              <a:buClrTx/>
              <a:buSzTx/>
              <a:buFontTx/>
              <a:defRPr/>
            </a:pPr>
            <a:r>
              <a:rPr lang="zh-CN" altLang="en-US" sz="2400" b="1">
                <a:solidFill>
                  <a:srgbClr val="FFFFFF"/>
                </a:solidFill>
                <a:latin typeface="Noto Sans SC" panose="020B0200000000000000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能体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4561205" y="1752600"/>
            <a:ext cx="5400040" cy="431800"/>
            <a:chOff x="7140" y="2760"/>
            <a:chExt cx="8504" cy="680"/>
          </a:xfrm>
        </p:grpSpPr>
        <p:sp>
          <p:nvSpPr>
            <p:cNvPr id="10" name="AutoShape 6"/>
            <p:cNvSpPr/>
            <p:nvPr/>
          </p:nvSpPr>
          <p:spPr>
            <a:xfrm>
              <a:off x="7140" y="2760"/>
              <a:ext cx="8504" cy="680"/>
            </a:xfrm>
            <a:prstGeom prst="roundRect">
              <a:avLst>
                <a:gd name="adj" fmla="val 0"/>
              </a:avLst>
            </a:prstGeom>
            <a:solidFill>
              <a:srgbClr val="69F0AE">
                <a:alpha val="8000"/>
              </a:srgbClr>
            </a:solidFill>
            <a:ln w="12700" cap="flat" cmpd="sng">
              <a:solidFill>
                <a:srgbClr val="69F0AE">
                  <a:alpha val="4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1" name="AutoShape 7"/>
            <p:cNvSpPr/>
            <p:nvPr/>
          </p:nvSpPr>
          <p:spPr>
            <a:xfrm>
              <a:off x="7140" y="2760"/>
              <a:ext cx="85" cy="680"/>
            </a:xfrm>
            <a:prstGeom prst="roundRect">
              <a:avLst>
                <a:gd name="adj" fmla="val 0"/>
              </a:avLst>
            </a:prstGeom>
            <a:solidFill>
              <a:srgbClr val="69F0AE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7140" y="2760"/>
              <a:ext cx="850" cy="68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b="1" kern="0">
                  <a:solidFill>
                    <a:srgbClr val="69F0AE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01</a:t>
              </a: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7990" y="2760"/>
              <a:ext cx="7654" cy="68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zh-CN" altLang="en-US" b="1" kern="0">
                  <a:solidFill>
                    <a:srgbClr val="69F0AE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模型定位和介绍</a:t>
              </a: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561205" y="3975100"/>
            <a:ext cx="5400040" cy="431800"/>
            <a:chOff x="7140" y="2760"/>
            <a:chExt cx="8504" cy="680"/>
          </a:xfrm>
        </p:grpSpPr>
        <p:sp>
          <p:nvSpPr>
            <p:cNvPr id="19" name="AutoShape 6"/>
            <p:cNvSpPr/>
            <p:nvPr/>
          </p:nvSpPr>
          <p:spPr>
            <a:xfrm>
              <a:off x="7140" y="2760"/>
              <a:ext cx="8504" cy="68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50000"/>
                <a:alpha val="8000"/>
              </a:schemeClr>
            </a:solidFill>
            <a:ln w="12700" cap="flat" cmpd="sng">
              <a:solidFill>
                <a:schemeClr val="bg1">
                  <a:lumMod val="50000"/>
                  <a:alpha val="40000"/>
                </a:scheme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0" name="AutoShape 7"/>
            <p:cNvSpPr/>
            <p:nvPr/>
          </p:nvSpPr>
          <p:spPr>
            <a:xfrm>
              <a:off x="7140" y="2760"/>
              <a:ext cx="85" cy="68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50000"/>
              </a:scheme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140" y="2760"/>
              <a:ext cx="850" cy="68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b="1" kern="0">
                  <a:solidFill>
                    <a:schemeClr val="bg1">
                      <a:lumMod val="50000"/>
                    </a:scheme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05</a:t>
              </a: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7990" y="2760"/>
              <a:ext cx="7654" cy="68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zh-CN" altLang="en-US" b="1" kern="0">
                  <a:solidFill>
                    <a:schemeClr val="bg1">
                      <a:lumMod val="50000"/>
                    </a:scheme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模型训练、选型与评估</a:t>
              </a: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4561205" y="5086350"/>
            <a:ext cx="5400040" cy="431800"/>
            <a:chOff x="7140" y="2760"/>
            <a:chExt cx="8504" cy="680"/>
          </a:xfrm>
        </p:grpSpPr>
        <p:sp>
          <p:nvSpPr>
            <p:cNvPr id="24" name="AutoShape 6"/>
            <p:cNvSpPr/>
            <p:nvPr/>
          </p:nvSpPr>
          <p:spPr>
            <a:xfrm>
              <a:off x="7140" y="2760"/>
              <a:ext cx="8504" cy="68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50000"/>
                <a:alpha val="8000"/>
              </a:schemeClr>
            </a:solidFill>
            <a:ln w="12700" cap="flat" cmpd="sng">
              <a:solidFill>
                <a:schemeClr val="bg1">
                  <a:lumMod val="50000"/>
                  <a:alpha val="40000"/>
                </a:scheme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5" name="AutoShape 7"/>
            <p:cNvSpPr/>
            <p:nvPr/>
          </p:nvSpPr>
          <p:spPr>
            <a:xfrm>
              <a:off x="7140" y="2760"/>
              <a:ext cx="85" cy="68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50000"/>
              </a:scheme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7140" y="2760"/>
              <a:ext cx="850" cy="68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b="1" kern="0">
                  <a:solidFill>
                    <a:schemeClr val="bg1">
                      <a:lumMod val="50000"/>
                    </a:scheme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07</a:t>
              </a: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7990" y="2760"/>
              <a:ext cx="7654" cy="68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zh-CN" altLang="en-US" b="1" kern="0">
                  <a:solidFill>
                    <a:schemeClr val="bg1">
                      <a:lumMod val="50000"/>
                    </a:scheme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智能体框架与工具使用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4561205" y="2308225"/>
            <a:ext cx="5400040" cy="431800"/>
            <a:chOff x="7140" y="2760"/>
            <a:chExt cx="8504" cy="680"/>
          </a:xfrm>
        </p:grpSpPr>
        <p:sp>
          <p:nvSpPr>
            <p:cNvPr id="29" name="AutoShape 6"/>
            <p:cNvSpPr/>
            <p:nvPr/>
          </p:nvSpPr>
          <p:spPr>
            <a:xfrm>
              <a:off x="7140" y="2760"/>
              <a:ext cx="8504" cy="680"/>
            </a:xfrm>
            <a:prstGeom prst="roundRect">
              <a:avLst>
                <a:gd name="adj" fmla="val 0"/>
              </a:avLst>
            </a:prstGeom>
            <a:solidFill>
              <a:srgbClr val="69F0AE">
                <a:alpha val="8000"/>
              </a:srgbClr>
            </a:solidFill>
            <a:ln w="12700" cap="flat" cmpd="sng">
              <a:solidFill>
                <a:srgbClr val="69F0AE">
                  <a:alpha val="4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0" name="AutoShape 7"/>
            <p:cNvSpPr/>
            <p:nvPr/>
          </p:nvSpPr>
          <p:spPr>
            <a:xfrm>
              <a:off x="7140" y="2760"/>
              <a:ext cx="85" cy="680"/>
            </a:xfrm>
            <a:prstGeom prst="roundRect">
              <a:avLst>
                <a:gd name="adj" fmla="val 0"/>
              </a:avLst>
            </a:prstGeom>
            <a:solidFill>
              <a:srgbClr val="69F0AE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7140" y="2760"/>
              <a:ext cx="850" cy="68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b="1" kern="0">
                  <a:solidFill>
                    <a:srgbClr val="69F0AE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02</a:t>
              </a: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7990" y="2760"/>
              <a:ext cx="7654" cy="68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zh-CN" altLang="en-US" b="1" kern="0">
                  <a:solidFill>
                    <a:srgbClr val="69F0AE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生成机制</a:t>
              </a: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4561205" y="2863850"/>
            <a:ext cx="5400040" cy="431800"/>
            <a:chOff x="7140" y="2760"/>
            <a:chExt cx="8504" cy="680"/>
          </a:xfrm>
        </p:grpSpPr>
        <p:sp>
          <p:nvSpPr>
            <p:cNvPr id="34" name="AutoShape 6"/>
            <p:cNvSpPr/>
            <p:nvPr/>
          </p:nvSpPr>
          <p:spPr>
            <a:xfrm>
              <a:off x="7140" y="2760"/>
              <a:ext cx="8504" cy="680"/>
            </a:xfrm>
            <a:prstGeom prst="roundRect">
              <a:avLst>
                <a:gd name="adj" fmla="val 0"/>
              </a:avLst>
            </a:prstGeom>
            <a:solidFill>
              <a:srgbClr val="69F0AE">
                <a:alpha val="8000"/>
              </a:srgbClr>
            </a:solidFill>
            <a:ln w="12700" cap="flat" cmpd="sng">
              <a:solidFill>
                <a:srgbClr val="69F0AE">
                  <a:alpha val="4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5" name="AutoShape 7"/>
            <p:cNvSpPr/>
            <p:nvPr/>
          </p:nvSpPr>
          <p:spPr>
            <a:xfrm>
              <a:off x="7140" y="2760"/>
              <a:ext cx="85" cy="680"/>
            </a:xfrm>
            <a:prstGeom prst="roundRect">
              <a:avLst>
                <a:gd name="adj" fmla="val 0"/>
              </a:avLst>
            </a:prstGeom>
            <a:solidFill>
              <a:srgbClr val="69F0AE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7140" y="2760"/>
              <a:ext cx="850" cy="68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b="1" kern="0">
                  <a:solidFill>
                    <a:srgbClr val="69F0AE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03</a:t>
              </a: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7990" y="2760"/>
              <a:ext cx="7654" cy="68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b="1" kern="0">
                  <a:solidFill>
                    <a:srgbClr val="69F0AE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token </a:t>
              </a:r>
              <a:r>
                <a:rPr lang="zh-CN" altLang="en-US" b="1" kern="0">
                  <a:solidFill>
                    <a:srgbClr val="69F0AE"/>
                  </a:solidFill>
                  <a:latin typeface="Noto Sans SC" panose="020B0200000000000000" charset="-122"/>
                  <a:ea typeface="宋体" panose="02010600030101010101" pitchFamily="2" charset="-122"/>
                  <a:cs typeface="Noto Sans SC" panose="020B0200000000000000" charset="-122"/>
                </a:rPr>
                <a:t>和</a:t>
              </a:r>
              <a:r>
                <a:rPr lang="en-US" altLang="zh-CN" b="1" kern="0">
                  <a:solidFill>
                    <a:srgbClr val="69F0AE"/>
                  </a:solidFill>
                  <a:latin typeface="Noto Sans SC" panose="020B0200000000000000" charset="-122"/>
                  <a:ea typeface="宋体" panose="02010600030101010101" pitchFamily="2" charset="-122"/>
                  <a:cs typeface="Noto Sans SC" panose="020B0200000000000000" charset="-122"/>
                </a:rPr>
                <a:t> </a:t>
              </a:r>
              <a:r>
                <a:rPr lang="en-US" altLang="zh-CN" b="1" kern="0">
                  <a:solidFill>
                    <a:srgbClr val="69F0AE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embedding</a:t>
              </a: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4561205" y="3419475"/>
            <a:ext cx="5400040" cy="431800"/>
            <a:chOff x="7140" y="2760"/>
            <a:chExt cx="8504" cy="680"/>
          </a:xfrm>
        </p:grpSpPr>
        <p:sp>
          <p:nvSpPr>
            <p:cNvPr id="39" name="AutoShape 6"/>
            <p:cNvSpPr/>
            <p:nvPr/>
          </p:nvSpPr>
          <p:spPr>
            <a:xfrm>
              <a:off x="7140" y="2760"/>
              <a:ext cx="8504" cy="680"/>
            </a:xfrm>
            <a:prstGeom prst="roundRect">
              <a:avLst>
                <a:gd name="adj" fmla="val 0"/>
              </a:avLst>
            </a:prstGeom>
            <a:solidFill>
              <a:srgbClr val="FFE3B1">
                <a:alpha val="8000"/>
              </a:srgbClr>
            </a:solidFill>
            <a:ln w="12700" cap="flat" cmpd="sng">
              <a:solidFill>
                <a:srgbClr val="FFE3B1">
                  <a:alpha val="4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0" name="AutoShape 7"/>
            <p:cNvSpPr/>
            <p:nvPr/>
          </p:nvSpPr>
          <p:spPr>
            <a:xfrm>
              <a:off x="7140" y="2760"/>
              <a:ext cx="85" cy="680"/>
            </a:xfrm>
            <a:prstGeom prst="roundRect">
              <a:avLst>
                <a:gd name="adj" fmla="val 0"/>
              </a:avLst>
            </a:prstGeom>
            <a:solidFill>
              <a:srgbClr val="FFE3B1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7140" y="2760"/>
              <a:ext cx="850" cy="68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b="1" kern="0">
                  <a:solidFill>
                    <a:srgbClr val="FFE3B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04</a:t>
              </a: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7990" y="2760"/>
              <a:ext cx="7654" cy="68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zh-CN" altLang="en-US" b="1" kern="0">
                  <a:solidFill>
                    <a:srgbClr val="FFE3B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注意力、算力和模型大小</a:t>
              </a: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4561205" y="4530725"/>
            <a:ext cx="5400040" cy="431800"/>
            <a:chOff x="7140" y="2760"/>
            <a:chExt cx="8504" cy="680"/>
          </a:xfrm>
        </p:grpSpPr>
        <p:sp>
          <p:nvSpPr>
            <p:cNvPr id="44" name="AutoShape 6"/>
            <p:cNvSpPr/>
            <p:nvPr/>
          </p:nvSpPr>
          <p:spPr>
            <a:xfrm>
              <a:off x="7140" y="2760"/>
              <a:ext cx="8504" cy="68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50000"/>
                <a:alpha val="8000"/>
              </a:schemeClr>
            </a:solidFill>
            <a:ln w="12700" cap="flat" cmpd="sng">
              <a:solidFill>
                <a:schemeClr val="bg1">
                  <a:lumMod val="50000"/>
                  <a:alpha val="40000"/>
                </a:scheme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5" name="AutoShape 7"/>
            <p:cNvSpPr/>
            <p:nvPr/>
          </p:nvSpPr>
          <p:spPr>
            <a:xfrm>
              <a:off x="7140" y="2760"/>
              <a:ext cx="85" cy="68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50000"/>
              </a:scheme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7140" y="2760"/>
              <a:ext cx="850" cy="68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b="1" kern="0">
                  <a:solidFill>
                    <a:schemeClr val="bg1">
                      <a:lumMod val="50000"/>
                    </a:scheme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06</a:t>
              </a: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7990" y="2760"/>
              <a:ext cx="7654" cy="68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zh-CN" altLang="en-US" b="1" kern="0">
                  <a:solidFill>
                    <a:schemeClr val="bg1">
                      <a:lumMod val="50000"/>
                    </a:scheme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提示词技术</a:t>
              </a: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4561205" y="5641975"/>
            <a:ext cx="5400040" cy="431800"/>
            <a:chOff x="7140" y="2760"/>
            <a:chExt cx="8504" cy="680"/>
          </a:xfrm>
        </p:grpSpPr>
        <p:sp>
          <p:nvSpPr>
            <p:cNvPr id="49" name="AutoShape 6"/>
            <p:cNvSpPr/>
            <p:nvPr/>
          </p:nvSpPr>
          <p:spPr>
            <a:xfrm>
              <a:off x="7140" y="2760"/>
              <a:ext cx="8504" cy="68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50000"/>
                <a:alpha val="8000"/>
              </a:schemeClr>
            </a:solidFill>
            <a:ln w="12700" cap="flat" cmpd="sng">
              <a:solidFill>
                <a:schemeClr val="bg1">
                  <a:lumMod val="50000"/>
                  <a:alpha val="40000"/>
                </a:scheme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0" name="AutoShape 7"/>
            <p:cNvSpPr/>
            <p:nvPr/>
          </p:nvSpPr>
          <p:spPr>
            <a:xfrm>
              <a:off x="7140" y="2760"/>
              <a:ext cx="85" cy="68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50000"/>
              </a:scheme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7140" y="2760"/>
              <a:ext cx="850" cy="68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b="1" kern="0">
                  <a:solidFill>
                    <a:schemeClr val="bg1">
                      <a:lumMod val="50000"/>
                    </a:scheme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08</a:t>
              </a: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7990" y="2760"/>
              <a:ext cx="7654" cy="68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zh-CN" altLang="en-US" b="1" kern="0">
                  <a:solidFill>
                    <a:schemeClr val="bg1">
                      <a:lumMod val="50000"/>
                    </a:scheme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智能体记忆与案例剖析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6" grpId="1" animBg="1"/>
      <p:bldP spid="5" grpId="0" bldLvl="0" animBg="1"/>
      <p:bldP spid="5" grpId="1" animBg="1"/>
      <p:bldP spid="7" grpId="0" bldLvl="0" animBg="1"/>
      <p:bldP spid="7" grpId="1" animBg="1"/>
      <p:bldP spid="8" grpId="0" bldLvl="0" animBg="1"/>
      <p:bldP spid="8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Transformer-modifi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165" y="1684655"/>
            <a:ext cx="2979420" cy="443547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Transformer vs RNN / LSTM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</a:t>
            </a:fld>
            <a:endParaRPr lang="en-US" altLang="zh-CN"/>
          </a:p>
        </p:txBody>
      </p:sp>
      <p:sp>
        <p:nvSpPr>
          <p:cNvPr id="14" name="文本框 6"/>
          <p:cNvSpPr/>
          <p:nvPr/>
        </p:nvSpPr>
        <p:spPr>
          <a:xfrm>
            <a:off x="7703820" y="4197033"/>
            <a:ext cx="3570605" cy="19234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zh-CN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RNN/LSTM——</a:t>
            </a:r>
            <a:r>
              <a:rPr lang="zh-CN" alt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线性计算</a:t>
            </a:r>
            <a:endParaRPr lang="en-US" altLang="zh-CN" b="1" dirty="0">
              <a:solidFill>
                <a:schemeClr val="accent6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信息线性运算，早期处理的信息会有明显衰减问题</a:t>
            </a:r>
          </a:p>
          <a:p>
            <a:pPr marL="285750" indent="-2857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每一步计算依赖上一步结果，只能顺序处理</a:t>
            </a:r>
          </a:p>
        </p:txBody>
      </p:sp>
      <p:sp>
        <p:nvSpPr>
          <p:cNvPr id="17" name="文本框 6"/>
          <p:cNvSpPr/>
          <p:nvPr/>
        </p:nvSpPr>
        <p:spPr>
          <a:xfrm>
            <a:off x="3410585" y="4197033"/>
            <a:ext cx="3701415" cy="19234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zh-CN" b="1" u="none" strike="noStrike" dirty="0">
                <a:solidFill>
                  <a:srgbClr val="00E5FF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Transformer——</a:t>
            </a:r>
            <a:r>
              <a:rPr lang="zh-CN" altLang="en-US" b="1" dirty="0">
                <a:solidFill>
                  <a:srgbClr val="00E5FF"/>
                </a:solidFill>
                <a:latin typeface="微软雅黑" panose="020B0503020204020204" charset="-122"/>
                <a:ea typeface="微软雅黑" panose="020B0503020204020204" charset="-122"/>
              </a:rPr>
              <a:t>并行计算</a:t>
            </a:r>
            <a:endParaRPr lang="en-US" altLang="zh-CN" b="1" dirty="0">
              <a:solidFill>
                <a:srgbClr val="00E5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同一时刻的全局信息同时参与计算，无信息衰减</a:t>
            </a:r>
          </a:p>
          <a:p>
            <a:pPr marL="285750" indent="-2857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注意力机制的计算可以拆分为多个互不干扰的过程，这些过程可以并行计算</a:t>
            </a:r>
          </a:p>
          <a:p>
            <a:pPr marL="285750" indent="-2857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zh-CN" altLang="en-US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任意多边形: 形状 20"/>
          <p:cNvSpPr/>
          <p:nvPr/>
        </p:nvSpPr>
        <p:spPr>
          <a:xfrm flipV="1">
            <a:off x="2763520" y="2698115"/>
            <a:ext cx="1005840" cy="885190"/>
          </a:xfrm>
          <a:custGeom>
            <a:avLst/>
            <a:gdLst>
              <a:gd name="connsiteX0" fmla="*/ 0 w 1430931"/>
              <a:gd name="connsiteY0" fmla="*/ 0 h 600293"/>
              <a:gd name="connsiteX1" fmla="*/ 830638 w 1430931"/>
              <a:gd name="connsiteY1" fmla="*/ 0 h 600293"/>
              <a:gd name="connsiteX2" fmla="*/ 1430931 w 1430931"/>
              <a:gd name="connsiteY2" fmla="*/ 600293 h 600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30931" h="600293">
                <a:moveTo>
                  <a:pt x="0" y="0"/>
                </a:moveTo>
                <a:lnTo>
                  <a:pt x="830638" y="0"/>
                </a:lnTo>
                <a:lnTo>
                  <a:pt x="1430931" y="600293"/>
                </a:lnTo>
              </a:path>
            </a:pathLst>
          </a:custGeom>
          <a:noFill/>
          <a:ln w="25400">
            <a:solidFill>
              <a:srgbClr val="00E5FF"/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RNN-modifi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8088" y="2415540"/>
            <a:ext cx="3862070" cy="1013460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3769995" y="1562735"/>
            <a:ext cx="2247900" cy="2341245"/>
            <a:chOff x="5937" y="4829"/>
            <a:chExt cx="3540" cy="3687"/>
          </a:xfrm>
        </p:grpSpPr>
        <p:sp>
          <p:nvSpPr>
            <p:cNvPr id="18" name="矩形: 圆角 17"/>
            <p:cNvSpPr/>
            <p:nvPr/>
          </p:nvSpPr>
          <p:spPr>
            <a:xfrm>
              <a:off x="5937" y="4829"/>
              <a:ext cx="3540" cy="3687"/>
            </a:xfrm>
            <a:prstGeom prst="roundRect">
              <a:avLst>
                <a:gd name="adj" fmla="val 10329"/>
              </a:avLst>
            </a:prstGeom>
            <a:noFill/>
            <a:ln w="25400">
              <a:solidFill>
                <a:srgbClr val="00E5FF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 descr="Attention-struct-modified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75" y="5021"/>
              <a:ext cx="2464" cy="3304"/>
            </a:xfrm>
            <a:prstGeom prst="rect">
              <a:avLst/>
            </a:prstGeom>
          </p:spPr>
        </p:pic>
      </p:grpSp>
      <p:cxnSp>
        <p:nvCxnSpPr>
          <p:cNvPr id="15" name="直接连接符 14"/>
          <p:cNvCxnSpPr/>
          <p:nvPr/>
        </p:nvCxnSpPr>
        <p:spPr>
          <a:xfrm>
            <a:off x="7337425" y="1811020"/>
            <a:ext cx="0" cy="4018915"/>
          </a:xfrm>
          <a:prstGeom prst="line">
            <a:avLst/>
          </a:prstGeom>
          <a:ln w="19050">
            <a:solidFill>
              <a:schemeClr val="bg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 animBg="1"/>
      <p:bldP spid="14" grpId="1" animBg="1"/>
      <p:bldP spid="17" grpId="0" uiExpand="1" build="p" animBg="1"/>
      <p:bldP spid="17" grpId="1" animBg="1"/>
      <p:bldP spid="21" grpId="0" animBg="1"/>
      <p:bldP spid="21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注意力机制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zh-CN" altLang="en-US"/>
              <a:t>注意力机制是一种让模型在处理每个词时，能同时“关注”所有其他词，</a:t>
            </a:r>
          </a:p>
          <a:p>
            <a:r>
              <a:rPr lang="zh-CN" altLang="en-US"/>
              <a:t>并根据相关性动态分配权重来聚合全局信息的计算方式。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</a:t>
            </a:fld>
            <a:endParaRPr lang="en-US" altLang="zh-CN"/>
          </a:p>
        </p:txBody>
      </p:sp>
      <p:graphicFrame>
        <p:nvGraphicFramePr>
          <p:cNvPr id="8" name="Table 3"/>
          <p:cNvGraphicFramePr/>
          <p:nvPr/>
        </p:nvGraphicFramePr>
        <p:xfrm>
          <a:off x="3001963" y="3366135"/>
          <a:ext cx="2369300" cy="21600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srgbClr val="69F0AE">
                      <a:alpha val="40000"/>
                    </a:srgbClr>
                  </a:outerShdw>
                </a:effectLst>
                <a:tableStyleId>{2D5ABB26-0587-4C30-8999-92F81FD0307C}</a:tableStyleId>
              </a:tblPr>
              <a:tblGrid>
                <a:gridCol w="74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4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40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40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4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4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.96</a:t>
                      </a:r>
                    </a:p>
                  </a:txBody>
                  <a:tcPr anchor="ctr">
                    <a:solidFill>
                      <a:srgbClr val="69F0AE">
                        <a:alpha val="9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4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.01</a:t>
                      </a:r>
                    </a:p>
                  </a:txBody>
                  <a:tcPr anchor="ctr">
                    <a:solidFill>
                      <a:srgbClr val="69F0AE">
                        <a:alpha val="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4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.03</a:t>
                      </a:r>
                    </a:p>
                  </a:txBody>
                  <a:tcPr anchor="ctr">
                    <a:solidFill>
                      <a:srgbClr val="69F0AE">
                        <a:alpha val="3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40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4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.05</a:t>
                      </a:r>
                    </a:p>
                  </a:txBody>
                  <a:tcPr anchor="ctr">
                    <a:solidFill>
                      <a:srgbClr val="69F0AE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4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.90</a:t>
                      </a:r>
                    </a:p>
                  </a:txBody>
                  <a:tcPr anchor="ctr">
                    <a:solidFill>
                      <a:srgbClr val="69F0AE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4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.05</a:t>
                      </a:r>
                    </a:p>
                  </a:txBody>
                  <a:tcPr anchor="ctr">
                    <a:solidFill>
                      <a:srgbClr val="69F0AE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40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you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4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.09</a:t>
                      </a:r>
                    </a:p>
                  </a:txBody>
                  <a:tcPr anchor="ctr">
                    <a:solidFill>
                      <a:srgbClr val="69F0AE">
                        <a:alpha val="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4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.12</a:t>
                      </a:r>
                    </a:p>
                  </a:txBody>
                  <a:tcPr anchor="ctr">
                    <a:solidFill>
                      <a:srgbClr val="69F0AE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4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.79</a:t>
                      </a:r>
                    </a:p>
                  </a:txBody>
                  <a:tcPr anchor="ctr">
                    <a:solidFill>
                      <a:srgbClr val="69F0AE">
                        <a:alpha val="79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" name="Table 4"/>
          <p:cNvGraphicFramePr/>
          <p:nvPr/>
        </p:nvGraphicFramePr>
        <p:xfrm>
          <a:off x="6878320" y="3366135"/>
          <a:ext cx="2398510" cy="21600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srgbClr val="B388FF">
                      <a:alpha val="40000"/>
                    </a:srgbClr>
                  </a:outerShdw>
                </a:effectLst>
                <a:tableStyleId>{2D5ABB26-0587-4C30-8999-92F81FD0307C}</a:tableStyleId>
              </a:tblPr>
              <a:tblGrid>
                <a:gridCol w="77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40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我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40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40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4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je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4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.94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88FF">
                        <a:alpha val="9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4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.02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88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4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.04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88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4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t'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4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.11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88FF">
                        <a:alpha val="1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4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.01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88FF">
                        <a:alpha val="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4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.88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88FF">
                        <a:alpha val="8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40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4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.03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88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4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.95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88FF">
                        <a:alpha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4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.02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88FF">
                        <a:alpha val="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AutoShape 6"/>
          <p:cNvSpPr/>
          <p:nvPr/>
        </p:nvSpPr>
        <p:spPr>
          <a:xfrm>
            <a:off x="6878638" y="5777230"/>
            <a:ext cx="2397760" cy="398780"/>
          </a:xfrm>
          <a:prstGeom prst="roundRect">
            <a:avLst>
              <a:gd name="adj" fmla="val 0"/>
            </a:avLst>
          </a:prstGeom>
          <a:solidFill>
            <a:srgbClr val="B388FF">
              <a:alpha val="8000"/>
            </a:srgbClr>
          </a:solidFill>
          <a:ln w="25400" cap="flat" cmpd="sng">
            <a:solidFill>
              <a:srgbClr val="B388FF">
                <a:alpha val="100000"/>
              </a:srgbClr>
            </a:solidFill>
            <a:prstDash val="solid"/>
            <a:round/>
          </a:ln>
          <a:effectLst>
            <a:outerShdw blurRad="152400" dir="2700000" algn="tl" rotWithShape="0">
              <a:srgbClr val="06F0D2">
                <a:alpha val="4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sz="1600" i="0" u="none" strike="noStrike">
                <a:solidFill>
                  <a:srgbClr val="FFFFFF"/>
                </a:solidFill>
                <a:latin typeface="Noto Sans SC" panose="020B0200000000000000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中译法</a:t>
            </a:r>
          </a:p>
        </p:txBody>
      </p:sp>
      <p:sp>
        <p:nvSpPr>
          <p:cNvPr id="45" name="AutoShape 6"/>
          <p:cNvSpPr/>
          <p:nvPr/>
        </p:nvSpPr>
        <p:spPr>
          <a:xfrm>
            <a:off x="3001645" y="5777865"/>
            <a:ext cx="2369820" cy="398145"/>
          </a:xfrm>
          <a:prstGeom prst="roundRect">
            <a:avLst>
              <a:gd name="adj" fmla="val 0"/>
            </a:avLst>
          </a:prstGeom>
          <a:solidFill>
            <a:srgbClr val="69F0AE">
              <a:alpha val="8000"/>
            </a:srgbClr>
          </a:solidFill>
          <a:ln w="25400" cap="flat" cmpd="sng">
            <a:solidFill>
              <a:srgbClr val="69F0AE">
                <a:alpha val="100000"/>
              </a:srgbClr>
            </a:solidFill>
            <a:prstDash val="solid"/>
            <a:round/>
          </a:ln>
          <a:effectLst>
            <a:outerShdw blurRad="152400" dir="2700000" algn="tl" rotWithShape="0">
              <a:srgbClr val="06F0D2">
                <a:alpha val="4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indent="0" algn="ctr" fontAlgn="auto">
              <a:spcAft>
                <a:spcPts val="600"/>
              </a:spcAft>
              <a:defRPr/>
            </a:pPr>
            <a:r>
              <a:rPr lang="zh-CN" sz="1600" i="0" u="none" strike="noStrike">
                <a:solidFill>
                  <a:schemeClr val="bg1"/>
                </a:solidFill>
                <a:latin typeface="Noto Sans SC" panose="020B0200000000000000" charset="-122"/>
                <a:ea typeface="宋体" panose="02010600030101010101" pitchFamily="2" charset="-122"/>
                <a:cs typeface="Noto Sans SC" panose="020B0200000000000000" charset="-122"/>
                <a:sym typeface="+mn-ea"/>
              </a:rPr>
              <a:t>中译英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4" grpId="1" build="p"/>
      <p:bldP spid="15" grpId="0" bldLvl="0" animBg="1"/>
      <p:bldP spid="15" grpId="1" animBg="1"/>
      <p:bldP spid="45" grpId="0" bldLvl="0" animBg="1"/>
      <p:bldP spid="45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结合注意力的自回归生成：一个例子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</a:t>
            </a:fld>
            <a:endParaRPr lang="en-US" altLang="zh-CN"/>
          </a:p>
        </p:txBody>
      </p:sp>
      <p:graphicFrame>
        <p:nvGraphicFramePr>
          <p:cNvPr id="7" name="表格 6"/>
          <p:cNvGraphicFramePr/>
          <p:nvPr/>
        </p:nvGraphicFramePr>
        <p:xfrm>
          <a:off x="1332230" y="5587365"/>
          <a:ext cx="912114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3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34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34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34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34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34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34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34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港科大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在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今年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排名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3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第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33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位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。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400">
                        <a:solidFill>
                          <a:srgbClr val="69F0AE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/>
          <p:nvPr/>
        </p:nvGraphicFramePr>
        <p:xfrm>
          <a:off x="1332230" y="1777365"/>
          <a:ext cx="405384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3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34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34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港科大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在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今年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>
                        <a:solidFill>
                          <a:srgbClr val="69F0AE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/>
          <p:nvPr/>
        </p:nvGraphicFramePr>
        <p:xfrm>
          <a:off x="1332230" y="2539365"/>
          <a:ext cx="506730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3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34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34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34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港科大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在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今年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排名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>
                        <a:solidFill>
                          <a:srgbClr val="69F0AE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/>
          <p:nvPr/>
        </p:nvGraphicFramePr>
        <p:xfrm>
          <a:off x="1332230" y="3301365"/>
          <a:ext cx="608076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3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34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34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34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34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港科大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在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今年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排名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第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>
                        <a:solidFill>
                          <a:srgbClr val="69F0AE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/>
          <p:nvPr/>
        </p:nvGraphicFramePr>
        <p:xfrm>
          <a:off x="1332230" y="4063365"/>
          <a:ext cx="709422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3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34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34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34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34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34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港科大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在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今年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排名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第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33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>
                        <a:solidFill>
                          <a:srgbClr val="69F0AE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/>
          <p:nvPr/>
        </p:nvGraphicFramePr>
        <p:xfrm>
          <a:off x="1332230" y="4825365"/>
          <a:ext cx="81076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3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34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34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34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34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34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34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港科大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在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今年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排名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3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第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33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位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>
                        <a:solidFill>
                          <a:srgbClr val="69F0AE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环形箭头 15"/>
          <p:cNvSpPr/>
          <p:nvPr/>
        </p:nvSpPr>
        <p:spPr>
          <a:xfrm>
            <a:off x="5002530" y="1777365"/>
            <a:ext cx="1186180" cy="1186180"/>
          </a:xfrm>
          <a:prstGeom prst="circularArrow">
            <a:avLst>
              <a:gd name="adj1" fmla="val 8606"/>
              <a:gd name="adj2" fmla="val 1142319"/>
              <a:gd name="adj3" fmla="val 20385647"/>
              <a:gd name="adj4" fmla="val 16064854"/>
              <a:gd name="adj5" fmla="val 9651"/>
            </a:avLst>
          </a:prstGeom>
          <a:solidFill>
            <a:srgbClr val="00E5F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" name="环形箭头 16"/>
          <p:cNvSpPr/>
          <p:nvPr/>
        </p:nvSpPr>
        <p:spPr>
          <a:xfrm>
            <a:off x="6035040" y="2539365"/>
            <a:ext cx="1186180" cy="1186180"/>
          </a:xfrm>
          <a:prstGeom prst="circularArrow">
            <a:avLst>
              <a:gd name="adj1" fmla="val 8606"/>
              <a:gd name="adj2" fmla="val 1142319"/>
              <a:gd name="adj3" fmla="val 20385647"/>
              <a:gd name="adj4" fmla="val 16064854"/>
              <a:gd name="adj5" fmla="val 9651"/>
            </a:avLst>
          </a:prstGeom>
          <a:solidFill>
            <a:srgbClr val="00E5F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" name="环形箭头 17"/>
          <p:cNvSpPr/>
          <p:nvPr/>
        </p:nvSpPr>
        <p:spPr>
          <a:xfrm>
            <a:off x="7018655" y="3301365"/>
            <a:ext cx="1186180" cy="1186180"/>
          </a:xfrm>
          <a:prstGeom prst="circularArrow">
            <a:avLst>
              <a:gd name="adj1" fmla="val 8606"/>
              <a:gd name="adj2" fmla="val 1142319"/>
              <a:gd name="adj3" fmla="val 20385647"/>
              <a:gd name="adj4" fmla="val 16064854"/>
              <a:gd name="adj5" fmla="val 9651"/>
            </a:avLst>
          </a:prstGeom>
          <a:solidFill>
            <a:srgbClr val="00E5F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环形箭头 18"/>
          <p:cNvSpPr/>
          <p:nvPr/>
        </p:nvSpPr>
        <p:spPr>
          <a:xfrm>
            <a:off x="8036560" y="4063365"/>
            <a:ext cx="1186180" cy="1186180"/>
          </a:xfrm>
          <a:prstGeom prst="circularArrow">
            <a:avLst>
              <a:gd name="adj1" fmla="val 8606"/>
              <a:gd name="adj2" fmla="val 1142319"/>
              <a:gd name="adj3" fmla="val 20385647"/>
              <a:gd name="adj4" fmla="val 16064854"/>
              <a:gd name="adj5" fmla="val 9651"/>
            </a:avLst>
          </a:prstGeom>
          <a:solidFill>
            <a:srgbClr val="00E5F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环形箭头 19"/>
          <p:cNvSpPr/>
          <p:nvPr/>
        </p:nvSpPr>
        <p:spPr>
          <a:xfrm>
            <a:off x="9074785" y="4825365"/>
            <a:ext cx="1186180" cy="1186180"/>
          </a:xfrm>
          <a:prstGeom prst="circularArrow">
            <a:avLst>
              <a:gd name="adj1" fmla="val 8606"/>
              <a:gd name="adj2" fmla="val 1142319"/>
              <a:gd name="adj3" fmla="val 20385647"/>
              <a:gd name="adj4" fmla="val 16064854"/>
              <a:gd name="adj5" fmla="val 9651"/>
            </a:avLst>
          </a:prstGeom>
          <a:solidFill>
            <a:srgbClr val="00E5F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66215" y="47561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372610" y="1774825"/>
            <a:ext cx="1012825" cy="3759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zh-CN" altLang="en-US" b="1">
                <a:solidFill>
                  <a:srgbClr val="69F0AE"/>
                </a:solidFill>
              </a:rPr>
              <a:t>排名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385435" y="2541905"/>
            <a:ext cx="1012825" cy="3759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zh-CN" altLang="en-US" b="1">
                <a:solidFill>
                  <a:srgbClr val="69F0AE"/>
                </a:solidFill>
              </a:rPr>
              <a:t>第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400165" y="3306445"/>
            <a:ext cx="1012825" cy="3759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b="1">
                <a:solidFill>
                  <a:srgbClr val="69F0AE"/>
                </a:solidFill>
              </a:rPr>
              <a:t>33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412990" y="4068445"/>
            <a:ext cx="1012825" cy="3759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zh-CN" altLang="en-US" b="1">
                <a:solidFill>
                  <a:srgbClr val="69F0AE"/>
                </a:solidFill>
              </a:rPr>
              <a:t>位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8425815" y="4827905"/>
            <a:ext cx="1012825" cy="3759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zh-CN" altLang="en-US" b="1">
                <a:solidFill>
                  <a:srgbClr val="69F0AE"/>
                </a:solidFill>
              </a:rPr>
              <a:t>。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9440545" y="5587365"/>
            <a:ext cx="1012825" cy="3759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rgbClr val="69F0AE"/>
                </a:solidFill>
              </a:rPr>
              <a:t>&lt;|end|&gt;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16" grpId="1" animBg="1"/>
      <p:bldP spid="17" grpId="0" bldLvl="0" animBg="1"/>
      <p:bldP spid="17" grpId="1" animBg="1"/>
      <p:bldP spid="18" grpId="0" bldLvl="0" animBg="1"/>
      <p:bldP spid="18" grpId="1" animBg="1"/>
      <p:bldP spid="19" grpId="0" bldLvl="0" animBg="1"/>
      <p:bldP spid="19" grpId="1" animBg="1"/>
      <p:bldP spid="20" grpId="0" bldLvl="0" animBg="1"/>
      <p:bldP spid="20" grpId="1" animBg="1"/>
      <p:bldP spid="4" grpId="0"/>
      <p:bldP spid="4" grpId="1"/>
      <p:bldP spid="6" grpId="0"/>
      <p:bldP spid="6" grpId="1"/>
      <p:bldP spid="9" grpId="0"/>
      <p:bldP spid="9" grpId="1"/>
      <p:bldP spid="14" grpId="0"/>
      <p:bldP spid="14" grpId="1"/>
      <p:bldP spid="15" grpId="0"/>
      <p:bldP spid="15" grpId="1"/>
      <p:bldP spid="21" grpId="0"/>
      <p:bldP spid="21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注意力机制：既是武器，也是枷锁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762000" y="1825625"/>
                <a:ext cx="5400000" cy="4351655"/>
              </a:xfrm>
            </p:spPr>
            <p:txBody>
              <a:bodyPr/>
              <a:lstStyle/>
              <a:p>
                <a:r>
                  <a:rPr lang="zh-CN" altLang="en-US" dirty="0"/>
                  <a:t>计算量“黑洞”</a:t>
                </a:r>
              </a:p>
              <a:p>
                <a:pPr lvl="1"/>
                <a:r>
                  <a:rPr lang="zh-CN" altLang="en-US" dirty="0"/>
                  <a:t>构造长度为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𝑛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的文本的相关性表，需要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𝑛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i="1" dirty="0">
                    <a:latin typeface="DejaVu Math TeX Gyre" panose="02000503000000000000" charset="0"/>
                    <a:cs typeface="DejaVu Math TeX Gyre" panose="02000503000000000000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的计算量</m:t>
                    </m:r>
                  </m:oMath>
                </a14:m>
                <a:endParaRPr lang="en-US" altLang="zh-CN" i="1" dirty="0">
                  <a:latin typeface="DejaVu Math TeX Gyre" panose="02000503000000000000" charset="0"/>
                  <a:cs typeface="DejaVu Math TeX Gyre" panose="02000503000000000000" charset="0"/>
                </a:endParaRPr>
              </a:p>
              <a:p>
                <a:pPr lvl="1"/>
                <a:r>
                  <a:rPr lang="zh-CN" altLang="en-US" dirty="0">
                    <a:latin typeface="DejaVu Math TeX Gyre" panose="02000503000000000000" charset="0"/>
                    <a:cs typeface="DejaVu Math TeX Gyre" panose="02000503000000000000" charset="0"/>
                  </a:rPr>
                  <a:t>参数量随着可支持的上下文快速增长</a:t>
                </a:r>
                <a:endParaRPr lang="en-US" altLang="zh-CN" i="1" dirty="0">
                  <a:latin typeface="DejaVu Math TeX Gyre" panose="02000503000000000000" charset="0"/>
                  <a:cs typeface="DejaVu Math TeX Gyre" panose="02000503000000000000" charset="0"/>
                </a:endParaRPr>
              </a:p>
              <a:p>
                <a:pPr lvl="1"/>
                <a:r>
                  <a:rPr lang="zh-CN" altLang="en-US" dirty="0">
                    <a:latin typeface="DejaVu Math TeX Gyre" panose="02000503000000000000" charset="0"/>
                    <a:cs typeface="DejaVu Math TeX Gyre" panose="02000503000000000000" charset="0"/>
                  </a:rPr>
                  <a:t>在训练的过程中尤其需要大量计算</a:t>
                </a:r>
              </a:p>
              <a:p>
                <a:pPr lvl="1"/>
                <a:r>
                  <a:rPr lang="zh-CN" altLang="en-US" dirty="0">
                    <a:latin typeface="DejaVu Math TeX Gyre" panose="02000503000000000000" charset="0"/>
                    <a:cs typeface="DejaVu Math TeX Gyre" panose="02000503000000000000" charset="0"/>
                  </a:rPr>
                  <a:t>从</a:t>
                </a:r>
                <a:r>
                  <a:rPr lang="en-US" altLang="zh-CN" dirty="0">
                    <a:latin typeface="DejaVu Math TeX Gyre" panose="02000503000000000000" charset="0"/>
                    <a:cs typeface="DejaVu Math TeX Gyre" panose="02000503000000000000" charset="0"/>
                  </a:rPr>
                  <a:t> Transformer </a:t>
                </a:r>
                <a:r>
                  <a:rPr lang="zh-CN" altLang="en-US" dirty="0">
                    <a:latin typeface="DejaVu Math TeX Gyre" panose="02000503000000000000" charset="0"/>
                    <a:cs typeface="DejaVu Math TeX Gyre" panose="02000503000000000000" charset="0"/>
                  </a:rPr>
                  <a:t>提出（</a:t>
                </a:r>
                <a:r>
                  <a:rPr lang="en-US" altLang="zh-CN" dirty="0">
                    <a:latin typeface="DejaVu Math TeX Gyre" panose="02000503000000000000" charset="0"/>
                    <a:cs typeface="DejaVu Math TeX Gyre" panose="02000503000000000000" charset="0"/>
                  </a:rPr>
                  <a:t>2016</a:t>
                </a:r>
                <a:r>
                  <a:rPr lang="zh-CN" altLang="en-US" dirty="0">
                    <a:latin typeface="DejaVu Math TeX Gyre" panose="02000503000000000000" charset="0"/>
                    <a:cs typeface="DejaVu Math TeX Gyre" panose="02000503000000000000" charset="0"/>
                  </a:rPr>
                  <a:t>）到</a:t>
                </a:r>
                <a:r>
                  <a:rPr lang="en-US" altLang="zh-CN" dirty="0">
                    <a:latin typeface="DejaVu Math TeX Gyre" panose="02000503000000000000" charset="0"/>
                    <a:cs typeface="DejaVu Math TeX Gyre" panose="02000503000000000000" charset="0"/>
                  </a:rPr>
                  <a:t> LLM </a:t>
                </a:r>
                <a:r>
                  <a:rPr lang="zh-CN" altLang="en-US" dirty="0">
                    <a:latin typeface="DejaVu Math TeX Gyre" panose="02000503000000000000" charset="0"/>
                    <a:cs typeface="DejaVu Math TeX Gyre" panose="02000503000000000000" charset="0"/>
                  </a:rPr>
                  <a:t>商用（</a:t>
                </a:r>
                <a:r>
                  <a:rPr lang="en-US" altLang="zh-CN" dirty="0">
                    <a:latin typeface="DejaVu Math TeX Gyre" panose="02000503000000000000" charset="0"/>
                    <a:cs typeface="DejaVu Math TeX Gyre" panose="02000503000000000000" charset="0"/>
                  </a:rPr>
                  <a:t>2023</a:t>
                </a:r>
                <a:r>
                  <a:rPr lang="zh-CN" altLang="en-US" dirty="0">
                    <a:latin typeface="DejaVu Math TeX Gyre" panose="02000503000000000000" charset="0"/>
                    <a:cs typeface="DejaVu Math TeX Gyre" panose="02000503000000000000" charset="0"/>
                  </a:rPr>
                  <a:t>）用了</a:t>
                </a:r>
                <a:r>
                  <a:rPr lang="en-US" altLang="zh-CN" dirty="0">
                    <a:latin typeface="DejaVu Math TeX Gyre" panose="02000503000000000000" charset="0"/>
                    <a:cs typeface="DejaVu Math TeX Gyre" panose="02000503000000000000" charset="0"/>
                  </a:rPr>
                  <a:t> 7 </a:t>
                </a:r>
                <a:r>
                  <a:rPr lang="zh-CN" altLang="en-US" dirty="0">
                    <a:latin typeface="DejaVu Math TeX Gyre" panose="02000503000000000000" charset="0"/>
                    <a:cs typeface="DejaVu Math TeX Gyre" panose="02000503000000000000" charset="0"/>
                  </a:rPr>
                  <a:t>年时间</a:t>
                </a:r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825625"/>
                <a:ext cx="5400000" cy="4351655"/>
              </a:xfrm>
              <a:blipFill>
                <a:blip r:embed="rId3"/>
                <a:stretch>
                  <a:fillRect l="-10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</a:t>
            </a:fld>
            <a:endParaRPr lang="en-US" altLang="zh-CN"/>
          </a:p>
        </p:txBody>
      </p:sp>
      <p:graphicFrame>
        <p:nvGraphicFramePr>
          <p:cNvPr id="5" name="表格 4"/>
          <p:cNvGraphicFramePr/>
          <p:nvPr/>
        </p:nvGraphicFramePr>
        <p:xfrm>
          <a:off x="7079615" y="1763395"/>
          <a:ext cx="432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0">
                          <a:solidFill>
                            <a:schemeClr val="bg1"/>
                          </a:solidFill>
                        </a:rPr>
                        <a:t>港科大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0">
                          <a:solidFill>
                            <a:schemeClr val="bg1"/>
                          </a:solidFill>
                        </a:rPr>
                        <a:t>在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0">
                          <a:solidFill>
                            <a:schemeClr val="bg1"/>
                          </a:solidFill>
                        </a:rPr>
                        <a:t>今年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0">
                          <a:solidFill>
                            <a:schemeClr val="bg1"/>
                          </a:solidFill>
                        </a:rPr>
                        <a:t>排名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0">
                          <a:solidFill>
                            <a:schemeClr val="bg1"/>
                          </a:solidFill>
                        </a:rPr>
                        <a:t>第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800" b="0">
                          <a:solidFill>
                            <a:schemeClr val="bg1"/>
                          </a:solidFill>
                        </a:rPr>
                        <a:t>44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0">
                          <a:solidFill>
                            <a:schemeClr val="bg1"/>
                          </a:solidFill>
                        </a:rPr>
                        <a:t>位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0">
                          <a:solidFill>
                            <a:schemeClr val="bg1"/>
                          </a:solidFill>
                        </a:rPr>
                        <a:t>。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800" b="0">
                          <a:solidFill>
                            <a:schemeClr val="bg1"/>
                          </a:solidFill>
                        </a:rPr>
                        <a:t>&lt;|end&gt;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>
                          <a:solidFill>
                            <a:schemeClr val="bg1"/>
                          </a:solidFill>
                        </a:rPr>
                        <a:t>港科大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9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>
                          <a:solidFill>
                            <a:schemeClr val="bg1"/>
                          </a:solidFill>
                        </a:rPr>
                        <a:t>在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5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8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>
                          <a:solidFill>
                            <a:schemeClr val="bg1"/>
                          </a:solidFill>
                        </a:rPr>
                        <a:t>今年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7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1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>
                          <a:solidFill>
                            <a:schemeClr val="bg1"/>
                          </a:solidFill>
                        </a:rPr>
                        <a:t>排名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8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4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2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6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>
                          <a:solidFill>
                            <a:schemeClr val="bg1"/>
                          </a:solidFill>
                        </a:rPr>
                        <a:t>第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1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8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800">
                          <a:solidFill>
                            <a:schemeClr val="bg1"/>
                          </a:solidFill>
                        </a:rPr>
                        <a:t>44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7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4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2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5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>
                          <a:solidFill>
                            <a:schemeClr val="bg1"/>
                          </a:solidFill>
                        </a:rPr>
                        <a:t>位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4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2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5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8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1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>
                          <a:solidFill>
                            <a:schemeClr val="bg1"/>
                          </a:solidFill>
                        </a:rPr>
                        <a:t>。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8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3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5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800">
                          <a:solidFill>
                            <a:schemeClr val="bg1"/>
                          </a:solidFill>
                        </a:rPr>
                        <a:t>&lt;|end|&gt;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1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7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4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5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9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3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注意力机制：既是武器，也是枷锁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2000" y="1825625"/>
            <a:ext cx="5400000" cy="4351655"/>
          </a:xfrm>
        </p:spPr>
        <p:txBody>
          <a:bodyPr/>
          <a:lstStyle/>
          <a:p>
            <a:r>
              <a:rPr lang="zh-CN" altLang="en-US"/>
              <a:t>上下文长度受限</a:t>
            </a:r>
          </a:p>
          <a:p>
            <a:pPr lvl="1"/>
            <a:r>
              <a:rPr lang="zh-CN" altLang="en-US"/>
              <a:t>当前普遍支持</a:t>
            </a:r>
            <a:r>
              <a:rPr lang="en-US" altLang="zh-CN"/>
              <a:t> 1M Token</a:t>
            </a:r>
          </a:p>
          <a:p>
            <a:pPr lvl="1"/>
            <a:r>
              <a:rPr lang="zh-CN" altLang="en-US"/>
              <a:t>在最大窗口长度</a:t>
            </a:r>
            <a:r>
              <a:rPr lang="en-US" altLang="zh-CN"/>
              <a:t> 50% </a:t>
            </a:r>
            <a:r>
              <a:rPr lang="zh-CN" altLang="en-US"/>
              <a:t>左右性能开始下降</a:t>
            </a:r>
            <a:endParaRPr lang="en-US" altLang="zh-CN"/>
          </a:p>
          <a:p>
            <a:pPr lvl="1"/>
            <a:r>
              <a:rPr lang="zh-CN" altLang="en-US"/>
              <a:t>实际应用中</a:t>
            </a:r>
            <a:r>
              <a:rPr lang="en-US" altLang="zh-CN"/>
              <a:t> 1M </a:t>
            </a:r>
            <a:r>
              <a:rPr lang="zh-CN" altLang="en-US"/>
              <a:t>很容易用满，尤其是：</a:t>
            </a:r>
          </a:p>
          <a:p>
            <a:pPr lvl="2"/>
            <a:r>
              <a:rPr lang="zh-CN" altLang="en-US"/>
              <a:t>开启思考模式</a:t>
            </a:r>
          </a:p>
          <a:p>
            <a:pPr lvl="2"/>
            <a:r>
              <a:rPr lang="zh-CN" altLang="en-US"/>
              <a:t>需要连续上下文</a:t>
            </a:r>
          </a:p>
          <a:p>
            <a:pPr lvl="2"/>
            <a:r>
              <a:rPr lang="zh-CN" altLang="en-US"/>
              <a:t>多轮对话</a:t>
            </a:r>
          </a:p>
          <a:p>
            <a:pPr lvl="2"/>
            <a:r>
              <a:rPr lang="zh-CN" altLang="en-US"/>
              <a:t>例如：智能体工作流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</a:t>
            </a:fld>
            <a:endParaRPr lang="en-US" altLang="zh-CN"/>
          </a:p>
        </p:txBody>
      </p:sp>
      <p:graphicFrame>
        <p:nvGraphicFramePr>
          <p:cNvPr id="5" name="表格 4"/>
          <p:cNvGraphicFramePr/>
          <p:nvPr/>
        </p:nvGraphicFramePr>
        <p:xfrm>
          <a:off x="6562090" y="1826260"/>
          <a:ext cx="4206240" cy="4352925"/>
        </p:xfrm>
        <a:graphic>
          <a:graphicData uri="http://schemas.openxmlformats.org/drawingml/2006/table">
            <a:tbl>
              <a:tblPr/>
              <a:tblGrid>
                <a:gridCol w="3062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0195">
                <a:tc>
                  <a:txBody>
                    <a:bodyPr/>
                    <a:lstStyle/>
                    <a:p>
                      <a:r>
                        <a:rPr lang="zh-CN" altLang="en-US" sz="1100" b="1">
                          <a:solidFill>
                            <a:schemeClr val="bg1"/>
                          </a:solidFill>
                        </a:rPr>
                        <a:t>模型名称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1">
                          <a:solidFill>
                            <a:schemeClr val="bg1"/>
                          </a:solidFill>
                        </a:rPr>
                        <a:t>最大上下文长度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195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chemeClr val="bg1"/>
                          </a:solidFill>
                        </a:rPr>
                        <a:t>Llama 4 Scout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>
                          <a:solidFill>
                            <a:schemeClr val="bg1"/>
                          </a:solidFill>
                        </a:rPr>
                        <a:t>10M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195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chemeClr val="bg1"/>
                          </a:solidFill>
                        </a:rPr>
                        <a:t>Gemini 3.1 Pro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>
                          <a:solidFill>
                            <a:schemeClr val="bg1"/>
                          </a:solidFill>
                        </a:rPr>
                        <a:t>2M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195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chemeClr val="bg1"/>
                          </a:solidFill>
                        </a:rPr>
                        <a:t>GPT-5.4 / GPT-5.6 Sol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>
                          <a:solidFill>
                            <a:schemeClr val="bg1"/>
                          </a:solidFill>
                        </a:rPr>
                        <a:t>1.05M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195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chemeClr val="bg1"/>
                          </a:solidFill>
                        </a:rPr>
                        <a:t>Claude Opus 4.7 / 4.8 / Sonnet 4.6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>
                          <a:solidFill>
                            <a:schemeClr val="bg1"/>
                          </a:solidFill>
                        </a:rPr>
                        <a:t>1M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195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chemeClr val="bg1"/>
                          </a:solidFill>
                        </a:rPr>
                        <a:t>Claude Fable 5 / Mythos 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>
                          <a:solidFill>
                            <a:schemeClr val="bg1"/>
                          </a:solidFill>
                        </a:rPr>
                        <a:t>1M+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0195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chemeClr val="bg1"/>
                          </a:solidFill>
                        </a:rPr>
                        <a:t>DeepSeek V4 (Pro/Flash)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>
                          <a:solidFill>
                            <a:schemeClr val="bg1"/>
                          </a:solidFill>
                        </a:rPr>
                        <a:t>1M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0195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chemeClr val="bg1"/>
                          </a:solidFill>
                        </a:rPr>
                        <a:t>Gemini 3.1 Flash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>
                          <a:solidFill>
                            <a:schemeClr val="bg1"/>
                          </a:solidFill>
                        </a:rPr>
                        <a:t>1M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0195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chemeClr val="bg1"/>
                          </a:solidFill>
                        </a:rPr>
                        <a:t>GPT-5.5 Pro / </a:t>
                      </a:r>
                      <a:r>
                        <a:rPr lang="zh-CN" altLang="en-US" sz="1100">
                          <a:solidFill>
                            <a:schemeClr val="bg1"/>
                          </a:solidFill>
                        </a:rPr>
                        <a:t>标准版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>
                          <a:solidFill>
                            <a:schemeClr val="bg1"/>
                          </a:solidFill>
                        </a:rPr>
                        <a:t>1M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0195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chemeClr val="bg1"/>
                          </a:solidFill>
                        </a:rPr>
                        <a:t>Grok 4.3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>
                          <a:solidFill>
                            <a:schemeClr val="bg1"/>
                          </a:solidFill>
                        </a:rPr>
                        <a:t>1M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0195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chemeClr val="bg1"/>
                          </a:solidFill>
                        </a:rPr>
                        <a:t>MiniMax M3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>
                          <a:solidFill>
                            <a:schemeClr val="bg1"/>
                          </a:solidFill>
                        </a:rPr>
                        <a:t>1M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0195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chemeClr val="bg1"/>
                          </a:solidFill>
                        </a:rPr>
                        <a:t>Qwen 3.7 Max / 3.8 Max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>
                          <a:solidFill>
                            <a:schemeClr val="bg1"/>
                          </a:solidFill>
                        </a:rPr>
                        <a:t>1M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0195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chemeClr val="bg1"/>
                          </a:solidFill>
                        </a:rPr>
                        <a:t>GPT-5.4-mini / GPT-5.2-Codex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>
                          <a:solidFill>
                            <a:schemeClr val="bg1"/>
                          </a:solidFill>
                        </a:rPr>
                        <a:t>400K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0195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chemeClr val="bg1"/>
                          </a:solidFill>
                        </a:rPr>
                        <a:t>Kimi K2.6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>
                          <a:solidFill>
                            <a:schemeClr val="bg1"/>
                          </a:solidFill>
                        </a:rPr>
                        <a:t>262K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0195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chemeClr val="bg1"/>
                          </a:solidFill>
                        </a:rPr>
                        <a:t>Claude Opus 4.7 (</a:t>
                      </a:r>
                      <a:r>
                        <a:rPr lang="zh-CN" altLang="en-US" sz="1100">
                          <a:solidFill>
                            <a:schemeClr val="bg1"/>
                          </a:solidFill>
                        </a:rPr>
                        <a:t>默认</a:t>
                      </a:r>
                      <a:r>
                        <a:rPr lang="en-US" altLang="zh-CN" sz="1100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>
                          <a:solidFill>
                            <a:schemeClr val="bg1"/>
                          </a:solidFill>
                        </a:rPr>
                        <a:t>200K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Transformer 的基石：GPU 与算力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百亿（</a:t>
            </a:r>
            <a:r>
              <a:rPr lang="en-US" altLang="zh-CN"/>
              <a:t>2020</a:t>
            </a:r>
            <a:r>
              <a:rPr lang="zh-CN" altLang="en-US"/>
              <a:t>前）</a:t>
            </a:r>
            <a:r>
              <a:rPr lang="en-US" altLang="zh-CN"/>
              <a:t> </a:t>
            </a:r>
            <a:r>
              <a:rPr lang="en-US" altLang="zh-CN">
                <a:latin typeface="Noto Sans CJK SC" panose="020B0500000000000000" charset="-122"/>
                <a:ea typeface="Noto Sans CJK SC" panose="020B0500000000000000" charset="-122"/>
              </a:rPr>
              <a:t>→ </a:t>
            </a:r>
            <a:r>
              <a:rPr lang="zh-CN" altLang="en-US"/>
              <a:t>千亿（</a:t>
            </a:r>
            <a:r>
              <a:rPr lang="en-US" altLang="zh-CN"/>
              <a:t>2023</a:t>
            </a:r>
            <a:r>
              <a:rPr lang="zh-CN" altLang="en-US"/>
              <a:t>）</a:t>
            </a:r>
            <a:r>
              <a:rPr lang="en-US" altLang="zh-CN">
                <a:sym typeface="+mn-ea"/>
              </a:rPr>
              <a:t> </a:t>
            </a:r>
            <a:r>
              <a:rPr lang="en-US" altLang="zh-CN">
                <a:latin typeface="Noto Sans CJK SC" panose="020B0500000000000000" charset="-122"/>
                <a:ea typeface="Noto Sans CJK SC" panose="020B0500000000000000" charset="-122"/>
                <a:sym typeface="+mn-ea"/>
              </a:rPr>
              <a:t>→ </a:t>
            </a:r>
            <a:r>
              <a:rPr lang="zh-CN" altLang="en-US">
                <a:latin typeface="Noto Sans CJK SC" panose="020B0500000000000000" charset="-122"/>
                <a:ea typeface="Noto Sans CJK SC" panose="020B0500000000000000" charset="-122"/>
                <a:sym typeface="+mn-ea"/>
              </a:rPr>
              <a:t>万亿（</a:t>
            </a:r>
            <a:r>
              <a:rPr lang="en-US" altLang="zh-CN">
                <a:latin typeface="Noto Sans CJK SC" panose="020B0500000000000000" charset="-122"/>
                <a:ea typeface="Noto Sans CJK SC" panose="020B0500000000000000" charset="-122"/>
                <a:sym typeface="+mn-ea"/>
              </a:rPr>
              <a:t>2025</a:t>
            </a:r>
            <a:r>
              <a:rPr lang="zh-CN" altLang="en-US">
                <a:latin typeface="Noto Sans CJK SC" panose="020B0500000000000000" charset="-122"/>
                <a:ea typeface="Noto Sans CJK SC" panose="020B0500000000000000" charset="-122"/>
                <a:sym typeface="+mn-ea"/>
              </a:rPr>
              <a:t>）</a:t>
            </a:r>
            <a:r>
              <a:rPr lang="zh-CN" altLang="en-US"/>
              <a:t>参数</a:t>
            </a:r>
          </a:p>
          <a:p>
            <a:r>
              <a:rPr lang="en-US" altLang="zh-CN"/>
              <a:t>GPU </a:t>
            </a:r>
            <a:r>
              <a:rPr lang="zh-CN" altLang="en-US"/>
              <a:t>的纵向优化</a:t>
            </a:r>
          </a:p>
          <a:p>
            <a:pPr lvl="1"/>
            <a:r>
              <a:rPr lang="en-US" altLang="zh-CN" sz="1800"/>
              <a:t>(2006) CUDA </a:t>
            </a:r>
            <a:r>
              <a:rPr lang="zh-CN" altLang="en-US" sz="1800"/>
              <a:t>计算框架：适配神经网络计算</a:t>
            </a:r>
          </a:p>
          <a:p>
            <a:pPr lvl="1"/>
            <a:r>
              <a:rPr lang="en-US" altLang="zh-CN"/>
              <a:t>(2017) </a:t>
            </a:r>
            <a:r>
              <a:rPr lang="zh-CN" altLang="en-US"/>
              <a:t>专用计算架构：张量核（</a:t>
            </a:r>
            <a:r>
              <a:rPr lang="en-US" altLang="zh-CN"/>
              <a:t>Tensor Core</a:t>
            </a:r>
            <a:r>
              <a:rPr lang="zh-CN" altLang="en-US"/>
              <a:t>）</a:t>
            </a:r>
          </a:p>
          <a:p>
            <a:r>
              <a:rPr lang="en-US" altLang="zh-CN"/>
              <a:t>GPU </a:t>
            </a:r>
            <a:r>
              <a:rPr lang="zh-CN" altLang="en-US"/>
              <a:t>的横向扩展</a:t>
            </a:r>
          </a:p>
          <a:p>
            <a:pPr lvl="1"/>
            <a:r>
              <a:rPr lang="en-US" altLang="zh-CN"/>
              <a:t>(2016) AlphaGo</a:t>
            </a:r>
            <a:r>
              <a:rPr lang="zh-CN" altLang="en-US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K80 × 176 + CPU × 1202</a:t>
            </a:r>
          </a:p>
          <a:p>
            <a:pPr lvl="1"/>
            <a:r>
              <a:rPr lang="en-US" altLang="zh-CN"/>
              <a:t>(2026) </a:t>
            </a:r>
            <a:r>
              <a:rPr lang="zh-CN" altLang="en-US"/>
              <a:t>昇腾</a:t>
            </a:r>
            <a:r>
              <a:rPr lang="en-US" altLang="zh-CN"/>
              <a:t>950</a:t>
            </a:r>
            <a:r>
              <a:rPr lang="zh-CN" altLang="en-US"/>
              <a:t>：</a:t>
            </a:r>
            <a:r>
              <a:rPr lang="en-US" altLang="zh-CN"/>
              <a:t>8192</a:t>
            </a:r>
            <a:r>
              <a:rPr lang="zh-CN" altLang="en-US"/>
              <a:t>张昇腾计算卡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10</a:t>
            </a:fld>
            <a:endParaRPr lang="en-US" altLang="zh-CN"/>
          </a:p>
        </p:txBody>
      </p:sp>
      <p:pic>
        <p:nvPicPr>
          <p:cNvPr id="9" name="Picture 2" descr="Nvidia Gpu Tesla V100 Architecture Gpu Architecture Nvidia Volta Gpu Memory  Geforce Volta Next Gen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47" t="3800" r="16335" b="15350"/>
          <a:stretch>
            <a:fillRect/>
          </a:stretch>
        </p:blipFill>
        <p:spPr bwMode="auto">
          <a:xfrm>
            <a:off x="8164195" y="1825625"/>
            <a:ext cx="3060000" cy="1870352"/>
          </a:xfrm>
          <a:prstGeom prst="snip2DiagRect">
            <a:avLst/>
          </a:prstGeom>
          <a:noFill/>
          <a:ln w="12700">
            <a:solidFill>
              <a:schemeClr val="bg1"/>
            </a:solidFill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4" cstate="print"/>
          <a:stretch>
            <a:fillRect/>
          </a:stretch>
        </p:blipFill>
        <p:spPr bwMode="auto">
          <a:xfrm>
            <a:off x="8164195" y="3942080"/>
            <a:ext cx="3060000" cy="2039813"/>
          </a:xfrm>
          <a:prstGeom prst="snip2DiagRect">
            <a:avLst/>
          </a:prstGeom>
          <a:noFill/>
          <a:ln w="12700">
            <a:solidFill>
              <a:schemeClr val="bg1"/>
            </a:solidFill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大模型的能耗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/>
                  <a:t>假设：一个普通家庭每月用电 300 </a:t>
                </a:r>
                <a:r>
                  <a:rPr lang="en-US" altLang="zh-CN"/>
                  <a:t>kWh</a:t>
                </a:r>
              </a:p>
              <a:p>
                <a:r>
                  <a:rPr lang="zh-CN" altLang="en-US"/>
                  <a:t>训练能耗：</a:t>
                </a:r>
              </a:p>
              <a:p>
                <a:pPr lvl="1"/>
                <a:r>
                  <a:rPr lang="en-US" altLang="zh-CN"/>
                  <a:t>GPT-3</a:t>
                </a:r>
                <a:r>
                  <a:rPr lang="zh-CN" altLang="en-US"/>
                  <a:t>（</a:t>
                </a:r>
                <a:r>
                  <a:rPr lang="en-US" altLang="zh-CN"/>
                  <a:t>1750</a:t>
                </a:r>
                <a:r>
                  <a:rPr lang="zh-CN" altLang="en-US"/>
                  <a:t>亿参数）：</a:t>
                </a:r>
                <a:r>
                  <a:rPr lang="en-US" altLang="zh-CN"/>
                  <a:t>1.29 GWh </a:t>
                </a:r>
                <a:r>
                  <a:rPr lang="zh-CN" altLang="en-US"/>
                  <a:t>≈ 358 户家庭一年</a:t>
                </a:r>
              </a:p>
              <a:p>
                <a:pPr lvl="1"/>
                <a:r>
                  <a:rPr lang="en-US" altLang="zh-CN"/>
                  <a:t>Llama 3.1</a:t>
                </a:r>
                <a:r>
                  <a:rPr lang="zh-CN" altLang="en-US"/>
                  <a:t>（</a:t>
                </a:r>
                <a:r>
                  <a:rPr lang="en-US" altLang="zh-CN"/>
                  <a:t>4050</a:t>
                </a:r>
                <a:r>
                  <a:rPr lang="zh-CN" altLang="en-US"/>
                  <a:t>亿参数）：</a:t>
                </a:r>
                <a:r>
                  <a:rPr lang="en-US" altLang="zh-CN"/>
                  <a:t>21.6 GWh </a:t>
                </a:r>
                <a:r>
                  <a:rPr lang="zh-CN" altLang="en-US"/>
                  <a:t>≈ 6,000 户家庭一年</a:t>
                </a:r>
              </a:p>
              <a:p>
                <a:pPr lvl="0"/>
                <a:r>
                  <a:rPr lang="zh-CN" altLang="en-US"/>
                  <a:t>推理能耗：</a:t>
                </a:r>
              </a:p>
              <a:p>
                <a:pPr lvl="1"/>
                <a:r>
                  <a:rPr lang="zh-CN" altLang="en-US"/>
                  <a:t>约 1 </a:t>
                </a:r>
                <a:r>
                  <a:rPr lang="en-US" altLang="zh-CN"/>
                  <a:t>mWh/token</a:t>
                </a:r>
              </a:p>
              <a:p>
                <a:pPr lvl="1"/>
                <a:r>
                  <a:rPr lang="en-US" altLang="zh-CN"/>
                  <a:t>2026</a:t>
                </a:r>
                <a:r>
                  <a:rPr lang="zh-CN" altLang="en-US"/>
                  <a:t>年，每天消耗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DejaVu Math TeX Gyre" panose="02000503000000000000" charset="0"/>
                        <a:ea typeface="MS Mincho" charset="0"/>
                        <a:cs typeface="DejaVu Math TeX Gyre" panose="02000503000000000000" charset="0"/>
                      </a:rPr>
                      <m:t>3×1</m:t>
                    </m:r>
                    <m:sSup>
                      <m:sSupPr>
                        <m:ctrlPr>
                          <a:rPr lang="en-US" altLang="zh-CN" i="1">
                            <a:latin typeface="DejaVu Math TeX Gyre" panose="02000503000000000000" charset="0"/>
                            <a:ea typeface="MS Mincho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DejaVu Math TeX Gyre" panose="02000503000000000000" charset="0"/>
                            <a:ea typeface="MS Mincho" charset="0"/>
                            <a:cs typeface="DejaVu Math TeX Gyre" panose="02000503000000000000" charset="0"/>
                          </a:rPr>
                          <m:t>0</m:t>
                        </m:r>
                      </m:e>
                      <m:sup>
                        <m:r>
                          <a:rPr lang="en-US" altLang="zh-CN" i="1">
                            <a:latin typeface="DejaVu Math TeX Gyre" panose="02000503000000000000" charset="0"/>
                            <a:ea typeface="MS Mincho" charset="0"/>
                            <a:cs typeface="DejaVu Math TeX Gyre" panose="02000503000000000000" charset="0"/>
                          </a:rPr>
                          <m:t>14</m:t>
                        </m:r>
                      </m:sup>
                    </m:sSup>
                  </m:oMath>
                </a14:m>
                <a:r>
                  <a:rPr lang="en-US" altLang="zh-CN"/>
                  <a:t> tokens</a:t>
                </a:r>
                <a:r>
                  <a:rPr lang="zh-CN" altLang="en-US"/>
                  <a:t>，即</a:t>
                </a:r>
                <a:r>
                  <a:rPr lang="en-US" altLang="zh-CN"/>
                  <a:t> 300 GWh </a:t>
                </a:r>
                <a:r>
                  <a:rPr lang="zh-CN" altLang="en-US">
                    <a:sym typeface="+mn-ea"/>
                  </a:rPr>
                  <a:t>≈ </a:t>
                </a:r>
                <a:r>
                  <a:rPr lang="en-US" altLang="zh-CN">
                    <a:sym typeface="+mn-ea"/>
                  </a:rPr>
                  <a:t>100</a:t>
                </a:r>
                <a:r>
                  <a:rPr lang="zh-CN" altLang="en-US">
                    <a:sym typeface="+mn-ea"/>
                  </a:rPr>
                  <a:t>,000 户家庭一年</a:t>
                </a:r>
                <a:endParaRPr lang="zh-CN" altLang="en-US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能省则省：提示缓存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2000" y="1825625"/>
            <a:ext cx="5891530" cy="4351655"/>
          </a:xfrm>
        </p:spPr>
        <p:txBody>
          <a:bodyPr/>
          <a:lstStyle/>
          <a:p>
            <a:r>
              <a:rPr lang="zh-CN" altLang="en-US"/>
              <a:t>自回归模式下，注意力的计算只与前文有关</a:t>
            </a:r>
          </a:p>
          <a:p>
            <a:r>
              <a:rPr lang="zh-CN" altLang="en-US"/>
              <a:t>前文计算过的注意力可以重复使用</a:t>
            </a:r>
          </a:p>
          <a:p>
            <a:r>
              <a:rPr lang="zh-CN" altLang="en-US"/>
              <a:t>把稳定不变的内容放前面、经常变的内容放后面，更容易命中缓存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12</a:t>
            </a:fld>
            <a:endParaRPr lang="en-US" altLang="zh-CN"/>
          </a:p>
        </p:txBody>
      </p:sp>
      <p:graphicFrame>
        <p:nvGraphicFramePr>
          <p:cNvPr id="5" name="表格 4"/>
          <p:cNvGraphicFramePr/>
          <p:nvPr/>
        </p:nvGraphicFramePr>
        <p:xfrm>
          <a:off x="7079615" y="1763395"/>
          <a:ext cx="432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0">
                          <a:solidFill>
                            <a:schemeClr val="bg1"/>
                          </a:solidFill>
                        </a:rPr>
                        <a:t>港科大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0">
                          <a:solidFill>
                            <a:schemeClr val="bg1"/>
                          </a:solidFill>
                        </a:rPr>
                        <a:t>在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0">
                          <a:solidFill>
                            <a:schemeClr val="bg1"/>
                          </a:solidFill>
                        </a:rPr>
                        <a:t>今年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0">
                          <a:solidFill>
                            <a:schemeClr val="bg1"/>
                          </a:solidFill>
                        </a:rPr>
                        <a:t>排名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0">
                          <a:solidFill>
                            <a:schemeClr val="bg1"/>
                          </a:solidFill>
                        </a:rPr>
                        <a:t>第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800" b="0">
                          <a:solidFill>
                            <a:schemeClr val="bg1"/>
                          </a:solidFill>
                        </a:rPr>
                        <a:t>44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0">
                          <a:solidFill>
                            <a:schemeClr val="bg1"/>
                          </a:solidFill>
                        </a:rPr>
                        <a:t>位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0">
                          <a:solidFill>
                            <a:schemeClr val="bg1"/>
                          </a:solidFill>
                        </a:rPr>
                        <a:t>。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800" b="0">
                          <a:solidFill>
                            <a:schemeClr val="bg1"/>
                          </a:solidFill>
                        </a:rPr>
                        <a:t>&lt;|end&gt;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>
                          <a:solidFill>
                            <a:schemeClr val="bg1"/>
                          </a:solidFill>
                        </a:rPr>
                        <a:t>港科大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9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>
                          <a:solidFill>
                            <a:schemeClr val="bg1"/>
                          </a:solidFill>
                        </a:rPr>
                        <a:t>在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5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8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>
                          <a:solidFill>
                            <a:schemeClr val="bg1"/>
                          </a:solidFill>
                        </a:rPr>
                        <a:t>今年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7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1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>
                          <a:solidFill>
                            <a:schemeClr val="bg1"/>
                          </a:solidFill>
                        </a:rPr>
                        <a:t>排名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8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4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2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6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>
                          <a:solidFill>
                            <a:schemeClr val="bg1"/>
                          </a:solidFill>
                        </a:rPr>
                        <a:t>第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1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8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800">
                          <a:solidFill>
                            <a:schemeClr val="bg1"/>
                          </a:solidFill>
                        </a:rPr>
                        <a:t>44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7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4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2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5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>
                          <a:solidFill>
                            <a:schemeClr val="bg1"/>
                          </a:solidFill>
                        </a:rPr>
                        <a:t>位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4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2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5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8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1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>
                          <a:solidFill>
                            <a:schemeClr val="bg1"/>
                          </a:solidFill>
                        </a:rPr>
                        <a:t>。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8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3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5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800">
                          <a:solidFill>
                            <a:schemeClr val="bg1"/>
                          </a:solidFill>
                        </a:rPr>
                        <a:t>&lt;|end|&gt;</a:t>
                      </a: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1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7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4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5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9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3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B388FF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10" name="组合 9"/>
          <p:cNvGrpSpPr/>
          <p:nvPr/>
        </p:nvGrpSpPr>
        <p:grpSpPr>
          <a:xfrm>
            <a:off x="2138680" y="4361815"/>
            <a:ext cx="3277235" cy="359410"/>
            <a:chOff x="3368" y="6550"/>
            <a:chExt cx="5161" cy="566"/>
          </a:xfrm>
        </p:grpSpPr>
        <p:sp>
          <p:nvSpPr>
            <p:cNvPr id="12" name="AutoShape 6"/>
            <p:cNvSpPr/>
            <p:nvPr/>
          </p:nvSpPr>
          <p:spPr>
            <a:xfrm>
              <a:off x="3368" y="6550"/>
              <a:ext cx="4535" cy="567"/>
            </a:xfrm>
            <a:prstGeom prst="roundRect">
              <a:avLst>
                <a:gd name="adj" fmla="val 0"/>
              </a:avLst>
            </a:prstGeom>
            <a:solidFill>
              <a:srgbClr val="00E5FF">
                <a:alpha val="8000"/>
              </a:srgbClr>
            </a:solidFill>
            <a:ln w="25400" cap="flat" cmpd="sng">
              <a:solidFill>
                <a:srgbClr val="00E5FF">
                  <a:alpha val="100000"/>
                </a:srgbClr>
              </a:solidFill>
              <a:prstDash val="solid"/>
              <a:round/>
            </a:ln>
            <a:effectLst>
              <a:outerShdw blurRad="152400" dir="2700000" algn="tl" rotWithShape="0">
                <a:srgbClr val="00E5FF">
                  <a:alpha val="40000"/>
                </a:srgbClr>
              </a:outerShdw>
            </a:effectLst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125000"/>
                </a:lnSpc>
                <a:defRPr/>
              </a:pPr>
              <a:r>
                <a:rPr lang="zh-CN" altLang="en-US" i="0" u="none" strike="noStrike">
                  <a:solidFill>
                    <a:srgbClr val="FFFFFF"/>
                  </a:solidFill>
                  <a:latin typeface="Noto Sans SC" panose="020B0200000000000000" charset="-122"/>
                  <a:ea typeface="宋体" panose="02010600030101010101" pitchFamily="2" charset="-122"/>
                  <a:cs typeface="Noto Sans SC" panose="020B0200000000000000" charset="-122"/>
                  <a:sym typeface="Noto Sans SC" panose="020B0200000000000000" charset="-122"/>
                </a:rPr>
                <a:t>用户问题</a:t>
              </a:r>
              <a:r>
                <a:rPr lang="en-US" altLang="zh-CN" i="0" u="none" strike="noStrike">
                  <a:solidFill>
                    <a:srgbClr val="FFFFFF"/>
                  </a:solidFill>
                  <a:latin typeface="Noto Sans SC" panose="020B0200000000000000" charset="-122"/>
                  <a:ea typeface="宋体" panose="02010600030101010101" pitchFamily="2" charset="-122"/>
                  <a:cs typeface="Noto Sans SC" panose="020B0200000000000000" charset="-122"/>
                  <a:sym typeface="Noto Sans SC" panose="020B0200000000000000" charset="-122"/>
                </a:rPr>
                <a:t>1</a:t>
              </a:r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63" y="6550"/>
              <a:ext cx="567" cy="567"/>
            </a:xfrm>
            <a:prstGeom prst="rect">
              <a:avLst/>
            </a:prstGeom>
          </p:spPr>
        </p:pic>
      </p:grpSp>
      <p:grpSp>
        <p:nvGrpSpPr>
          <p:cNvPr id="11" name="组合 10"/>
          <p:cNvGrpSpPr/>
          <p:nvPr/>
        </p:nvGrpSpPr>
        <p:grpSpPr>
          <a:xfrm>
            <a:off x="2138680" y="5640705"/>
            <a:ext cx="3277235" cy="359410"/>
            <a:chOff x="3368" y="8564"/>
            <a:chExt cx="5161" cy="566"/>
          </a:xfrm>
        </p:grpSpPr>
        <p:sp>
          <p:nvSpPr>
            <p:cNvPr id="7" name="AutoShape 6"/>
            <p:cNvSpPr/>
            <p:nvPr/>
          </p:nvSpPr>
          <p:spPr>
            <a:xfrm>
              <a:off x="3368" y="8564"/>
              <a:ext cx="4535" cy="567"/>
            </a:xfrm>
            <a:prstGeom prst="roundRect">
              <a:avLst>
                <a:gd name="adj" fmla="val 0"/>
              </a:avLst>
            </a:prstGeom>
            <a:solidFill>
              <a:srgbClr val="00E5FF">
                <a:alpha val="8000"/>
              </a:srgbClr>
            </a:solidFill>
            <a:ln w="25400" cap="flat" cmpd="sng">
              <a:solidFill>
                <a:srgbClr val="00E5FF">
                  <a:alpha val="100000"/>
                </a:srgbClr>
              </a:solidFill>
              <a:prstDash val="solid"/>
              <a:round/>
            </a:ln>
            <a:effectLst>
              <a:outerShdw blurRad="152400" dir="2700000" algn="tl" rotWithShape="0">
                <a:srgbClr val="00E5FF">
                  <a:alpha val="40000"/>
                </a:srgbClr>
              </a:outerShdw>
            </a:effectLst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125000"/>
                </a:lnSpc>
                <a:defRPr/>
              </a:pPr>
              <a:r>
                <a:rPr lang="zh-CN" altLang="en-US" i="0" u="none" strike="noStrike">
                  <a:solidFill>
                    <a:srgbClr val="FFFFFF"/>
                  </a:solidFill>
                  <a:latin typeface="Noto Sans SC" panose="020B0200000000000000" charset="-122"/>
                  <a:ea typeface="宋体" panose="02010600030101010101" pitchFamily="2" charset="-122"/>
                  <a:cs typeface="Noto Sans SC" panose="020B0200000000000000" charset="-122"/>
                  <a:sym typeface="Noto Sans SC" panose="020B0200000000000000" charset="-122"/>
                </a:rPr>
                <a:t>用户问题</a:t>
              </a:r>
              <a:r>
                <a:rPr lang="en-US" altLang="zh-CN" i="0" u="none" strike="noStrike">
                  <a:solidFill>
                    <a:srgbClr val="FFFFFF"/>
                  </a:solidFill>
                  <a:latin typeface="Noto Sans SC" panose="020B0200000000000000" charset="-122"/>
                  <a:ea typeface="宋体" panose="02010600030101010101" pitchFamily="2" charset="-122"/>
                  <a:cs typeface="Noto Sans SC" panose="020B0200000000000000" charset="-122"/>
                  <a:sym typeface="Noto Sans SC" panose="020B0200000000000000" charset="-122"/>
                </a:rPr>
                <a:t>2</a:t>
              </a: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63" y="8564"/>
              <a:ext cx="567" cy="567"/>
            </a:xfrm>
            <a:prstGeom prst="rect">
              <a:avLst/>
            </a:prstGeom>
          </p:spPr>
        </p:pic>
      </p:grpSp>
      <p:grpSp>
        <p:nvGrpSpPr>
          <p:cNvPr id="15" name="组合 14"/>
          <p:cNvGrpSpPr/>
          <p:nvPr/>
        </p:nvGrpSpPr>
        <p:grpSpPr>
          <a:xfrm>
            <a:off x="1006475" y="5001260"/>
            <a:ext cx="3270885" cy="359410"/>
            <a:chOff x="1585" y="7557"/>
            <a:chExt cx="5151" cy="566"/>
          </a:xfrm>
        </p:grpSpPr>
        <p:sp>
          <p:nvSpPr>
            <p:cNvPr id="13" name="AutoShape 6"/>
            <p:cNvSpPr/>
            <p:nvPr/>
          </p:nvSpPr>
          <p:spPr>
            <a:xfrm>
              <a:off x="2202" y="7557"/>
              <a:ext cx="4535" cy="567"/>
            </a:xfrm>
            <a:prstGeom prst="roundRect">
              <a:avLst>
                <a:gd name="adj" fmla="val 0"/>
              </a:avLst>
            </a:prstGeom>
            <a:solidFill>
              <a:srgbClr val="B388FF">
                <a:alpha val="8000"/>
              </a:srgbClr>
            </a:solidFill>
            <a:ln w="25400" cap="flat" cmpd="sng">
              <a:solidFill>
                <a:srgbClr val="B388FF">
                  <a:alpha val="100000"/>
                </a:srgbClr>
              </a:solidFill>
              <a:prstDash val="solid"/>
              <a:round/>
            </a:ln>
            <a:effectLst>
              <a:outerShdw blurRad="152400" dir="2700000" algn="tl" rotWithShape="0">
                <a:srgbClr val="06F0D2">
                  <a:alpha val="40000"/>
                </a:srgbClr>
              </a:outerShdw>
            </a:effectLst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125000"/>
                </a:lnSpc>
                <a:defRPr/>
              </a:pPr>
              <a:r>
                <a:rPr lang="zh-CN" altLang="en-US" i="0" u="none" strike="noStrike">
                  <a:solidFill>
                    <a:srgbClr val="FFFFFF"/>
                  </a:solidFill>
                  <a:latin typeface="Noto Sans SC" panose="020B0200000000000000" charset="-122"/>
                  <a:ea typeface="宋体" panose="02010600030101010101" pitchFamily="2" charset="-122"/>
                  <a:cs typeface="Noto Sans SC" panose="020B0200000000000000" charset="-122"/>
                  <a:sym typeface="Noto Sans SC" panose="020B0200000000000000" charset="-122"/>
                </a:rPr>
                <a:t>模型回答</a:t>
              </a:r>
              <a:r>
                <a:rPr lang="en-US" altLang="zh-CN" i="0" u="none" strike="noStrike">
                  <a:solidFill>
                    <a:srgbClr val="FFFFFF"/>
                  </a:solidFill>
                  <a:latin typeface="Noto Sans SC" panose="020B0200000000000000" charset="-122"/>
                  <a:ea typeface="宋体" panose="02010600030101010101" pitchFamily="2" charset="-122"/>
                  <a:cs typeface="Noto Sans SC" panose="020B0200000000000000" charset="-122"/>
                  <a:sym typeface="Noto Sans SC" panose="020B0200000000000000" charset="-122"/>
                </a:rPr>
                <a:t>1</a:t>
              </a:r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85" y="7557"/>
              <a:ext cx="567" cy="567"/>
            </a:xfrm>
            <a:prstGeom prst="rect">
              <a:avLst/>
            </a:prstGeom>
          </p:spPr>
        </p:pic>
      </p:grpSp>
      <p:sp>
        <p:nvSpPr>
          <p:cNvPr id="16" name="左大括号 15"/>
          <p:cNvSpPr/>
          <p:nvPr/>
        </p:nvSpPr>
        <p:spPr>
          <a:xfrm rot="10800000">
            <a:off x="5546725" y="4361815"/>
            <a:ext cx="117475" cy="999490"/>
          </a:xfrm>
          <a:prstGeom prst="leftBrace">
            <a:avLst>
              <a:gd name="adj1" fmla="val 88399"/>
              <a:gd name="adj2" fmla="val 50000"/>
            </a:avLst>
          </a:prstGeom>
          <a:ln>
            <a:solidFill>
              <a:srgbClr val="00E5FF"/>
            </a:solidFill>
          </a:ln>
          <a:effectLst>
            <a:outerShdw blurRad="63500" sx="102000" sy="102000" algn="ctr" rotWithShape="0">
              <a:srgbClr val="00E5FF">
                <a:alpha val="50000"/>
              </a:srgb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684520" y="4538980"/>
            <a:ext cx="9690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solidFill>
                  <a:srgbClr val="00E5FF"/>
                </a:solidFill>
              </a:rPr>
              <a:t>注意力</a:t>
            </a:r>
          </a:p>
          <a:p>
            <a:pPr algn="ctr"/>
            <a:r>
              <a:rPr lang="zh-CN" altLang="en-US">
                <a:solidFill>
                  <a:srgbClr val="00E5FF"/>
                </a:solidFill>
              </a:rPr>
              <a:t>复用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build="p"/>
      <p:bldP spid="16" grpId="0" animBg="1"/>
      <p:bldP spid="16" grpId="1" animBg="1"/>
      <p:bldP spid="17" grpId="0"/>
      <p:bldP spid="17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为什么有时候</a:t>
            </a:r>
            <a:r>
              <a:t> AI 很蠢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模型本身原因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/>
              <a:t>上下文较长</a:t>
            </a:r>
          </a:p>
          <a:p>
            <a:pPr lvl="1"/>
            <a:r>
              <a:rPr lang="zh-CN" altLang="en-US"/>
              <a:t>关键条件被淹没，注意力没有能够正确捕捉相关信息</a:t>
            </a:r>
          </a:p>
          <a:p>
            <a:pPr lvl="0"/>
            <a:r>
              <a:rPr lang="zh-CN" altLang="en-US"/>
              <a:t>注意力 ≠ 意识</a:t>
            </a:r>
          </a:p>
          <a:p>
            <a:pPr lvl="1"/>
            <a:r>
              <a:rPr lang="zh-CN" altLang="en-US"/>
              <a:t>可以类比为人类思维，但本质上还存在争论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/>
              <a:t>算力原因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zh-CN" altLang="en-US"/>
              <a:t>后台模型被运营商偷偷替换成了小版本或低精度模型</a:t>
            </a:r>
          </a:p>
          <a:p>
            <a:pPr lvl="1"/>
            <a:r>
              <a:rPr lang="en-US" altLang="zh-CN"/>
              <a:t>Claude </a:t>
            </a:r>
            <a:r>
              <a:rPr lang="zh-CN" altLang="en-US"/>
              <a:t>在北京时间的傍晚开始“变傻”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6" grpId="1" build="p"/>
      <p:bldP spid="7" grpId="0" uiExpand="1" build="p"/>
      <p:bldP spid="7" grpId="1" build="p"/>
      <p:bldP spid="8" grpId="0" build="p"/>
      <p:bldP spid="8" grpId="1" build="p"/>
      <p:bldP spid="9" grpId="0" uiExpand="1" build="p"/>
      <p:bldP spid="9" grpI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模型输出的错误排查</a:t>
            </a:r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zh-CN" altLang="en-US"/>
              <a:t>问题是否太模糊？</a:t>
            </a:r>
          </a:p>
          <a:p>
            <a:pPr marL="457200" indent="-457200">
              <a:buAutoNum type="arabicPeriod"/>
            </a:pPr>
            <a:r>
              <a:rPr lang="zh-CN" altLang="en-US"/>
              <a:t>关键上下文是否缺失？</a:t>
            </a:r>
          </a:p>
          <a:p>
            <a:pPr marL="457200" indent="-457200">
              <a:buAutoNum type="arabicPeriod"/>
            </a:pPr>
            <a:r>
              <a:rPr lang="zh-CN" altLang="en-US"/>
              <a:t>关键条件是否被淹没或放得太后？</a:t>
            </a:r>
          </a:p>
          <a:p>
            <a:pPr marL="457200" indent="-457200">
              <a:buAutoNum type="arabicPeriod"/>
            </a:pPr>
            <a:r>
              <a:rPr lang="zh-CN" altLang="en-US"/>
              <a:t>材料是否太长，要分段、摘要或检索？</a:t>
            </a:r>
          </a:p>
          <a:p>
            <a:pPr marL="457200" indent="-457200">
              <a:buAutoNum type="arabicPeriod"/>
            </a:pPr>
            <a:r>
              <a:rPr lang="zh-CN" altLang="en-US"/>
              <a:t>是否需要使用搜索或 </a:t>
            </a:r>
            <a:r>
              <a:rPr lang="en-US" altLang="zh-CN"/>
              <a:t>RAG？</a:t>
            </a:r>
          </a:p>
          <a:p>
            <a:pPr marL="457200" indent="-457200">
              <a:buAutoNum type="arabicPeriod"/>
            </a:pPr>
            <a:r>
              <a:rPr lang="zh-CN" altLang="en-US"/>
              <a:t>模型是否不适合这个任务？</a:t>
            </a:r>
          </a:p>
          <a:p>
            <a:pPr marL="457200" indent="-457200">
              <a:buAutoNum type="arabicPeriod"/>
            </a:pPr>
            <a:r>
              <a:rPr lang="zh-CN" altLang="en-US"/>
              <a:t>是否涉及事实、隐私、安全或正式评价，需要人工确认？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9" grpI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大模型 </a:t>
            </a:r>
            <a:r>
              <a:t>vs </a:t>
            </a:r>
            <a:r>
              <a:rPr lang="zh-CN" altLang="en-US"/>
              <a:t>小模型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大模型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/>
              <a:t>优点</a:t>
            </a:r>
          </a:p>
          <a:p>
            <a:pPr lvl="1"/>
            <a:r>
              <a:rPr lang="zh-CN" altLang="en-US"/>
              <a:t>复杂推理、长文本、泛化更强</a:t>
            </a:r>
          </a:p>
          <a:p>
            <a:pPr lvl="1"/>
            <a:r>
              <a:rPr lang="zh-CN" altLang="en-US"/>
              <a:t>适合复杂、约束多、风险高的任务</a:t>
            </a:r>
          </a:p>
          <a:p>
            <a:pPr lvl="0"/>
            <a:r>
              <a:rPr lang="zh-CN" altLang="en-US"/>
              <a:t>缺点</a:t>
            </a:r>
          </a:p>
          <a:p>
            <a:pPr lvl="1"/>
            <a:r>
              <a:rPr lang="zh-CN" altLang="en-US"/>
              <a:t>更贵、更慢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/>
              <a:t>小模型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zh-CN" altLang="en-US"/>
              <a:t>优点</a:t>
            </a:r>
          </a:p>
          <a:p>
            <a:pPr lvl="1"/>
            <a:r>
              <a:rPr lang="zh-CN" altLang="en-US"/>
              <a:t>更快、更便宜</a:t>
            </a:r>
          </a:p>
          <a:p>
            <a:pPr lvl="1"/>
            <a:r>
              <a:rPr lang="zh-CN" altLang="en-US"/>
              <a:t>适合固定、低风险、高频任务</a:t>
            </a:r>
          </a:p>
          <a:p>
            <a:r>
              <a:rPr lang="zh-CN" altLang="en-US"/>
              <a:t>缺点</a:t>
            </a:r>
          </a:p>
          <a:p>
            <a:pPr lvl="1"/>
            <a:r>
              <a:rPr lang="zh-CN" altLang="en-US"/>
              <a:t>复杂推理和长上下文可能更弱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4" grpId="0" uiExpand="1" build="p"/>
      <p:bldP spid="4" grpId="1" build="p"/>
      <p:bldP spid="5" grpId="0" build="p"/>
      <p:bldP spid="5" grpId="1" build="p"/>
      <p:bldP spid="6" grpId="0" uiExpand="1" build="p"/>
      <p:bldP spid="6" grpI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总结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2000" y="1825625"/>
            <a:ext cx="10509250" cy="4351655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bg1"/>
                </a:solidFill>
              </a:rPr>
              <a:t>大模型是基于</a:t>
            </a:r>
            <a:r>
              <a:rPr lang="en-US" altLang="zh-CN" sz="2800" dirty="0">
                <a:solidFill>
                  <a:schemeClr val="bg1"/>
                </a:solidFill>
              </a:rPr>
              <a:t> </a:t>
            </a:r>
            <a:r>
              <a:rPr lang="en-US" altLang="zh-CN" sz="2800" b="1" dirty="0">
                <a:solidFill>
                  <a:srgbClr val="00E5FF"/>
                </a:solidFill>
              </a:rPr>
              <a:t>Transformer </a:t>
            </a:r>
            <a:r>
              <a:rPr lang="zh-CN" altLang="en-US" sz="2800" b="1" dirty="0">
                <a:solidFill>
                  <a:srgbClr val="00E5FF"/>
                </a:solidFill>
              </a:rPr>
              <a:t>架构</a:t>
            </a:r>
            <a:r>
              <a:rPr lang="zh-CN" altLang="en-US" sz="2800" dirty="0">
                <a:solidFill>
                  <a:schemeClr val="bg1"/>
                </a:solidFill>
              </a:rPr>
              <a:t>搭建的，核心是</a:t>
            </a:r>
            <a:r>
              <a:rPr lang="zh-CN" altLang="en-US" sz="2800" b="1" dirty="0">
                <a:solidFill>
                  <a:srgbClr val="00E5FF"/>
                </a:solidFill>
              </a:rPr>
              <a:t>注意力机制</a:t>
            </a:r>
            <a:endParaRPr lang="zh-CN" altLang="en-US" sz="2800" dirty="0">
              <a:solidFill>
                <a:schemeClr val="bg1"/>
              </a:solidFill>
            </a:endParaRPr>
          </a:p>
          <a:p>
            <a:r>
              <a:rPr lang="en-US" altLang="zh-CN" sz="2800" dirty="0">
                <a:solidFill>
                  <a:schemeClr val="bg1"/>
                </a:solidFill>
              </a:rPr>
              <a:t>Transformer </a:t>
            </a:r>
            <a:r>
              <a:rPr lang="zh-CN" altLang="en-US" sz="2800" dirty="0">
                <a:solidFill>
                  <a:schemeClr val="bg1"/>
                </a:solidFill>
              </a:rPr>
              <a:t>架构可以</a:t>
            </a:r>
            <a:r>
              <a:rPr lang="zh-CN" altLang="en-US" sz="2800" b="1" dirty="0">
                <a:solidFill>
                  <a:srgbClr val="00E5FF"/>
                </a:solidFill>
              </a:rPr>
              <a:t>并行计算</a:t>
            </a:r>
            <a:endParaRPr lang="zh-CN" altLang="en-US" sz="2800" dirty="0">
              <a:solidFill>
                <a:schemeClr val="bg1"/>
              </a:solidFill>
            </a:endParaRPr>
          </a:p>
          <a:p>
            <a:r>
              <a:rPr lang="zh-CN" altLang="en-US" sz="2800" dirty="0">
                <a:solidFill>
                  <a:schemeClr val="bg1"/>
                </a:solidFill>
              </a:rPr>
              <a:t>大模型参数规模非常庞大，需要海量的</a:t>
            </a:r>
            <a:r>
              <a:rPr lang="zh-CN" altLang="en-US" sz="2800" b="1" dirty="0">
                <a:solidFill>
                  <a:srgbClr val="00E5FF"/>
                </a:solidFill>
              </a:rPr>
              <a:t>算力</a:t>
            </a:r>
            <a:r>
              <a:rPr lang="zh-CN" altLang="en-US" sz="2800" dirty="0">
                <a:solidFill>
                  <a:schemeClr val="bg1"/>
                </a:solidFill>
              </a:rPr>
              <a:t>与</a:t>
            </a:r>
            <a:r>
              <a:rPr lang="zh-CN" altLang="en-US" sz="2800" b="1" dirty="0">
                <a:solidFill>
                  <a:srgbClr val="00E5FF"/>
                </a:solidFill>
              </a:rPr>
              <a:t>能源</a:t>
            </a:r>
            <a:endParaRPr lang="zh-CN" altLang="en-US" sz="2800" dirty="0">
              <a:solidFill>
                <a:schemeClr val="bg1"/>
              </a:solidFill>
            </a:endParaRPr>
          </a:p>
          <a:p>
            <a:r>
              <a:rPr lang="zh-CN" altLang="en-US" sz="2800" dirty="0">
                <a:solidFill>
                  <a:schemeClr val="bg1"/>
                </a:solidFill>
              </a:rPr>
              <a:t>下一节课：</a:t>
            </a:r>
          </a:p>
          <a:p>
            <a:pPr lvl="1"/>
            <a:r>
              <a:rPr lang="zh-CN" altLang="en-US" sz="2400" dirty="0">
                <a:solidFill>
                  <a:schemeClr val="bg1"/>
                </a:solidFill>
              </a:rPr>
              <a:t>不同 </a:t>
            </a:r>
            <a:r>
              <a:rPr lang="en-US" altLang="zh-CN" sz="2400" dirty="0">
                <a:solidFill>
                  <a:schemeClr val="bg1"/>
                </a:solidFill>
              </a:rPr>
              <a:t>AI </a:t>
            </a:r>
            <a:r>
              <a:rPr lang="zh-CN" altLang="en-US" sz="2400" dirty="0">
                <a:solidFill>
                  <a:schemeClr val="bg1"/>
                </a:solidFill>
              </a:rPr>
              <a:t>为什么表现不同？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build="p"/>
    </p:bldLst>
  </p:timing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2455</Words>
  <Application>Microsoft Office PowerPoint</Application>
  <PresentationFormat>宽屏</PresentationFormat>
  <Paragraphs>313</Paragraphs>
  <Slides>16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Noto Sans CJK SC</vt:lpstr>
      <vt:lpstr>Noto Sans SC</vt:lpstr>
      <vt:lpstr>宋体</vt:lpstr>
      <vt:lpstr>微软雅黑</vt:lpstr>
      <vt:lpstr>Arial</vt:lpstr>
      <vt:lpstr>Calibri</vt:lpstr>
      <vt:lpstr>Calibri Light</vt:lpstr>
      <vt:lpstr>Cambria Math</vt:lpstr>
      <vt:lpstr>DejaVu Math TeX Gyre</vt:lpstr>
      <vt:lpstr>WPS</vt:lpstr>
      <vt:lpstr>第四课 为什么AI有时聪明有时“蠢”</vt:lpstr>
      <vt:lpstr>回顾</vt:lpstr>
      <vt:lpstr>PowerPoint 演示文稿</vt:lpstr>
      <vt:lpstr>课程路线图</vt:lpstr>
      <vt:lpstr>Transformer vs RNN / LSTM</vt:lpstr>
      <vt:lpstr>注意力机制</vt:lpstr>
      <vt:lpstr>结合注意力的自回归生成：一个例子</vt:lpstr>
      <vt:lpstr>注意力机制：既是武器，也是枷锁</vt:lpstr>
      <vt:lpstr>注意力机制：既是武器，也是枷锁</vt:lpstr>
      <vt:lpstr>Transformer 的基石：GPU 与算力</vt:lpstr>
      <vt:lpstr>大模型的能耗</vt:lpstr>
      <vt:lpstr>能省则省：提示缓存</vt:lpstr>
      <vt:lpstr>为什么有时候 AI 很蠢</vt:lpstr>
      <vt:lpstr>模型输出的错误排查</vt:lpstr>
      <vt:lpstr>大模型 vs 小模型</vt:lpstr>
      <vt:lpstr>总结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Trams Wang</cp:lastModifiedBy>
  <cp:revision>537</cp:revision>
  <dcterms:created xsi:type="dcterms:W3CDTF">2026-09-11T05:44:00Z</dcterms:created>
  <dcterms:modified xsi:type="dcterms:W3CDTF">2026-09-13T04:46:58Z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AF1A490D30A00710C6B26D6AE3DED764_43</vt:lpwstr>
  </property>
</Properties>
</file>