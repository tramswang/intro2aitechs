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handoutMasterIdLst>
    <p:handoutMasterId r:id="rId20"/>
  </p:handoutMasterIdLst>
  <p:sldIdLst>
    <p:sldId id="256" r:id="rId3"/>
    <p:sldId id="294" r:id="rId4"/>
    <p:sldId id="310" r:id="rId6"/>
    <p:sldId id="311" r:id="rId7"/>
    <p:sldId id="323" r:id="rId8"/>
    <p:sldId id="324" r:id="rId9"/>
    <p:sldId id="329" r:id="rId10"/>
    <p:sldId id="327" r:id="rId11"/>
    <p:sldId id="334" r:id="rId12"/>
    <p:sldId id="335" r:id="rId13"/>
    <p:sldId id="336" r:id="rId14"/>
    <p:sldId id="325" r:id="rId15"/>
    <p:sldId id="332" r:id="rId16"/>
    <p:sldId id="337" r:id="rId17"/>
    <p:sldId id="333" r:id="rId18"/>
    <p:sldId id="274" r:id="rId19"/>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56"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E5FF"/>
    <a:srgbClr val="69F0AE"/>
    <a:srgbClr val="FFE3B1"/>
    <a:srgbClr val="B388FF"/>
    <a:srgbClr val="061323"/>
    <a:srgbClr val="00E5FA"/>
    <a:srgbClr val="1E1E1E"/>
    <a:srgbClr val="5A5A5A"/>
    <a:srgbClr val="121212"/>
    <a:srgbClr val="B2B2B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43" autoAdjust="0"/>
    <p:restoredTop sz="75338" autoAdjust="0"/>
  </p:normalViewPr>
  <p:slideViewPr>
    <p:cSldViewPr snapToGrid="0" showGuides="1">
      <p:cViewPr varScale="1">
        <p:scale>
          <a:sx n="119" d="100"/>
          <a:sy n="119" d="100"/>
        </p:scale>
        <p:origin x="4140" y="-606"/>
      </p:cViewPr>
      <p:guideLst>
        <p:guide orient="horz" pos="2256"/>
        <p:guide pos="3840"/>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handoutMaster" Target="handoutMasters/handoutMaster1.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171450" indent="-171450">
              <a:buFont typeface="Arial" panose="02080604020202020204" pitchFamily="34" charset="0"/>
              <a:buChar char="•"/>
            </a:pPr>
            <a:r>
              <a:rPr lang="zh-CN" altLang="en-US"/>
              <a:t>首先，我们先来了解一下大模型都有什么样的能力差异</a:t>
            </a:r>
            <a:endParaRPr lang="zh-CN" altLang="en-US"/>
          </a:p>
          <a:p>
            <a:pPr marL="171450" indent="-171450">
              <a:buFont typeface="Arial" panose="02080604020202020204" pitchFamily="34" charset="0"/>
              <a:buChar char="•"/>
            </a:pPr>
            <a:r>
              <a:rPr lang="zh-CN" altLang="en-US"/>
              <a:t>使用模型前，要先了解它的使用说明</a:t>
            </a:r>
            <a:endParaRPr lang="en-US" altLang="zh-CN"/>
          </a:p>
          <a:p>
            <a:pPr marL="171450" indent="-171450">
              <a:buFont typeface="Arial" panose="02080604020202020204" pitchFamily="34" charset="0"/>
              <a:buChar char="•"/>
            </a:pPr>
            <a:r>
              <a:rPr lang="zh-CN" altLang="en-US"/>
              <a:t>虽然现在的大模型大都使用了一种叫做“混合专家”的设计模式，使得整体的能力都比较均衡，但是实际使用之后就会发现，不同厂商的模型输出风格还是会不一样的</a:t>
            </a:r>
            <a:endParaRPr lang="zh-CN" altLang="en-US"/>
          </a:p>
          <a:p>
            <a:pPr marL="628650" lvl="1" indent="-171450">
              <a:buFont typeface="Arial" panose="02080604020202020204" pitchFamily="34" charset="0"/>
              <a:buChar char="•"/>
            </a:pPr>
            <a:r>
              <a:rPr lang="en-US" altLang="zh-CN"/>
              <a:t>DeepSeek </a:t>
            </a:r>
            <a:r>
              <a:rPr lang="zh-CN" altLang="en-US"/>
              <a:t>会进行很长的思考，但回答比较简略，“内心戏丰富但沉默寡言的闷骚型模型”</a:t>
            </a:r>
            <a:endParaRPr lang="zh-CN" altLang="en-US"/>
          </a:p>
          <a:p>
            <a:pPr marL="628650" lvl="1" indent="-171450">
              <a:buFont typeface="Arial" panose="02080604020202020204" pitchFamily="34" charset="0"/>
              <a:buChar char="•"/>
            </a:pPr>
            <a:r>
              <a:rPr lang="en-US" altLang="zh-CN"/>
              <a:t>GPT </a:t>
            </a:r>
            <a:r>
              <a:rPr lang="zh-CN" altLang="en-US"/>
              <a:t>思考很快，但是回答会很长，会分很多小节、列很多列表，“直言快语的唠叨型模型”</a:t>
            </a:r>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indent="0">
              <a:buFont typeface="Arial" panose="02080604020202020204" pitchFamily="34" charset="0"/>
              <a:buNone/>
            </a:pPr>
            <a:r>
              <a:rPr lang="zh-CN" altLang="en-US"/>
              <a:t>模型能力差异的最主要来源就是模型的训练过程。就好比一个人的能力与其他人的差异很大程度上来源于他受过的教育一样。</a:t>
            </a:r>
            <a:endParaRPr lang="zh-CN" altLang="en-US"/>
          </a:p>
          <a:p>
            <a:pPr indent="0">
              <a:buFont typeface="Arial" panose="02080604020202020204" pitchFamily="34" charset="0"/>
              <a:buNone/>
            </a:pPr>
            <a:endParaRPr lang="en-US" altLang="zh-CN"/>
          </a:p>
          <a:p>
            <a:pPr indent="0">
              <a:buFont typeface="Arial" panose="02080604020202020204" pitchFamily="34" charset="0"/>
              <a:buNone/>
            </a:pPr>
            <a:r>
              <a:rPr lang="zh-CN" altLang="en-US"/>
              <a:t>我们首先来看一下人是如何被教育改变的</a:t>
            </a:r>
            <a:r>
              <a:rPr lang="en-US" altLang="zh-CN"/>
              <a:t>……</a:t>
            </a:r>
            <a:endParaRPr lang="zh-CN" altLang="en-US"/>
          </a:p>
          <a:p>
            <a:pPr indent="0">
              <a:buFont typeface="Arial" panose="02080604020202020204" pitchFamily="34" charset="0"/>
              <a:buNone/>
            </a:pPr>
            <a:endParaRPr lang="zh-CN" altLang="en-US"/>
          </a:p>
          <a:p>
            <a:pPr indent="0">
              <a:buFont typeface="Arial" panose="02080604020202020204" pitchFamily="34" charset="0"/>
              <a:buNone/>
            </a:pPr>
            <a:r>
              <a:rPr lang="zh-CN" altLang="en-US"/>
              <a:t>模型的训练过程和人学习的过程几乎是一样的</a:t>
            </a:r>
            <a:r>
              <a:rPr lang="en-US" altLang="zh-CN"/>
              <a:t>……</a:t>
            </a:r>
            <a:endParaRPr lang="en-US" altLang="zh-C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171450" indent="-171450">
              <a:buFont typeface="Arial" panose="02080604020202020204" pitchFamily="34" charset="0"/>
              <a:buChar char="•"/>
            </a:pPr>
            <a:r>
              <a:rPr lang="zh-CN" altLang="en-US"/>
              <a:t>模型训练的本质：函数空间寻找最小值</a:t>
            </a:r>
            <a:endParaRPr lang="zh-CN" altLang="en-US"/>
          </a:p>
          <a:p>
            <a:pPr marL="628650" lvl="1" indent="-171450">
              <a:buFont typeface="Arial" panose="02080604020202020204" pitchFamily="34" charset="0"/>
              <a:buChar char="•"/>
            </a:pPr>
            <a:r>
              <a:rPr lang="zh-CN" altLang="en-US"/>
              <a:t>类比下山坡，空间形状是由训练数据勾勒出来的</a:t>
            </a:r>
            <a:endParaRPr lang="zh-CN" altLang="en-US"/>
          </a:p>
          <a:p>
            <a:pPr marL="628650" lvl="1" indent="-171450">
              <a:buFont typeface="Arial" panose="02080604020202020204" pitchFamily="34" charset="0"/>
              <a:buChar char="•"/>
            </a:pPr>
            <a:r>
              <a:rPr lang="zh-CN" altLang="en-US"/>
              <a:t>从一个出发点走到一个坑底，就完成了一次训练</a:t>
            </a:r>
            <a:endParaRPr lang="zh-CN" altLang="en-US"/>
          </a:p>
          <a:p>
            <a:pPr indent="0">
              <a:buFont typeface="Arial" panose="02080604020202020204" pitchFamily="34" charset="0"/>
              <a:buNone/>
            </a:pP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0"/>
            <a:r>
              <a:rPr lang="zh-CN" altLang="en-US">
                <a:sym typeface="+mn-ea"/>
              </a:rPr>
              <a:t>三个训练阶段（类比于一个学生）：</a:t>
            </a:r>
            <a:endParaRPr lang="zh-CN" altLang="en-US"/>
          </a:p>
          <a:p>
            <a:pPr marL="171450" lvl="0" indent="-171450">
              <a:buFont typeface="Arial" panose="02080604020202020204" pitchFamily="34" charset="0"/>
              <a:buChar char="•"/>
            </a:pPr>
            <a:r>
              <a:rPr lang="zh-CN" altLang="en-US">
                <a:sym typeface="+mn-ea"/>
              </a:rPr>
              <a:t>预训练：学习基础知识</a:t>
            </a:r>
            <a:endParaRPr lang="zh-CN" altLang="en-US"/>
          </a:p>
          <a:p>
            <a:pPr marL="171450" lvl="0" indent="-171450">
              <a:buFont typeface="Arial" panose="02080604020202020204" pitchFamily="34" charset="0"/>
              <a:buChar char="•"/>
            </a:pPr>
            <a:r>
              <a:rPr lang="zh-CN" altLang="en-US">
                <a:sym typeface="+mn-ea"/>
              </a:rPr>
              <a:t>后训练：学习回答不同的题目</a:t>
            </a:r>
            <a:endParaRPr lang="zh-CN" altLang="en-US"/>
          </a:p>
          <a:p>
            <a:pPr marL="171450" lvl="0" indent="-171450">
              <a:buFont typeface="Arial" panose="02080604020202020204" pitchFamily="34" charset="0"/>
              <a:buChar char="•"/>
            </a:pPr>
            <a:r>
              <a:rPr lang="zh-CN" altLang="en-US">
                <a:sym typeface="+mn-ea"/>
              </a:rPr>
              <a:t>偏好优化/强化训练：学习奥赛场景下的解题技巧</a:t>
            </a:r>
            <a:endParaRPr lang="zh-CN" altLang="en-US">
              <a:sym typeface="+mn-ea"/>
            </a:endParaRPr>
          </a:p>
          <a:p>
            <a:pPr marL="171450" lvl="0" indent="-171450">
              <a:buFont typeface="Arial" panose="02080604020202020204" pitchFamily="34" charset="0"/>
              <a:buChar char="•"/>
            </a:pPr>
            <a:endParaRPr lang="zh-CN" altLang="en-US">
              <a:sym typeface="+mn-ea"/>
            </a:endParaRPr>
          </a:p>
          <a:p>
            <a:pPr marL="171450" lvl="0" indent="-171450">
              <a:buFont typeface="Arial" panose="02080604020202020204" pitchFamily="34" charset="0"/>
              <a:buChar char="•"/>
            </a:pPr>
            <a:r>
              <a:rPr lang="zh-CN" altLang="en-US">
                <a:sym typeface="+mn-ea"/>
              </a:rPr>
              <a:t>完成了这些训练，学校就向社会输送了一名优秀的人才</a:t>
            </a:r>
            <a:endParaRPr lang="zh-CN" altLang="en-US"/>
          </a:p>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模型是通过什么格式的数据进行训练的呢？</a:t>
            </a:r>
            <a:endParaRPr lang="zh-CN" altLang="en-US" dirty="0"/>
          </a:p>
          <a:p>
            <a:endParaRPr lang="zh-CN" altLang="en-US" dirty="0"/>
          </a:p>
          <a:p>
            <a:pPr marL="171450" indent="-171450">
              <a:buFont typeface="Arial" panose="02080604020202020204" pitchFamily="34" charset="0"/>
              <a:buChar char="•"/>
            </a:pPr>
            <a:r>
              <a:rPr lang="zh-CN" altLang="en-US" dirty="0"/>
              <a:t>预训练：普通文本（书籍、文章、代码）</a:t>
            </a:r>
            <a:endParaRPr lang="zh-CN" altLang="en-US" dirty="0"/>
          </a:p>
          <a:p>
            <a:pPr marL="171450" indent="-171450">
              <a:buFont typeface="Arial" panose="02080604020202020204" pitchFamily="34" charset="0"/>
              <a:buChar char="•"/>
            </a:pPr>
            <a:r>
              <a:rPr lang="zh-CN" altLang="en-US" dirty="0"/>
              <a:t>后训练</a:t>
            </a:r>
            <a:r>
              <a:rPr lang="en-US" altLang="zh-CN" dirty="0"/>
              <a:t>/</a:t>
            </a:r>
            <a:r>
              <a:rPr lang="zh-CN" altLang="en-US" dirty="0"/>
              <a:t>强化训练：会额外包含一些引导</a:t>
            </a:r>
            <a:r>
              <a:rPr lang="en-US" altLang="zh-CN" dirty="0"/>
              <a:t> token, </a:t>
            </a:r>
            <a:r>
              <a:rPr lang="zh-CN" altLang="en-US" dirty="0"/>
              <a:t>把文本划分为对应到不同身份的多个部分</a:t>
            </a:r>
            <a:endParaRPr lang="zh-CN" altLang="en-US" dirty="0"/>
          </a:p>
          <a:p>
            <a:pPr marL="628650" lvl="1" indent="-171450">
              <a:buFont typeface="Arial" panose="02080604020202020204" pitchFamily="34" charset="0"/>
              <a:buChar char="•"/>
            </a:pPr>
            <a:r>
              <a:rPr lang="zh-CN" altLang="en-US" dirty="0"/>
              <a:t>系统：固定的任务说明、角色定位</a:t>
            </a:r>
            <a:endParaRPr lang="zh-CN" altLang="en-US" dirty="0"/>
          </a:p>
          <a:p>
            <a:pPr marL="628650" lvl="1" indent="-171450">
              <a:buFont typeface="Arial" panose="02080604020202020204" pitchFamily="34" charset="0"/>
              <a:buChar char="•"/>
            </a:pPr>
            <a:r>
              <a:rPr lang="zh-CN" altLang="en-US" dirty="0"/>
              <a:t>用户：用户可能会说的内容</a:t>
            </a:r>
            <a:endParaRPr lang="zh-CN" altLang="en-US" dirty="0"/>
          </a:p>
          <a:p>
            <a:pPr marL="628650" lvl="1" indent="-171450">
              <a:buFont typeface="Arial" panose="02080604020202020204" pitchFamily="34" charset="0"/>
              <a:buChar char="•"/>
            </a:pPr>
            <a:r>
              <a:rPr lang="zh-CN" altLang="en-US" dirty="0"/>
              <a:t>助手：大模型的回复</a:t>
            </a:r>
            <a:endParaRPr lang="zh-CN" altLang="en-US" dirty="0"/>
          </a:p>
          <a:p>
            <a:pPr marL="171450" lvl="0" indent="-171450">
              <a:buFont typeface="Arial" panose="02080604020202020204" pitchFamily="34" charset="0"/>
              <a:buChar char="•"/>
            </a:pPr>
            <a:r>
              <a:rPr lang="zh-CN" altLang="en-US" dirty="0"/>
              <a:t>其他的角色：</a:t>
            </a:r>
            <a:endParaRPr lang="zh-CN" altLang="en-US" dirty="0"/>
          </a:p>
          <a:p>
            <a:pPr marL="628650" lvl="1" indent="-171450">
              <a:buFont typeface="Arial" panose="02080604020202020204" pitchFamily="34" charset="0"/>
              <a:buChar char="•"/>
            </a:pPr>
            <a:r>
              <a:rPr lang="zh-CN" altLang="en-US" dirty="0"/>
              <a:t>工具</a:t>
            </a:r>
            <a:endParaRPr lang="zh-CN" altLang="en-US" dirty="0"/>
          </a:p>
          <a:p>
            <a:pPr marL="628650" lvl="1" indent="-171450">
              <a:buFont typeface="Arial" panose="02080604020202020204" pitchFamily="34" charset="0"/>
              <a:buChar char="•"/>
            </a:pPr>
            <a:r>
              <a:rPr lang="zh-CN" altLang="en-US" dirty="0"/>
              <a:t>开发者</a:t>
            </a:r>
            <a:endParaRPr lang="zh-CN"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为什么要让文本关联到多个不同的身份呢？</a:t>
            </a:r>
            <a:endParaRPr lang="zh-CN" altLang="en-US"/>
          </a:p>
          <a:p>
            <a:pPr marL="171450" lvl="1" indent="-171450">
              <a:buFont typeface="Arial" panose="02080604020202020204" pitchFamily="34" charset="0"/>
              <a:buChar char="•"/>
            </a:pPr>
            <a:r>
              <a:rPr lang="zh-CN" altLang="en-US">
                <a:sym typeface="+mn-ea"/>
              </a:rPr>
              <a:t>目的：通过不同身份让大模型理解文本的构成，知道后面应该如何续写</a:t>
            </a:r>
            <a:endParaRPr lang="zh-CN" altLang="en-US">
              <a:sym typeface="+mn-ea"/>
            </a:endParaRPr>
          </a:p>
          <a:p>
            <a:pPr marL="171450" lvl="1" indent="-171450">
              <a:buFont typeface="Arial" panose="02080604020202020204" pitchFamily="34" charset="0"/>
              <a:buChar char="•"/>
            </a:pPr>
            <a:r>
              <a:rPr lang="zh-CN" altLang="en-US"/>
              <a:t>我们结合推理过程来看一下</a:t>
            </a:r>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indent="0">
              <a:buFont typeface="Arial" panose="02080604020202020204" pitchFamily="34" charset="0"/>
              <a:buNone/>
            </a:pPr>
            <a:r>
              <a:rPr lang="zh-CN" altLang="en-US"/>
              <a:t>模型决定能力上限</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Harness </a:t>
            </a:r>
            <a:r>
              <a:rPr lang="zh-CN" altLang="en-US"/>
              <a:t>决定实际效果</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最后，我再给大家介绍一种特殊的模型训练过程：微调</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微调想要达到的目的和检索增强生成有些相似，所以两者有时候会被混淆，这里我们来做一下区分</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171450" indent="-171450">
              <a:buFont typeface="Arial" panose="02080604020202020204" pitchFamily="34" charset="0"/>
              <a:buChar char="•"/>
            </a:pPr>
            <a:endParaRPr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7" Type="http://schemas.openxmlformats.org/officeDocument/2006/relationships/image" Target="../media/image6.svg"/><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7" name="AutoShape 2"/>
          <p:cNvSpPr/>
          <p:nvPr userDrawn="1"/>
        </p:nvSpPr>
        <p:spPr>
          <a:xfrm>
            <a:off x="0" y="0"/>
            <a:ext cx="12192000" cy="6858000"/>
          </a:xfrm>
          <a:prstGeom prst="roundRect">
            <a:avLst>
              <a:gd name="adj" fmla="val 0"/>
            </a:avLst>
          </a:prstGeom>
          <a:pattFill prst="lgGrid">
            <a:fgClr>
              <a:srgbClr val="FFFFFF">
                <a:alpha val="5098"/>
              </a:srgbClr>
            </a:fgClr>
            <a:bgClr>
              <a:srgbClr val="121212">
                <a:alpha val="0"/>
              </a:srgbClr>
            </a:bgClr>
          </a:pattFill>
          <a:ln cap="flat" cmpd="sng">
            <a:solidFill>
              <a:srgbClr val="FFFFFF">
                <a:alpha val="0"/>
              </a:srgbClr>
            </a:solidFill>
            <a:prstDash val="solid"/>
            <a:round/>
          </a:ln>
        </p:spPr>
        <p:txBody>
          <a:bodyPr vert="horz" wrap="square" lIns="63500" tIns="63500" rIns="63500" bIns="63500" rtlCol="0" anchor="ctr"/>
          <a:lstStyle/>
          <a:p>
            <a:pPr algn="ctr">
              <a:defRPr/>
            </a:pPr>
          </a:p>
        </p:txBody>
      </p:sp>
      <p:sp>
        <p:nvSpPr>
          <p:cNvPr id="12" name="AutoShape 5"/>
          <p:cNvSpPr/>
          <p:nvPr userDrawn="1"/>
        </p:nvSpPr>
        <p:spPr>
          <a:xfrm>
            <a:off x="2286000" y="1524000"/>
            <a:ext cx="7620000" cy="4064000"/>
          </a:xfrm>
          <a:prstGeom prst="ellipse">
            <a:avLst/>
          </a:prstGeom>
          <a:gradFill rotWithShape="1">
            <a:gsLst>
              <a:gs pos="0">
                <a:srgbClr val="FFFFFF">
                  <a:alpha val="9000"/>
                </a:srgbClr>
              </a:gs>
              <a:gs pos="35000">
                <a:srgbClr val="FFFFFF">
                  <a:alpha val="3000"/>
                </a:srgbClr>
              </a:gs>
              <a:gs pos="65000">
                <a:srgbClr val="121212">
                  <a:alpha val="0"/>
                </a:srgbClr>
              </a:gs>
            </a:gsLst>
            <a:path path="circle">
              <a:fillToRect l="50000" t="50000" r="50000" b="50000"/>
            </a:path>
            <a:tileRect/>
          </a:gradFill>
          <a:ln cap="flat" cmpd="sng">
            <a:gradFill rotWithShape="1">
              <a:gsLst>
                <a:gs pos="0">
                  <a:srgbClr val="E6CFCF">
                    <a:alpha val="9000"/>
                  </a:srgbClr>
                </a:gs>
                <a:gs pos="35000">
                  <a:srgbClr val="E6CFCF">
                    <a:alpha val="3000"/>
                  </a:srgbClr>
                </a:gs>
                <a:gs pos="65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0" name="AutoShape 3"/>
          <p:cNvSpPr/>
          <p:nvPr userDrawn="1"/>
        </p:nvSpPr>
        <p:spPr>
          <a:xfrm>
            <a:off x="-2032000" y="-2032000"/>
            <a:ext cx="5588000" cy="5588000"/>
          </a:xfrm>
          <a:prstGeom prst="ellipse">
            <a:avLst/>
          </a:prstGeom>
          <a:gradFill rotWithShape="1">
            <a:gsLst>
              <a:gs pos="0">
                <a:srgbClr val="00E5FF">
                  <a:alpha val="20000"/>
                </a:srgbClr>
              </a:gs>
              <a:gs pos="30000">
                <a:srgbClr val="00E5FF">
                  <a:alpha val="8000"/>
                </a:srgbClr>
              </a:gs>
              <a:gs pos="65000">
                <a:srgbClr val="121212">
                  <a:alpha val="0"/>
                </a:srgbClr>
              </a:gs>
            </a:gsLst>
            <a:path path="circle">
              <a:fillToRect l="50000" t="50000" r="50000" b="50000"/>
            </a:path>
            <a:tileRect/>
          </a:gradFill>
          <a:ln cap="flat" cmpd="sng">
            <a:gradFill rotWithShape="1">
              <a:gsLst>
                <a:gs pos="0">
                  <a:srgbClr val="00CEE6">
                    <a:alpha val="20000"/>
                  </a:srgbClr>
                </a:gs>
                <a:gs pos="30000">
                  <a:srgbClr val="00CEE6">
                    <a:alpha val="8000"/>
                  </a:srgbClr>
                </a:gs>
                <a:gs pos="65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1" name="AutoShape 4"/>
          <p:cNvSpPr/>
          <p:nvPr userDrawn="1"/>
        </p:nvSpPr>
        <p:spPr>
          <a:xfrm>
            <a:off x="8636000" y="3556000"/>
            <a:ext cx="5588000" cy="5588000"/>
          </a:xfrm>
          <a:prstGeom prst="ellipse">
            <a:avLst/>
          </a:prstGeom>
          <a:gradFill rotWithShape="1">
            <a:gsLst>
              <a:gs pos="0">
                <a:srgbClr val="B388FF">
                  <a:alpha val="20000"/>
                </a:srgbClr>
              </a:gs>
              <a:gs pos="30000">
                <a:srgbClr val="B388FF">
                  <a:alpha val="8000"/>
                </a:srgbClr>
              </a:gs>
              <a:gs pos="65000">
                <a:srgbClr val="121212">
                  <a:alpha val="0"/>
                </a:srgbClr>
              </a:gs>
            </a:gsLst>
            <a:path path="circle">
              <a:fillToRect l="50000" t="50000" r="50000" b="50000"/>
            </a:path>
            <a:tileRect/>
          </a:gradFill>
          <a:ln cap="flat" cmpd="sng">
            <a:gradFill rotWithShape="1">
              <a:gsLst>
                <a:gs pos="0">
                  <a:srgbClr val="9263E6">
                    <a:alpha val="20000"/>
                  </a:srgbClr>
                </a:gs>
                <a:gs pos="30000">
                  <a:srgbClr val="9263E6">
                    <a:alpha val="8000"/>
                  </a:srgbClr>
                </a:gs>
                <a:gs pos="65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3" name="AutoShape 6"/>
          <p:cNvSpPr/>
          <p:nvPr userDrawn="1"/>
        </p:nvSpPr>
        <p:spPr>
          <a:xfrm>
            <a:off x="1016000" y="2159000"/>
            <a:ext cx="76200" cy="1778000"/>
          </a:xfrm>
          <a:prstGeom prst="roundRect">
            <a:avLst>
              <a:gd name="adj" fmla="val 0"/>
            </a:avLst>
          </a:prstGeom>
          <a:gradFill rotWithShape="1">
            <a:gsLst>
              <a:gs pos="0">
                <a:srgbClr val="00E5FF">
                  <a:alpha val="0"/>
                </a:srgbClr>
              </a:gs>
              <a:gs pos="50000">
                <a:srgbClr val="00E5FF">
                  <a:alpha val="55000"/>
                </a:srgbClr>
              </a:gs>
              <a:gs pos="100000">
                <a:srgbClr val="00E5FF">
                  <a:alpha val="0"/>
                </a:srgbClr>
              </a:gs>
            </a:gsLst>
            <a:lin ang="5400000"/>
          </a:gradFill>
          <a:ln cap="flat" cmpd="sng">
            <a:gradFill rotWithShape="1">
              <a:gsLst>
                <a:gs pos="0">
                  <a:srgbClr val="00CEE6">
                    <a:alpha val="0"/>
                  </a:srgbClr>
                </a:gs>
                <a:gs pos="50000">
                  <a:srgbClr val="00CEE6">
                    <a:alpha val="55000"/>
                  </a:srgbClr>
                </a:gs>
                <a:gs pos="100000">
                  <a:srgbClr val="00CEE6">
                    <a:alpha val="0"/>
                  </a:srgbClr>
                </a:gs>
              </a:gsLst>
              <a:lin ang="5400000"/>
            </a:gradFill>
            <a:prstDash val="solid"/>
            <a:round/>
          </a:ln>
        </p:spPr>
        <p:txBody>
          <a:bodyPr vert="horz" wrap="square" lIns="63500" tIns="63500" rIns="63500" bIns="63500" rtlCol="0" anchor="ctr"/>
          <a:lstStyle/>
          <a:p>
            <a:pPr algn="ctr">
              <a:defRPr/>
            </a:pPr>
          </a:p>
        </p:txBody>
      </p:sp>
      <p:sp>
        <p:nvSpPr>
          <p:cNvPr id="14" name="AutoShape 7"/>
          <p:cNvSpPr/>
          <p:nvPr userDrawn="1"/>
        </p:nvSpPr>
        <p:spPr>
          <a:xfrm>
            <a:off x="11099800" y="2159000"/>
            <a:ext cx="76200" cy="1778000"/>
          </a:xfrm>
          <a:prstGeom prst="roundRect">
            <a:avLst>
              <a:gd name="adj" fmla="val 0"/>
            </a:avLst>
          </a:prstGeom>
          <a:gradFill rotWithShape="1">
            <a:gsLst>
              <a:gs pos="0">
                <a:srgbClr val="B388FF">
                  <a:alpha val="0"/>
                </a:srgbClr>
              </a:gs>
              <a:gs pos="50000">
                <a:srgbClr val="B388FF">
                  <a:alpha val="55000"/>
                </a:srgbClr>
              </a:gs>
              <a:gs pos="100000">
                <a:srgbClr val="B388FF">
                  <a:alpha val="0"/>
                </a:srgbClr>
              </a:gs>
            </a:gsLst>
            <a:lin ang="5400000"/>
          </a:gradFill>
          <a:ln cap="flat" cmpd="sng">
            <a:gradFill rotWithShape="1">
              <a:gsLst>
                <a:gs pos="0">
                  <a:srgbClr val="9263E6">
                    <a:alpha val="0"/>
                  </a:srgbClr>
                </a:gs>
                <a:gs pos="50000">
                  <a:srgbClr val="9263E6">
                    <a:alpha val="55000"/>
                  </a:srgbClr>
                </a:gs>
                <a:gs pos="100000">
                  <a:srgbClr val="9263E6">
                    <a:alpha val="0"/>
                  </a:srgbClr>
                </a:gs>
              </a:gsLst>
              <a:lin ang="5400000"/>
            </a:gradFill>
            <a:prstDash val="solid"/>
            <a:round/>
          </a:ln>
        </p:spPr>
        <p:txBody>
          <a:bodyPr vert="horz" wrap="square" lIns="63500" tIns="63500" rIns="63500" bIns="63500" rtlCol="0" anchor="ctr"/>
          <a:lstStyle/>
          <a:p>
            <a:pPr algn="ctr">
              <a:defRPr/>
            </a:pPr>
          </a:p>
        </p:txBody>
      </p:sp>
      <p:sp>
        <p:nvSpPr>
          <p:cNvPr id="17" name="AutoShape 10"/>
          <p:cNvSpPr/>
          <p:nvPr userDrawn="1"/>
        </p:nvSpPr>
        <p:spPr>
          <a:xfrm>
            <a:off x="2921000" y="5207000"/>
            <a:ext cx="6350000" cy="12700"/>
          </a:xfrm>
          <a:prstGeom prst="roundRect">
            <a:avLst>
              <a:gd name="adj" fmla="val 0"/>
            </a:avLst>
          </a:prstGeom>
          <a:gradFill rotWithShape="1">
            <a:gsLst>
              <a:gs pos="0">
                <a:srgbClr val="00E5FF">
                  <a:alpha val="0"/>
                </a:srgbClr>
              </a:gs>
              <a:gs pos="28000">
                <a:srgbClr val="00E5FF">
                  <a:alpha val="55000"/>
                </a:srgbClr>
              </a:gs>
              <a:gs pos="72000">
                <a:srgbClr val="B388FF">
                  <a:alpha val="55000"/>
                </a:srgbClr>
              </a:gs>
              <a:gs pos="100000">
                <a:srgbClr val="B388FF">
                  <a:alpha val="0"/>
                </a:srgbClr>
              </a:gs>
            </a:gsLst>
            <a:lin ang="0"/>
          </a:gradFill>
          <a:ln cap="flat" cmpd="sng">
            <a:gradFill rotWithShape="1">
              <a:gsLst>
                <a:gs pos="0">
                  <a:srgbClr val="00CEE6">
                    <a:alpha val="0"/>
                  </a:srgbClr>
                </a:gs>
                <a:gs pos="28000">
                  <a:srgbClr val="00CEE6">
                    <a:alpha val="55000"/>
                  </a:srgbClr>
                </a:gs>
                <a:gs pos="72000">
                  <a:srgbClr val="9263E6">
                    <a:alpha val="55000"/>
                  </a:srgbClr>
                </a:gs>
                <a:gs pos="100000">
                  <a:srgbClr val="9263E6">
                    <a:alpha val="0"/>
                  </a:srgbClr>
                </a:gs>
              </a:gsLst>
              <a:lin ang="0"/>
            </a:gradFill>
            <a:prstDash val="solid"/>
            <a:round/>
          </a:ln>
        </p:spPr>
        <p:txBody>
          <a:bodyPr vert="horz" wrap="square" lIns="63500" tIns="63500" rIns="63500" bIns="63500" rtlCol="0" anchor="ctr"/>
          <a:lstStyle/>
          <a:p>
            <a:pPr algn="ctr">
              <a:defRPr/>
            </a:pPr>
          </a:p>
        </p:txBody>
      </p:sp>
      <p:cxnSp>
        <p:nvCxnSpPr>
          <p:cNvPr id="19" name="Connector 12"/>
          <p:cNvCxnSpPr/>
          <p:nvPr userDrawn="1"/>
        </p:nvCxnSpPr>
        <p:spPr>
          <a:xfrm rot="5256843">
            <a:off x="5943600" y="5810382"/>
            <a:ext cx="304800" cy="12700"/>
          </a:xfrm>
          <a:prstGeom prst="straightConnector1">
            <a:avLst/>
          </a:prstGeom>
          <a:solidFill>
            <a:srgbClr val="DEE0E3">
              <a:alpha val="100000"/>
            </a:srgbClr>
          </a:solidFill>
          <a:ln w="12700" cap="flat" cmpd="sng">
            <a:solidFill>
              <a:srgbClr val="FFFFFF">
                <a:alpha val="28000"/>
              </a:srgbClr>
            </a:solidFill>
            <a:prstDash val="solid"/>
            <a:round/>
            <a:headEnd type="none" w="med" len="med"/>
            <a:tailEnd type="none" w="med" len="med"/>
          </a:ln>
        </p:spPr>
      </p:cxnSp>
      <p:sp>
        <p:nvSpPr>
          <p:cNvPr id="2" name="标题 1"/>
          <p:cNvSpPr>
            <a:spLocks noGrp="1"/>
          </p:cNvSpPr>
          <p:nvPr>
            <p:ph type="ctrTitle" hasCustomPrompt="1"/>
          </p:nvPr>
        </p:nvSpPr>
        <p:spPr>
          <a:xfrm>
            <a:off x="762000" y="1433195"/>
            <a:ext cx="10668000" cy="2325370"/>
          </a:xfrm>
        </p:spPr>
        <p:txBody>
          <a:bodyPr anchor="b">
            <a:normAutofit/>
          </a:bodyPr>
          <a:lstStyle>
            <a:lvl1pPr marL="0" marR="0" lvl="0" algn="ctr" rtl="0" eaLnBrk="1" fontAlgn="auto" latinLnBrk="0" hangingPunct="1">
              <a:lnSpc>
                <a:spcPct val="108000"/>
              </a:lnSpc>
              <a:spcBef>
                <a:spcPts val="0"/>
              </a:spcBef>
              <a:spcAft>
                <a:spcPts val="0"/>
              </a:spcAft>
              <a:buClr>
                <a:srgbClr val="000000"/>
              </a:buClr>
              <a:buSzTx/>
              <a:buFont typeface="Arial" panose="020B0604020202020204"/>
              <a:buNone/>
              <a:defRPr/>
            </a:lvl1pPr>
          </a:lstStyle>
          <a:p>
            <a:r>
              <a:rPr lang="zh-CN" altLang="en-US" dirty="0"/>
              <a:t>单击此处添加标题</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hasCustomPrompt="1"/>
          </p:nvPr>
        </p:nvSpPr>
        <p:spPr>
          <a:xfrm>
            <a:off x="762000" y="4012565"/>
            <a:ext cx="10668000" cy="1753870"/>
          </a:xfrm>
        </p:spPr>
        <p:txBody>
          <a:bodyPr>
            <a:normAutofit/>
          </a:bodyPr>
          <a:lstStyle>
            <a:lvl1pPr marL="0" indent="0" algn="ctr">
              <a:buNone/>
              <a:defRPr sz="2800">
                <a:solidFill>
                  <a:schemeClr val="bg1">
                    <a:lumMod val="7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endParaRPr lang="zh-CN" altLang="en-US" dirty="0"/>
          </a:p>
        </p:txBody>
      </p:sp>
      <p:sp>
        <p:nvSpPr>
          <p:cNvPr id="21" name="文本占位符 20"/>
          <p:cNvSpPr>
            <a:spLocks noGrp="1"/>
          </p:cNvSpPr>
          <p:nvPr>
            <p:ph type="body" idx="13" hasCustomPrompt="1"/>
          </p:nvPr>
        </p:nvSpPr>
        <p:spPr>
          <a:xfrm>
            <a:off x="757555" y="5588000"/>
            <a:ext cx="4831080" cy="431800"/>
          </a:xfrm>
        </p:spPr>
        <p:txBody>
          <a:bodyPr/>
          <a:lstStyle>
            <a:lvl1pPr indent="0">
              <a:buNone/>
              <a:defRPr sz="2000"/>
            </a:lvl1pPr>
          </a:lstStyle>
          <a:p>
            <a:pPr marL="0" indent="0" algn="l">
              <a:lnSpc>
                <a:spcPct val="100000"/>
              </a:lnSpc>
              <a:defRPr/>
            </a:pPr>
            <a:r>
              <a:rPr lang="en-US" spc="300">
                <a:solidFill>
                  <a:srgbClr val="BEBEBE"/>
                </a:solidFill>
                <a:latin typeface="Noto Sans SC" panose="020B0200000000000000" charset="-122"/>
                <a:ea typeface="Noto Sans SC" panose="020B0200000000000000" charset="-122"/>
                <a:cs typeface="Noto Sans SC" panose="020B0200000000000000" charset="-122"/>
                <a:sym typeface="Noto Sans SC" panose="020B0200000000000000" charset="-122"/>
              </a:rPr>
              <a:t>【授课人】</a:t>
            </a:r>
            <a:endParaRPr lang="zh-CN" altLang="en-US"/>
          </a:p>
        </p:txBody>
      </p:sp>
      <p:sp>
        <p:nvSpPr>
          <p:cNvPr id="24" name="文本占位符 23"/>
          <p:cNvSpPr>
            <a:spLocks noGrp="1"/>
          </p:cNvSpPr>
          <p:nvPr>
            <p:ph type="body" idx="16" hasCustomPrompt="1"/>
          </p:nvPr>
        </p:nvSpPr>
        <p:spPr>
          <a:xfrm>
            <a:off x="6604000" y="5588000"/>
            <a:ext cx="4830445" cy="431800"/>
          </a:xfrm>
        </p:spPr>
        <p:txBody>
          <a:bodyPr/>
          <a:lstStyle>
            <a:lvl1pPr marL="0" indent="0" algn="r">
              <a:buNone/>
              <a:defRPr kumimoji="0" lang="zh-CN" altLang="en-US" sz="2000" b="0" i="0" u="none" strike="noStrike" kern="1200" cap="none" spc="300" normalizeH="0" baseline="0" noProof="1">
                <a:solidFill>
                  <a:srgbClr val="BEBEBE"/>
                </a:solidFill>
                <a:latin typeface="Noto Sans SC" panose="020B0200000000000000" charset="-122"/>
                <a:ea typeface="SimSun" pitchFamily="2" charset="-122"/>
                <a:cs typeface="Noto Sans SC" panose="020B0200000000000000" charset="-122"/>
                <a:sym typeface="Noto Sans SC" panose="020B0200000000000000" charset="-122"/>
              </a:defRPr>
            </a:lvl1pPr>
            <a:lvl5pPr algn="ctr">
              <a:defRPr/>
            </a:lvl5pPr>
          </a:lstStyle>
          <a:p>
            <a:pPr lvl="0"/>
            <a:r>
              <a:rPr lang="zh-CN" altLang="en-US"/>
              <a:t>【日期】</a:t>
            </a:r>
            <a:endParaRPr lang="zh-CN" altLang="en-US"/>
          </a:p>
          <a:p>
            <a:pPr lvl="0"/>
            <a:endParaRPr lang="zh-CN" altLang="en-US"/>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11" name="AutoShape 3"/>
          <p:cNvSpPr/>
          <p:nvPr userDrawn="1"/>
        </p:nvSpPr>
        <p:spPr>
          <a:xfrm>
            <a:off x="9144000" y="4572000"/>
            <a:ext cx="4572000" cy="4572000"/>
          </a:xfrm>
          <a:prstGeom prst="ellipse">
            <a:avLst/>
          </a:prstGeom>
          <a:gradFill rotWithShape="1">
            <a:gsLst>
              <a:gs pos="0">
                <a:srgbClr val="00E5FF">
                  <a:alpha val="6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0" name="AutoShape 2"/>
          <p:cNvSpPr/>
          <p:nvPr userDrawn="1"/>
        </p:nvSpPr>
        <p:spPr>
          <a:xfrm>
            <a:off x="-2032000" y="-2032000"/>
            <a:ext cx="4826000" cy="4826000"/>
          </a:xfrm>
          <a:prstGeom prst="ellipse">
            <a:avLst/>
          </a:prstGeom>
          <a:gradFill rotWithShape="1">
            <a:gsLst>
              <a:gs pos="0">
                <a:srgbClr val="00E5FF">
                  <a:alpha val="10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2" name="标题 1"/>
          <p:cNvSpPr>
            <a:spLocks noGrp="1"/>
          </p:cNvSpPr>
          <p:nvPr>
            <p:ph type="title"/>
          </p:nvPr>
        </p:nvSpPr>
        <p:spPr>
          <a:xfrm>
            <a:off x="762000" y="609600"/>
            <a:ext cx="10401300" cy="660400"/>
          </a:xfrm>
        </p:spPr>
        <p:txBody>
          <a:bodyPr anchor="ctr" anchorCtr="0">
            <a:normAutofit/>
          </a:bodyPr>
          <a:lstStyle>
            <a:lvl1pPr>
              <a:defRPr kumimoji="0" lang="en-US" sz="3600" b="1" i="0" u="none" strike="noStrike" kern="0" cap="none" spc="200" normalizeH="0" baseline="0" noProof="1">
                <a:solidFill>
                  <a:srgbClr val="FFFFFF"/>
                </a:solidFill>
                <a:effectLst>
                  <a:outerShdw blurRad="38100" dist="38100" dir="2700000" algn="tl">
                    <a:srgbClr val="000000">
                      <a:alpha val="43137"/>
                    </a:srgbClr>
                  </a:outerShdw>
                </a:effectLst>
                <a:latin typeface="Noto Sans SC" panose="020B0200000000000000" charset="-122"/>
                <a:ea typeface="Noto Sans SC" panose="020B0200000000000000" charset="-122"/>
                <a:cs typeface="Noto Sans SC" panose="020B0200000000000000" charset="-122"/>
                <a:sym typeface="Noto Sans SC" panose="020B0200000000000000" charset="-122"/>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762000" y="1825625"/>
            <a:ext cx="10401300" cy="4351655"/>
          </a:xfrm>
        </p:spPr>
        <p:txBody>
          <a:bodyPr>
            <a:normAutofit/>
          </a:bodyPr>
          <a:lstStyle>
            <a:lvl1pPr>
              <a:lnSpc>
                <a:spcPct val="150000"/>
              </a:lnSpc>
              <a:buClr>
                <a:srgbClr val="00E5FA"/>
              </a:buClr>
              <a:defRPr sz="2000">
                <a:solidFill>
                  <a:schemeClr val="bg1"/>
                </a:solidFill>
              </a:defRPr>
            </a:lvl1pPr>
            <a:lvl2pPr>
              <a:lnSpc>
                <a:spcPct val="150000"/>
              </a:lnSpc>
              <a:buClr>
                <a:srgbClr val="00E5FA"/>
              </a:buClr>
              <a:defRPr sz="1800">
                <a:solidFill>
                  <a:schemeClr val="bg1"/>
                </a:solidFill>
              </a:defRPr>
            </a:lvl2pPr>
            <a:lvl3pPr>
              <a:lnSpc>
                <a:spcPct val="150000"/>
              </a:lnSpc>
              <a:buClr>
                <a:srgbClr val="00E5FA"/>
              </a:buClr>
              <a:defRPr sz="1600">
                <a:solidFill>
                  <a:schemeClr val="bg1"/>
                </a:solidFill>
              </a:defRPr>
            </a:lvl3pPr>
            <a:lvl4pPr>
              <a:lnSpc>
                <a:spcPct val="150000"/>
              </a:lnSpc>
              <a:buClr>
                <a:srgbClr val="00E5FA"/>
              </a:buClr>
              <a:defRPr sz="1600">
                <a:solidFill>
                  <a:schemeClr val="bg1"/>
                </a:solidFill>
              </a:defRPr>
            </a:lvl4pPr>
            <a:lvl5pPr>
              <a:lnSpc>
                <a:spcPct val="150000"/>
              </a:lnSpc>
              <a:buClr>
                <a:srgbClr val="00E5FA"/>
              </a:buClr>
              <a:defRPr sz="1600">
                <a:solidFill>
                  <a:schemeClr val="bg1"/>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a:xfrm>
            <a:off x="8420100" y="6356350"/>
            <a:ext cx="2743200" cy="365125"/>
          </a:xfrm>
        </p:spPr>
        <p:txBody>
          <a:bodyPr/>
          <a:lstStyle>
            <a:lvl1pPr algn="r">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a:xfrm>
            <a:off x="3905250" y="6356350"/>
            <a:ext cx="4114800" cy="365125"/>
          </a:xfrm>
        </p:spPr>
        <p:txBody>
          <a:bodyPr/>
          <a:lstStyle/>
          <a:p>
            <a:endParaRPr lang="zh-CN" altLang="en-US"/>
          </a:p>
        </p:txBody>
      </p:sp>
      <p:sp>
        <p:nvSpPr>
          <p:cNvPr id="6" name="灯片编号占位符 5"/>
          <p:cNvSpPr>
            <a:spLocks noGrp="1"/>
          </p:cNvSpPr>
          <p:nvPr>
            <p:ph type="sldNum" sz="quarter" idx="12"/>
          </p:nvPr>
        </p:nvSpPr>
        <p:spPr>
          <a:xfrm>
            <a:off x="762000" y="6356350"/>
            <a:ext cx="2743200" cy="365125"/>
          </a:xfrm>
        </p:spPr>
        <p:txBody>
          <a:bodyPr/>
          <a:lstStyle>
            <a:lvl1pPr algn="l">
              <a:defRPr/>
            </a:lvl1pPr>
          </a:lstStyle>
          <a:p>
            <a:fld id="{49AE70B2-8BF9-45C0-BB95-33D1B9D3A854}" type="slidenum">
              <a:rPr lang="zh-CN" altLang="en-US" smtClean="0"/>
            </a:fld>
            <a:endParaRPr lang="en-US" altLang="zh-CN"/>
          </a:p>
        </p:txBody>
      </p:sp>
      <p:sp>
        <p:nvSpPr>
          <p:cNvPr id="8" name="AutoShape 5"/>
          <p:cNvSpPr/>
          <p:nvPr userDrawn="1"/>
        </p:nvSpPr>
        <p:spPr>
          <a:xfrm>
            <a:off x="762000" y="1422400"/>
            <a:ext cx="914400" cy="50800"/>
          </a:xfrm>
          <a:prstGeom prst="roundRect">
            <a:avLst>
              <a:gd name="adj" fmla="val 0"/>
            </a:avLst>
          </a:prstGeom>
          <a:solidFill>
            <a:srgbClr val="00E5FF">
              <a:alpha val="100000"/>
            </a:srgbClr>
          </a:solidFill>
          <a:ln w="25400" cap="flat" cmpd="sng">
            <a:noFill/>
            <a:prstDash val="solid"/>
            <a:round/>
          </a:ln>
        </p:spPr>
        <p:txBody>
          <a:bodyPr vert="horz" wrap="square" lIns="63500" tIns="63500" rIns="63500" bIns="63500" rtlCol="0" anchor="ctr"/>
          <a:lstStyle/>
          <a:p>
            <a:pPr algn="ctr">
              <a:defRPr/>
            </a:pPr>
          </a:p>
        </p:txBody>
      </p:sp>
      <p:cxnSp>
        <p:nvCxnSpPr>
          <p:cNvPr id="16" name="Connector 16"/>
          <p:cNvCxnSpPr/>
          <p:nvPr userDrawn="1"/>
        </p:nvCxnSpPr>
        <p:spPr>
          <a:xfrm rot="-4092">
            <a:off x="762004" y="6216650"/>
            <a:ext cx="10668000" cy="12700"/>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标题和内容">
    <p:spTree>
      <p:nvGrpSpPr>
        <p:cNvPr id="1" name=""/>
        <p:cNvGrpSpPr/>
        <p:nvPr/>
      </p:nvGrpSpPr>
      <p:grpSpPr>
        <a:xfrm>
          <a:off x="0" y="0"/>
          <a:ext cx="0" cy="0"/>
          <a:chOff x="0" y="0"/>
          <a:chExt cx="0" cy="0"/>
        </a:xfrm>
      </p:grpSpPr>
      <p:sp>
        <p:nvSpPr>
          <p:cNvPr id="11" name="AutoShape 3"/>
          <p:cNvSpPr/>
          <p:nvPr userDrawn="1"/>
        </p:nvSpPr>
        <p:spPr>
          <a:xfrm>
            <a:off x="9144000" y="4572000"/>
            <a:ext cx="4572000" cy="4572000"/>
          </a:xfrm>
          <a:prstGeom prst="ellipse">
            <a:avLst/>
          </a:prstGeom>
          <a:gradFill rotWithShape="1">
            <a:gsLst>
              <a:gs pos="0">
                <a:srgbClr val="00E5FF">
                  <a:alpha val="6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0" name="AutoShape 2"/>
          <p:cNvSpPr/>
          <p:nvPr userDrawn="1"/>
        </p:nvSpPr>
        <p:spPr>
          <a:xfrm>
            <a:off x="-2032000" y="-2032000"/>
            <a:ext cx="4826000" cy="4826000"/>
          </a:xfrm>
          <a:prstGeom prst="ellipse">
            <a:avLst/>
          </a:prstGeom>
          <a:gradFill rotWithShape="1">
            <a:gsLst>
              <a:gs pos="0">
                <a:srgbClr val="00E5FF">
                  <a:alpha val="10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2" name="标题 1"/>
          <p:cNvSpPr>
            <a:spLocks noGrp="1"/>
          </p:cNvSpPr>
          <p:nvPr>
            <p:ph type="title"/>
          </p:nvPr>
        </p:nvSpPr>
        <p:spPr>
          <a:xfrm>
            <a:off x="762000" y="609600"/>
            <a:ext cx="10401300" cy="660400"/>
          </a:xfrm>
        </p:spPr>
        <p:txBody>
          <a:bodyPr anchor="ctr" anchorCtr="0">
            <a:normAutofit/>
          </a:bodyPr>
          <a:lstStyle>
            <a:lvl1pPr>
              <a:defRPr kumimoji="0" lang="en-US" sz="3600" b="1" i="0" u="none" strike="noStrike" kern="0" cap="none" spc="200" normalizeH="0" baseline="0" noProof="1">
                <a:solidFill>
                  <a:srgbClr val="FFFFFF"/>
                </a:solidFill>
                <a:effectLst>
                  <a:outerShdw blurRad="38100" dist="38100" dir="2700000" algn="tl">
                    <a:srgbClr val="000000">
                      <a:alpha val="43137"/>
                    </a:srgbClr>
                  </a:outerShdw>
                </a:effectLst>
                <a:latin typeface="Noto Sans SC" panose="020B0200000000000000" charset="-122"/>
                <a:ea typeface="Noto Sans SC" panose="020B0200000000000000" charset="-122"/>
                <a:cs typeface="Noto Sans SC" panose="020B0200000000000000" charset="-122"/>
                <a:sym typeface="Noto Sans SC" panose="020B0200000000000000" charset="-122"/>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762000" y="3298825"/>
            <a:ext cx="10401300" cy="2878455"/>
          </a:xfrm>
        </p:spPr>
        <p:txBody>
          <a:bodyPr>
            <a:normAutofit/>
          </a:bodyPr>
          <a:lstStyle>
            <a:lvl1pPr>
              <a:lnSpc>
                <a:spcPct val="150000"/>
              </a:lnSpc>
              <a:buClr>
                <a:srgbClr val="00E5FA"/>
              </a:buClr>
              <a:defRPr sz="2000">
                <a:solidFill>
                  <a:schemeClr val="bg1"/>
                </a:solidFill>
              </a:defRPr>
            </a:lvl1pPr>
            <a:lvl2pPr>
              <a:lnSpc>
                <a:spcPct val="150000"/>
              </a:lnSpc>
              <a:buClr>
                <a:srgbClr val="00E5FA"/>
              </a:buClr>
              <a:defRPr sz="1800">
                <a:solidFill>
                  <a:schemeClr val="bg1"/>
                </a:solidFill>
              </a:defRPr>
            </a:lvl2pPr>
            <a:lvl3pPr>
              <a:lnSpc>
                <a:spcPct val="150000"/>
              </a:lnSpc>
              <a:buClr>
                <a:srgbClr val="00E5FA"/>
              </a:buClr>
              <a:defRPr sz="1600">
                <a:solidFill>
                  <a:schemeClr val="bg1"/>
                </a:solidFill>
              </a:defRPr>
            </a:lvl3pPr>
            <a:lvl4pPr>
              <a:lnSpc>
                <a:spcPct val="150000"/>
              </a:lnSpc>
              <a:buClr>
                <a:srgbClr val="00E5FA"/>
              </a:buClr>
              <a:defRPr sz="1600">
                <a:solidFill>
                  <a:schemeClr val="bg1"/>
                </a:solidFill>
              </a:defRPr>
            </a:lvl4pPr>
            <a:lvl5pPr>
              <a:lnSpc>
                <a:spcPct val="150000"/>
              </a:lnSpc>
              <a:buClr>
                <a:srgbClr val="00E5FA"/>
              </a:buClr>
              <a:defRPr sz="1600">
                <a:solidFill>
                  <a:schemeClr val="bg1"/>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a:xfrm>
            <a:off x="8420100" y="6356350"/>
            <a:ext cx="2743200" cy="365125"/>
          </a:xfrm>
        </p:spPr>
        <p:txBody>
          <a:bodyPr/>
          <a:lstStyle>
            <a:lvl1pPr algn="r">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a:xfrm>
            <a:off x="3905250" y="6356350"/>
            <a:ext cx="4114800" cy="365125"/>
          </a:xfrm>
        </p:spPr>
        <p:txBody>
          <a:bodyPr/>
          <a:lstStyle/>
          <a:p>
            <a:endParaRPr lang="zh-CN" altLang="en-US"/>
          </a:p>
        </p:txBody>
      </p:sp>
      <p:sp>
        <p:nvSpPr>
          <p:cNvPr id="6" name="灯片编号占位符 5"/>
          <p:cNvSpPr>
            <a:spLocks noGrp="1"/>
          </p:cNvSpPr>
          <p:nvPr>
            <p:ph type="sldNum" sz="quarter" idx="12"/>
          </p:nvPr>
        </p:nvSpPr>
        <p:spPr>
          <a:xfrm>
            <a:off x="762000" y="6356350"/>
            <a:ext cx="2743200" cy="365125"/>
          </a:xfrm>
        </p:spPr>
        <p:txBody>
          <a:bodyPr/>
          <a:lstStyle>
            <a:lvl1pPr algn="l">
              <a:defRPr/>
            </a:lvl1pPr>
          </a:lstStyle>
          <a:p>
            <a:fld id="{49AE70B2-8BF9-45C0-BB95-33D1B9D3A854}" type="slidenum">
              <a:rPr lang="zh-CN" altLang="en-US" smtClean="0"/>
            </a:fld>
            <a:endParaRPr lang="en-US" altLang="zh-CN"/>
          </a:p>
        </p:txBody>
      </p:sp>
      <p:sp>
        <p:nvSpPr>
          <p:cNvPr id="8" name="AutoShape 5"/>
          <p:cNvSpPr/>
          <p:nvPr userDrawn="1"/>
        </p:nvSpPr>
        <p:spPr>
          <a:xfrm>
            <a:off x="762000" y="1422400"/>
            <a:ext cx="914400" cy="50800"/>
          </a:xfrm>
          <a:prstGeom prst="roundRect">
            <a:avLst>
              <a:gd name="adj" fmla="val 0"/>
            </a:avLst>
          </a:prstGeom>
          <a:solidFill>
            <a:srgbClr val="00E5FF">
              <a:alpha val="100000"/>
            </a:srgbClr>
          </a:solidFill>
          <a:ln w="25400" cap="flat" cmpd="sng">
            <a:noFill/>
            <a:prstDash val="solid"/>
            <a:round/>
          </a:ln>
        </p:spPr>
        <p:txBody>
          <a:bodyPr vert="horz" wrap="square" lIns="63500" tIns="63500" rIns="63500" bIns="63500" rtlCol="0" anchor="ctr"/>
          <a:lstStyle/>
          <a:p>
            <a:pPr algn="ctr">
              <a:defRPr/>
            </a:pPr>
          </a:p>
        </p:txBody>
      </p:sp>
      <p:cxnSp>
        <p:nvCxnSpPr>
          <p:cNvPr id="16" name="Connector 16"/>
          <p:cNvCxnSpPr/>
          <p:nvPr userDrawn="1"/>
        </p:nvCxnSpPr>
        <p:spPr>
          <a:xfrm rot="-4092">
            <a:off x="762004" y="6216650"/>
            <a:ext cx="10668000" cy="12700"/>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sp>
        <p:nvSpPr>
          <p:cNvPr id="7" name="AutoShape 7"/>
          <p:cNvSpPr/>
          <p:nvPr userDrawn="1"/>
        </p:nvSpPr>
        <p:spPr>
          <a:xfrm>
            <a:off x="762000" y="1676400"/>
            <a:ext cx="10401300" cy="1422400"/>
          </a:xfrm>
          <a:prstGeom prst="snip2DiagRect">
            <a:avLst/>
          </a:prstGeom>
          <a:solidFill>
            <a:srgbClr val="00E5FF">
              <a:alpha val="15000"/>
            </a:srgbClr>
          </a:solidFill>
          <a:ln w="12700" cap="flat" cmpd="sng">
            <a:solidFill>
              <a:srgbClr val="00E5FF">
                <a:alpha val="100000"/>
              </a:srgbClr>
            </a:solidFill>
            <a:prstDash val="solid"/>
            <a:round/>
          </a:ln>
          <a:effectLst>
            <a:outerShdw blurRad="304800" dir="5400000" algn="ctr" rotWithShape="0">
              <a:srgbClr val="00E5FF">
                <a:alpha val="35000"/>
              </a:srgbClr>
            </a:outerShdw>
          </a:effectLst>
        </p:spPr>
        <p:txBody>
          <a:bodyPr vert="horz" wrap="square" lIns="63500" tIns="63500" rIns="63500" bIns="63500" rtlCol="0" anchor="ctr"/>
          <a:lstStyle/>
          <a:p>
            <a:pPr algn="ctr">
              <a:defRPr/>
            </a:pPr>
          </a:p>
        </p:txBody>
      </p:sp>
      <p:sp>
        <p:nvSpPr>
          <p:cNvPr id="9" name="内容占位符 8"/>
          <p:cNvSpPr>
            <a:spLocks noGrp="1"/>
          </p:cNvSpPr>
          <p:nvPr>
            <p:ph idx="13" hasCustomPrompt="1"/>
          </p:nvPr>
        </p:nvSpPr>
        <p:spPr>
          <a:xfrm>
            <a:off x="762000" y="1678305"/>
            <a:ext cx="10401300" cy="1421130"/>
          </a:xfrm>
        </p:spPr>
        <p:txBody>
          <a:bodyPr anchor="ctr" anchorCtr="0"/>
          <a:lstStyle>
            <a:lvl1pPr marL="0" indent="0" algn="ctr">
              <a:buNone/>
              <a:defRPr b="1"/>
            </a:lvl1pPr>
          </a:lstStyle>
          <a:p>
            <a:pPr lvl="0"/>
            <a:r>
              <a:rPr lang="zh-CN" altLang="en-US"/>
              <a:t>插入定义文本</a:t>
            </a: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2_标题和内容">
    <p:spTree>
      <p:nvGrpSpPr>
        <p:cNvPr id="1" name=""/>
        <p:cNvGrpSpPr/>
        <p:nvPr/>
      </p:nvGrpSpPr>
      <p:grpSpPr>
        <a:xfrm>
          <a:off x="0" y="0"/>
          <a:ext cx="0" cy="0"/>
          <a:chOff x="0" y="0"/>
          <a:chExt cx="0" cy="0"/>
        </a:xfrm>
      </p:grpSpPr>
      <p:sp>
        <p:nvSpPr>
          <p:cNvPr id="13" name="AutoShape 2"/>
          <p:cNvSpPr/>
          <p:nvPr userDrawn="1"/>
        </p:nvSpPr>
        <p:spPr>
          <a:xfrm>
            <a:off x="-2286000" y="-2032000"/>
            <a:ext cx="5588000" cy="5588000"/>
          </a:xfrm>
          <a:prstGeom prst="ellipse">
            <a:avLst/>
          </a:prstGeom>
          <a:gradFill rotWithShape="1">
            <a:gsLst>
              <a:gs pos="0">
                <a:srgbClr val="00E5FF">
                  <a:alpha val="18000"/>
                </a:srgbClr>
              </a:gs>
              <a:gs pos="70000">
                <a:srgbClr val="00E5FF">
                  <a:alpha val="0"/>
                </a:srgbClr>
              </a:gs>
            </a:gsLst>
            <a:path path="circle">
              <a:fillToRect l="50000" t="50000" r="50000" b="50000"/>
            </a:path>
            <a:tileRect/>
          </a:gradFill>
          <a:ln cap="flat" cmpd="sng">
            <a:gradFill rotWithShape="1">
              <a:gsLst>
                <a:gs pos="0">
                  <a:srgbClr val="00CEE6">
                    <a:alpha val="18000"/>
                  </a:srgbClr>
                </a:gs>
                <a:gs pos="70000">
                  <a:srgbClr val="00CEE6">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4" name="AutoShape 3"/>
          <p:cNvSpPr/>
          <p:nvPr userDrawn="1"/>
        </p:nvSpPr>
        <p:spPr>
          <a:xfrm>
            <a:off x="8890000" y="4318000"/>
            <a:ext cx="5334000" cy="5334000"/>
          </a:xfrm>
          <a:prstGeom prst="ellipse">
            <a:avLst/>
          </a:prstGeom>
          <a:gradFill rotWithShape="1">
            <a:gsLst>
              <a:gs pos="0">
                <a:srgbClr val="69F0AE">
                  <a:alpha val="14000"/>
                </a:srgbClr>
              </a:gs>
              <a:gs pos="70000">
                <a:srgbClr val="69F0AE">
                  <a:alpha val="0"/>
                </a:srgbClr>
              </a:gs>
            </a:gsLst>
            <a:path path="circle">
              <a:fillToRect l="50000" t="50000" r="50000" b="50000"/>
            </a:path>
            <a:tileRect/>
          </a:gradFill>
          <a:ln cap="flat" cmpd="sng">
            <a:gradFill rotWithShape="1">
              <a:gsLst>
                <a:gs pos="0">
                  <a:srgbClr val="48D691">
                    <a:alpha val="14000"/>
                  </a:srgbClr>
                </a:gs>
                <a:gs pos="70000">
                  <a:srgbClr val="48D691">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2" name="标题 1"/>
          <p:cNvSpPr>
            <a:spLocks noGrp="1"/>
          </p:cNvSpPr>
          <p:nvPr>
            <p:ph type="title" hasCustomPrompt="1"/>
          </p:nvPr>
        </p:nvSpPr>
        <p:spPr>
          <a:xfrm>
            <a:off x="762000" y="609600"/>
            <a:ext cx="10401300" cy="660400"/>
          </a:xfrm>
        </p:spPr>
        <p:txBody>
          <a:bodyPr anchor="ctr" anchorCtr="0">
            <a:normAutofit/>
          </a:bodyPr>
          <a:lstStyle>
            <a:lvl1pPr>
              <a:defRPr kumimoji="0" lang="en-US" sz="3600" b="1" i="0" u="none" strike="noStrike" kern="0" cap="none" spc="200" normalizeH="0" baseline="0" noProof="1">
                <a:solidFill>
                  <a:srgbClr val="FFFFFF"/>
                </a:solidFill>
                <a:effectLst>
                  <a:outerShdw blurRad="38100" dist="38100" dir="2700000" algn="tl">
                    <a:srgbClr val="000000">
                      <a:alpha val="43137"/>
                    </a:srgbClr>
                  </a:outerShdw>
                </a:effectLst>
                <a:latin typeface="Noto Sans SC" panose="020B0200000000000000" charset="-122"/>
                <a:ea typeface="Noto Sans SC" panose="020B0200000000000000" charset="-122"/>
                <a:cs typeface="Noto Sans SC" panose="020B0200000000000000" charset="-122"/>
                <a:sym typeface="Noto Sans SC" panose="020B0200000000000000" charset="-122"/>
              </a:defRPr>
            </a:lvl1pPr>
          </a:lstStyle>
          <a:p>
            <a:r>
              <a:rPr lang="zh-CN" altLang="en-US" dirty="0"/>
              <a:t>【思考与讨论】</a:t>
            </a:r>
            <a:endParaRPr lang="zh-CN" altLang="en-US" dirty="0"/>
          </a:p>
        </p:txBody>
      </p:sp>
      <p:sp>
        <p:nvSpPr>
          <p:cNvPr id="3" name="内容占位符 2"/>
          <p:cNvSpPr>
            <a:spLocks noGrp="1"/>
          </p:cNvSpPr>
          <p:nvPr>
            <p:ph idx="1" hasCustomPrompt="1"/>
          </p:nvPr>
        </p:nvSpPr>
        <p:spPr>
          <a:xfrm>
            <a:off x="762000" y="4382135"/>
            <a:ext cx="10401300" cy="761365"/>
          </a:xfrm>
        </p:spPr>
        <p:txBody>
          <a:bodyPr>
            <a:normAutofit/>
          </a:bodyPr>
          <a:lstStyle>
            <a:lvl1pPr marL="0" indent="0" algn="ctr">
              <a:lnSpc>
                <a:spcPct val="100000"/>
              </a:lnSpc>
              <a:buClr>
                <a:srgbClr val="00E5FA"/>
              </a:buClr>
              <a:buNone/>
              <a:defRPr kumimoji="0" lang="en-US" sz="2800" b="0" i="0" u="none" strike="noStrike" kern="0" cap="none" spc="300" normalizeH="0" baseline="0" noProof="1">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defRPr>
            </a:lvl1pPr>
            <a:lvl2pPr>
              <a:lnSpc>
                <a:spcPct val="150000"/>
              </a:lnSpc>
              <a:buClr>
                <a:srgbClr val="00E5FA"/>
              </a:buClr>
              <a:defRPr sz="1800">
                <a:solidFill>
                  <a:schemeClr val="bg1"/>
                </a:solidFill>
              </a:defRPr>
            </a:lvl2pPr>
            <a:lvl3pPr>
              <a:lnSpc>
                <a:spcPct val="150000"/>
              </a:lnSpc>
              <a:buClr>
                <a:srgbClr val="00E5FA"/>
              </a:buClr>
              <a:defRPr sz="1600">
                <a:solidFill>
                  <a:schemeClr val="bg1"/>
                </a:solidFill>
              </a:defRPr>
            </a:lvl3pPr>
            <a:lvl4pPr>
              <a:lnSpc>
                <a:spcPct val="150000"/>
              </a:lnSpc>
              <a:buClr>
                <a:srgbClr val="00E5FA"/>
              </a:buClr>
              <a:defRPr sz="1600">
                <a:solidFill>
                  <a:schemeClr val="bg1"/>
                </a:solidFill>
              </a:defRPr>
            </a:lvl4pPr>
            <a:lvl5pPr>
              <a:lnSpc>
                <a:spcPct val="150000"/>
              </a:lnSpc>
              <a:buClr>
                <a:srgbClr val="00E5FA"/>
              </a:buClr>
              <a:defRPr sz="1600">
                <a:solidFill>
                  <a:schemeClr val="bg1"/>
                </a:solidFill>
              </a:defRPr>
            </a:lvl5pPr>
          </a:lstStyle>
          <a:p>
            <a:pPr lvl="0"/>
            <a:r>
              <a:rPr lang="zh-CN" altLang="en-US" dirty="0"/>
              <a:t>【提出一个开放性问题,引导学生思考】</a:t>
            </a:r>
            <a:endParaRPr lang="zh-CN" altLang="en-US" dirty="0"/>
          </a:p>
        </p:txBody>
      </p:sp>
      <p:sp>
        <p:nvSpPr>
          <p:cNvPr id="4" name="日期占位符 3"/>
          <p:cNvSpPr>
            <a:spLocks noGrp="1"/>
          </p:cNvSpPr>
          <p:nvPr>
            <p:ph type="dt" sz="half" idx="10"/>
          </p:nvPr>
        </p:nvSpPr>
        <p:spPr>
          <a:xfrm>
            <a:off x="8420100" y="6356350"/>
            <a:ext cx="2743200" cy="365125"/>
          </a:xfrm>
        </p:spPr>
        <p:txBody>
          <a:bodyPr/>
          <a:lstStyle>
            <a:lvl1pPr algn="r">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a:xfrm>
            <a:off x="3905250" y="6356350"/>
            <a:ext cx="4114800" cy="365125"/>
          </a:xfrm>
        </p:spPr>
        <p:txBody>
          <a:bodyPr/>
          <a:lstStyle/>
          <a:p>
            <a:endParaRPr lang="zh-CN" altLang="en-US"/>
          </a:p>
        </p:txBody>
      </p:sp>
      <p:sp>
        <p:nvSpPr>
          <p:cNvPr id="6" name="灯片编号占位符 5"/>
          <p:cNvSpPr>
            <a:spLocks noGrp="1"/>
          </p:cNvSpPr>
          <p:nvPr>
            <p:ph type="sldNum" sz="quarter" idx="12"/>
          </p:nvPr>
        </p:nvSpPr>
        <p:spPr>
          <a:xfrm>
            <a:off x="762000" y="6356350"/>
            <a:ext cx="2743200" cy="365125"/>
          </a:xfrm>
        </p:spPr>
        <p:txBody>
          <a:bodyPr/>
          <a:lstStyle>
            <a:lvl1pPr algn="l">
              <a:defRPr/>
            </a:lvl1pPr>
          </a:lstStyle>
          <a:p>
            <a:fld id="{49AE70B2-8BF9-45C0-BB95-33D1B9D3A854}" type="slidenum">
              <a:rPr lang="zh-CN" altLang="en-US" smtClean="0"/>
            </a:fld>
            <a:endParaRPr lang="en-US" altLang="zh-CN"/>
          </a:p>
        </p:txBody>
      </p:sp>
      <p:cxnSp>
        <p:nvCxnSpPr>
          <p:cNvPr id="16" name="Connector 16"/>
          <p:cNvCxnSpPr/>
          <p:nvPr userDrawn="1"/>
        </p:nvCxnSpPr>
        <p:spPr>
          <a:xfrm rot="-4092">
            <a:off x="762004" y="6216650"/>
            <a:ext cx="10668000" cy="12700"/>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sp>
        <p:nvSpPr>
          <p:cNvPr id="12" name="AutoShape 5"/>
          <p:cNvSpPr/>
          <p:nvPr userDrawn="1"/>
        </p:nvSpPr>
        <p:spPr>
          <a:xfrm>
            <a:off x="762000" y="1524000"/>
            <a:ext cx="10668000" cy="50800"/>
          </a:xfrm>
          <a:prstGeom prst="roundRect">
            <a:avLst>
              <a:gd name="adj" fmla="val 0"/>
            </a:avLst>
          </a:prstGeom>
          <a:gradFill rotWithShape="1">
            <a:gsLst>
              <a:gs pos="0">
                <a:srgbClr val="00E5FF">
                  <a:alpha val="0"/>
                </a:srgbClr>
              </a:gs>
              <a:gs pos="30000">
                <a:srgbClr val="00E5FF">
                  <a:alpha val="100000"/>
                </a:srgbClr>
              </a:gs>
              <a:gs pos="70000">
                <a:srgbClr val="00E5FF">
                  <a:alpha val="100000"/>
                </a:srgbClr>
              </a:gs>
              <a:gs pos="100000">
                <a:srgbClr val="00E5FF">
                  <a:alpha val="0"/>
                </a:srgbClr>
              </a:gs>
            </a:gsLst>
            <a:lin ang="0"/>
          </a:gradFill>
          <a:ln cap="flat" cmpd="sng">
            <a:gradFill rotWithShape="1">
              <a:gsLst>
                <a:gs pos="0">
                  <a:srgbClr val="00CEE6">
                    <a:alpha val="0"/>
                  </a:srgbClr>
                </a:gs>
                <a:gs pos="30000">
                  <a:srgbClr val="00CEE6">
                    <a:alpha val="100000"/>
                  </a:srgbClr>
                </a:gs>
                <a:gs pos="70000">
                  <a:srgbClr val="00CEE6">
                    <a:alpha val="100000"/>
                  </a:srgbClr>
                </a:gs>
                <a:gs pos="100000">
                  <a:srgbClr val="00CEE6">
                    <a:alpha val="0"/>
                  </a:srgbClr>
                </a:gs>
              </a:gsLst>
              <a:lin ang="0"/>
            </a:gradFill>
            <a:prstDash val="solid"/>
            <a:round/>
          </a:ln>
        </p:spPr>
        <p:txBody>
          <a:bodyPr vert="horz" wrap="square" lIns="63500" tIns="63500" rIns="63500" bIns="63500" rtlCol="0" anchor="ctr"/>
          <a:lstStyle/>
          <a:p>
            <a:pPr algn="ctr">
              <a:defRPr/>
            </a:pPr>
          </a:p>
        </p:txBody>
      </p:sp>
      <p:sp>
        <p:nvSpPr>
          <p:cNvPr id="15" name="AutoShape 6"/>
          <p:cNvSpPr/>
          <p:nvPr userDrawn="1"/>
        </p:nvSpPr>
        <p:spPr>
          <a:xfrm>
            <a:off x="0" y="2032000"/>
            <a:ext cx="12192000" cy="2032000"/>
          </a:xfrm>
          <a:prstGeom prst="rect">
            <a:avLst/>
          </a:prstGeom>
          <a:noFill/>
          <a:ln w="12700" cap="flat" cmpd="sng">
            <a:noFill/>
            <a:prstDash val="solid"/>
            <a:round/>
          </a:ln>
          <a:effectLst>
            <a:outerShdw blurRad="571500" dir="5400000" algn="ctr" rotWithShape="0">
              <a:srgbClr val="69F0AE">
                <a:alpha val="55000"/>
              </a:srgbClr>
            </a:outerShdw>
          </a:effectLst>
        </p:spPr>
        <p:txBody>
          <a:bodyPr vert="horz" wrap="square" lIns="0" tIns="0" rIns="0" bIns="0" rtlCol="0" anchor="ctr" anchorCtr="0"/>
          <a:lstStyle/>
          <a:p>
            <a:pPr marL="0" indent="0" algn="ctr">
              <a:lnSpc>
                <a:spcPct val="92000"/>
              </a:lnSpc>
              <a:defRPr/>
            </a:pPr>
            <a:r>
              <a:rPr lang="en-US" sz="12000" b="1" i="0" u="none" strike="noStrike">
                <a:solidFill>
                  <a:srgbClr val="69F0AE"/>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
        <p:nvSpPr>
          <p:cNvPr id="19" name="内容占位符 18"/>
          <p:cNvSpPr>
            <a:spLocks noGrp="1"/>
          </p:cNvSpPr>
          <p:nvPr>
            <p:ph idx="13" hasCustomPrompt="1"/>
          </p:nvPr>
        </p:nvSpPr>
        <p:spPr>
          <a:xfrm>
            <a:off x="762000" y="5398135"/>
            <a:ext cx="10401300" cy="405765"/>
          </a:xfrm>
        </p:spPr>
        <p:txBody>
          <a:bodyPr>
            <a:normAutofit/>
          </a:bodyPr>
          <a:lstStyle>
            <a:lvl1pPr marL="0" indent="0" algn="ctr">
              <a:lnSpc>
                <a:spcPct val="100000"/>
              </a:lnSpc>
              <a:buClr>
                <a:srgbClr val="00E5FA"/>
              </a:buClr>
              <a:buNone/>
              <a:defRPr kumimoji="0" lang="en-US" sz="1800" b="0" i="0" u="none" strike="noStrike" kern="0" cap="none" spc="200" normalizeH="0" baseline="0" noProof="1">
                <a:solidFill>
                  <a:srgbClr val="C8C8D2">
                    <a:alpha val="7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defRPr>
            </a:lvl1pPr>
            <a:lvl2pPr>
              <a:lnSpc>
                <a:spcPct val="150000"/>
              </a:lnSpc>
              <a:buClr>
                <a:srgbClr val="00E5FA"/>
              </a:buClr>
              <a:defRPr sz="1800">
                <a:solidFill>
                  <a:schemeClr val="bg1"/>
                </a:solidFill>
              </a:defRPr>
            </a:lvl2pPr>
            <a:lvl3pPr>
              <a:lnSpc>
                <a:spcPct val="150000"/>
              </a:lnSpc>
              <a:buClr>
                <a:srgbClr val="00E5FA"/>
              </a:buClr>
              <a:defRPr sz="1600">
                <a:solidFill>
                  <a:schemeClr val="bg1"/>
                </a:solidFill>
              </a:defRPr>
            </a:lvl3pPr>
            <a:lvl4pPr>
              <a:lnSpc>
                <a:spcPct val="150000"/>
              </a:lnSpc>
              <a:buClr>
                <a:srgbClr val="00E5FA"/>
              </a:buClr>
              <a:defRPr sz="1600">
                <a:solidFill>
                  <a:schemeClr val="bg1"/>
                </a:solidFill>
              </a:defRPr>
            </a:lvl4pPr>
            <a:lvl5pPr>
              <a:lnSpc>
                <a:spcPct val="150000"/>
              </a:lnSpc>
              <a:buClr>
                <a:srgbClr val="00E5FA"/>
              </a:buClr>
              <a:defRPr sz="1600">
                <a:solidFill>
                  <a:schemeClr val="bg1"/>
                </a:solidFill>
              </a:defRPr>
            </a:lvl5pPr>
          </a:lstStyle>
          <a:p>
            <a:pPr lvl="0"/>
            <a:r>
              <a:rPr lang="zh-CN" altLang="en-US" dirty="0"/>
              <a:t>【提示:可以分组讨论 / 举手回答 / 课后思考】</a:t>
            </a:r>
            <a:endParaRPr lang="zh-CN" altLang="en-US" dirty="0"/>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1117"/>
            <a:ext cx="7321550" cy="811357"/>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单击此处编辑母版标题样式</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08635" y="508000"/>
            <a:ext cx="10847070" cy="661035"/>
          </a:xfrm>
        </p:spPr>
        <p:txBody>
          <a:bodyPr/>
          <a:lstStyle>
            <a:lvl1pPr marL="0" marR="0" lvl="0" algn="l" defTabSz="914400" rtl="0" eaLnBrk="1" fontAlgn="auto" latinLnBrk="0" hangingPunct="1">
              <a:lnSpc>
                <a:spcPct val="90000"/>
              </a:lnSpc>
              <a:spcBef>
                <a:spcPct val="0"/>
              </a:spcBef>
              <a:buClrTx/>
              <a:buSzTx/>
              <a:buFontTx/>
              <a:buNone/>
              <a:defRPr kumimoji="0" lang="zh-CN" altLang="en-US" sz="3600" b="1" i="0" u="none" strike="noStrike" kern="0" cap="none" spc="200" normalizeH="0" baseline="0" noProof="1" dirty="0">
                <a:solidFill>
                  <a:srgbClr val="FFFFFF"/>
                </a:solidFill>
                <a:effectLst>
                  <a:outerShdw blurRad="38100" dist="38100" dir="2700000" algn="tl">
                    <a:srgbClr val="000000">
                      <a:alpha val="43137"/>
                    </a:srgbClr>
                  </a:outerShdw>
                </a:effectLst>
                <a:latin typeface="Noto Sans SC" panose="020B0200000000000000" charset="-122"/>
                <a:ea typeface="Noto Sans SC" panose="020B0200000000000000" charset="-122"/>
                <a:cs typeface="Noto Sans SC" panose="020B0200000000000000" charset="-122"/>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62635" y="1904365"/>
            <a:ext cx="5234940" cy="508635"/>
          </a:xfrm>
        </p:spPr>
        <p:txBody>
          <a:bodyPr anchor="b"/>
          <a:lstStyle>
            <a:lvl1pPr marL="0" indent="0">
              <a:buNone/>
              <a:defRPr kumimoji="0" lang="en-US" sz="2400" b="1" i="0" u="none" strike="noStrike" kern="1200" cap="none" spc="0" normalizeH="0" baseline="0" noProof="1">
                <a:solidFill>
                  <a:srgbClr val="00E5FF"/>
                </a:solidFill>
                <a:latin typeface="Noto Sans SC" panose="020B0200000000000000" charset="-122"/>
                <a:ea typeface="Noto Sans SC" panose="020B0200000000000000" charset="-122"/>
                <a:cs typeface="Noto Sans SC" panose="020B0200000000000000" charset="-122"/>
                <a:sym typeface="Noto Sans SC" panose="020B0200000000000000"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4" name="内容占位符 3"/>
          <p:cNvSpPr>
            <a:spLocks noGrp="1"/>
          </p:cNvSpPr>
          <p:nvPr>
            <p:ph sz="half" idx="2"/>
          </p:nvPr>
        </p:nvSpPr>
        <p:spPr>
          <a:xfrm>
            <a:off x="762635" y="2480310"/>
            <a:ext cx="5234940" cy="3709035"/>
          </a:xfrm>
        </p:spPr>
        <p:txBody>
          <a:bodyPr/>
          <a:lstStyle>
            <a:lvl1pPr>
              <a:lnSpc>
                <a:spcPct val="150000"/>
              </a:lnSpc>
              <a:buClr>
                <a:srgbClr val="00E5FF"/>
              </a:buClr>
              <a:defRPr/>
            </a:lvl1pPr>
            <a:lvl2pPr>
              <a:lnSpc>
                <a:spcPct val="150000"/>
              </a:lnSpc>
              <a:buClr>
                <a:srgbClr val="00E5FF"/>
              </a:buClr>
              <a:defRPr/>
            </a:lvl2pPr>
            <a:lvl3pPr>
              <a:lnSpc>
                <a:spcPct val="150000"/>
              </a:lnSpc>
              <a:buClr>
                <a:srgbClr val="00E5FF"/>
              </a:buClr>
              <a:defRPr/>
            </a:lvl3pPr>
            <a:lvl4pPr>
              <a:lnSpc>
                <a:spcPct val="150000"/>
              </a:lnSpc>
              <a:buClr>
                <a:srgbClr val="00E5FF"/>
              </a:buClr>
              <a:defRPr/>
            </a:lvl4pPr>
            <a:lvl5pPr>
              <a:lnSpc>
                <a:spcPct val="150000"/>
              </a:lnSpc>
              <a:buClr>
                <a:srgbClr val="00E5FF"/>
              </a:buClr>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文本占位符 4"/>
          <p:cNvSpPr>
            <a:spLocks noGrp="1"/>
          </p:cNvSpPr>
          <p:nvPr>
            <p:ph type="body" sz="quarter" idx="3"/>
          </p:nvPr>
        </p:nvSpPr>
        <p:spPr>
          <a:xfrm>
            <a:off x="6604635" y="1903730"/>
            <a:ext cx="5079365" cy="509905"/>
          </a:xfrm>
        </p:spPr>
        <p:txBody>
          <a:bodyPr anchor="b"/>
          <a:lstStyle>
            <a:lvl1pPr marL="0" indent="0">
              <a:buNone/>
              <a:defRPr kumimoji="0" lang="en-US" sz="2400" b="1" i="0" u="none" strike="noStrike" kern="0" cap="none" spc="0" normalizeH="0" baseline="0" noProof="1">
                <a:solidFill>
                  <a:srgbClr val="B388FF"/>
                </a:solidFill>
                <a:latin typeface="Noto Sans SC" panose="020B0200000000000000" charset="-122"/>
                <a:ea typeface="Noto Sans SC" panose="020B0200000000000000" charset="-122"/>
                <a:cs typeface="Noto Sans SC" panose="020B0200000000000000" charset="-122"/>
                <a:sym typeface="Noto Sans SC" panose="020B0200000000000000"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6" name="内容占位符 5"/>
          <p:cNvSpPr>
            <a:spLocks noGrp="1"/>
          </p:cNvSpPr>
          <p:nvPr>
            <p:ph sz="quarter" idx="4"/>
          </p:nvPr>
        </p:nvSpPr>
        <p:spPr>
          <a:xfrm>
            <a:off x="6604635" y="2480310"/>
            <a:ext cx="5078730" cy="3709035"/>
          </a:xfrm>
        </p:spPr>
        <p:txBody>
          <a:bodyPr/>
          <a:lstStyle>
            <a:lvl1pPr>
              <a:lnSpc>
                <a:spcPct val="150000"/>
              </a:lnSpc>
              <a:buClr>
                <a:srgbClr val="B388FF"/>
              </a:buClr>
              <a:defRPr/>
            </a:lvl1pPr>
            <a:lvl2pPr>
              <a:lnSpc>
                <a:spcPct val="150000"/>
              </a:lnSpc>
              <a:buClr>
                <a:srgbClr val="B388FF"/>
              </a:buClr>
              <a:defRPr/>
            </a:lvl2pPr>
            <a:lvl3pPr>
              <a:lnSpc>
                <a:spcPct val="150000"/>
              </a:lnSpc>
              <a:buClr>
                <a:srgbClr val="B388FF"/>
              </a:buClr>
              <a:defRPr/>
            </a:lvl3pPr>
            <a:lvl4pPr>
              <a:lnSpc>
                <a:spcPct val="150000"/>
              </a:lnSpc>
              <a:buClr>
                <a:srgbClr val="B388FF"/>
              </a:buClr>
              <a:defRPr/>
            </a:lvl4pPr>
            <a:lvl5pPr>
              <a:lnSpc>
                <a:spcPct val="150000"/>
              </a:lnSpc>
              <a:buClr>
                <a:srgbClr val="B388FF"/>
              </a:buClr>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10" name="AutoShape 2"/>
          <p:cNvSpPr/>
          <p:nvPr userDrawn="1"/>
        </p:nvSpPr>
        <p:spPr>
          <a:xfrm>
            <a:off x="-2286000" y="-2286000"/>
            <a:ext cx="4826000" cy="4826000"/>
          </a:xfrm>
          <a:prstGeom prst="ellipse">
            <a:avLst/>
          </a:prstGeom>
          <a:gradFill rotWithShape="1">
            <a:gsLst>
              <a:gs pos="0">
                <a:srgbClr val="00E5FF">
                  <a:alpha val="10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1" name="AutoShape 3"/>
          <p:cNvSpPr/>
          <p:nvPr userDrawn="1"/>
        </p:nvSpPr>
        <p:spPr>
          <a:xfrm>
            <a:off x="9398000" y="4318000"/>
            <a:ext cx="4826000" cy="4826000"/>
          </a:xfrm>
          <a:prstGeom prst="ellipse">
            <a:avLst/>
          </a:prstGeom>
          <a:gradFill rotWithShape="1">
            <a:gsLst>
              <a:gs pos="0">
                <a:srgbClr val="B388FF">
                  <a:alpha val="10000"/>
                </a:srgbClr>
              </a:gs>
              <a:gs pos="70000">
                <a:srgbClr val="B388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2" name="AutoShape 11"/>
          <p:cNvSpPr/>
          <p:nvPr userDrawn="1"/>
        </p:nvSpPr>
        <p:spPr>
          <a:xfrm>
            <a:off x="762000" y="5740400"/>
            <a:ext cx="482600" cy="482600"/>
          </a:xfrm>
          <a:prstGeom prst="ellipse">
            <a:avLst/>
          </a:prstGeom>
          <a:solidFill>
            <a:srgbClr val="00E5FF">
              <a:alpha val="0"/>
            </a:srgbClr>
          </a:solidFill>
          <a:ln w="25400" cap="flat" cmpd="sng">
            <a:solidFill>
              <a:srgbClr val="00E5FF">
                <a:alpha val="55000"/>
              </a:srgbClr>
            </a:solidFill>
            <a:prstDash val="solid"/>
            <a:round/>
          </a:ln>
        </p:spPr>
        <p:txBody>
          <a:bodyPr vert="horz" wrap="square" lIns="63500" tIns="63500" rIns="63500" bIns="63500" rtlCol="0" anchor="ctr"/>
          <a:lstStyle/>
          <a:p>
            <a:pPr algn="ctr">
              <a:defRPr/>
            </a:pPr>
          </a:p>
        </p:txBody>
      </p:sp>
      <p:sp>
        <p:nvSpPr>
          <p:cNvPr id="13" name="AutoShape 12"/>
          <p:cNvSpPr/>
          <p:nvPr userDrawn="1"/>
        </p:nvSpPr>
        <p:spPr>
          <a:xfrm>
            <a:off x="1397000" y="5740400"/>
            <a:ext cx="279400" cy="279400"/>
          </a:xfrm>
          <a:prstGeom prst="ellipse">
            <a:avLst/>
          </a:prstGeom>
          <a:solidFill>
            <a:srgbClr val="00E5FF">
              <a:alpha val="18000"/>
            </a:srgbClr>
          </a:solidFill>
          <a:ln w="12700" cap="flat" cmpd="sng">
            <a:solidFill>
              <a:srgbClr val="00E5FF">
                <a:alpha val="35000"/>
              </a:srgbClr>
            </a:solidFill>
            <a:prstDash val="solid"/>
            <a:round/>
          </a:ln>
        </p:spPr>
        <p:txBody>
          <a:bodyPr vert="horz" wrap="square" lIns="63500" tIns="63500" rIns="63500" bIns="63500" rtlCol="0" anchor="ctr"/>
          <a:lstStyle/>
          <a:p>
            <a:pPr algn="ctr">
              <a:defRPr/>
            </a:pPr>
          </a:p>
        </p:txBody>
      </p:sp>
      <p:sp>
        <p:nvSpPr>
          <p:cNvPr id="17" name="AutoShape 17"/>
          <p:cNvSpPr/>
          <p:nvPr userDrawn="1"/>
        </p:nvSpPr>
        <p:spPr>
          <a:xfrm rot="2700000">
            <a:off x="6604000" y="5740400"/>
            <a:ext cx="431800" cy="431800"/>
          </a:xfrm>
          <a:prstGeom prst="roundRect">
            <a:avLst>
              <a:gd name="adj" fmla="val 0"/>
            </a:avLst>
          </a:prstGeom>
          <a:solidFill>
            <a:srgbClr val="B388FF">
              <a:alpha val="0"/>
            </a:srgbClr>
          </a:solidFill>
          <a:ln w="25400" cap="flat" cmpd="sng">
            <a:solidFill>
              <a:srgbClr val="B388FF">
                <a:alpha val="55000"/>
              </a:srgbClr>
            </a:solidFill>
            <a:prstDash val="solid"/>
            <a:round/>
          </a:ln>
        </p:spPr>
        <p:txBody>
          <a:bodyPr vert="horz" wrap="square" lIns="63500" tIns="63500" rIns="63500" bIns="63500" rtlCol="0" anchor="ctr"/>
          <a:lstStyle/>
          <a:p>
            <a:pPr algn="ctr">
              <a:defRPr/>
            </a:pPr>
          </a:p>
        </p:txBody>
      </p:sp>
      <p:sp>
        <p:nvSpPr>
          <p:cNvPr id="18" name="AutoShape 18"/>
          <p:cNvSpPr/>
          <p:nvPr userDrawn="1"/>
        </p:nvSpPr>
        <p:spPr>
          <a:xfrm rot="2700000">
            <a:off x="7264400" y="5816600"/>
            <a:ext cx="279400" cy="279400"/>
          </a:xfrm>
          <a:prstGeom prst="roundRect">
            <a:avLst>
              <a:gd name="adj" fmla="val 0"/>
            </a:avLst>
          </a:prstGeom>
          <a:solidFill>
            <a:srgbClr val="B388FF">
              <a:alpha val="18000"/>
            </a:srgbClr>
          </a:solidFill>
          <a:ln w="12700" cap="flat" cmpd="sng">
            <a:solidFill>
              <a:srgbClr val="B388FF">
                <a:alpha val="35000"/>
              </a:srgbClr>
            </a:solidFill>
            <a:prstDash val="solid"/>
            <a:round/>
          </a:ln>
        </p:spPr>
        <p:txBody>
          <a:bodyPr vert="horz" wrap="square" lIns="63500" tIns="63500" rIns="63500" bIns="63500" rtlCol="0" anchor="ctr"/>
          <a:lstStyle/>
          <a:p>
            <a:pPr algn="ctr">
              <a:defRPr/>
            </a:pPr>
          </a:p>
        </p:txBody>
      </p:sp>
      <p:cxnSp>
        <p:nvCxnSpPr>
          <p:cNvPr id="15" name="Connector 6"/>
          <p:cNvCxnSpPr/>
          <p:nvPr userDrawn="1"/>
        </p:nvCxnSpPr>
        <p:spPr>
          <a:xfrm rot="5388540">
            <a:off x="4191000" y="3676661"/>
            <a:ext cx="3810000" cy="12700"/>
          </a:xfrm>
          <a:prstGeom prst="straightConnector1">
            <a:avLst/>
          </a:prstGeom>
          <a:solidFill>
            <a:srgbClr val="DEE0E3">
              <a:alpha val="100000"/>
            </a:srgbClr>
          </a:solidFill>
          <a:ln w="12700" cap="flat" cmpd="sng">
            <a:solidFill>
              <a:srgbClr val="FFFFFF">
                <a:alpha val="18000"/>
              </a:srgbClr>
            </a:solidFill>
            <a:prstDash val="solid"/>
            <a:round/>
            <a:headEnd type="none" w="med" len="med"/>
            <a:tailEnd type="none" w="med" len="med"/>
          </a:ln>
        </p:spPr>
      </p:cxnSp>
      <p:sp>
        <p:nvSpPr>
          <p:cNvPr id="19" name="AutoShape 5"/>
          <p:cNvSpPr/>
          <p:nvPr userDrawn="1"/>
        </p:nvSpPr>
        <p:spPr>
          <a:xfrm>
            <a:off x="508000" y="1295400"/>
            <a:ext cx="11176000" cy="50800"/>
          </a:xfrm>
          <a:prstGeom prst="roundRect">
            <a:avLst>
              <a:gd name="adj" fmla="val 0"/>
            </a:avLst>
          </a:prstGeom>
          <a:gradFill rotWithShape="1">
            <a:gsLst>
              <a:gs pos="0">
                <a:srgbClr val="00E5FF">
                  <a:alpha val="100000"/>
                </a:srgbClr>
              </a:gs>
              <a:gs pos="45000">
                <a:srgbClr val="00E5FF">
                  <a:alpha val="35000"/>
                </a:srgbClr>
              </a:gs>
              <a:gs pos="100000">
                <a:srgbClr val="00E5FF">
                  <a:alpha val="0"/>
                </a:srgbClr>
              </a:gs>
            </a:gsLst>
            <a:lin ang="0"/>
          </a:gradFill>
          <a:ln w="25400" cap="flat" cmpd="sng">
            <a:noFill/>
            <a:prstDash val="solid"/>
            <a:round/>
          </a:ln>
        </p:spPr>
        <p:txBody>
          <a:bodyPr vert="horz" wrap="square" lIns="63500" tIns="63500" rIns="63500" bIns="63500" rtlCol="0" anchor="ctr"/>
          <a:lstStyle/>
          <a:p>
            <a:pPr algn="ctr">
              <a:defRPr/>
            </a:pPr>
          </a:p>
        </p:txBody>
      </p:sp>
      <p:sp>
        <p:nvSpPr>
          <p:cNvPr id="23" name="灯片编号占位符 22"/>
          <p:cNvSpPr>
            <a:spLocks noGrp="1"/>
          </p:cNvSpPr>
          <p:nvPr>
            <p:ph type="sldNum" sz="quarter" idx="12"/>
          </p:nvPr>
        </p:nvSpPr>
        <p:spPr>
          <a:xfrm>
            <a:off x="4724400" y="6356350"/>
            <a:ext cx="2743200" cy="365125"/>
          </a:xfrm>
        </p:spPr>
        <p:txBody>
          <a:bodyPr/>
          <a:lstStyle>
            <a:lvl1pPr algn="ctr">
              <a:defRPr/>
            </a:lvl1pPr>
          </a:lstStyle>
          <a:p>
            <a:fld id="{49AE70B2-8BF9-45C0-BB95-33D1B9D3A854}" type="slidenum">
              <a:rPr lang="zh-CN" altLang="en-US" smtClean="0"/>
            </a:fld>
            <a:endParaRPr lang="en-US" altLang="zh-CN"/>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1_比较">
    <p:spTree>
      <p:nvGrpSpPr>
        <p:cNvPr id="1" name=""/>
        <p:cNvGrpSpPr/>
        <p:nvPr/>
      </p:nvGrpSpPr>
      <p:grpSpPr>
        <a:xfrm>
          <a:off x="0" y="0"/>
          <a:ext cx="0" cy="0"/>
          <a:chOff x="0" y="0"/>
          <a:chExt cx="0" cy="0"/>
        </a:xfrm>
      </p:grpSpPr>
      <p:sp>
        <p:nvSpPr>
          <p:cNvPr id="2" name="标题 1"/>
          <p:cNvSpPr>
            <a:spLocks noGrp="1"/>
          </p:cNvSpPr>
          <p:nvPr>
            <p:ph type="title"/>
          </p:nvPr>
        </p:nvSpPr>
        <p:spPr>
          <a:xfrm>
            <a:off x="508635" y="508000"/>
            <a:ext cx="10847070" cy="661035"/>
          </a:xfrm>
        </p:spPr>
        <p:txBody>
          <a:bodyPr/>
          <a:lstStyle>
            <a:lvl1pPr marL="0" marR="0" lvl="0" algn="l" defTabSz="914400" rtl="0" eaLnBrk="1" fontAlgn="auto" latinLnBrk="0" hangingPunct="1">
              <a:lnSpc>
                <a:spcPct val="90000"/>
              </a:lnSpc>
              <a:spcBef>
                <a:spcPct val="0"/>
              </a:spcBef>
              <a:buClrTx/>
              <a:buSzTx/>
              <a:buFontTx/>
              <a:buNone/>
              <a:defRPr kumimoji="0" lang="zh-CN" altLang="en-US" sz="3600" b="1" i="0" u="none" strike="noStrike" kern="0" cap="none" spc="200" normalizeH="0" baseline="0" noProof="1">
                <a:solidFill>
                  <a:srgbClr val="FFFFFF"/>
                </a:solidFill>
                <a:effectLst>
                  <a:outerShdw blurRad="38100" dist="38100" dir="2700000" algn="tl">
                    <a:srgbClr val="000000">
                      <a:alpha val="43137"/>
                    </a:srgbClr>
                  </a:outerShdw>
                </a:effectLst>
                <a:latin typeface="Noto Sans SC" panose="020B0200000000000000" charset="-122"/>
                <a:ea typeface="Noto Sans SC" panose="020B0200000000000000" charset="-122"/>
                <a:cs typeface="Noto Sans SC" panose="020B0200000000000000" charset="-122"/>
              </a:defRPr>
            </a:lvl1pPr>
          </a:lstStyle>
          <a:p>
            <a:r>
              <a:rPr lang="zh-CN" altLang="en-US"/>
              <a:t>单击此处编辑母版标题样式</a:t>
            </a:r>
            <a:endParaRPr lang="zh-CN" altLang="en-US"/>
          </a:p>
        </p:txBody>
      </p:sp>
      <p:sp>
        <p:nvSpPr>
          <p:cNvPr id="10" name="AutoShape 2"/>
          <p:cNvSpPr/>
          <p:nvPr userDrawn="1"/>
        </p:nvSpPr>
        <p:spPr>
          <a:xfrm>
            <a:off x="-2286000" y="-2286000"/>
            <a:ext cx="4826000" cy="4826000"/>
          </a:xfrm>
          <a:prstGeom prst="ellipse">
            <a:avLst/>
          </a:prstGeom>
          <a:gradFill rotWithShape="1">
            <a:gsLst>
              <a:gs pos="0">
                <a:srgbClr val="00E5FF">
                  <a:alpha val="10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1" name="AutoShape 3"/>
          <p:cNvSpPr/>
          <p:nvPr userDrawn="1"/>
        </p:nvSpPr>
        <p:spPr>
          <a:xfrm>
            <a:off x="9398000" y="4318000"/>
            <a:ext cx="4826000" cy="4826000"/>
          </a:xfrm>
          <a:prstGeom prst="ellipse">
            <a:avLst/>
          </a:prstGeom>
          <a:gradFill rotWithShape="1">
            <a:gsLst>
              <a:gs pos="0">
                <a:srgbClr val="B388FF">
                  <a:alpha val="10000"/>
                </a:srgbClr>
              </a:gs>
              <a:gs pos="70000">
                <a:srgbClr val="B388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9" name="AutoShape 5"/>
          <p:cNvSpPr/>
          <p:nvPr userDrawn="1"/>
        </p:nvSpPr>
        <p:spPr>
          <a:xfrm>
            <a:off x="508000" y="1295400"/>
            <a:ext cx="11176000" cy="50800"/>
          </a:xfrm>
          <a:prstGeom prst="roundRect">
            <a:avLst>
              <a:gd name="adj" fmla="val 0"/>
            </a:avLst>
          </a:prstGeom>
          <a:gradFill rotWithShape="1">
            <a:gsLst>
              <a:gs pos="0">
                <a:srgbClr val="00E5FF">
                  <a:alpha val="100000"/>
                </a:srgbClr>
              </a:gs>
              <a:gs pos="45000">
                <a:srgbClr val="00E5FF">
                  <a:alpha val="35000"/>
                </a:srgbClr>
              </a:gs>
              <a:gs pos="100000">
                <a:srgbClr val="00E5FF">
                  <a:alpha val="0"/>
                </a:srgbClr>
              </a:gs>
            </a:gsLst>
            <a:lin ang="0"/>
          </a:gradFill>
          <a:ln w="25400" cap="flat" cmpd="sng">
            <a:noFill/>
            <a:prstDash val="solid"/>
            <a:round/>
          </a:ln>
        </p:spPr>
        <p:txBody>
          <a:bodyPr vert="horz" wrap="square" lIns="63500" tIns="63500" rIns="63500" bIns="63500" rtlCol="0" anchor="ctr"/>
          <a:lstStyle/>
          <a:p>
            <a:pPr algn="ctr">
              <a:defRPr/>
            </a:pPr>
          </a:p>
        </p:txBody>
      </p:sp>
      <p:sp>
        <p:nvSpPr>
          <p:cNvPr id="23" name="灯片编号占位符 22"/>
          <p:cNvSpPr>
            <a:spLocks noGrp="1"/>
          </p:cNvSpPr>
          <p:nvPr>
            <p:ph type="sldNum" sz="quarter" idx="12"/>
          </p:nvPr>
        </p:nvSpPr>
        <p:spPr>
          <a:xfrm>
            <a:off x="4724400" y="6356350"/>
            <a:ext cx="2743200" cy="365125"/>
          </a:xfrm>
        </p:spPr>
        <p:txBody>
          <a:bodyPr/>
          <a:lstStyle>
            <a:lvl1pPr algn="ctr">
              <a:defRPr/>
            </a:lvl1pPr>
          </a:lstStyle>
          <a:p>
            <a:fld id="{49AE70B2-8BF9-45C0-BB95-33D1B9D3A854}" type="slidenum">
              <a:rPr lang="zh-CN" altLang="en-US" smtClean="0"/>
            </a:fld>
            <a:endParaRPr lang="en-US" altLang="zh-CN"/>
          </a:p>
        </p:txBody>
      </p:sp>
      <p:cxnSp>
        <p:nvCxnSpPr>
          <p:cNvPr id="7" name="Connector 7"/>
          <p:cNvCxnSpPr/>
          <p:nvPr userDrawn="1"/>
        </p:nvCxnSpPr>
        <p:spPr>
          <a:xfrm rot="5388145">
            <a:off x="2374900" y="3867161"/>
            <a:ext cx="3683000" cy="12700"/>
          </a:xfrm>
          <a:prstGeom prst="straightConnector1">
            <a:avLst/>
          </a:prstGeom>
          <a:solidFill>
            <a:srgbClr val="DEE0E3">
              <a:alpha val="100000"/>
            </a:srgbClr>
          </a:solidFill>
          <a:ln w="12700" cap="flat" cmpd="sng">
            <a:solidFill>
              <a:srgbClr val="FFFFFF">
                <a:alpha val="12000"/>
              </a:srgbClr>
            </a:solidFill>
            <a:prstDash val="solid"/>
            <a:round/>
            <a:headEnd type="none" w="med" len="med"/>
            <a:tailEnd type="none" w="med" len="med"/>
          </a:ln>
        </p:spPr>
      </p:cxnSp>
      <p:cxnSp>
        <p:nvCxnSpPr>
          <p:cNvPr id="8" name="Connector 8"/>
          <p:cNvCxnSpPr/>
          <p:nvPr userDrawn="1"/>
        </p:nvCxnSpPr>
        <p:spPr>
          <a:xfrm rot="5388145">
            <a:off x="6134100" y="3867161"/>
            <a:ext cx="3683000" cy="12700"/>
          </a:xfrm>
          <a:prstGeom prst="straightConnector1">
            <a:avLst/>
          </a:prstGeom>
          <a:solidFill>
            <a:srgbClr val="DEE0E3">
              <a:alpha val="100000"/>
            </a:srgbClr>
          </a:solidFill>
          <a:ln w="12700" cap="flat" cmpd="sng">
            <a:solidFill>
              <a:srgbClr val="FFFFFF">
                <a:alpha val="12000"/>
              </a:srgbClr>
            </a:solidFill>
            <a:prstDash val="solid"/>
            <a:round/>
            <a:headEnd type="none" w="med" len="med"/>
            <a:tailEnd type="none" w="med" len="med"/>
          </a:ln>
        </p:spPr>
      </p:cxn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5588635" y="1651635"/>
            <a:ext cx="5967730" cy="2440305"/>
          </a:xfrm>
        </p:spPr>
        <p:txBody>
          <a:bodyPr anchor="b" anchorCtr="0">
            <a:normAutofit/>
          </a:bodyPr>
          <a:lstStyle>
            <a:lvl1pPr algn="ctr">
              <a:defRPr sz="4800" b="0">
                <a:effectLst>
                  <a:outerShdw blurRad="38100" dist="38100" dir="2700000" algn="tl">
                    <a:srgbClr val="000000">
                      <a:alpha val="43137"/>
                    </a:srgbClr>
                  </a:outerShdw>
                </a:effectLst>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12" name="AutoShape 2"/>
          <p:cNvSpPr/>
          <p:nvPr userDrawn="1"/>
        </p:nvSpPr>
        <p:spPr>
          <a:xfrm>
            <a:off x="7112000" y="3048000"/>
            <a:ext cx="7874000" cy="7874000"/>
          </a:xfrm>
          <a:prstGeom prst="ellipse">
            <a:avLst/>
          </a:prstGeom>
          <a:gradFill rotWithShape="1">
            <a:gsLst>
              <a:gs pos="0">
                <a:srgbClr val="00E5FF">
                  <a:alpha val="22000"/>
                </a:srgbClr>
              </a:gs>
              <a:gs pos="28000">
                <a:srgbClr val="B388FF">
                  <a:alpha val="12000"/>
                </a:srgbClr>
              </a:gs>
              <a:gs pos="65000">
                <a:srgbClr val="121212">
                  <a:alpha val="0"/>
                </a:srgbClr>
              </a:gs>
            </a:gsLst>
            <a:path path="circle">
              <a:fillToRect l="50000" t="50000" r="50000" b="50000"/>
            </a:path>
            <a:tileRect/>
          </a:gradFill>
          <a:ln cap="flat" cmpd="sng">
            <a:gradFill rotWithShape="1">
              <a:gsLst>
                <a:gs pos="0">
                  <a:srgbClr val="00CEE6">
                    <a:alpha val="22000"/>
                  </a:srgbClr>
                </a:gs>
                <a:gs pos="28000">
                  <a:srgbClr val="9263E6">
                    <a:alpha val="12000"/>
                  </a:srgbClr>
                </a:gs>
                <a:gs pos="65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3" name="AutoShape 3"/>
          <p:cNvSpPr/>
          <p:nvPr userDrawn="1"/>
        </p:nvSpPr>
        <p:spPr>
          <a:xfrm>
            <a:off x="5588635" y="4572000"/>
            <a:ext cx="6350000" cy="6350000"/>
          </a:xfrm>
          <a:prstGeom prst="ellipse">
            <a:avLst/>
          </a:prstGeom>
          <a:gradFill rotWithShape="1">
            <a:gsLst>
              <a:gs pos="0">
                <a:srgbClr val="B388FF">
                  <a:alpha val="18000"/>
                </a:srgbClr>
              </a:gs>
              <a:gs pos="60000">
                <a:srgbClr val="121212">
                  <a:alpha val="0"/>
                </a:srgbClr>
              </a:gs>
            </a:gsLst>
            <a:path path="circle">
              <a:fillToRect l="50000" t="50000" r="50000" b="50000"/>
            </a:path>
            <a:tileRect/>
          </a:gradFill>
          <a:ln cap="flat" cmpd="sng">
            <a:gradFill rotWithShape="1">
              <a:gsLst>
                <a:gs pos="0">
                  <a:srgbClr val="9263E6">
                    <a:alpha val="18000"/>
                  </a:srgbClr>
                </a:gs>
                <a:gs pos="60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6" name="AutoShape 6"/>
          <p:cNvSpPr/>
          <p:nvPr userDrawn="1"/>
        </p:nvSpPr>
        <p:spPr>
          <a:xfrm>
            <a:off x="6350000" y="4110355"/>
            <a:ext cx="762000" cy="38100"/>
          </a:xfrm>
          <a:prstGeom prst="roundRect">
            <a:avLst>
              <a:gd name="adj" fmla="val 0"/>
            </a:avLst>
          </a:prstGeom>
          <a:gradFill rotWithShape="1">
            <a:gsLst>
              <a:gs pos="0">
                <a:srgbClr val="00E5FF">
                  <a:alpha val="100000"/>
                </a:srgbClr>
              </a:gs>
              <a:gs pos="100000">
                <a:srgbClr val="B388FF">
                  <a:alpha val="100000"/>
                </a:srgbClr>
              </a:gs>
            </a:gsLst>
            <a:lin ang="0"/>
          </a:gradFill>
          <a:ln cap="flat" cmpd="sng">
            <a:gradFill rotWithShape="1">
              <a:gsLst>
                <a:gs pos="0">
                  <a:srgbClr val="00CEE6">
                    <a:alpha val="100000"/>
                  </a:srgbClr>
                </a:gs>
                <a:gs pos="100000">
                  <a:srgbClr val="9263E6">
                    <a:alpha val="100000"/>
                  </a:srgbClr>
                </a:gs>
              </a:gsLst>
              <a:lin ang="0"/>
            </a:gradFill>
            <a:prstDash val="solid"/>
            <a:round/>
          </a:ln>
        </p:spPr>
        <p:txBody>
          <a:bodyPr vert="horz" wrap="square" lIns="63500" tIns="63500" rIns="63500" bIns="63500" rtlCol="0" anchor="ctr"/>
          <a:lstStyle/>
          <a:p>
            <a:pPr algn="ctr">
              <a:defRPr/>
            </a:pPr>
          </a:p>
        </p:txBody>
      </p:sp>
      <p:sp>
        <p:nvSpPr>
          <p:cNvPr id="6" name="文本占位符 5"/>
          <p:cNvSpPr>
            <a:spLocks noGrp="1"/>
          </p:cNvSpPr>
          <p:nvPr>
            <p:ph type="body" idx="13" hasCustomPrompt="1"/>
          </p:nvPr>
        </p:nvSpPr>
        <p:spPr>
          <a:xfrm>
            <a:off x="889635" y="1651635"/>
            <a:ext cx="4699000" cy="3160395"/>
          </a:xfrm>
        </p:spPr>
        <p:txBody>
          <a:bodyPr anchor="ctr" anchorCtr="0"/>
          <a:lstStyle>
            <a:lvl1pPr marL="0" marR="0" lvl="0" indent="0" algn="ctr" defTabSz="914400" rtl="0" eaLnBrk="1" fontAlgn="auto" latinLnBrk="0" hangingPunct="1">
              <a:lnSpc>
                <a:spcPct val="92000"/>
              </a:lnSpc>
              <a:spcBef>
                <a:spcPts val="1000"/>
              </a:spcBef>
              <a:buClrTx/>
              <a:buSzTx/>
              <a:buFontTx/>
              <a:buNone/>
              <a:defRPr/>
            </a:lvl1pPr>
          </a:lstStyle>
          <a:p>
            <a:pPr lvl="0"/>
            <a:r>
              <a:rPr lang="zh-CN" altLang="en-US"/>
              <a:t>编号</a:t>
            </a:r>
            <a:endParaRPr lang="zh-CN" altLang="en-US"/>
          </a:p>
        </p:txBody>
      </p:sp>
      <p:sp>
        <p:nvSpPr>
          <p:cNvPr id="7" name="文本占位符 6"/>
          <p:cNvSpPr>
            <a:spLocks noGrp="1"/>
          </p:cNvSpPr>
          <p:nvPr>
            <p:ph type="body" idx="14" hasCustomPrompt="1"/>
          </p:nvPr>
        </p:nvSpPr>
        <p:spPr>
          <a:xfrm>
            <a:off x="6096000" y="4304030"/>
            <a:ext cx="5461635" cy="683895"/>
          </a:xfrm>
        </p:spPr>
        <p:txBody>
          <a:bodyPr anchor="ctr" anchorCtr="0"/>
          <a:lstStyle>
            <a:lvl1pPr marL="0" marR="0" lvl="0" indent="0" algn="l" defTabSz="914400" rtl="0" eaLnBrk="1" fontAlgn="auto" latinLnBrk="0" hangingPunct="1">
              <a:lnSpc>
                <a:spcPct val="117000"/>
              </a:lnSpc>
              <a:spcBef>
                <a:spcPts val="1000"/>
              </a:spcBef>
              <a:buClrTx/>
              <a:buSzTx/>
              <a:buFontTx/>
              <a:buNone/>
              <a:defRPr/>
            </a:lvl1pPr>
          </a:lstStyle>
          <a:p>
            <a:pPr marL="0" indent="0" algn="l">
              <a:lnSpc>
                <a:spcPct val="117000"/>
              </a:lnSpc>
              <a:defRPr/>
            </a:pPr>
            <a:r>
              <a:rPr lang="en-US" spc="300">
                <a:solidFill>
                  <a:srgbClr val="B4B4BE"/>
                </a:solidFill>
                <a:latin typeface="Noto Sans SC" panose="020B0200000000000000" charset="-122"/>
                <a:ea typeface="Noto Sans SC" panose="020B0200000000000000" charset="-122"/>
                <a:cs typeface="Noto Sans SC" panose="020B0200000000000000" charset="-122"/>
                <a:sym typeface="Noto Sans SC" panose="020B0200000000000000" charset="-122"/>
              </a:rPr>
              <a:t>【章节副标题 / 引言】</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单击此处编辑标题</a:t>
            </a:r>
            <a:endParaRPr lang="zh-CN" altLang="en-US" dirty="0"/>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6" name="AutoShape 2"/>
          <p:cNvSpPr/>
          <p:nvPr userDrawn="1"/>
        </p:nvSpPr>
        <p:spPr>
          <a:xfrm>
            <a:off x="-2286000" y="-2286000"/>
            <a:ext cx="16764000" cy="9144000"/>
          </a:xfrm>
          <a:prstGeom prst="ellipse">
            <a:avLst/>
          </a:prstGeom>
          <a:gradFill rotWithShape="1">
            <a:gsLst>
              <a:gs pos="0">
                <a:srgbClr val="38BDF8">
                  <a:alpha val="22000"/>
                </a:srgbClr>
              </a:gs>
              <a:gs pos="22000">
                <a:srgbClr val="A855F7">
                  <a:alpha val="14000"/>
                </a:srgbClr>
              </a:gs>
              <a:gs pos="62000">
                <a:srgbClr val="121212">
                  <a:alpha val="0"/>
                </a:srgbClr>
              </a:gs>
            </a:gsLst>
            <a:path path="circle">
              <a:fillToRect l="50000" t="50000" r="50000" b="50000"/>
            </a:path>
            <a:tileRect/>
          </a:gradFill>
          <a:ln cap="flat" cmpd="sng">
            <a:gradFill rotWithShape="1">
              <a:gsLst>
                <a:gs pos="0">
                  <a:srgbClr val="1CA3DF">
                    <a:alpha val="22000"/>
                  </a:srgbClr>
                </a:gs>
                <a:gs pos="22000">
                  <a:srgbClr val="8C36DE">
                    <a:alpha val="14000"/>
                  </a:srgbClr>
                </a:gs>
                <a:gs pos="62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7" name="AutoShape 3"/>
          <p:cNvSpPr/>
          <p:nvPr userDrawn="1"/>
        </p:nvSpPr>
        <p:spPr>
          <a:xfrm>
            <a:off x="-1778000" y="-1524000"/>
            <a:ext cx="15748000" cy="7874000"/>
          </a:xfrm>
          <a:prstGeom prst="ellipse">
            <a:avLst/>
          </a:prstGeom>
          <a:gradFill rotWithShape="1">
            <a:gsLst>
              <a:gs pos="0">
                <a:srgbClr val="A855F7">
                  <a:alpha val="18000"/>
                </a:srgbClr>
              </a:gs>
              <a:gs pos="20000">
                <a:srgbClr val="38BDF8">
                  <a:alpha val="8000"/>
                </a:srgbClr>
              </a:gs>
              <a:gs pos="57999">
                <a:srgbClr val="121212">
                  <a:alpha val="0"/>
                </a:srgbClr>
              </a:gs>
            </a:gsLst>
            <a:path path="circle">
              <a:fillToRect l="50000" t="50000" r="50000" b="50000"/>
            </a:path>
            <a:tileRect/>
          </a:gradFill>
          <a:ln cap="flat" cmpd="sng">
            <a:gradFill rotWithShape="1">
              <a:gsLst>
                <a:gs pos="0">
                  <a:srgbClr val="8C36DE">
                    <a:alpha val="18000"/>
                  </a:srgbClr>
                </a:gs>
                <a:gs pos="20000">
                  <a:srgbClr val="1CA3DF">
                    <a:alpha val="8000"/>
                  </a:srgbClr>
                </a:gs>
                <a:gs pos="57999">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8" name="AutoShape 4"/>
          <p:cNvSpPr/>
          <p:nvPr userDrawn="1"/>
        </p:nvSpPr>
        <p:spPr>
          <a:xfrm>
            <a:off x="762000" y="1778000"/>
            <a:ext cx="10668000" cy="1397000"/>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7200" b="1" i="0" u="none" strike="noStrike" spc="120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谢谢聆听</a:t>
            </a:r>
            <a:endParaRPr lang="en-US" sz="1100"/>
          </a:p>
        </p:txBody>
      </p:sp>
      <p:sp>
        <p:nvSpPr>
          <p:cNvPr id="9" name="AutoShape 5"/>
          <p:cNvSpPr/>
          <p:nvPr userDrawn="1"/>
        </p:nvSpPr>
        <p:spPr>
          <a:xfrm>
            <a:off x="762000" y="3530600"/>
            <a:ext cx="10668000" cy="584200"/>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2800" b="0" i="0" u="none" strike="noStrike" spc="800">
                <a:solidFill>
                  <a:srgbClr val="E5E7EB">
                    <a:alpha val="87843"/>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【Q &amp; A / 提问交流环节】</a:t>
            </a:r>
            <a:endParaRPr lang="en-US" sz="1100"/>
          </a:p>
        </p:txBody>
      </p:sp>
      <p:cxnSp>
        <p:nvCxnSpPr>
          <p:cNvPr id="10" name="Connector 6"/>
          <p:cNvCxnSpPr/>
          <p:nvPr userDrawn="1"/>
        </p:nvCxnSpPr>
        <p:spPr>
          <a:xfrm rot="-57290">
            <a:off x="5715053" y="4565650"/>
            <a:ext cx="762000" cy="12700"/>
          </a:xfrm>
          <a:prstGeom prst="straightConnector1">
            <a:avLst/>
          </a:prstGeom>
          <a:solidFill>
            <a:srgbClr val="DEE0E3">
              <a:alpha val="100000"/>
            </a:srgbClr>
          </a:solidFill>
          <a:ln w="25400" cap="flat" cmpd="sng">
            <a:solidFill>
              <a:srgbClr val="A855F7">
                <a:alpha val="60000"/>
              </a:srgbClr>
            </a:solidFill>
            <a:prstDash val="solid"/>
            <a:round/>
            <a:headEnd type="none" w="lg" len="lg"/>
            <a:tailEnd type="none" w="lg" len="lg"/>
          </a:ln>
        </p:spPr>
      </p:cxnSp>
      <p:pic>
        <p:nvPicPr>
          <p:cNvPr id="11" name="Picture 7"/>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286000" y="4978400"/>
            <a:ext cx="279400" cy="279400"/>
          </a:xfrm>
          <a:prstGeom prst="rect">
            <a:avLst/>
          </a:prstGeom>
        </p:spPr>
      </p:pic>
      <p:cxnSp>
        <p:nvCxnSpPr>
          <p:cNvPr id="13" name="Connector 9"/>
          <p:cNvCxnSpPr/>
          <p:nvPr userDrawn="1"/>
        </p:nvCxnSpPr>
        <p:spPr>
          <a:xfrm rot="5267844">
            <a:off x="4787900" y="5162672"/>
            <a:ext cx="330200" cy="12700"/>
          </a:xfrm>
          <a:prstGeom prst="straightConnector1">
            <a:avLst/>
          </a:prstGeom>
          <a:solidFill>
            <a:srgbClr val="DEE0E3">
              <a:alpha val="100000"/>
            </a:srgbClr>
          </a:solidFill>
          <a:ln w="12700" cap="flat" cmpd="sng">
            <a:solidFill>
              <a:srgbClr val="FFFFFF">
                <a:alpha val="22000"/>
              </a:srgbClr>
            </a:solidFill>
            <a:prstDash val="solid"/>
            <a:round/>
            <a:headEnd type="none" w="med" len="med"/>
            <a:tailEnd type="none" w="med" len="med"/>
          </a:ln>
        </p:spPr>
      </p:cxnSp>
      <p:pic>
        <p:nvPicPr>
          <p:cNvPr id="14" name="Picture 10"/>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334000" y="4978400"/>
            <a:ext cx="279400" cy="279400"/>
          </a:xfrm>
          <a:prstGeom prst="rect">
            <a:avLst/>
          </a:prstGeom>
        </p:spPr>
      </p:pic>
      <p:cxnSp>
        <p:nvCxnSpPr>
          <p:cNvPr id="16" name="Connector 12"/>
          <p:cNvCxnSpPr/>
          <p:nvPr userDrawn="1"/>
        </p:nvCxnSpPr>
        <p:spPr>
          <a:xfrm rot="5267844">
            <a:off x="7772400" y="5162672"/>
            <a:ext cx="330200" cy="12700"/>
          </a:xfrm>
          <a:prstGeom prst="straightConnector1">
            <a:avLst/>
          </a:prstGeom>
          <a:solidFill>
            <a:srgbClr val="DEE0E3">
              <a:alpha val="100000"/>
            </a:srgbClr>
          </a:solidFill>
          <a:ln w="12700" cap="flat" cmpd="sng">
            <a:solidFill>
              <a:srgbClr val="FFFFFF">
                <a:alpha val="22000"/>
              </a:srgbClr>
            </a:solidFill>
            <a:prstDash val="solid"/>
            <a:round/>
            <a:headEnd type="none" w="med" len="med"/>
            <a:tailEnd type="none" w="med" len="med"/>
          </a:ln>
        </p:spPr>
      </p:cxnSp>
      <p:pic>
        <p:nvPicPr>
          <p:cNvPr id="17" name="Picture 13"/>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318500" y="4978400"/>
            <a:ext cx="279400" cy="279400"/>
          </a:xfrm>
          <a:prstGeom prst="rect">
            <a:avLst/>
          </a:prstGeom>
        </p:spPr>
      </p:pic>
      <p:sp>
        <p:nvSpPr>
          <p:cNvPr id="21" name="内容占位符 20"/>
          <p:cNvSpPr>
            <a:spLocks noGrp="1"/>
          </p:cNvSpPr>
          <p:nvPr>
            <p:ph idx="13" hasCustomPrompt="1"/>
          </p:nvPr>
        </p:nvSpPr>
        <p:spPr>
          <a:xfrm>
            <a:off x="2693035" y="4952365"/>
            <a:ext cx="2030730" cy="330835"/>
          </a:xfrm>
        </p:spPr>
        <p:txBody>
          <a:bodyPr/>
          <a:lstStyle>
            <a:lvl1pPr marL="0" indent="0" algn="r">
              <a:buNone/>
              <a:defRPr kumimoji="0" lang="en-US" sz="1600" b="0" i="0" u="none" strike="noStrike" kern="1200" cap="none" spc="0" normalizeH="0" baseline="0" noProof="1">
                <a:solidFill>
                  <a:srgbClr val="D1D5DB">
                    <a:alpha val="85098"/>
                  </a:srgbClr>
                </a:solidFill>
                <a:latin typeface="Noto Sans SC" panose="020B0200000000000000" charset="-122"/>
                <a:ea typeface="Noto Sans SC" panose="020B0200000000000000" charset="-122"/>
                <a:cs typeface="Noto Sans SC" panose="020B0200000000000000" charset="-122"/>
                <a:sym typeface="Noto Sans SC" panose="020B0200000000000000" charset="-122"/>
              </a:defRPr>
            </a:lvl1pPr>
          </a:lstStyle>
          <a:p>
            <a:pPr marL="0" indent="0" algn="l">
              <a:lnSpc>
                <a:spcPct val="100000"/>
              </a:lnSpc>
              <a:defRPr/>
            </a:pPr>
            <a:r>
              <a:rPr>
                <a:sym typeface="Noto Sans SC" panose="020B0200000000000000" charset="-122"/>
              </a:rPr>
              <a:t>contact@xxx.com</a:t>
            </a:r>
            <a:endParaRPr lang="en-US" altLang="zh-CN"/>
          </a:p>
        </p:txBody>
      </p:sp>
      <p:sp>
        <p:nvSpPr>
          <p:cNvPr id="22" name="内容占位符 21"/>
          <p:cNvSpPr>
            <a:spLocks noGrp="1"/>
          </p:cNvSpPr>
          <p:nvPr>
            <p:ph idx="14" hasCustomPrompt="1"/>
          </p:nvPr>
        </p:nvSpPr>
        <p:spPr>
          <a:xfrm>
            <a:off x="5740400" y="4953000"/>
            <a:ext cx="2032000" cy="330835"/>
          </a:xfrm>
        </p:spPr>
        <p:txBody>
          <a:bodyPr/>
          <a:lstStyle>
            <a:lvl1pPr marL="0" indent="0" algn="r">
              <a:buNone/>
              <a:defRPr kumimoji="0" lang="en-US" sz="1600" b="0" i="0" u="none" strike="noStrike" kern="1200" cap="none" spc="0" normalizeH="0" baseline="0" noProof="1">
                <a:solidFill>
                  <a:srgbClr val="D1D5DB">
                    <a:alpha val="85098"/>
                  </a:srgbClr>
                </a:solidFill>
                <a:latin typeface="Noto Sans SC" panose="020B0200000000000000" charset="-122"/>
                <a:ea typeface="Noto Sans SC" panose="020B0200000000000000" charset="-122"/>
                <a:cs typeface="Noto Sans SC" panose="020B0200000000000000" charset="-122"/>
                <a:sym typeface="Noto Sans SC" panose="020B0200000000000000" charset="-122"/>
              </a:defRPr>
            </a:lvl1pPr>
          </a:lstStyle>
          <a:p>
            <a:pPr marL="0" indent="0" algn="l">
              <a:lnSpc>
                <a:spcPct val="100000"/>
              </a:lnSpc>
              <a:defRPr/>
            </a:pPr>
            <a:r>
              <a:rPr lang="zh-CN" altLang="en-US"/>
              <a:t>公众号：</a:t>
            </a:r>
            <a:r>
              <a:rPr altLang="zh-CN"/>
              <a:t>XXX</a:t>
            </a:r>
            <a:endParaRPr altLang="zh-CN"/>
          </a:p>
        </p:txBody>
      </p:sp>
      <p:sp>
        <p:nvSpPr>
          <p:cNvPr id="23" name="内容占位符 22"/>
          <p:cNvSpPr>
            <a:spLocks noGrp="1"/>
          </p:cNvSpPr>
          <p:nvPr>
            <p:ph idx="15" hasCustomPrompt="1"/>
          </p:nvPr>
        </p:nvSpPr>
        <p:spPr>
          <a:xfrm>
            <a:off x="8724900" y="4953000"/>
            <a:ext cx="2159000" cy="330835"/>
          </a:xfrm>
        </p:spPr>
        <p:txBody>
          <a:bodyPr/>
          <a:lstStyle>
            <a:lvl1pPr marL="0" indent="0" algn="r">
              <a:buNone/>
              <a:defRPr kumimoji="0" lang="en-US" sz="1600" b="0" i="0" u="none" strike="noStrike" kern="1200" cap="none" spc="0" normalizeH="0" baseline="0" noProof="1">
                <a:solidFill>
                  <a:srgbClr val="D1D5DB">
                    <a:alpha val="85098"/>
                  </a:srgbClr>
                </a:solidFill>
                <a:latin typeface="Noto Sans SC" panose="020B0200000000000000" charset="-122"/>
                <a:ea typeface="SimSun" pitchFamily="2" charset="-122"/>
                <a:cs typeface="Noto Sans SC" panose="020B0200000000000000" charset="-122"/>
                <a:sym typeface="Noto Sans SC" panose="020B0200000000000000" charset="-122"/>
              </a:defRPr>
            </a:lvl1pPr>
          </a:lstStyle>
          <a:p>
            <a:pPr marL="0" indent="0" algn="l">
              <a:lnSpc>
                <a:spcPct val="100000"/>
              </a:lnSpc>
              <a:defRPr/>
            </a:pPr>
            <a:r>
              <a:rPr lang="zh-CN" altLang="en-US"/>
              <a:t>公众号：</a:t>
            </a:r>
            <a:r>
              <a:rPr altLang="zh-CN"/>
              <a:t>XXX</a:t>
            </a:r>
            <a:r>
              <a:rPr lang="zh-CN" altLang="en-US"/>
              <a:t>事实</a:t>
            </a:r>
            <a:endParaRPr lang="zh-CN" altLang="en-US"/>
          </a:p>
        </p:txBody>
      </p:sp>
      <p:sp>
        <p:nvSpPr>
          <p:cNvPr id="25" name="内容占位符 24"/>
          <p:cNvSpPr>
            <a:spLocks noGrp="1"/>
          </p:cNvSpPr>
          <p:nvPr>
            <p:ph idx="16" hasCustomPrompt="1"/>
          </p:nvPr>
        </p:nvSpPr>
        <p:spPr>
          <a:xfrm>
            <a:off x="3215958" y="6121400"/>
            <a:ext cx="5760085" cy="329565"/>
          </a:xfrm>
        </p:spPr>
        <p:txBody>
          <a:bodyPr anchor="ctr" anchorCtr="0"/>
          <a:lstStyle>
            <a:lvl1pPr marL="0" indent="0" algn="ctr">
              <a:buNone/>
              <a:defRPr kumimoji="0" lang="en-US" sz="1400" b="0" i="0" u="none" strike="noStrike" kern="1200" cap="none" spc="400" normalizeH="0" baseline="0" noProof="1">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defRPr>
            </a:lvl1pPr>
          </a:lstStyle>
          <a:p>
            <a:pPr marL="0" indent="0" algn="ctr">
              <a:lnSpc>
                <a:spcPct val="100000"/>
              </a:lnSpc>
              <a:defRPr/>
            </a:pPr>
            <a:r>
              <a:rPr>
                <a:sym typeface="Noto Sans SC" panose="020B0200000000000000" charset="-122"/>
              </a:rPr>
              <a:t>【课程名称 / 机构名】</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7.png"/><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61323"/>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pic>
        <p:nvPicPr>
          <p:cNvPr id="34" name="Image 0" descr="香港科技大学与上海产教融合中心反白Logo"/>
          <p:cNvPicPr>
            <a:picLocks noChangeAspect="1"/>
          </p:cNvPicPr>
          <p:nvPr userDrawn="1"/>
        </p:nvPicPr>
        <p:blipFill>
          <a:blip r:embed="rId15"/>
          <a:stretch>
            <a:fillRect/>
          </a:stretch>
        </p:blipFill>
        <p:spPr>
          <a:xfrm>
            <a:off x="8741664" y="274320"/>
            <a:ext cx="2788920" cy="6858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hdr="0" ftr="0" dt="0"/>
  <p:txStyles>
    <p:titleStyle>
      <a:lvl1pPr algn="l" defTabSz="914400" rtl="0" eaLnBrk="1" latinLnBrk="0" hangingPunct="1">
        <a:lnSpc>
          <a:spcPct val="90000"/>
        </a:lnSpc>
        <a:spcBef>
          <a:spcPct val="0"/>
        </a:spcBef>
        <a:buNone/>
        <a:defRPr sz="40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2.xml"/><Relationship Id="rId2" Type="http://schemas.openxmlformats.org/officeDocument/2006/relationships/image" Target="../media/image9.png"/><Relationship Id="rId1"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2.xml"/><Relationship Id="rId2" Type="http://schemas.openxmlformats.org/officeDocument/2006/relationships/image" Target="../media/image11.png"/><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2.xml"/><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image" Target="../media/image12.jpe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ctrTitle"/>
          </p:nvPr>
        </p:nvSpPr>
        <p:spPr/>
        <p:txBody>
          <a:bodyPr>
            <a:normAutofit/>
          </a:bodyPr>
          <a:lstStyle/>
          <a:p>
            <a:r>
              <a:rPr lang="zh-CN" altLang="en-US" sz="6000"/>
              <a:t>第五课</a:t>
            </a:r>
            <a:br>
              <a:rPr lang="zh-CN" altLang="en-US" sz="6000"/>
            </a:br>
            <a:r>
              <a:rPr lang="zh-CN" altLang="en-US" sz="6000"/>
              <a:t>不同 </a:t>
            </a:r>
            <a:r>
              <a:rPr lang="en-US" altLang="zh-CN" sz="6000"/>
              <a:t>AI </a:t>
            </a:r>
            <a:r>
              <a:rPr lang="zh-CN" altLang="en-US" sz="6000"/>
              <a:t>为什么表现不同</a:t>
            </a:r>
            <a:endParaRPr lang="zh-CN" altLang="en-US" sz="6000"/>
          </a:p>
        </p:txBody>
      </p:sp>
      <p:sp>
        <p:nvSpPr>
          <p:cNvPr id="11" name="副标题 10"/>
          <p:cNvSpPr>
            <a:spLocks noGrp="1"/>
          </p:cNvSpPr>
          <p:nvPr>
            <p:ph type="subTitle" idx="1"/>
          </p:nvPr>
        </p:nvSpPr>
        <p:spPr/>
        <p:txBody>
          <a:bodyPr/>
          <a:lstStyle/>
          <a:p>
            <a:r>
              <a:rPr lang="zh-CN" altLang="en-US"/>
              <a:t>港科大人工智能前沿系列课程——大模型基础通识</a:t>
            </a:r>
            <a:endParaRPr lang="zh-CN" altLang="en-US"/>
          </a:p>
          <a:p>
            <a:endParaRPr lang="zh-CN" altLang="en-US"/>
          </a:p>
        </p:txBody>
      </p:sp>
      <p:sp>
        <p:nvSpPr>
          <p:cNvPr id="12" name="文本占位符 11"/>
          <p:cNvSpPr>
            <a:spLocks noGrp="1"/>
          </p:cNvSpPr>
          <p:nvPr>
            <p:ph type="body" idx="13"/>
          </p:nvPr>
        </p:nvSpPr>
        <p:spPr/>
        <p:txBody>
          <a:bodyPr/>
          <a:lstStyle/>
          <a:p>
            <a:r>
              <a:rPr lang="zh-CN" altLang="en-US"/>
              <a:t>授课人：王若愚</a:t>
            </a:r>
            <a:endParaRPr lang="zh-CN" altLang="en-US"/>
          </a:p>
        </p:txBody>
      </p:sp>
      <p:sp>
        <p:nvSpPr>
          <p:cNvPr id="13" name="文本占位符 12"/>
          <p:cNvSpPr>
            <a:spLocks noGrp="1"/>
          </p:cNvSpPr>
          <p:nvPr>
            <p:ph type="body" idx="16"/>
          </p:nvPr>
        </p:nvSpPr>
        <p:spPr/>
        <p:txBody>
          <a:bodyPr/>
          <a:lstStyle/>
          <a:p>
            <a:r>
              <a:rPr lang="en-US" altLang="zh-CN" dirty="0"/>
              <a:t>2026/09/01</a:t>
            </a:r>
            <a:endParaRPr lang="en-US" altLang="zh-CN"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sz="3200" dirty="0"/>
              <a:t>回顾</a:t>
            </a:r>
            <a:endParaRPr lang="zh-CN" altLang="en-US" sz="3200" dirty="0"/>
          </a:p>
        </p:txBody>
      </p:sp>
      <p:sp>
        <p:nvSpPr>
          <p:cNvPr id="24" name="内容占位符 23"/>
          <p:cNvSpPr>
            <a:spLocks noGrp="1"/>
          </p:cNvSpPr>
          <p:nvPr>
            <p:ph idx="1"/>
          </p:nvPr>
        </p:nvSpPr>
        <p:spPr>
          <a:xfrm>
            <a:off x="762000" y="1825625"/>
            <a:ext cx="6255385" cy="4351655"/>
          </a:xfrm>
        </p:spPr>
        <p:txBody>
          <a:bodyPr/>
          <a:lstStyle/>
          <a:p>
            <a:r>
              <a:rPr lang="zh-CN" altLang="en-US" sz="2800" dirty="0">
                <a:sym typeface="+mn-ea"/>
              </a:rPr>
              <a:t>大模型是基于</a:t>
            </a:r>
            <a:r>
              <a:rPr lang="en-US" altLang="zh-CN" sz="2800" dirty="0">
                <a:sym typeface="+mn-ea"/>
              </a:rPr>
              <a:t> </a:t>
            </a:r>
            <a:r>
              <a:rPr lang="en-US" altLang="zh-CN" sz="2800" b="1" dirty="0">
                <a:solidFill>
                  <a:srgbClr val="00E5FF"/>
                </a:solidFill>
                <a:sym typeface="+mn-ea"/>
              </a:rPr>
              <a:t>Transformer </a:t>
            </a:r>
            <a:r>
              <a:rPr lang="zh-CN" altLang="en-US" sz="2800" b="1" dirty="0">
                <a:solidFill>
                  <a:srgbClr val="00E5FF"/>
                </a:solidFill>
                <a:sym typeface="+mn-ea"/>
              </a:rPr>
              <a:t>架构</a:t>
            </a:r>
            <a:r>
              <a:rPr lang="zh-CN" altLang="en-US" sz="2800" dirty="0">
                <a:sym typeface="+mn-ea"/>
              </a:rPr>
              <a:t>搭建的，核心是</a:t>
            </a:r>
            <a:r>
              <a:rPr lang="zh-CN" altLang="en-US" sz="2800" b="1" dirty="0">
                <a:solidFill>
                  <a:srgbClr val="00E5FF"/>
                </a:solidFill>
                <a:sym typeface="+mn-ea"/>
              </a:rPr>
              <a:t>注意力机制</a:t>
            </a:r>
            <a:endParaRPr lang="zh-CN" altLang="en-US" sz="2800" dirty="0">
              <a:solidFill>
                <a:schemeClr val="bg1"/>
              </a:solidFill>
            </a:endParaRPr>
          </a:p>
          <a:p>
            <a:r>
              <a:rPr lang="en-US" altLang="zh-CN" sz="2800" dirty="0">
                <a:sym typeface="+mn-ea"/>
              </a:rPr>
              <a:t>Transformer </a:t>
            </a:r>
            <a:r>
              <a:rPr lang="zh-CN" altLang="en-US" sz="2800" dirty="0">
                <a:sym typeface="+mn-ea"/>
              </a:rPr>
              <a:t>架构可以</a:t>
            </a:r>
            <a:r>
              <a:rPr lang="zh-CN" altLang="en-US" sz="2800" b="1" dirty="0">
                <a:solidFill>
                  <a:srgbClr val="00E5FF"/>
                </a:solidFill>
                <a:sym typeface="+mn-ea"/>
              </a:rPr>
              <a:t>并行计算</a:t>
            </a:r>
            <a:endParaRPr lang="zh-CN" altLang="en-US" sz="2800" dirty="0">
              <a:solidFill>
                <a:schemeClr val="bg1"/>
              </a:solidFill>
            </a:endParaRPr>
          </a:p>
          <a:p>
            <a:r>
              <a:rPr lang="zh-CN" altLang="en-US" sz="2800" dirty="0">
                <a:sym typeface="+mn-ea"/>
              </a:rPr>
              <a:t>大模型参数规模非常庞大，需要海量的</a:t>
            </a:r>
            <a:r>
              <a:rPr lang="zh-CN" altLang="en-US" sz="2800" b="1" dirty="0">
                <a:solidFill>
                  <a:srgbClr val="00E5FF"/>
                </a:solidFill>
                <a:sym typeface="+mn-ea"/>
              </a:rPr>
              <a:t>算力</a:t>
            </a:r>
            <a:r>
              <a:rPr lang="zh-CN" altLang="en-US" sz="2800" dirty="0">
                <a:sym typeface="+mn-ea"/>
              </a:rPr>
              <a:t>与</a:t>
            </a:r>
            <a:r>
              <a:rPr lang="zh-CN" altLang="en-US" sz="2800" b="1" dirty="0">
                <a:solidFill>
                  <a:srgbClr val="00E5FF"/>
                </a:solidFill>
                <a:sym typeface="+mn-ea"/>
              </a:rPr>
              <a:t>能源</a:t>
            </a:r>
            <a:endParaRPr lang="en-US" altLang="zh-CN" sz="2520" dirty="0">
              <a:solidFill>
                <a:schemeClr val="bg1"/>
              </a:solidFill>
              <a:sym typeface="+mn-ea"/>
            </a:endParaRPr>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en-US" altLang="zh-CN"/>
          </a:p>
        </p:txBody>
      </p:sp>
      <p:sp>
        <p:nvSpPr>
          <p:cNvPr id="3" name="文本框 2"/>
          <p:cNvSpPr txBox="1"/>
          <p:nvPr/>
        </p:nvSpPr>
        <p:spPr>
          <a:xfrm>
            <a:off x="14166215" y="4756150"/>
            <a:ext cx="4064000" cy="368300"/>
          </a:xfrm>
          <a:prstGeom prst="rect">
            <a:avLst/>
          </a:prstGeom>
          <a:noFill/>
        </p:spPr>
        <p:txBody>
          <a:bodyPr wrap="square" rtlCol="0">
            <a:spAutoFit/>
          </a:bodyPr>
          <a:lstStyle/>
          <a:p>
            <a:endParaRPr lang="zh-CN" altLang="en-US"/>
          </a:p>
        </p:txBody>
      </p:sp>
      <p:grpSp>
        <p:nvGrpSpPr>
          <p:cNvPr id="7" name="组合 6"/>
          <p:cNvGrpSpPr/>
          <p:nvPr/>
        </p:nvGrpSpPr>
        <p:grpSpPr>
          <a:xfrm>
            <a:off x="7138035" y="2190750"/>
            <a:ext cx="4161790" cy="3462020"/>
            <a:chOff x="11183" y="3211"/>
            <a:chExt cx="6554" cy="5452"/>
          </a:xfrm>
        </p:grpSpPr>
        <p:pic>
          <p:nvPicPr>
            <p:cNvPr id="6" name="图片 5" descr="Transformer-modified"/>
            <p:cNvPicPr>
              <a:picLocks noChangeAspect="1"/>
            </p:cNvPicPr>
            <p:nvPr/>
          </p:nvPicPr>
          <p:blipFill>
            <a:blip r:embed="rId1"/>
            <a:stretch>
              <a:fillRect/>
            </a:stretch>
          </p:blipFill>
          <p:spPr>
            <a:xfrm>
              <a:off x="11183" y="3463"/>
              <a:ext cx="3492" cy="5200"/>
            </a:xfrm>
            <a:prstGeom prst="rect">
              <a:avLst/>
            </a:prstGeom>
          </p:spPr>
        </p:pic>
        <p:sp>
          <p:nvSpPr>
            <p:cNvPr id="21" name="任意多边形: 形状 20"/>
            <p:cNvSpPr/>
            <p:nvPr/>
          </p:nvSpPr>
          <p:spPr>
            <a:xfrm flipV="1">
              <a:off x="13929" y="4604"/>
              <a:ext cx="1179" cy="1038"/>
            </a:xfrm>
            <a:custGeom>
              <a:avLst/>
              <a:gdLst>
                <a:gd name="connsiteX0" fmla="*/ 0 w 1430931"/>
                <a:gd name="connsiteY0" fmla="*/ 0 h 600293"/>
                <a:gd name="connsiteX1" fmla="*/ 830638 w 1430931"/>
                <a:gd name="connsiteY1" fmla="*/ 0 h 600293"/>
                <a:gd name="connsiteX2" fmla="*/ 1430931 w 1430931"/>
                <a:gd name="connsiteY2" fmla="*/ 600293 h 600293"/>
              </a:gdLst>
              <a:ahLst/>
              <a:cxnLst>
                <a:cxn ang="0">
                  <a:pos x="connsiteX0" y="connsiteY0"/>
                </a:cxn>
                <a:cxn ang="0">
                  <a:pos x="connsiteX1" y="connsiteY1"/>
                </a:cxn>
                <a:cxn ang="0">
                  <a:pos x="connsiteX2" y="connsiteY2"/>
                </a:cxn>
              </a:cxnLst>
              <a:rect l="l" t="t" r="r" b="b"/>
              <a:pathLst>
                <a:path w="1430931" h="600293">
                  <a:moveTo>
                    <a:pt x="0" y="0"/>
                  </a:moveTo>
                  <a:lnTo>
                    <a:pt x="830638" y="0"/>
                  </a:lnTo>
                  <a:lnTo>
                    <a:pt x="1430931" y="600293"/>
                  </a:lnTo>
                </a:path>
              </a:pathLst>
            </a:custGeom>
            <a:noFill/>
            <a:ln w="25400">
              <a:solidFill>
                <a:srgbClr val="00E5FF"/>
              </a:solidFill>
              <a:prstDash val="sysDash"/>
              <a:headEnd type="oval" w="med" len="med"/>
              <a:tailEnd type="oval"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5103" y="3211"/>
              <a:ext cx="2635" cy="2745"/>
              <a:chOff x="5937" y="4829"/>
              <a:chExt cx="3540" cy="3687"/>
            </a:xfrm>
          </p:grpSpPr>
          <p:sp>
            <p:nvSpPr>
              <p:cNvPr id="18" name="矩形: 圆角 17"/>
              <p:cNvSpPr/>
              <p:nvPr/>
            </p:nvSpPr>
            <p:spPr>
              <a:xfrm>
                <a:off x="5937" y="4829"/>
                <a:ext cx="3540" cy="3687"/>
              </a:xfrm>
              <a:prstGeom prst="roundRect">
                <a:avLst>
                  <a:gd name="adj" fmla="val 10329"/>
                </a:avLst>
              </a:prstGeom>
              <a:noFill/>
              <a:ln w="25400">
                <a:solidFill>
                  <a:srgbClr val="00E5FF"/>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descr="Attention-struct-modified"/>
              <p:cNvPicPr>
                <a:picLocks noChangeAspect="1"/>
              </p:cNvPicPr>
              <p:nvPr/>
            </p:nvPicPr>
            <p:blipFill>
              <a:blip r:embed="rId2"/>
              <a:stretch>
                <a:fillRect/>
              </a:stretch>
            </p:blipFill>
            <p:spPr>
              <a:xfrm>
                <a:off x="6475" y="5021"/>
                <a:ext cx="2464" cy="3304"/>
              </a:xfrm>
              <a:prstGeom prst="rect">
                <a:avLst/>
              </a:prstGeom>
            </p:spPr>
          </p:pic>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animEffect transition="in" filter="fade">
                                      <p:cBhvr>
                                        <p:cTn id="7" dur="500"/>
                                        <p:tgtEl>
                                          <p:spTgt spid="24">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4">
                                            <p:txEl>
                                              <p:pRg st="1" end="1"/>
                                            </p:txEl>
                                          </p:spTgt>
                                        </p:tgtEl>
                                        <p:attrNameLst>
                                          <p:attrName>style.visibility</p:attrName>
                                        </p:attrNameLst>
                                      </p:cBhvr>
                                      <p:to>
                                        <p:strVal val="visible"/>
                                      </p:to>
                                    </p:set>
                                    <p:animEffect transition="in" filter="fade">
                                      <p:cBhvr>
                                        <p:cTn id="16" dur="500"/>
                                        <p:tgtEl>
                                          <p:spTgt spid="24">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4">
                                            <p:txEl>
                                              <p:pRg st="2" end="2"/>
                                            </p:txEl>
                                          </p:spTgt>
                                        </p:tgtEl>
                                        <p:attrNameLst>
                                          <p:attrName>style.visibility</p:attrName>
                                        </p:attrNameLst>
                                      </p:cBhvr>
                                      <p:to>
                                        <p:strVal val="visible"/>
                                      </p:to>
                                    </p:set>
                                    <p:animEffect transition="in" filter="fade">
                                      <p:cBhvr>
                                        <p:cTn id="21" dur="500"/>
                                        <p:tgtEl>
                                          <p:spTgt spid="2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P spid="24" grpI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6" name="内容占位符 5"/>
          <p:cNvSpPr>
            <a:spLocks noGrp="1"/>
          </p:cNvSpPr>
          <p:nvPr>
            <p:ph idx="1"/>
          </p:nvPr>
        </p:nvSpPr>
        <p:spPr>
          <a:xfrm>
            <a:off x="762000" y="4382135"/>
            <a:ext cx="10401300" cy="1422400"/>
          </a:xfrm>
        </p:spPr>
        <p:txBody>
          <a:bodyPr>
            <a:normAutofit/>
          </a:bodyPr>
          <a:lstStyle/>
          <a:p>
            <a:r>
              <a:rPr lang="zh-CN" altLang="en-US" dirty="0">
                <a:solidFill>
                  <a:schemeClr val="bg1"/>
                </a:solidFill>
                <a:sym typeface="+mn-ea"/>
              </a:rPr>
              <a:t>当前主流模型都基于</a:t>
            </a:r>
            <a:r>
              <a:rPr altLang="zh-CN" dirty="0">
                <a:solidFill>
                  <a:schemeClr val="bg1"/>
                </a:solidFill>
                <a:sym typeface="+mn-ea"/>
              </a:rPr>
              <a:t>Transformer</a:t>
            </a:r>
            <a:r>
              <a:rPr lang="zh-CN" altLang="en-US" dirty="0">
                <a:solidFill>
                  <a:schemeClr val="bg1"/>
                </a:solidFill>
                <a:sym typeface="+mn-ea"/>
              </a:rPr>
              <a:t>，</a:t>
            </a:r>
            <a:endParaRPr lang="zh-CN" altLang="en-US" dirty="0">
              <a:solidFill>
                <a:schemeClr val="bg1"/>
              </a:solidFill>
              <a:sym typeface="+mn-ea"/>
            </a:endParaRPr>
          </a:p>
          <a:p>
            <a:r>
              <a:rPr lang="zh-CN" altLang="en-US" dirty="0">
                <a:solidFill>
                  <a:schemeClr val="bg1"/>
                </a:solidFill>
                <a:sym typeface="+mn-ea"/>
              </a:rPr>
              <a:t>它们的能力会有什么差异呢？</a:t>
            </a:r>
            <a:endParaRPr lang="zh-CN" altLang="en-US" dirty="0">
              <a:solidFill>
                <a:schemeClr val="bg1"/>
              </a:solidFill>
              <a:sym typeface="+mn-ea"/>
            </a:endParaRPr>
          </a:p>
        </p:txBody>
      </p:sp>
      <p:sp>
        <p:nvSpPr>
          <p:cNvPr id="3" name="内容占位符 2"/>
          <p:cNvSpPr>
            <a:spLocks noGrp="1"/>
          </p:cNvSpPr>
          <p:nvPr>
            <p:ph idx="13"/>
          </p:nvPr>
        </p:nvSpPr>
        <p:spPr/>
        <p:txBody>
          <a:bodyPr>
            <a:normAutofit/>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en-US" altLang="zh-C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sz="3200" dirty="0"/>
              <a:t>课程路线图</a:t>
            </a:r>
            <a:endParaRPr lang="zh-CN" altLang="en-US" sz="3200" dirty="0"/>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en-US" altLang="zh-CN"/>
          </a:p>
        </p:txBody>
      </p:sp>
      <p:sp>
        <p:nvSpPr>
          <p:cNvPr id="6" name="AutoShape 6"/>
          <p:cNvSpPr/>
          <p:nvPr/>
        </p:nvSpPr>
        <p:spPr>
          <a:xfrm>
            <a:off x="2231390" y="1752600"/>
            <a:ext cx="899795" cy="4319905"/>
          </a:xfrm>
          <a:prstGeom prst="roundRect">
            <a:avLst>
              <a:gd name="adj" fmla="val 0"/>
            </a:avLst>
          </a:prstGeom>
          <a:solidFill>
            <a:srgbClr val="00E5FF">
              <a:alpha val="8000"/>
            </a:srgbClr>
          </a:solidFill>
          <a:ln w="25400" cap="flat" cmpd="sng">
            <a:solidFill>
              <a:srgbClr val="00E5FF">
                <a:alpha val="100000"/>
              </a:srgbClr>
            </a:solidFill>
            <a:prstDash val="solid"/>
            <a:round/>
          </a:ln>
          <a:effectLst>
            <a:outerShdw blurRad="152400" dir="2700000" algn="tl" rotWithShape="0">
              <a:srgbClr val="00E5FF">
                <a:alpha val="40000"/>
              </a:srgbClr>
            </a:outerShdw>
          </a:effectLst>
        </p:spPr>
        <p:txBody>
          <a:bodyPr vert="horz" wrap="square" lIns="0" tIns="0" rIns="0" bIns="0" rtlCol="0" anchor="ctr" anchorCtr="0"/>
          <a:lstStyle/>
          <a:p>
            <a:pPr marL="0" indent="0" algn="ctr">
              <a:lnSpc>
                <a:spcPct val="125000"/>
              </a:lnSpc>
              <a:defRPr/>
            </a:pPr>
            <a:r>
              <a:rPr lang="zh-CN" altLang="en-US" sz="3200" b="1"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大</a:t>
            </a:r>
            <a:endParaRPr lang="zh-CN" altLang="en-US" sz="3200" b="1"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a:p>
            <a:pPr marL="0" indent="0" algn="ctr">
              <a:lnSpc>
                <a:spcPct val="125000"/>
              </a:lnSpc>
              <a:defRPr/>
            </a:pPr>
            <a:r>
              <a:rPr lang="zh-CN" altLang="en-US" sz="3200" b="1"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模</a:t>
            </a:r>
            <a:endParaRPr lang="zh-CN" altLang="en-US" sz="3200" b="1"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a:p>
            <a:pPr marL="0" indent="0" algn="ctr">
              <a:lnSpc>
                <a:spcPct val="125000"/>
              </a:lnSpc>
              <a:defRPr/>
            </a:pPr>
            <a:r>
              <a:rPr lang="zh-CN" altLang="en-US" sz="3200" b="1"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型</a:t>
            </a:r>
            <a:endParaRPr lang="zh-CN" altLang="en-US" sz="3200" b="1"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a:p>
            <a:pPr marL="0" indent="0" algn="ctr">
              <a:lnSpc>
                <a:spcPct val="125000"/>
              </a:lnSpc>
              <a:defRPr/>
            </a:pPr>
            <a:r>
              <a:rPr lang="zh-CN" altLang="en-US" sz="3200" b="1"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产</a:t>
            </a:r>
            <a:endParaRPr lang="zh-CN" altLang="en-US" sz="3200" b="1"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a:p>
            <a:pPr marL="0" indent="0" algn="ctr">
              <a:lnSpc>
                <a:spcPct val="125000"/>
              </a:lnSpc>
              <a:defRPr/>
            </a:pPr>
            <a:r>
              <a:rPr lang="zh-CN" altLang="en-US" sz="3200" b="1"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品</a:t>
            </a:r>
            <a:endParaRPr lang="zh-CN" altLang="en-US" sz="3200" b="1"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p:txBody>
      </p:sp>
      <p:grpSp>
        <p:nvGrpSpPr>
          <p:cNvPr id="17" name="组合 16"/>
          <p:cNvGrpSpPr/>
          <p:nvPr/>
        </p:nvGrpSpPr>
        <p:grpSpPr>
          <a:xfrm>
            <a:off x="4561205" y="1752600"/>
            <a:ext cx="5400040" cy="431800"/>
            <a:chOff x="7140" y="2760"/>
            <a:chExt cx="8504" cy="680"/>
          </a:xfrm>
        </p:grpSpPr>
        <p:sp>
          <p:nvSpPr>
            <p:cNvPr id="10"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11" name="AutoShape 7"/>
            <p:cNvSpPr/>
            <p:nvPr/>
          </p:nvSpPr>
          <p:spPr>
            <a:xfrm>
              <a:off x="7140" y="2760"/>
              <a:ext cx="85" cy="680"/>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sp>
          <p:nvSpPr>
            <p:cNvPr id="13" name="文本框 12"/>
            <p:cNvSpPr txBox="1"/>
            <p:nvPr/>
          </p:nvSpPr>
          <p:spPr>
            <a:xfrm>
              <a:off x="7140" y="2760"/>
              <a:ext cx="850" cy="680"/>
            </a:xfrm>
            <a:prstGeom prst="rect">
              <a:avLst/>
            </a:prstGeom>
            <a:noFill/>
          </p:spPr>
          <p:txBody>
            <a:bodyPr wrap="square" rtlCol="0" anchor="ctr" anchorCtr="0">
              <a:noAutofit/>
            </a:bodyPr>
            <a:lstStyle/>
            <a:p>
              <a:pPr algn="ctr"/>
              <a:r>
                <a:rPr lang="en-US" b="1" kern="0">
                  <a:solidFill>
                    <a:srgbClr val="69F0AE"/>
                  </a:solidFill>
                  <a:latin typeface="Noto Sans SC" panose="020B0200000000000000" charset="-122"/>
                  <a:ea typeface="Noto Sans SC" panose="020B0200000000000000" charset="-122"/>
                  <a:cs typeface="Noto Sans SC" panose="020B0200000000000000" charset="-122"/>
                </a:rPr>
                <a:t>01</a:t>
              </a:r>
              <a:endParaRPr lang="en-US" b="1" kern="0">
                <a:solidFill>
                  <a:srgbClr val="69F0AE"/>
                </a:solidFill>
                <a:latin typeface="Noto Sans SC" panose="020B0200000000000000" charset="-122"/>
                <a:ea typeface="Noto Sans SC" panose="020B0200000000000000" charset="-122"/>
                <a:cs typeface="Noto Sans SC" panose="020B0200000000000000" charset="-122"/>
              </a:endParaRPr>
            </a:p>
          </p:txBody>
        </p:sp>
        <p:sp>
          <p:nvSpPr>
            <p:cNvPr id="15" name="文本框 14"/>
            <p:cNvSpPr txBox="1"/>
            <p:nvPr/>
          </p:nvSpPr>
          <p:spPr>
            <a:xfrm>
              <a:off x="7990" y="2760"/>
              <a:ext cx="7654" cy="680"/>
            </a:xfrm>
            <a:prstGeom prst="rect">
              <a:avLst/>
            </a:prstGeom>
            <a:noFill/>
          </p:spPr>
          <p:txBody>
            <a:bodyPr wrap="square" rtlCol="0" anchor="ctr" anchorCtr="0">
              <a:noAutofit/>
            </a:bodyPr>
            <a:lstStyle/>
            <a:p>
              <a:pPr algn="ctr"/>
              <a:r>
                <a:rPr lang="zh-CN" altLang="en-US" b="1" kern="0">
                  <a:solidFill>
                    <a:srgbClr val="69F0AE"/>
                  </a:solidFill>
                  <a:latin typeface="Noto Sans SC" panose="020B0200000000000000" charset="-122"/>
                  <a:ea typeface="Noto Sans SC" panose="020B0200000000000000" charset="-122"/>
                  <a:cs typeface="Noto Sans SC" panose="020B0200000000000000" charset="-122"/>
                </a:rPr>
                <a:t>AI产品定位和介绍</a:t>
              </a:r>
              <a:endParaRPr lang="zh-CN" altLang="en-US" b="1" kern="0">
                <a:solidFill>
                  <a:srgbClr val="69F0AE"/>
                </a:solidFill>
                <a:latin typeface="Noto Sans SC" panose="020B0200000000000000" charset="-122"/>
                <a:ea typeface="Noto Sans SC" panose="020B0200000000000000" charset="-122"/>
                <a:cs typeface="Noto Sans SC" panose="020B0200000000000000" charset="-122"/>
              </a:endParaRPr>
            </a:p>
          </p:txBody>
        </p:sp>
      </p:grpSp>
      <p:grpSp>
        <p:nvGrpSpPr>
          <p:cNvPr id="18" name="组合 17"/>
          <p:cNvGrpSpPr/>
          <p:nvPr/>
        </p:nvGrpSpPr>
        <p:grpSpPr>
          <a:xfrm>
            <a:off x="4561205" y="3975100"/>
            <a:ext cx="5400040" cy="431800"/>
            <a:chOff x="7140" y="2760"/>
            <a:chExt cx="8504" cy="680"/>
          </a:xfrm>
        </p:grpSpPr>
        <p:sp>
          <p:nvSpPr>
            <p:cNvPr id="19" name="AutoShape 6"/>
            <p:cNvSpPr/>
            <p:nvPr/>
          </p:nvSpPr>
          <p:spPr>
            <a:xfrm>
              <a:off x="7140" y="2760"/>
              <a:ext cx="8504" cy="680"/>
            </a:xfrm>
            <a:prstGeom prst="roundRect">
              <a:avLst>
                <a:gd name="adj" fmla="val 0"/>
              </a:avLst>
            </a:prstGeom>
            <a:solidFill>
              <a:srgbClr val="FFE3B1">
                <a:alpha val="8000"/>
              </a:srgbClr>
            </a:solidFill>
            <a:ln w="12700" cap="flat" cmpd="sng">
              <a:solidFill>
                <a:srgbClr val="FFE3B1">
                  <a:alpha val="40000"/>
                </a:srgbClr>
              </a:solidFill>
              <a:prstDash val="solid"/>
              <a:round/>
            </a:ln>
          </p:spPr>
          <p:txBody>
            <a:bodyPr vert="horz" wrap="square" lIns="63500" tIns="63500" rIns="63500" bIns="63500" rtlCol="0" anchor="ctr"/>
            <a:lstStyle/>
            <a:p>
              <a:pPr algn="ctr">
                <a:defRPr/>
              </a:pPr>
              <a:endParaRPr>
                <a:solidFill>
                  <a:schemeClr val="bg1">
                    <a:lumMod val="50000"/>
                  </a:schemeClr>
                </a:solidFill>
              </a:endParaRPr>
            </a:p>
          </p:txBody>
        </p:sp>
        <p:sp>
          <p:nvSpPr>
            <p:cNvPr id="20" name="AutoShape 7"/>
            <p:cNvSpPr/>
            <p:nvPr/>
          </p:nvSpPr>
          <p:spPr>
            <a:xfrm>
              <a:off x="7140" y="2760"/>
              <a:ext cx="85" cy="680"/>
            </a:xfrm>
            <a:prstGeom prst="roundRect">
              <a:avLst>
                <a:gd name="adj" fmla="val 0"/>
              </a:avLst>
            </a:prstGeom>
            <a:solidFill>
              <a:srgbClr val="FFE3B1"/>
            </a:solidFill>
            <a:ln w="25400" cap="flat" cmpd="sng">
              <a:noFill/>
              <a:prstDash val="solid"/>
              <a:round/>
            </a:ln>
          </p:spPr>
          <p:txBody>
            <a:bodyPr vert="horz" wrap="square" lIns="63500" tIns="63500" rIns="63500" bIns="63500" rtlCol="0" anchor="ctr"/>
            <a:lstStyle/>
            <a:p>
              <a:pPr algn="ctr">
                <a:defRPr/>
              </a:pPr>
              <a:endParaRPr>
                <a:solidFill>
                  <a:schemeClr val="bg1">
                    <a:lumMod val="50000"/>
                  </a:schemeClr>
                </a:solidFill>
              </a:endParaRPr>
            </a:p>
          </p:txBody>
        </p:sp>
        <p:sp>
          <p:nvSpPr>
            <p:cNvPr id="21" name="文本框 20"/>
            <p:cNvSpPr txBox="1"/>
            <p:nvPr/>
          </p:nvSpPr>
          <p:spPr>
            <a:xfrm>
              <a:off x="7140" y="2760"/>
              <a:ext cx="850" cy="680"/>
            </a:xfrm>
            <a:prstGeom prst="rect">
              <a:avLst/>
            </a:prstGeom>
            <a:noFill/>
          </p:spPr>
          <p:txBody>
            <a:bodyPr wrap="square" rtlCol="0" anchor="ctr" anchorCtr="0">
              <a:noAutofit/>
            </a:bodyPr>
            <a:lstStyle/>
            <a:p>
              <a:pPr algn="ctr"/>
              <a:r>
                <a:rPr lang="en-US" b="1" kern="0">
                  <a:solidFill>
                    <a:srgbClr val="FFE3B1"/>
                  </a:solidFill>
                  <a:latin typeface="Noto Sans SC" panose="020B0200000000000000" charset="-122"/>
                  <a:ea typeface="Noto Sans SC" panose="020B0200000000000000" charset="-122"/>
                  <a:cs typeface="Noto Sans SC" panose="020B0200000000000000" charset="-122"/>
                </a:rPr>
                <a:t>05</a:t>
              </a:r>
              <a:endParaRPr lang="en-US" b="1" kern="0">
                <a:solidFill>
                  <a:srgbClr val="FFE3B1"/>
                </a:solidFill>
                <a:latin typeface="Noto Sans SC" panose="020B0200000000000000" charset="-122"/>
                <a:ea typeface="Noto Sans SC" panose="020B0200000000000000" charset="-122"/>
                <a:cs typeface="Noto Sans SC" panose="020B0200000000000000" charset="-122"/>
              </a:endParaRPr>
            </a:p>
          </p:txBody>
        </p:sp>
        <p:sp>
          <p:nvSpPr>
            <p:cNvPr id="22" name="文本框 21"/>
            <p:cNvSpPr txBox="1"/>
            <p:nvPr/>
          </p:nvSpPr>
          <p:spPr>
            <a:xfrm>
              <a:off x="7990" y="2760"/>
              <a:ext cx="7654" cy="680"/>
            </a:xfrm>
            <a:prstGeom prst="rect">
              <a:avLst/>
            </a:prstGeom>
            <a:noFill/>
          </p:spPr>
          <p:txBody>
            <a:bodyPr wrap="square" rtlCol="0" anchor="ctr" anchorCtr="0">
              <a:noAutofit/>
            </a:bodyPr>
            <a:lstStyle/>
            <a:p>
              <a:pPr algn="ctr"/>
              <a:r>
                <a:rPr lang="zh-CN" altLang="en-US" b="1" kern="0">
                  <a:solidFill>
                    <a:srgbClr val="FFE3B1"/>
                  </a:solidFill>
                  <a:latin typeface="Noto Sans SC" panose="020B0200000000000000" charset="-122"/>
                  <a:ea typeface="Noto Sans SC" panose="020B0200000000000000" charset="-122"/>
                  <a:cs typeface="Noto Sans SC" panose="020B0200000000000000" charset="-122"/>
                </a:rPr>
                <a:t>大模型的训练、选型与评估</a:t>
              </a:r>
              <a:endParaRPr lang="zh-CN" altLang="en-US" b="1" kern="0">
                <a:solidFill>
                  <a:srgbClr val="FFE3B1"/>
                </a:solidFill>
                <a:latin typeface="Noto Sans SC" panose="020B0200000000000000" charset="-122"/>
                <a:ea typeface="Noto Sans SC" panose="020B0200000000000000" charset="-122"/>
                <a:cs typeface="Noto Sans SC" panose="020B0200000000000000" charset="-122"/>
              </a:endParaRPr>
            </a:p>
          </p:txBody>
        </p:sp>
      </p:grpSp>
      <p:grpSp>
        <p:nvGrpSpPr>
          <p:cNvPr id="23" name="组合 22"/>
          <p:cNvGrpSpPr/>
          <p:nvPr/>
        </p:nvGrpSpPr>
        <p:grpSpPr>
          <a:xfrm>
            <a:off x="4561205" y="5086350"/>
            <a:ext cx="5400040" cy="431800"/>
            <a:chOff x="7140" y="2760"/>
            <a:chExt cx="8504" cy="680"/>
          </a:xfrm>
        </p:grpSpPr>
        <p:sp>
          <p:nvSpPr>
            <p:cNvPr id="24" name="AutoShape 6"/>
            <p:cNvSpPr/>
            <p:nvPr/>
          </p:nvSpPr>
          <p:spPr>
            <a:xfrm>
              <a:off x="7140" y="2760"/>
              <a:ext cx="8504" cy="680"/>
            </a:xfrm>
            <a:prstGeom prst="roundRect">
              <a:avLst>
                <a:gd name="adj" fmla="val 0"/>
              </a:avLst>
            </a:prstGeom>
            <a:solidFill>
              <a:schemeClr val="bg1">
                <a:lumMod val="50000"/>
                <a:alpha val="8000"/>
              </a:schemeClr>
            </a:solidFill>
            <a:ln w="12700" cap="flat" cmpd="sng">
              <a:solidFill>
                <a:schemeClr val="bg1">
                  <a:lumMod val="50000"/>
                  <a:alpha val="40000"/>
                </a:schemeClr>
              </a:solidFill>
              <a:prstDash val="solid"/>
              <a:round/>
            </a:ln>
          </p:spPr>
          <p:txBody>
            <a:bodyPr vert="horz" wrap="square" lIns="63500" tIns="63500" rIns="63500" bIns="63500" rtlCol="0" anchor="ctr"/>
            <a:lstStyle/>
            <a:p>
              <a:pPr algn="ctr">
                <a:defRPr/>
              </a:pPr>
              <a:endParaRPr>
                <a:solidFill>
                  <a:schemeClr val="bg1">
                    <a:lumMod val="50000"/>
                  </a:schemeClr>
                </a:solidFill>
              </a:endParaRPr>
            </a:p>
          </p:txBody>
        </p:sp>
        <p:sp>
          <p:nvSpPr>
            <p:cNvPr id="25" name="AutoShape 7"/>
            <p:cNvSpPr/>
            <p:nvPr/>
          </p:nvSpPr>
          <p:spPr>
            <a:xfrm>
              <a:off x="7140" y="2760"/>
              <a:ext cx="85" cy="680"/>
            </a:xfrm>
            <a:prstGeom prst="roundRect">
              <a:avLst>
                <a:gd name="adj" fmla="val 0"/>
              </a:avLst>
            </a:prstGeom>
            <a:solidFill>
              <a:schemeClr val="bg1">
                <a:lumMod val="50000"/>
              </a:schemeClr>
            </a:solidFill>
            <a:ln w="25400" cap="flat" cmpd="sng">
              <a:noFill/>
              <a:prstDash val="solid"/>
              <a:round/>
            </a:ln>
          </p:spPr>
          <p:txBody>
            <a:bodyPr vert="horz" wrap="square" lIns="63500" tIns="63500" rIns="63500" bIns="63500" rtlCol="0" anchor="ctr"/>
            <a:lstStyle/>
            <a:p>
              <a:pPr algn="ctr">
                <a:defRPr/>
              </a:pPr>
              <a:endParaRPr>
                <a:solidFill>
                  <a:schemeClr val="bg1">
                    <a:lumMod val="50000"/>
                  </a:schemeClr>
                </a:solidFill>
              </a:endParaRPr>
            </a:p>
          </p:txBody>
        </p:sp>
        <p:sp>
          <p:nvSpPr>
            <p:cNvPr id="26" name="文本框 25"/>
            <p:cNvSpPr txBox="1"/>
            <p:nvPr/>
          </p:nvSpPr>
          <p:spPr>
            <a:xfrm>
              <a:off x="7140" y="2760"/>
              <a:ext cx="850" cy="680"/>
            </a:xfrm>
            <a:prstGeom prst="rect">
              <a:avLst/>
            </a:prstGeom>
            <a:noFill/>
          </p:spPr>
          <p:txBody>
            <a:bodyPr wrap="square" rtlCol="0" anchor="ctr" anchorCtr="0">
              <a:noAutofit/>
            </a:bodyPr>
            <a:lstStyle/>
            <a:p>
              <a:pPr algn="ctr"/>
              <a:r>
                <a:rPr lang="en-US" b="1" kern="0">
                  <a:solidFill>
                    <a:schemeClr val="bg1">
                      <a:lumMod val="50000"/>
                    </a:schemeClr>
                  </a:solidFill>
                  <a:latin typeface="Noto Sans SC" panose="020B0200000000000000" charset="-122"/>
                  <a:ea typeface="Noto Sans SC" panose="020B0200000000000000" charset="-122"/>
                  <a:cs typeface="Noto Sans SC" panose="020B0200000000000000" charset="-122"/>
                </a:rPr>
                <a:t>07</a:t>
              </a:r>
              <a:endParaRPr lang="en-US" b="1" kern="0">
                <a:solidFill>
                  <a:schemeClr val="bg1">
                    <a:lumMod val="50000"/>
                  </a:schemeClr>
                </a:solidFill>
                <a:latin typeface="Noto Sans SC" panose="020B0200000000000000" charset="-122"/>
                <a:ea typeface="Noto Sans SC" panose="020B0200000000000000" charset="-122"/>
                <a:cs typeface="Noto Sans SC" panose="020B0200000000000000" charset="-122"/>
              </a:endParaRPr>
            </a:p>
          </p:txBody>
        </p:sp>
        <p:sp>
          <p:nvSpPr>
            <p:cNvPr id="27" name="文本框 26"/>
            <p:cNvSpPr txBox="1"/>
            <p:nvPr/>
          </p:nvSpPr>
          <p:spPr>
            <a:xfrm>
              <a:off x="7990" y="2760"/>
              <a:ext cx="7654" cy="680"/>
            </a:xfrm>
            <a:prstGeom prst="rect">
              <a:avLst/>
            </a:prstGeom>
            <a:noFill/>
          </p:spPr>
          <p:txBody>
            <a:bodyPr wrap="square" rtlCol="0" anchor="ctr" anchorCtr="0">
              <a:noAutofit/>
            </a:bodyPr>
            <a:lstStyle/>
            <a:p>
              <a:pPr algn="ctr"/>
              <a:r>
                <a:rPr lang="zh-CN" altLang="en-US" b="1" kern="0">
                  <a:solidFill>
                    <a:schemeClr val="bg1">
                      <a:lumMod val="50000"/>
                    </a:schemeClr>
                  </a:solidFill>
                  <a:latin typeface="Noto Sans SC" panose="020B0200000000000000" charset="-122"/>
                  <a:ea typeface="Noto Sans SC" panose="020B0200000000000000" charset="-122"/>
                  <a:cs typeface="Noto Sans SC" panose="020B0200000000000000" charset="-122"/>
                </a:rPr>
                <a:t>大模型的思维提示、智能体与工具</a:t>
              </a:r>
              <a:endParaRPr lang="zh-CN" altLang="en-US" b="1" kern="0">
                <a:solidFill>
                  <a:schemeClr val="bg1">
                    <a:lumMod val="50000"/>
                  </a:schemeClr>
                </a:solidFill>
                <a:latin typeface="Noto Sans SC" panose="020B0200000000000000" charset="-122"/>
                <a:ea typeface="Noto Sans SC" panose="020B0200000000000000" charset="-122"/>
                <a:cs typeface="Noto Sans SC" panose="020B0200000000000000" charset="-122"/>
              </a:endParaRPr>
            </a:p>
          </p:txBody>
        </p:sp>
      </p:grpSp>
      <p:grpSp>
        <p:nvGrpSpPr>
          <p:cNvPr id="28" name="组合 27"/>
          <p:cNvGrpSpPr/>
          <p:nvPr/>
        </p:nvGrpSpPr>
        <p:grpSpPr>
          <a:xfrm>
            <a:off x="4561205" y="2308225"/>
            <a:ext cx="5400040" cy="431800"/>
            <a:chOff x="7140" y="2760"/>
            <a:chExt cx="8504" cy="680"/>
          </a:xfrm>
        </p:grpSpPr>
        <p:sp>
          <p:nvSpPr>
            <p:cNvPr id="29"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30" name="AutoShape 7"/>
            <p:cNvSpPr/>
            <p:nvPr/>
          </p:nvSpPr>
          <p:spPr>
            <a:xfrm>
              <a:off x="7140" y="2760"/>
              <a:ext cx="85" cy="680"/>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sp>
          <p:nvSpPr>
            <p:cNvPr id="31" name="文本框 30"/>
            <p:cNvSpPr txBox="1"/>
            <p:nvPr/>
          </p:nvSpPr>
          <p:spPr>
            <a:xfrm>
              <a:off x="7140" y="2760"/>
              <a:ext cx="850" cy="680"/>
            </a:xfrm>
            <a:prstGeom prst="rect">
              <a:avLst/>
            </a:prstGeom>
            <a:noFill/>
          </p:spPr>
          <p:txBody>
            <a:bodyPr wrap="square" rtlCol="0" anchor="ctr" anchorCtr="0">
              <a:noAutofit/>
            </a:bodyPr>
            <a:lstStyle/>
            <a:p>
              <a:pPr algn="ctr"/>
              <a:r>
                <a:rPr lang="en-US" b="1" kern="0">
                  <a:solidFill>
                    <a:srgbClr val="69F0AE"/>
                  </a:solidFill>
                  <a:latin typeface="Noto Sans SC" panose="020B0200000000000000" charset="-122"/>
                  <a:ea typeface="Noto Sans SC" panose="020B0200000000000000" charset="-122"/>
                  <a:cs typeface="Noto Sans SC" panose="020B0200000000000000" charset="-122"/>
                </a:rPr>
                <a:t>02</a:t>
              </a:r>
              <a:endParaRPr lang="en-US" b="1" kern="0">
                <a:solidFill>
                  <a:srgbClr val="69F0AE"/>
                </a:solidFill>
                <a:latin typeface="Noto Sans SC" panose="020B0200000000000000" charset="-122"/>
                <a:ea typeface="Noto Sans SC" panose="020B0200000000000000" charset="-122"/>
                <a:cs typeface="Noto Sans SC" panose="020B0200000000000000" charset="-122"/>
              </a:endParaRPr>
            </a:p>
          </p:txBody>
        </p:sp>
        <p:sp>
          <p:nvSpPr>
            <p:cNvPr id="32" name="文本框 31"/>
            <p:cNvSpPr txBox="1"/>
            <p:nvPr/>
          </p:nvSpPr>
          <p:spPr>
            <a:xfrm>
              <a:off x="7990" y="2760"/>
              <a:ext cx="7654" cy="680"/>
            </a:xfrm>
            <a:prstGeom prst="rect">
              <a:avLst/>
            </a:prstGeom>
            <a:noFill/>
          </p:spPr>
          <p:txBody>
            <a:bodyPr wrap="square" rtlCol="0" anchor="ctr" anchorCtr="0">
              <a:noAutofit/>
            </a:bodyPr>
            <a:lstStyle/>
            <a:p>
              <a:pPr algn="ctr"/>
              <a:r>
                <a:rPr lang="zh-CN" altLang="en-US" b="1" kern="0">
                  <a:solidFill>
                    <a:srgbClr val="69F0AE"/>
                  </a:solidFill>
                  <a:latin typeface="Noto Sans SC" panose="020B0200000000000000" charset="-122"/>
                  <a:ea typeface="Noto Sans SC" panose="020B0200000000000000" charset="-122"/>
                  <a:cs typeface="Noto Sans SC" panose="020B0200000000000000" charset="-122"/>
                </a:rPr>
                <a:t>大模型的生成机制</a:t>
              </a:r>
              <a:endParaRPr lang="zh-CN" altLang="en-US" b="1" kern="0">
                <a:solidFill>
                  <a:srgbClr val="69F0AE"/>
                </a:solidFill>
                <a:latin typeface="Noto Sans SC" panose="020B0200000000000000" charset="-122"/>
                <a:ea typeface="Noto Sans SC" panose="020B0200000000000000" charset="-122"/>
                <a:cs typeface="Noto Sans SC" panose="020B0200000000000000" charset="-122"/>
              </a:endParaRPr>
            </a:p>
          </p:txBody>
        </p:sp>
      </p:grpSp>
      <p:grpSp>
        <p:nvGrpSpPr>
          <p:cNvPr id="33" name="组合 32"/>
          <p:cNvGrpSpPr/>
          <p:nvPr/>
        </p:nvGrpSpPr>
        <p:grpSpPr>
          <a:xfrm>
            <a:off x="4561205" y="2863850"/>
            <a:ext cx="5400040" cy="431800"/>
            <a:chOff x="7140" y="2760"/>
            <a:chExt cx="8504" cy="680"/>
          </a:xfrm>
        </p:grpSpPr>
        <p:sp>
          <p:nvSpPr>
            <p:cNvPr id="34"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35" name="AutoShape 7"/>
            <p:cNvSpPr/>
            <p:nvPr/>
          </p:nvSpPr>
          <p:spPr>
            <a:xfrm>
              <a:off x="7140" y="2760"/>
              <a:ext cx="85" cy="680"/>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sp>
          <p:nvSpPr>
            <p:cNvPr id="36" name="文本框 35"/>
            <p:cNvSpPr txBox="1"/>
            <p:nvPr/>
          </p:nvSpPr>
          <p:spPr>
            <a:xfrm>
              <a:off x="7140" y="2760"/>
              <a:ext cx="850" cy="680"/>
            </a:xfrm>
            <a:prstGeom prst="rect">
              <a:avLst/>
            </a:prstGeom>
            <a:noFill/>
          </p:spPr>
          <p:txBody>
            <a:bodyPr wrap="square" rtlCol="0" anchor="ctr" anchorCtr="0">
              <a:noAutofit/>
            </a:bodyPr>
            <a:lstStyle/>
            <a:p>
              <a:pPr algn="ctr"/>
              <a:r>
                <a:rPr lang="en-US" b="1" kern="0">
                  <a:solidFill>
                    <a:srgbClr val="69F0AE"/>
                  </a:solidFill>
                  <a:latin typeface="Noto Sans SC" panose="020B0200000000000000" charset="-122"/>
                  <a:ea typeface="Noto Sans SC" panose="020B0200000000000000" charset="-122"/>
                  <a:cs typeface="Noto Sans SC" panose="020B0200000000000000" charset="-122"/>
                </a:rPr>
                <a:t>03</a:t>
              </a:r>
              <a:endParaRPr lang="en-US" b="1" kern="0">
                <a:solidFill>
                  <a:srgbClr val="69F0AE"/>
                </a:solidFill>
                <a:latin typeface="Noto Sans SC" panose="020B0200000000000000" charset="-122"/>
                <a:ea typeface="Noto Sans SC" panose="020B0200000000000000" charset="-122"/>
                <a:cs typeface="Noto Sans SC" panose="020B0200000000000000" charset="-122"/>
              </a:endParaRPr>
            </a:p>
          </p:txBody>
        </p:sp>
        <p:sp>
          <p:nvSpPr>
            <p:cNvPr id="37" name="文本框 36"/>
            <p:cNvSpPr txBox="1"/>
            <p:nvPr/>
          </p:nvSpPr>
          <p:spPr>
            <a:xfrm>
              <a:off x="7990" y="2760"/>
              <a:ext cx="7654" cy="680"/>
            </a:xfrm>
            <a:prstGeom prst="rect">
              <a:avLst/>
            </a:prstGeom>
            <a:noFill/>
          </p:spPr>
          <p:txBody>
            <a:bodyPr wrap="square" rtlCol="0" anchor="ctr" anchorCtr="0">
              <a:noAutofit/>
            </a:bodyPr>
            <a:lstStyle/>
            <a:p>
              <a:pPr algn="ctr"/>
              <a:r>
                <a:rPr lang="en-US" altLang="zh-CN" b="1" kern="0">
                  <a:solidFill>
                    <a:srgbClr val="69F0AE"/>
                  </a:solidFill>
                  <a:latin typeface="Noto Sans SC" panose="020B0200000000000000" charset="-122"/>
                  <a:ea typeface="Noto Sans SC" panose="020B0200000000000000" charset="-122"/>
                  <a:cs typeface="Noto Sans SC" panose="020B0200000000000000" charset="-122"/>
                </a:rPr>
                <a:t>Token</a:t>
              </a:r>
              <a:r>
                <a:rPr lang="zh-CN" altLang="en-US" b="1" kern="0">
                  <a:solidFill>
                    <a:srgbClr val="69F0AE"/>
                  </a:solidFill>
                  <a:latin typeface="Noto Sans SC" panose="020B0200000000000000" charset="-122"/>
                  <a:ea typeface="Noto Sans SC" panose="020B0200000000000000" charset="-122"/>
                  <a:cs typeface="Noto Sans SC" panose="020B0200000000000000" charset="-122"/>
                </a:rPr>
                <a:t>、</a:t>
              </a:r>
              <a:r>
                <a:rPr lang="zh-CN" altLang="en-US" b="1" kern="0">
                  <a:solidFill>
                    <a:srgbClr val="69F0AE"/>
                  </a:solidFill>
                  <a:latin typeface="Noto Sans SC" panose="020B0200000000000000" charset="-122"/>
                  <a:ea typeface="SimSun" pitchFamily="2" charset="-122"/>
                  <a:cs typeface="Noto Sans SC" panose="020B0200000000000000" charset="-122"/>
                </a:rPr>
                <a:t>E</a:t>
              </a:r>
              <a:r>
                <a:rPr lang="en-US" altLang="zh-CN" b="1" kern="0">
                  <a:solidFill>
                    <a:srgbClr val="69F0AE"/>
                  </a:solidFill>
                  <a:latin typeface="Noto Sans SC" panose="020B0200000000000000" charset="-122"/>
                  <a:ea typeface="SimSun" pitchFamily="2" charset="-122"/>
                  <a:cs typeface="Noto Sans SC" panose="020B0200000000000000" charset="-122"/>
                </a:rPr>
                <a:t>m</a:t>
              </a:r>
              <a:r>
                <a:rPr lang="en-US" altLang="zh-CN" b="1" kern="0">
                  <a:solidFill>
                    <a:srgbClr val="69F0AE"/>
                  </a:solidFill>
                  <a:latin typeface="Noto Sans SC" panose="020B0200000000000000" charset="-122"/>
                  <a:ea typeface="Noto Sans SC" panose="020B0200000000000000" charset="-122"/>
                  <a:cs typeface="Noto Sans SC" panose="020B0200000000000000" charset="-122"/>
                </a:rPr>
                <a:t>bedding 和 RAG</a:t>
              </a:r>
              <a:endParaRPr lang="en-US" altLang="zh-CN" b="1" kern="0">
                <a:solidFill>
                  <a:srgbClr val="69F0AE"/>
                </a:solidFill>
                <a:latin typeface="Noto Sans SC" panose="020B0200000000000000" charset="-122"/>
                <a:ea typeface="Noto Sans SC" panose="020B0200000000000000" charset="-122"/>
                <a:cs typeface="Noto Sans SC" panose="020B0200000000000000" charset="-122"/>
              </a:endParaRPr>
            </a:p>
          </p:txBody>
        </p:sp>
      </p:grpSp>
      <p:grpSp>
        <p:nvGrpSpPr>
          <p:cNvPr id="38" name="组合 37"/>
          <p:cNvGrpSpPr/>
          <p:nvPr/>
        </p:nvGrpSpPr>
        <p:grpSpPr>
          <a:xfrm>
            <a:off x="4561205" y="3419475"/>
            <a:ext cx="5400040" cy="431800"/>
            <a:chOff x="7140" y="2760"/>
            <a:chExt cx="8504" cy="680"/>
          </a:xfrm>
        </p:grpSpPr>
        <p:sp>
          <p:nvSpPr>
            <p:cNvPr id="39"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endParaRPr>
                <a:solidFill>
                  <a:schemeClr val="bg1">
                    <a:lumMod val="50000"/>
                  </a:schemeClr>
                </a:solidFill>
              </a:endParaRPr>
            </a:p>
          </p:txBody>
        </p:sp>
        <p:sp>
          <p:nvSpPr>
            <p:cNvPr id="40" name="AutoShape 7"/>
            <p:cNvSpPr/>
            <p:nvPr/>
          </p:nvSpPr>
          <p:spPr>
            <a:xfrm>
              <a:off x="7140" y="2760"/>
              <a:ext cx="85" cy="680"/>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endParaRPr>
                <a:solidFill>
                  <a:schemeClr val="bg1">
                    <a:lumMod val="50000"/>
                  </a:schemeClr>
                </a:solidFill>
              </a:endParaRPr>
            </a:p>
          </p:txBody>
        </p:sp>
        <p:sp>
          <p:nvSpPr>
            <p:cNvPr id="41" name="文本框 40"/>
            <p:cNvSpPr txBox="1"/>
            <p:nvPr/>
          </p:nvSpPr>
          <p:spPr>
            <a:xfrm>
              <a:off x="7140" y="2760"/>
              <a:ext cx="850" cy="680"/>
            </a:xfrm>
            <a:prstGeom prst="rect">
              <a:avLst/>
            </a:prstGeom>
            <a:noFill/>
          </p:spPr>
          <p:txBody>
            <a:bodyPr wrap="square" rtlCol="0" anchor="ctr" anchorCtr="0">
              <a:noAutofit/>
            </a:bodyPr>
            <a:lstStyle/>
            <a:p>
              <a:pPr algn="ctr"/>
              <a:r>
                <a:rPr lang="en-US" b="1" kern="0">
                  <a:solidFill>
                    <a:srgbClr val="69F0AE"/>
                  </a:solidFill>
                  <a:latin typeface="Noto Sans SC" panose="020B0200000000000000" charset="-122"/>
                  <a:ea typeface="Noto Sans SC" panose="020B0200000000000000" charset="-122"/>
                  <a:cs typeface="Noto Sans SC" panose="020B0200000000000000" charset="-122"/>
                </a:rPr>
                <a:t>04</a:t>
              </a:r>
              <a:endParaRPr lang="en-US" b="1" kern="0">
                <a:solidFill>
                  <a:srgbClr val="69F0AE"/>
                </a:solidFill>
                <a:latin typeface="Noto Sans SC" panose="020B0200000000000000" charset="-122"/>
                <a:ea typeface="Noto Sans SC" panose="020B0200000000000000" charset="-122"/>
                <a:cs typeface="Noto Sans SC" panose="020B0200000000000000" charset="-122"/>
              </a:endParaRPr>
            </a:p>
          </p:txBody>
        </p:sp>
        <p:sp>
          <p:nvSpPr>
            <p:cNvPr id="42" name="文本框 41"/>
            <p:cNvSpPr txBox="1"/>
            <p:nvPr/>
          </p:nvSpPr>
          <p:spPr>
            <a:xfrm>
              <a:off x="7990" y="2760"/>
              <a:ext cx="7654" cy="680"/>
            </a:xfrm>
            <a:prstGeom prst="rect">
              <a:avLst/>
            </a:prstGeom>
            <a:noFill/>
          </p:spPr>
          <p:txBody>
            <a:bodyPr wrap="square" rtlCol="0" anchor="ctr" anchorCtr="0">
              <a:noAutofit/>
            </a:bodyPr>
            <a:lstStyle/>
            <a:p>
              <a:pPr algn="ctr"/>
              <a:r>
                <a:rPr lang="zh-CN" altLang="en-US" b="1" kern="0">
                  <a:solidFill>
                    <a:srgbClr val="69F0AE"/>
                  </a:solidFill>
                  <a:latin typeface="Noto Sans SC" panose="020B0200000000000000" charset="-122"/>
                  <a:ea typeface="Noto Sans SC" panose="020B0200000000000000" charset="-122"/>
                  <a:cs typeface="Noto Sans SC" panose="020B0200000000000000" charset="-122"/>
                </a:rPr>
                <a:t>Transformer、注意力、算力与缓存机制</a:t>
              </a:r>
              <a:endParaRPr lang="zh-CN" altLang="en-US" b="1" kern="0">
                <a:solidFill>
                  <a:srgbClr val="69F0AE"/>
                </a:solidFill>
                <a:latin typeface="Noto Sans SC" panose="020B0200000000000000" charset="-122"/>
                <a:ea typeface="Noto Sans SC" panose="020B0200000000000000" charset="-122"/>
                <a:cs typeface="Noto Sans SC" panose="020B0200000000000000" charset="-122"/>
              </a:endParaRPr>
            </a:p>
          </p:txBody>
        </p:sp>
      </p:grpSp>
      <p:grpSp>
        <p:nvGrpSpPr>
          <p:cNvPr id="43" name="组合 42"/>
          <p:cNvGrpSpPr/>
          <p:nvPr/>
        </p:nvGrpSpPr>
        <p:grpSpPr>
          <a:xfrm>
            <a:off x="4561205" y="4530725"/>
            <a:ext cx="5400040" cy="431800"/>
            <a:chOff x="7140" y="2760"/>
            <a:chExt cx="8504" cy="680"/>
          </a:xfrm>
        </p:grpSpPr>
        <p:sp>
          <p:nvSpPr>
            <p:cNvPr id="44" name="AutoShape 6"/>
            <p:cNvSpPr/>
            <p:nvPr/>
          </p:nvSpPr>
          <p:spPr>
            <a:xfrm>
              <a:off x="7140" y="2760"/>
              <a:ext cx="8504" cy="680"/>
            </a:xfrm>
            <a:prstGeom prst="roundRect">
              <a:avLst>
                <a:gd name="adj" fmla="val 0"/>
              </a:avLst>
            </a:prstGeom>
            <a:solidFill>
              <a:schemeClr val="bg1">
                <a:lumMod val="50000"/>
                <a:alpha val="8000"/>
              </a:schemeClr>
            </a:solidFill>
            <a:ln w="12700" cap="flat" cmpd="sng">
              <a:solidFill>
                <a:schemeClr val="bg1">
                  <a:lumMod val="50000"/>
                  <a:alpha val="40000"/>
                </a:schemeClr>
              </a:solidFill>
              <a:prstDash val="solid"/>
              <a:round/>
            </a:ln>
          </p:spPr>
          <p:txBody>
            <a:bodyPr vert="horz" wrap="square" lIns="63500" tIns="63500" rIns="63500" bIns="63500" rtlCol="0" anchor="ctr"/>
            <a:lstStyle/>
            <a:p>
              <a:pPr algn="ctr">
                <a:defRPr/>
              </a:pPr>
              <a:endParaRPr>
                <a:solidFill>
                  <a:schemeClr val="bg1">
                    <a:lumMod val="50000"/>
                  </a:schemeClr>
                </a:solidFill>
              </a:endParaRPr>
            </a:p>
          </p:txBody>
        </p:sp>
        <p:sp>
          <p:nvSpPr>
            <p:cNvPr id="45" name="AutoShape 7"/>
            <p:cNvSpPr/>
            <p:nvPr/>
          </p:nvSpPr>
          <p:spPr>
            <a:xfrm>
              <a:off x="7140" y="2760"/>
              <a:ext cx="85" cy="680"/>
            </a:xfrm>
            <a:prstGeom prst="roundRect">
              <a:avLst>
                <a:gd name="adj" fmla="val 0"/>
              </a:avLst>
            </a:prstGeom>
            <a:solidFill>
              <a:schemeClr val="bg1">
                <a:lumMod val="50000"/>
              </a:schemeClr>
            </a:solidFill>
            <a:ln w="25400" cap="flat" cmpd="sng">
              <a:noFill/>
              <a:prstDash val="solid"/>
              <a:round/>
            </a:ln>
          </p:spPr>
          <p:txBody>
            <a:bodyPr vert="horz" wrap="square" lIns="63500" tIns="63500" rIns="63500" bIns="63500" rtlCol="0" anchor="ctr"/>
            <a:lstStyle/>
            <a:p>
              <a:pPr algn="ctr">
                <a:defRPr/>
              </a:pPr>
              <a:endParaRPr>
                <a:solidFill>
                  <a:schemeClr val="bg1">
                    <a:lumMod val="50000"/>
                  </a:schemeClr>
                </a:solidFill>
              </a:endParaRPr>
            </a:p>
          </p:txBody>
        </p:sp>
        <p:sp>
          <p:nvSpPr>
            <p:cNvPr id="46" name="文本框 45"/>
            <p:cNvSpPr txBox="1"/>
            <p:nvPr/>
          </p:nvSpPr>
          <p:spPr>
            <a:xfrm>
              <a:off x="7140" y="2760"/>
              <a:ext cx="850" cy="680"/>
            </a:xfrm>
            <a:prstGeom prst="rect">
              <a:avLst/>
            </a:prstGeom>
            <a:noFill/>
          </p:spPr>
          <p:txBody>
            <a:bodyPr wrap="square" rtlCol="0" anchor="ctr" anchorCtr="0">
              <a:noAutofit/>
            </a:bodyPr>
            <a:lstStyle/>
            <a:p>
              <a:pPr algn="ctr"/>
              <a:r>
                <a:rPr lang="en-US" b="1" kern="0">
                  <a:solidFill>
                    <a:schemeClr val="bg1">
                      <a:lumMod val="50000"/>
                    </a:schemeClr>
                  </a:solidFill>
                  <a:latin typeface="Noto Sans SC" panose="020B0200000000000000" charset="-122"/>
                  <a:ea typeface="Noto Sans SC" panose="020B0200000000000000" charset="-122"/>
                  <a:cs typeface="Noto Sans SC" panose="020B0200000000000000" charset="-122"/>
                </a:rPr>
                <a:t>06</a:t>
              </a:r>
              <a:endParaRPr lang="en-US" b="1" kern="0">
                <a:solidFill>
                  <a:schemeClr val="bg1">
                    <a:lumMod val="50000"/>
                  </a:schemeClr>
                </a:solidFill>
                <a:latin typeface="Noto Sans SC" panose="020B0200000000000000" charset="-122"/>
                <a:ea typeface="Noto Sans SC" panose="020B0200000000000000" charset="-122"/>
                <a:cs typeface="Noto Sans SC" panose="020B0200000000000000" charset="-122"/>
              </a:endParaRPr>
            </a:p>
          </p:txBody>
        </p:sp>
        <p:sp>
          <p:nvSpPr>
            <p:cNvPr id="47" name="文本框 46"/>
            <p:cNvSpPr txBox="1"/>
            <p:nvPr/>
          </p:nvSpPr>
          <p:spPr>
            <a:xfrm>
              <a:off x="7990" y="2760"/>
              <a:ext cx="7654" cy="680"/>
            </a:xfrm>
            <a:prstGeom prst="rect">
              <a:avLst/>
            </a:prstGeom>
            <a:noFill/>
          </p:spPr>
          <p:txBody>
            <a:bodyPr wrap="square" rtlCol="0" anchor="ctr" anchorCtr="0">
              <a:noAutofit/>
            </a:bodyPr>
            <a:lstStyle/>
            <a:p>
              <a:pPr algn="ctr"/>
              <a:r>
                <a:rPr lang="zh-CN" altLang="en-US" b="1" kern="0">
                  <a:solidFill>
                    <a:schemeClr val="bg1">
                      <a:lumMod val="50000"/>
                    </a:schemeClr>
                  </a:solidFill>
                  <a:latin typeface="Noto Sans SC" panose="020B0200000000000000" charset="-122"/>
                  <a:ea typeface="Noto Sans SC" panose="020B0200000000000000" charset="-122"/>
                  <a:cs typeface="Noto Sans SC" panose="020B0200000000000000" charset="-122"/>
                </a:rPr>
                <a:t>提示词与提示词工程</a:t>
              </a:r>
              <a:endParaRPr lang="zh-CN" altLang="en-US" b="1" kern="0">
                <a:solidFill>
                  <a:schemeClr val="bg1">
                    <a:lumMod val="50000"/>
                  </a:schemeClr>
                </a:solidFill>
                <a:latin typeface="Noto Sans SC" panose="020B0200000000000000" charset="-122"/>
                <a:ea typeface="Noto Sans SC" panose="020B0200000000000000" charset="-122"/>
                <a:cs typeface="Noto Sans SC" panose="020B0200000000000000" charset="-122"/>
              </a:endParaRPr>
            </a:p>
          </p:txBody>
        </p:sp>
      </p:grpSp>
      <p:grpSp>
        <p:nvGrpSpPr>
          <p:cNvPr id="48" name="组合 47"/>
          <p:cNvGrpSpPr/>
          <p:nvPr/>
        </p:nvGrpSpPr>
        <p:grpSpPr>
          <a:xfrm>
            <a:off x="4561205" y="5641975"/>
            <a:ext cx="5400040" cy="431800"/>
            <a:chOff x="7140" y="2760"/>
            <a:chExt cx="8504" cy="680"/>
          </a:xfrm>
        </p:grpSpPr>
        <p:sp>
          <p:nvSpPr>
            <p:cNvPr id="49" name="AutoShape 6"/>
            <p:cNvSpPr/>
            <p:nvPr/>
          </p:nvSpPr>
          <p:spPr>
            <a:xfrm>
              <a:off x="7140" y="2760"/>
              <a:ext cx="8504" cy="680"/>
            </a:xfrm>
            <a:prstGeom prst="roundRect">
              <a:avLst>
                <a:gd name="adj" fmla="val 0"/>
              </a:avLst>
            </a:prstGeom>
            <a:solidFill>
              <a:schemeClr val="bg1">
                <a:lumMod val="50000"/>
                <a:alpha val="8000"/>
              </a:schemeClr>
            </a:solidFill>
            <a:ln w="12700" cap="flat" cmpd="sng">
              <a:solidFill>
                <a:schemeClr val="bg1">
                  <a:lumMod val="50000"/>
                  <a:alpha val="40000"/>
                </a:schemeClr>
              </a:solidFill>
              <a:prstDash val="solid"/>
              <a:round/>
            </a:ln>
          </p:spPr>
          <p:txBody>
            <a:bodyPr vert="horz" wrap="square" lIns="63500" tIns="63500" rIns="63500" bIns="63500" rtlCol="0" anchor="ctr"/>
            <a:lstStyle/>
            <a:p>
              <a:pPr algn="ctr">
                <a:defRPr/>
              </a:pPr>
              <a:endParaRPr>
                <a:solidFill>
                  <a:schemeClr val="bg1">
                    <a:lumMod val="50000"/>
                  </a:schemeClr>
                </a:solidFill>
              </a:endParaRPr>
            </a:p>
          </p:txBody>
        </p:sp>
        <p:sp>
          <p:nvSpPr>
            <p:cNvPr id="50" name="AutoShape 7"/>
            <p:cNvSpPr/>
            <p:nvPr/>
          </p:nvSpPr>
          <p:spPr>
            <a:xfrm>
              <a:off x="7140" y="2760"/>
              <a:ext cx="85" cy="680"/>
            </a:xfrm>
            <a:prstGeom prst="roundRect">
              <a:avLst>
                <a:gd name="adj" fmla="val 0"/>
              </a:avLst>
            </a:prstGeom>
            <a:solidFill>
              <a:schemeClr val="bg1">
                <a:lumMod val="50000"/>
              </a:schemeClr>
            </a:solidFill>
            <a:ln w="25400" cap="flat" cmpd="sng">
              <a:noFill/>
              <a:prstDash val="solid"/>
              <a:round/>
            </a:ln>
          </p:spPr>
          <p:txBody>
            <a:bodyPr vert="horz" wrap="square" lIns="63500" tIns="63500" rIns="63500" bIns="63500" rtlCol="0" anchor="ctr"/>
            <a:lstStyle/>
            <a:p>
              <a:pPr algn="ctr">
                <a:defRPr/>
              </a:pPr>
              <a:endParaRPr>
                <a:solidFill>
                  <a:schemeClr val="bg1">
                    <a:lumMod val="50000"/>
                  </a:schemeClr>
                </a:solidFill>
              </a:endParaRPr>
            </a:p>
          </p:txBody>
        </p:sp>
        <p:sp>
          <p:nvSpPr>
            <p:cNvPr id="51" name="文本框 50"/>
            <p:cNvSpPr txBox="1"/>
            <p:nvPr/>
          </p:nvSpPr>
          <p:spPr>
            <a:xfrm>
              <a:off x="7140" y="2760"/>
              <a:ext cx="850" cy="680"/>
            </a:xfrm>
            <a:prstGeom prst="rect">
              <a:avLst/>
            </a:prstGeom>
            <a:noFill/>
          </p:spPr>
          <p:txBody>
            <a:bodyPr wrap="square" rtlCol="0" anchor="ctr" anchorCtr="0">
              <a:noAutofit/>
            </a:bodyPr>
            <a:lstStyle/>
            <a:p>
              <a:pPr algn="ctr"/>
              <a:r>
                <a:rPr lang="en-US" b="1" kern="0">
                  <a:solidFill>
                    <a:schemeClr val="bg1">
                      <a:lumMod val="50000"/>
                    </a:schemeClr>
                  </a:solidFill>
                  <a:latin typeface="Noto Sans SC" panose="020B0200000000000000" charset="-122"/>
                  <a:ea typeface="Noto Sans SC" panose="020B0200000000000000" charset="-122"/>
                  <a:cs typeface="Noto Sans SC" panose="020B0200000000000000" charset="-122"/>
                </a:rPr>
                <a:t>08</a:t>
              </a:r>
              <a:endParaRPr lang="en-US" b="1" kern="0">
                <a:solidFill>
                  <a:schemeClr val="bg1">
                    <a:lumMod val="50000"/>
                  </a:schemeClr>
                </a:solidFill>
                <a:latin typeface="Noto Sans SC" panose="020B0200000000000000" charset="-122"/>
                <a:ea typeface="Noto Sans SC" panose="020B0200000000000000" charset="-122"/>
                <a:cs typeface="Noto Sans SC" panose="020B0200000000000000" charset="-122"/>
              </a:endParaRPr>
            </a:p>
          </p:txBody>
        </p:sp>
        <p:sp>
          <p:nvSpPr>
            <p:cNvPr id="52" name="文本框 51"/>
            <p:cNvSpPr txBox="1"/>
            <p:nvPr/>
          </p:nvSpPr>
          <p:spPr>
            <a:xfrm>
              <a:off x="7990" y="2760"/>
              <a:ext cx="7654" cy="680"/>
            </a:xfrm>
            <a:prstGeom prst="rect">
              <a:avLst/>
            </a:prstGeom>
            <a:noFill/>
          </p:spPr>
          <p:txBody>
            <a:bodyPr wrap="square" rtlCol="0" anchor="ctr" anchorCtr="0">
              <a:noAutofit/>
            </a:bodyPr>
            <a:lstStyle/>
            <a:p>
              <a:pPr algn="ctr"/>
              <a:r>
                <a:rPr lang="zh-CN" altLang="en-US" b="1" kern="0">
                  <a:solidFill>
                    <a:schemeClr val="bg1">
                      <a:lumMod val="50000"/>
                    </a:schemeClr>
                  </a:solidFill>
                  <a:latin typeface="Noto Sans SC" panose="020B0200000000000000" charset="-122"/>
                  <a:ea typeface="Noto Sans SC" panose="020B0200000000000000" charset="-122"/>
                  <a:cs typeface="Noto Sans SC" panose="020B0200000000000000" charset="-122"/>
                </a:rPr>
                <a:t>智能体记忆、技能与案例</a:t>
              </a:r>
              <a:endParaRPr lang="zh-CN" altLang="en-US" b="1" kern="0">
                <a:solidFill>
                  <a:schemeClr val="bg1">
                    <a:lumMod val="50000"/>
                  </a:schemeClr>
                </a:solidFill>
                <a:latin typeface="Noto Sans SC" panose="020B0200000000000000" charset="-122"/>
                <a:ea typeface="Noto Sans SC" panose="020B0200000000000000" charset="-122"/>
                <a:cs typeface="Noto Sans SC" panose="020B0200000000000000" charset="-122"/>
              </a:endParaRPr>
            </a:p>
          </p:txBody>
        </p:sp>
      </p:grpSp>
      <p:sp>
        <p:nvSpPr>
          <p:cNvPr id="3" name="AutoShape 6"/>
          <p:cNvSpPr/>
          <p:nvPr/>
        </p:nvSpPr>
        <p:spPr>
          <a:xfrm>
            <a:off x="3395980" y="1753235"/>
            <a:ext cx="899795" cy="2653665"/>
          </a:xfrm>
          <a:prstGeom prst="roundRect">
            <a:avLst>
              <a:gd name="adj" fmla="val 0"/>
            </a:avLst>
          </a:prstGeom>
          <a:solidFill>
            <a:srgbClr val="B388FF">
              <a:alpha val="8000"/>
            </a:srgbClr>
          </a:solidFill>
          <a:ln w="25400" cap="flat" cmpd="sng">
            <a:solidFill>
              <a:srgbClr val="B388FF">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lstStyle/>
          <a:p>
            <a:pPr marL="0" indent="0" algn="ctr">
              <a:lnSpc>
                <a:spcPct val="125000"/>
              </a:lnSpc>
              <a:defRPr/>
            </a:pPr>
            <a:r>
              <a:rPr lang="zh-CN" altLang="en-US" sz="2400" b="1" i="0" u="none" strike="noStrike">
                <a:solidFill>
                  <a:srgbClr val="FFFFFF"/>
                </a:solidFill>
                <a:latin typeface="Noto Sans SC"/>
                <a:ea typeface="SimSun" charset="0"/>
                <a:cs typeface="Noto Sans SC"/>
                <a:sym typeface="Noto Sans SC"/>
              </a:rPr>
              <a:t>模型</a:t>
            </a:r>
            <a:endParaRPr lang="zh-CN" altLang="en-US" sz="2400" b="1" i="0" u="none" strike="noStrike">
              <a:solidFill>
                <a:srgbClr val="FFFFFF"/>
              </a:solidFill>
              <a:latin typeface="Noto Sans SC"/>
              <a:ea typeface="SimSun" charset="0"/>
              <a:cs typeface="Noto Sans SC"/>
              <a:sym typeface="Noto Sans SC"/>
            </a:endParaRPr>
          </a:p>
          <a:p>
            <a:pPr marL="0" indent="0" algn="ctr">
              <a:lnSpc>
                <a:spcPct val="125000"/>
              </a:lnSpc>
              <a:defRPr/>
            </a:pPr>
            <a:r>
              <a:rPr lang="zh-CN" altLang="en-US" sz="2400" b="1" i="0" u="none" strike="noStrike">
                <a:solidFill>
                  <a:srgbClr val="FFFFFF"/>
                </a:solidFill>
                <a:latin typeface="Noto Sans SC"/>
                <a:ea typeface="SimSun" charset="0"/>
                <a:cs typeface="Noto Sans SC"/>
                <a:sym typeface="Noto Sans SC"/>
              </a:rPr>
              <a:t>原理</a:t>
            </a:r>
            <a:endParaRPr lang="zh-CN" altLang="en-US" sz="2400" b="1" i="0" u="none" strike="noStrike">
              <a:solidFill>
                <a:srgbClr val="FFFFFF"/>
              </a:solidFill>
              <a:latin typeface="Noto Sans SC"/>
              <a:ea typeface="SimSun" charset="0"/>
              <a:cs typeface="Noto Sans SC"/>
              <a:sym typeface="Noto Sans SC"/>
            </a:endParaRPr>
          </a:p>
        </p:txBody>
      </p:sp>
      <p:sp>
        <p:nvSpPr>
          <p:cNvPr id="9" name="AutoShape 6"/>
          <p:cNvSpPr/>
          <p:nvPr/>
        </p:nvSpPr>
        <p:spPr>
          <a:xfrm>
            <a:off x="3395980" y="4530725"/>
            <a:ext cx="899795" cy="1545590"/>
          </a:xfrm>
          <a:prstGeom prst="roundRect">
            <a:avLst>
              <a:gd name="adj" fmla="val 0"/>
            </a:avLst>
          </a:prstGeom>
          <a:solidFill>
            <a:srgbClr val="B388FF">
              <a:alpha val="8000"/>
            </a:srgbClr>
          </a:solidFill>
          <a:ln w="25400" cap="flat" cmpd="sng">
            <a:solidFill>
              <a:srgbClr val="B388FF">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noAutofit/>
          </a:bodyPr>
          <a:lstStyle/>
          <a:p>
            <a:pPr lvl="0" algn="ctr">
              <a:lnSpc>
                <a:spcPct val="100000"/>
              </a:lnSpc>
              <a:buClrTx/>
              <a:buSzTx/>
              <a:buFontTx/>
              <a:defRPr/>
            </a:pPr>
            <a:r>
              <a:rPr lang="zh-CN" altLang="en-US" sz="2400" b="1">
                <a:solidFill>
                  <a:srgbClr val="FFFFFF"/>
                </a:solidFill>
                <a:latin typeface="Noto Sans SC"/>
                <a:ea typeface="SimSun" charset="0"/>
                <a:cs typeface="Noto Sans SC"/>
                <a:sym typeface="Noto Sans SC"/>
              </a:rPr>
              <a:t>应用</a:t>
            </a:r>
            <a:endParaRPr lang="zh-CN" altLang="en-US" sz="2400" b="1">
              <a:solidFill>
                <a:srgbClr val="FFFFFF"/>
              </a:solidFill>
              <a:latin typeface="Noto Sans SC"/>
              <a:ea typeface="SimSun" charset="0"/>
              <a:cs typeface="Noto Sans SC"/>
              <a:sym typeface="Noto Sans SC"/>
            </a:endParaRPr>
          </a:p>
          <a:p>
            <a:pPr lvl="0" algn="ctr">
              <a:lnSpc>
                <a:spcPct val="100000"/>
              </a:lnSpc>
              <a:buClrTx/>
              <a:buSzTx/>
              <a:buFontTx/>
              <a:defRPr/>
            </a:pPr>
            <a:r>
              <a:rPr lang="zh-CN" altLang="en-US" sz="2400" b="1">
                <a:solidFill>
                  <a:srgbClr val="FFFFFF"/>
                </a:solidFill>
                <a:latin typeface="Noto Sans SC"/>
                <a:ea typeface="SimSun" charset="0"/>
                <a:cs typeface="Noto Sans SC"/>
                <a:sym typeface="Noto Sans SC"/>
              </a:rPr>
              <a:t>与智</a:t>
            </a:r>
            <a:endParaRPr lang="zh-CN" altLang="en-US" sz="2400" b="1">
              <a:solidFill>
                <a:srgbClr val="FFFFFF"/>
              </a:solidFill>
              <a:latin typeface="Noto Sans SC"/>
              <a:ea typeface="SimSun" charset="0"/>
              <a:cs typeface="Noto Sans SC"/>
              <a:sym typeface="Noto Sans SC"/>
            </a:endParaRPr>
          </a:p>
          <a:p>
            <a:pPr lvl="0" algn="ctr">
              <a:lnSpc>
                <a:spcPct val="100000"/>
              </a:lnSpc>
              <a:buClrTx/>
              <a:buSzTx/>
              <a:buFontTx/>
              <a:defRPr/>
            </a:pPr>
            <a:r>
              <a:rPr lang="zh-CN" altLang="en-US" sz="2400" b="1">
                <a:solidFill>
                  <a:srgbClr val="FFFFFF"/>
                </a:solidFill>
                <a:latin typeface="Noto Sans SC"/>
                <a:ea typeface="SimSun" charset="0"/>
                <a:cs typeface="Noto Sans SC"/>
                <a:sym typeface="Noto Sans SC"/>
              </a:rPr>
              <a:t>能体</a:t>
            </a:r>
            <a:endParaRPr lang="zh-CN" altLang="en-US" sz="2400" b="1">
              <a:solidFill>
                <a:srgbClr val="FFFFFF"/>
              </a:solidFill>
              <a:latin typeface="Noto Sans SC"/>
              <a:ea typeface="SimSun" charset="0"/>
              <a:cs typeface="Noto Sans SC"/>
              <a:sym typeface="Noto Sans SC"/>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500"/>
                                        <p:tgtEl>
                                          <p:spTgt spid="33"/>
                                        </p:tgtEl>
                                      </p:cBhvr>
                                    </p:animEffect>
                                  </p:childTnLst>
                                </p:cTn>
                              </p:par>
                              <p:par>
                                <p:cTn id="17" presetID="10"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fade">
                                      <p:cBhvr>
                                        <p:cTn id="19" dur="500"/>
                                        <p:tgtEl>
                                          <p:spTgt spid="38"/>
                                        </p:tgtEl>
                                      </p:cBhvr>
                                    </p:animEffect>
                                  </p:childTnLst>
                                </p:cTn>
                              </p:par>
                              <p:par>
                                <p:cTn id="20" presetID="10" presetClass="entr" presetSubtype="0" fill="hold"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3" presetID="10" presetClass="entr" presetSubtype="0" fill="hold" nodeType="withEffect">
                                  <p:stCondLst>
                                    <p:cond delay="0"/>
                                  </p:stCondLst>
                                  <p:childTnLst>
                                    <p:set>
                                      <p:cBhvr>
                                        <p:cTn id="24" dur="1" fill="hold">
                                          <p:stCondLst>
                                            <p:cond delay="0"/>
                                          </p:stCondLst>
                                        </p:cTn>
                                        <p:tgtEl>
                                          <p:spTgt spid="43"/>
                                        </p:tgtEl>
                                        <p:attrNameLst>
                                          <p:attrName>style.visibility</p:attrName>
                                        </p:attrNameLst>
                                      </p:cBhvr>
                                      <p:to>
                                        <p:strVal val="visible"/>
                                      </p:to>
                                    </p:set>
                                    <p:animEffect transition="in" filter="fade">
                                      <p:cBhvr>
                                        <p:cTn id="25" dur="500"/>
                                        <p:tgtEl>
                                          <p:spTgt spid="43"/>
                                        </p:tgtEl>
                                      </p:cBhvr>
                                    </p:animEffect>
                                  </p:childTnLst>
                                </p:cTn>
                              </p:par>
                              <p:par>
                                <p:cTn id="26" presetID="10" presetClass="entr" presetSubtype="0" fill="hold"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500"/>
                                        <p:tgtEl>
                                          <p:spTgt spid="23"/>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500"/>
                                        <p:tgtEl>
                                          <p:spTgt spid="4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fade">
                                      <p:cBhvr>
                                        <p:cTn id="34" dur="500"/>
                                        <p:tgtEl>
                                          <p:spTgt spid="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ldLvl="0" animBg="1"/>
      <p:bldP spid="6" grpId="1" animBg="1"/>
      <p:bldP spid="3" grpId="0" bldLvl="0" animBg="1"/>
      <p:bldP spid="3" grpId="1" animBg="1"/>
      <p:bldP spid="9" grpId="0" bldLvl="0" animBg="1"/>
      <p:bldP spid="9"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模型的能力差异</a:t>
            </a:r>
            <a:endParaRPr lang="zh-CN" altLang="en-US"/>
          </a:p>
        </p:txBody>
      </p:sp>
      <p:sp>
        <p:nvSpPr>
          <p:cNvPr id="3" name="内容占位符 2"/>
          <p:cNvSpPr>
            <a:spLocks noGrp="1"/>
          </p:cNvSpPr>
          <p:nvPr>
            <p:ph idx="1"/>
          </p:nvPr>
        </p:nvSpPr>
        <p:spPr>
          <a:xfrm>
            <a:off x="762000" y="1825625"/>
            <a:ext cx="5537200" cy="4351655"/>
          </a:xfrm>
        </p:spPr>
        <p:txBody>
          <a:bodyPr>
            <a:normAutofit fontScale="90000" lnSpcReduction="10000"/>
          </a:bodyPr>
          <a:lstStyle/>
          <a:p>
            <a:r>
              <a:rPr lang="zh-CN" altLang="en-US"/>
              <a:t>模型有其擅长的任务：</a:t>
            </a:r>
            <a:endParaRPr lang="zh-CN" altLang="en-US"/>
          </a:p>
          <a:p>
            <a:pPr lvl="0"/>
            <a:r>
              <a:rPr lang="zh-CN" altLang="en-US"/>
              <a:t>使用模型前，要先了解它的使用说明：</a:t>
            </a:r>
            <a:endParaRPr lang="zh-CN" altLang="en-US"/>
          </a:p>
          <a:p>
            <a:pPr lvl="1"/>
            <a:r>
              <a:rPr lang="zh-CN" altLang="en-US"/>
              <a:t>事实准确性：是否基于正确资料；</a:t>
            </a:r>
            <a:endParaRPr lang="zh-CN" altLang="en-US"/>
          </a:p>
          <a:p>
            <a:pPr lvl="1"/>
            <a:r>
              <a:rPr lang="zh-CN" altLang="en-US"/>
              <a:t>理解能力：是否抓住任务重点和限制；</a:t>
            </a:r>
            <a:endParaRPr lang="zh-CN" altLang="en-US"/>
          </a:p>
          <a:p>
            <a:pPr lvl="1"/>
            <a:r>
              <a:rPr lang="zh-CN" altLang="en-US"/>
              <a:t>推理能力：多步骤任务是否可靠；</a:t>
            </a:r>
            <a:endParaRPr lang="zh-CN" altLang="en-US"/>
          </a:p>
          <a:p>
            <a:pPr lvl="1"/>
            <a:r>
              <a:rPr lang="zh-CN" altLang="en-US"/>
              <a:t>格式遵守：是否按要求输出表格、清单或字段；</a:t>
            </a:r>
            <a:endParaRPr lang="zh-CN" altLang="en-US"/>
          </a:p>
          <a:p>
            <a:pPr lvl="1"/>
            <a:r>
              <a:rPr lang="zh-CN" altLang="en-US"/>
              <a:t>工具使用：是否知道什么时候联网搜索、调用 </a:t>
            </a:r>
            <a:r>
              <a:rPr lang="en-US" altLang="zh-CN"/>
              <a:t>RAG、</a:t>
            </a:r>
            <a:r>
              <a:rPr lang="zh-CN" altLang="en-US"/>
              <a:t>加入上下文或使用代码；</a:t>
            </a:r>
            <a:endParaRPr lang="zh-CN" altLang="en-US"/>
          </a:p>
          <a:p>
            <a:pPr lvl="1"/>
            <a:r>
              <a:rPr lang="zh-CN" altLang="en-US"/>
              <a:t>安全性：是否保护隐私、避免过度承诺；</a:t>
            </a:r>
            <a:endParaRPr lang="zh-CN" altLang="en-US"/>
          </a:p>
          <a:p>
            <a:pPr lvl="1"/>
            <a:r>
              <a:rPr lang="zh-CN" altLang="en-US"/>
              <a:t>速度和成本：是否适合高频使用。</a:t>
            </a:r>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en-US" altLang="zh-CN"/>
          </a:p>
        </p:txBody>
      </p:sp>
      <p:graphicFrame>
        <p:nvGraphicFramePr>
          <p:cNvPr id="6" name="表格 5"/>
          <p:cNvGraphicFramePr/>
          <p:nvPr/>
        </p:nvGraphicFramePr>
        <p:xfrm>
          <a:off x="6939915" y="2279333"/>
          <a:ext cx="3850640" cy="3444240"/>
        </p:xfrm>
        <a:graphic>
          <a:graphicData uri="http://schemas.openxmlformats.org/drawingml/2006/table">
            <a:tbl>
              <a:tblPr firstRow="1" bandRow="1">
                <a:tableStyleId>{5C22544A-7EE6-4342-B048-85BDC9FD1C3A}</a:tableStyleId>
              </a:tblPr>
              <a:tblGrid>
                <a:gridCol w="1243330"/>
                <a:gridCol w="2607310"/>
              </a:tblGrid>
              <a:tr h="861060">
                <a:tc>
                  <a:txBody>
                    <a:bodyPr/>
                    <a:lstStyle/>
                    <a:p>
                      <a:pPr algn="ctr">
                        <a:buNone/>
                      </a:pPr>
                      <a:r>
                        <a:rPr lang="zh-CN" altLang="en-US" b="1">
                          <a:solidFill>
                            <a:schemeClr val="bg1"/>
                          </a:solidFill>
                        </a:rPr>
                        <a:t>长文本</a:t>
                      </a:r>
                      <a:endParaRPr lang="zh-CN" altLang="en-US" b="1">
                        <a:solidFill>
                          <a:schemeClr val="bg1"/>
                        </a:solidFill>
                      </a:endParaRPr>
                    </a:p>
                    <a:p>
                      <a:pPr algn="ctr">
                        <a:buNone/>
                      </a:pPr>
                      <a:r>
                        <a:rPr lang="zh-CN" altLang="en-US" b="1">
                          <a:solidFill>
                            <a:schemeClr val="bg1"/>
                          </a:solidFill>
                        </a:rPr>
                        <a:t>写作</a:t>
                      </a:r>
                      <a:endParaRPr lang="zh-CN" altLang="en-US" b="1">
                        <a:solidFill>
                          <a:schemeClr val="bg1"/>
                        </a:solidFill>
                      </a:endParaRPr>
                    </a:p>
                  </a:txBody>
                  <a:tcPr anchor="ctr">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c>
                  <a:txBody>
                    <a:bodyPr/>
                    <a:lstStyle/>
                    <a:p>
                      <a:pPr marL="285750" indent="-285750">
                        <a:buFont typeface="Arial" panose="02080604020202020204" pitchFamily="34" charset="0"/>
                        <a:buChar char="•"/>
                      </a:pPr>
                      <a:r>
                        <a:rPr lang="en-US" altLang="zh-CN" sz="1600" b="0">
                          <a:solidFill>
                            <a:schemeClr val="bg1"/>
                          </a:solidFill>
                        </a:rPr>
                        <a:t>Kimi 2.6</a:t>
                      </a:r>
                      <a:endParaRPr lang="en-US" altLang="zh-CN" sz="1600" b="0">
                        <a:solidFill>
                          <a:schemeClr val="bg1"/>
                        </a:solidFill>
                      </a:endParaRPr>
                    </a:p>
                    <a:p>
                      <a:pPr marL="285750" indent="-285750">
                        <a:buFont typeface="Arial" panose="02080604020202020204" pitchFamily="34" charset="0"/>
                        <a:buChar char="•"/>
                      </a:pPr>
                      <a:r>
                        <a:rPr lang="en-US" altLang="zh-CN" sz="1600" b="0">
                          <a:solidFill>
                            <a:schemeClr val="bg1"/>
                          </a:solidFill>
                        </a:rPr>
                        <a:t>Llama 4 Scout</a:t>
                      </a:r>
                      <a:endParaRPr lang="en-US" altLang="zh-CN" sz="1600" b="0">
                        <a:solidFill>
                          <a:schemeClr val="bg1"/>
                        </a:solidFill>
                      </a:endParaRPr>
                    </a:p>
                  </a:txBody>
                  <a:tcPr anchor="ctr">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r>
              <a:tr h="861060">
                <a:tc>
                  <a:txBody>
                    <a:bodyPr/>
                    <a:lstStyle/>
                    <a:p>
                      <a:pPr algn="ctr">
                        <a:buNone/>
                      </a:pPr>
                      <a:r>
                        <a:rPr lang="zh-CN" altLang="en-US" b="1">
                          <a:solidFill>
                            <a:schemeClr val="bg1"/>
                          </a:solidFill>
                        </a:rPr>
                        <a:t>编程</a:t>
                      </a:r>
                      <a:endParaRPr lang="zh-CN" altLang="en-US" b="1">
                        <a:solidFill>
                          <a:schemeClr val="bg1"/>
                        </a:solidFill>
                      </a:endParaRPr>
                    </a:p>
                  </a:txBody>
                  <a:tcPr anchor="ctr">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c>
                  <a:txBody>
                    <a:bodyPr/>
                    <a:lstStyle/>
                    <a:p>
                      <a:pPr marL="285750" indent="-285750">
                        <a:buFont typeface="Arial" panose="02080604020202020204" pitchFamily="34" charset="0"/>
                        <a:buChar char="•"/>
                      </a:pPr>
                      <a:r>
                        <a:rPr lang="en-US" altLang="zh-CN" sz="1600" b="0">
                          <a:solidFill>
                            <a:schemeClr val="bg1"/>
                          </a:solidFill>
                        </a:rPr>
                        <a:t>GPT 5.6 Sol</a:t>
                      </a:r>
                      <a:endParaRPr lang="en-US" altLang="zh-CN" sz="1600" b="0">
                        <a:solidFill>
                          <a:schemeClr val="bg1"/>
                        </a:solidFill>
                      </a:endParaRPr>
                    </a:p>
                    <a:p>
                      <a:pPr marL="285750" indent="-285750">
                        <a:buFont typeface="Arial" panose="02080604020202020204" pitchFamily="34" charset="0"/>
                        <a:buChar char="•"/>
                      </a:pPr>
                      <a:r>
                        <a:rPr lang="en-US" altLang="zh-CN" sz="1600" b="0">
                          <a:solidFill>
                            <a:schemeClr val="bg1"/>
                          </a:solidFill>
                        </a:rPr>
                        <a:t>Opus 4.7</a:t>
                      </a:r>
                      <a:endParaRPr lang="en-US" altLang="zh-CN" sz="1600" b="0">
                        <a:solidFill>
                          <a:schemeClr val="bg1"/>
                        </a:solidFill>
                      </a:endParaRPr>
                    </a:p>
                    <a:p>
                      <a:pPr marL="285750" indent="-285750">
                        <a:buFont typeface="Arial" panose="02080604020202020204" pitchFamily="34" charset="0"/>
                        <a:buChar char="•"/>
                      </a:pPr>
                      <a:r>
                        <a:rPr lang="en-US" altLang="zh-CN" sz="1600" b="0">
                          <a:solidFill>
                            <a:schemeClr val="bg1"/>
                          </a:solidFill>
                        </a:rPr>
                        <a:t>Minimax M3</a:t>
                      </a:r>
                      <a:endParaRPr lang="en-US" altLang="zh-CN" sz="1600" b="0">
                        <a:solidFill>
                          <a:schemeClr val="bg1"/>
                        </a:solidFill>
                      </a:endParaRPr>
                    </a:p>
                  </a:txBody>
                  <a:tcPr anchor="ctr">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r>
              <a:tr h="861060">
                <a:tc>
                  <a:txBody>
                    <a:bodyPr/>
                    <a:lstStyle/>
                    <a:p>
                      <a:pPr algn="ctr">
                        <a:buNone/>
                      </a:pPr>
                      <a:r>
                        <a:rPr lang="zh-CN" altLang="en-US" b="1">
                          <a:solidFill>
                            <a:schemeClr val="bg1"/>
                          </a:solidFill>
                        </a:rPr>
                        <a:t>数学推理</a:t>
                      </a:r>
                      <a:endParaRPr lang="zh-CN" altLang="en-US" b="1">
                        <a:solidFill>
                          <a:schemeClr val="bg1"/>
                        </a:solidFill>
                      </a:endParaRPr>
                    </a:p>
                  </a:txBody>
                  <a:tcPr anchor="ctr">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c>
                  <a:txBody>
                    <a:bodyPr/>
                    <a:lstStyle/>
                    <a:p>
                      <a:pPr marL="285750" indent="-285750">
                        <a:buFont typeface="Arial" panose="02080604020202020204" pitchFamily="34" charset="0"/>
                        <a:buChar char="•"/>
                      </a:pPr>
                      <a:r>
                        <a:rPr lang="en-US" altLang="zh-CN" sz="1600" b="0">
                          <a:solidFill>
                            <a:schemeClr val="bg1"/>
                          </a:solidFill>
                        </a:rPr>
                        <a:t>Fable 5</a:t>
                      </a:r>
                      <a:endParaRPr lang="en-US" altLang="zh-CN" sz="1600" b="0">
                        <a:solidFill>
                          <a:schemeClr val="bg1"/>
                        </a:solidFill>
                      </a:endParaRPr>
                    </a:p>
                    <a:p>
                      <a:pPr marL="285750" indent="-285750">
                        <a:buFont typeface="Arial" panose="02080604020202020204" pitchFamily="34" charset="0"/>
                        <a:buChar char="•"/>
                      </a:pPr>
                      <a:r>
                        <a:rPr lang="en-US" altLang="zh-CN" sz="1600" b="0">
                          <a:solidFill>
                            <a:schemeClr val="bg1"/>
                          </a:solidFill>
                        </a:rPr>
                        <a:t>DeepSeek V4 Pro</a:t>
                      </a:r>
                      <a:endParaRPr lang="en-US" altLang="zh-CN" sz="1600" b="0">
                        <a:solidFill>
                          <a:schemeClr val="bg1"/>
                        </a:solidFill>
                      </a:endParaRPr>
                    </a:p>
                  </a:txBody>
                  <a:tcPr anchor="ctr">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r>
              <a:tr h="861060">
                <a:tc>
                  <a:txBody>
                    <a:bodyPr/>
                    <a:lstStyle/>
                    <a:p>
                      <a:pPr algn="ctr">
                        <a:buNone/>
                      </a:pPr>
                      <a:r>
                        <a:rPr lang="zh-CN" altLang="en-US" b="1">
                          <a:solidFill>
                            <a:schemeClr val="bg1"/>
                          </a:solidFill>
                        </a:rPr>
                        <a:t>视觉理解</a:t>
                      </a:r>
                      <a:endParaRPr lang="zh-CN" altLang="en-US" b="1">
                        <a:solidFill>
                          <a:schemeClr val="bg1"/>
                        </a:solidFill>
                      </a:endParaRPr>
                    </a:p>
                  </a:txBody>
                  <a:tcPr anchor="ctr">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c>
                  <a:txBody>
                    <a:bodyPr/>
                    <a:lstStyle/>
                    <a:p>
                      <a:pPr marL="285750" indent="-285750">
                        <a:buFont typeface="Arial" panose="02080604020202020204" pitchFamily="34" charset="0"/>
                        <a:buChar char="•"/>
                      </a:pPr>
                      <a:r>
                        <a:rPr lang="en-US" altLang="zh-CN" sz="1600" b="0">
                          <a:solidFill>
                            <a:schemeClr val="bg1"/>
                          </a:solidFill>
                        </a:rPr>
                        <a:t>Gemini 3.1</a:t>
                      </a:r>
                      <a:endParaRPr lang="en-US" altLang="zh-CN" sz="1600" b="0">
                        <a:solidFill>
                          <a:schemeClr val="bg1"/>
                        </a:solidFill>
                      </a:endParaRPr>
                    </a:p>
                    <a:p>
                      <a:pPr marL="285750" indent="-285750">
                        <a:buFont typeface="Arial" panose="02080604020202020204" pitchFamily="34" charset="0"/>
                        <a:buChar char="•"/>
                      </a:pPr>
                      <a:r>
                        <a:rPr lang="en-US" altLang="zh-CN" sz="1600" b="0">
                          <a:solidFill>
                            <a:schemeClr val="bg1"/>
                          </a:solidFill>
                        </a:rPr>
                        <a:t>Qwen 3.8 max</a:t>
                      </a:r>
                      <a:endParaRPr lang="en-US" altLang="zh-CN" sz="1600" b="0">
                        <a:solidFill>
                          <a:schemeClr val="bg1"/>
                        </a:solidFill>
                      </a:endParaRPr>
                    </a:p>
                  </a:txBody>
                  <a:tcPr anchor="ctr">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fade">
                                      <p:cBhvr>
                                        <p:cTn id="27" dur="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fade">
                                      <p:cBhvr>
                                        <p:cTn id="32" dur="50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7" end="7"/>
                                            </p:txEl>
                                          </p:spTgt>
                                        </p:tgtEl>
                                        <p:attrNameLst>
                                          <p:attrName>style.visibility</p:attrName>
                                        </p:attrNameLst>
                                      </p:cBhvr>
                                      <p:to>
                                        <p:strVal val="visible"/>
                                      </p:to>
                                    </p:set>
                                    <p:animEffect transition="in" filter="fade">
                                      <p:cBhvr>
                                        <p:cTn id="47" dur="500"/>
                                        <p:tgtEl>
                                          <p:spTgt spid="3">
                                            <p:txEl>
                                              <p:pRg st="7" end="7"/>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8" end="8"/>
                                            </p:txEl>
                                          </p:spTgt>
                                        </p:tgtEl>
                                        <p:attrNameLst>
                                          <p:attrName>style.visibility</p:attrName>
                                        </p:attrNameLst>
                                      </p:cBhvr>
                                      <p:to>
                                        <p:strVal val="visible"/>
                                      </p:to>
                                    </p:set>
                                    <p:animEffect transition="in" filter="fade">
                                      <p:cBhvr>
                                        <p:cTn id="5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模型的训练过程</a:t>
            </a:r>
            <a:endParaRPr lang="zh-CN" altLang="en-US"/>
          </a:p>
        </p:txBody>
      </p:sp>
      <p:sp>
        <p:nvSpPr>
          <p:cNvPr id="19" name="文本占位符 18"/>
          <p:cNvSpPr>
            <a:spLocks noGrp="1"/>
          </p:cNvSpPr>
          <p:nvPr>
            <p:ph type="body" idx="1"/>
          </p:nvPr>
        </p:nvSpPr>
        <p:spPr>
          <a:xfrm>
            <a:off x="869315" y="1904365"/>
            <a:ext cx="4696460" cy="508635"/>
          </a:xfrm>
        </p:spPr>
        <p:txBody>
          <a:bodyPr/>
          <a:lstStyle/>
          <a:p>
            <a:pPr algn="ctr"/>
            <a:r>
              <a:rPr lang="zh-CN" altLang="en-US"/>
              <a:t>人类的学习过程</a:t>
            </a:r>
            <a:endParaRPr lang="zh-CN" altLang="en-US"/>
          </a:p>
        </p:txBody>
      </p:sp>
      <p:sp>
        <p:nvSpPr>
          <p:cNvPr id="20" name="文本占位符 19"/>
          <p:cNvSpPr>
            <a:spLocks noGrp="1"/>
          </p:cNvSpPr>
          <p:nvPr>
            <p:ph type="body" sz="quarter" idx="3"/>
          </p:nvPr>
        </p:nvSpPr>
        <p:spPr>
          <a:xfrm>
            <a:off x="6604635" y="1903730"/>
            <a:ext cx="4696460" cy="509905"/>
          </a:xfrm>
        </p:spPr>
        <p:txBody>
          <a:bodyPr/>
          <a:lstStyle/>
          <a:p>
            <a:pPr algn="ctr"/>
            <a:r>
              <a:rPr lang="zh-CN" altLang="en-US"/>
              <a:t>模型的训练过程</a:t>
            </a:r>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en-US" altLang="zh-CN"/>
          </a:p>
        </p:txBody>
      </p:sp>
      <p:sp>
        <p:nvSpPr>
          <p:cNvPr id="12" name="AutoShape 6"/>
          <p:cNvSpPr/>
          <p:nvPr/>
        </p:nvSpPr>
        <p:spPr>
          <a:xfrm>
            <a:off x="869247" y="2801178"/>
            <a:ext cx="1548000" cy="540000"/>
          </a:xfrm>
          <a:prstGeom prst="roundRect">
            <a:avLst>
              <a:gd name="adj" fmla="val 0"/>
            </a:avLst>
          </a:prstGeom>
          <a:solidFill>
            <a:srgbClr val="00E5FF">
              <a:alpha val="8000"/>
            </a:srgbClr>
          </a:solidFill>
          <a:ln w="25400" cap="flat" cmpd="sng">
            <a:solidFill>
              <a:srgbClr val="00E5FF">
                <a:alpha val="100000"/>
              </a:srgbClr>
            </a:solidFill>
            <a:prstDash val="solid"/>
            <a:round/>
          </a:ln>
          <a:effectLst>
            <a:outerShdw blurRad="152400" dir="2700000" algn="tl" rotWithShape="0">
              <a:srgbClr val="00E5FF">
                <a:alpha val="40000"/>
              </a:srgbClr>
            </a:outerShdw>
          </a:effectLst>
        </p:spPr>
        <p:txBody>
          <a:bodyPr vert="horz" wrap="square" lIns="0" tIns="0" rIns="0" bIns="0" rtlCol="0" anchor="ctr" anchorCtr="0"/>
          <a:lstStyle/>
          <a:p>
            <a:pPr marL="0" indent="0" algn="ctr">
              <a:lnSpc>
                <a:spcPct val="125000"/>
              </a:lnSpc>
              <a:defRPr/>
            </a:pPr>
            <a:r>
              <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课本</a:t>
            </a:r>
            <a:r>
              <a:rPr lang="en-US" altLang="zh-CN"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 + </a:t>
            </a:r>
            <a:r>
              <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作业</a:t>
            </a:r>
            <a:endPar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p:txBody>
      </p:sp>
      <p:sp>
        <p:nvSpPr>
          <p:cNvPr id="13" name="AutoShape 6"/>
          <p:cNvSpPr/>
          <p:nvPr/>
        </p:nvSpPr>
        <p:spPr>
          <a:xfrm>
            <a:off x="4017447" y="2801178"/>
            <a:ext cx="1547495" cy="540000"/>
          </a:xfrm>
          <a:prstGeom prst="roundRect">
            <a:avLst>
              <a:gd name="adj" fmla="val 0"/>
            </a:avLst>
          </a:prstGeom>
          <a:solidFill>
            <a:srgbClr val="B388FF">
              <a:alpha val="8000"/>
            </a:srgbClr>
          </a:solidFill>
          <a:ln w="25400" cap="flat" cmpd="sng">
            <a:solidFill>
              <a:srgbClr val="B388FF">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lstStyle/>
          <a:p>
            <a:pPr marL="0" indent="0" algn="ctr">
              <a:lnSpc>
                <a:spcPct val="125000"/>
              </a:lnSpc>
              <a:defRPr/>
            </a:pPr>
            <a:r>
              <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完成的作业</a:t>
            </a:r>
            <a:endPar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p:txBody>
      </p:sp>
      <p:sp>
        <p:nvSpPr>
          <p:cNvPr id="45" name="AutoShape 6"/>
          <p:cNvSpPr/>
          <p:nvPr/>
        </p:nvSpPr>
        <p:spPr>
          <a:xfrm>
            <a:off x="869247" y="4834255"/>
            <a:ext cx="1548000" cy="540000"/>
          </a:xfrm>
          <a:prstGeom prst="roundRect">
            <a:avLst>
              <a:gd name="adj" fmla="val 0"/>
            </a:avLst>
          </a:prstGeom>
          <a:solidFill>
            <a:srgbClr val="69F0AE">
              <a:alpha val="8000"/>
            </a:srgbClr>
          </a:solidFill>
          <a:ln w="25400" cap="flat" cmpd="sng">
            <a:solidFill>
              <a:srgbClr val="69F0AE">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lstStyle/>
          <a:p>
            <a:pPr indent="0" algn="ctr" fontAlgn="auto">
              <a:spcAft>
                <a:spcPts val="600"/>
              </a:spcAft>
              <a:defRPr/>
            </a:pPr>
            <a:r>
              <a:rPr lang="zh-CN" altLang="en-US" i="0" u="none" strike="noStrike">
                <a:solidFill>
                  <a:schemeClr val="bg1"/>
                </a:solidFill>
                <a:latin typeface="Noto Sans SC" panose="020B0200000000000000" charset="-122"/>
                <a:ea typeface="SimSun" pitchFamily="2" charset="-122"/>
                <a:cs typeface="Noto Sans SC" panose="020B0200000000000000" charset="-122"/>
                <a:sym typeface="+mn-ea"/>
              </a:rPr>
              <a:t>毕业</a:t>
            </a:r>
            <a:endParaRPr lang="zh-CN" altLang="en-US" i="0" u="none" strike="noStrike">
              <a:solidFill>
                <a:schemeClr val="bg1"/>
              </a:solidFill>
              <a:latin typeface="Noto Sans SC" panose="020B0200000000000000" charset="-122"/>
              <a:ea typeface="SimSun" pitchFamily="2" charset="-122"/>
              <a:cs typeface="Noto Sans SC" panose="020B0200000000000000" charset="-122"/>
              <a:sym typeface="+mn-ea"/>
            </a:endParaRPr>
          </a:p>
        </p:txBody>
      </p:sp>
      <p:sp>
        <p:nvSpPr>
          <p:cNvPr id="10" name="AutoShape 6"/>
          <p:cNvSpPr/>
          <p:nvPr/>
        </p:nvSpPr>
        <p:spPr>
          <a:xfrm>
            <a:off x="4018717" y="4835332"/>
            <a:ext cx="1547495" cy="539750"/>
          </a:xfrm>
          <a:prstGeom prst="roundRect">
            <a:avLst>
              <a:gd name="adj" fmla="val 0"/>
            </a:avLst>
          </a:prstGeom>
          <a:solidFill>
            <a:srgbClr val="FFE3B1">
              <a:alpha val="8000"/>
            </a:srgbClr>
          </a:solidFill>
          <a:ln w="25400" cap="flat" cmpd="sng">
            <a:solidFill>
              <a:srgbClr val="FFE3B1">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lstStyle/>
          <a:p>
            <a:pPr marL="0" indent="0" algn="ctr">
              <a:lnSpc>
                <a:spcPct val="125000"/>
              </a:lnSpc>
              <a:defRPr/>
            </a:pPr>
            <a:r>
              <a:rPr lang="zh-CN"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错题</a:t>
            </a:r>
            <a:endParaRPr lang="zh-CN"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p:txBody>
      </p:sp>
      <p:grpSp>
        <p:nvGrpSpPr>
          <p:cNvPr id="24" name="组合 23"/>
          <p:cNvGrpSpPr/>
          <p:nvPr/>
        </p:nvGrpSpPr>
        <p:grpSpPr>
          <a:xfrm>
            <a:off x="4552500" y="3548187"/>
            <a:ext cx="476250" cy="1080135"/>
            <a:chOff x="7104" y="6218"/>
            <a:chExt cx="750" cy="1701"/>
          </a:xfrm>
        </p:grpSpPr>
        <p:cxnSp>
          <p:nvCxnSpPr>
            <p:cNvPr id="11" name="直接箭头连接符 10"/>
            <p:cNvCxnSpPr/>
            <p:nvPr/>
          </p:nvCxnSpPr>
          <p:spPr>
            <a:xfrm rot="5400000">
              <a:off x="6258" y="7068"/>
              <a:ext cx="1701" cy="0"/>
            </a:xfrm>
            <a:prstGeom prst="straightConnector1">
              <a:avLst/>
            </a:prstGeom>
            <a:ln w="19050">
              <a:solidFill>
                <a:srgbClr val="B388FF"/>
              </a:solidFill>
              <a:prstDash val="sysDash"/>
              <a:tailEnd type="stealth" w="lg" len="lg"/>
            </a:ln>
          </p:spPr>
          <p:style>
            <a:lnRef idx="2">
              <a:schemeClr val="accent1"/>
            </a:lnRef>
            <a:fillRef idx="0">
              <a:srgbClr val="FFFFFF"/>
            </a:fillRef>
            <a:effectRef idx="0">
              <a:srgbClr val="FFFFFF"/>
            </a:effectRef>
            <a:fontRef idx="minor">
              <a:schemeClr val="tx1"/>
            </a:fontRef>
          </p:style>
        </p:cxnSp>
        <p:sp>
          <p:nvSpPr>
            <p:cNvPr id="14" name="文本框 13"/>
            <p:cNvSpPr txBox="1"/>
            <p:nvPr/>
          </p:nvSpPr>
          <p:spPr>
            <a:xfrm>
              <a:off x="7104" y="6220"/>
              <a:ext cx="750" cy="1695"/>
            </a:xfrm>
            <a:prstGeom prst="rect">
              <a:avLst/>
            </a:prstGeom>
            <a:noFill/>
          </p:spPr>
          <p:txBody>
            <a:bodyPr wrap="square" rtlCol="0">
              <a:spAutoFit/>
            </a:bodyPr>
            <a:lstStyle/>
            <a:p>
              <a:pPr algn="ctr">
                <a:lnSpc>
                  <a:spcPct val="100000"/>
                </a:lnSpc>
              </a:pPr>
              <a:r>
                <a:rPr lang="zh-CN" sz="1600">
                  <a:solidFill>
                    <a:srgbClr val="B388FF"/>
                  </a:solidFill>
                </a:rPr>
                <a:t>批</a:t>
              </a:r>
              <a:endParaRPr lang="zh-CN" sz="1600">
                <a:solidFill>
                  <a:srgbClr val="B388FF"/>
                </a:solidFill>
              </a:endParaRPr>
            </a:p>
            <a:p>
              <a:pPr algn="ctr">
                <a:lnSpc>
                  <a:spcPct val="100000"/>
                </a:lnSpc>
              </a:pPr>
              <a:r>
                <a:rPr lang="zh-CN" sz="1600">
                  <a:solidFill>
                    <a:srgbClr val="B388FF"/>
                  </a:solidFill>
                </a:rPr>
                <a:t>改</a:t>
              </a:r>
              <a:endParaRPr lang="zh-CN" sz="1600">
                <a:solidFill>
                  <a:srgbClr val="B388FF"/>
                </a:solidFill>
              </a:endParaRPr>
            </a:p>
            <a:p>
              <a:pPr algn="ctr">
                <a:lnSpc>
                  <a:spcPct val="100000"/>
                </a:lnSpc>
              </a:pPr>
              <a:r>
                <a:rPr lang="zh-CN" sz="1600">
                  <a:solidFill>
                    <a:srgbClr val="B388FF"/>
                  </a:solidFill>
                </a:rPr>
                <a:t>作</a:t>
              </a:r>
              <a:endParaRPr lang="zh-CN" sz="1600">
                <a:solidFill>
                  <a:srgbClr val="B388FF"/>
                </a:solidFill>
              </a:endParaRPr>
            </a:p>
            <a:p>
              <a:pPr algn="ctr">
                <a:lnSpc>
                  <a:spcPct val="100000"/>
                </a:lnSpc>
              </a:pPr>
              <a:r>
                <a:rPr lang="zh-CN" sz="1600">
                  <a:solidFill>
                    <a:srgbClr val="B388FF"/>
                  </a:solidFill>
                </a:rPr>
                <a:t>业</a:t>
              </a:r>
              <a:endParaRPr lang="zh-CN" sz="1600">
                <a:solidFill>
                  <a:srgbClr val="B388FF"/>
                </a:solidFill>
              </a:endParaRPr>
            </a:p>
          </p:txBody>
        </p:sp>
      </p:grpSp>
      <p:grpSp>
        <p:nvGrpSpPr>
          <p:cNvPr id="8" name="组合 7"/>
          <p:cNvGrpSpPr/>
          <p:nvPr/>
        </p:nvGrpSpPr>
        <p:grpSpPr>
          <a:xfrm>
            <a:off x="2520117" y="2656205"/>
            <a:ext cx="1394460" cy="829945"/>
            <a:chOff x="4372" y="4183"/>
            <a:chExt cx="2196" cy="1307"/>
          </a:xfrm>
        </p:grpSpPr>
        <p:sp>
          <p:nvSpPr>
            <p:cNvPr id="7" name="文本框 6"/>
            <p:cNvSpPr txBox="1"/>
            <p:nvPr/>
          </p:nvSpPr>
          <p:spPr>
            <a:xfrm>
              <a:off x="4372" y="4183"/>
              <a:ext cx="2196" cy="1307"/>
            </a:xfrm>
            <a:prstGeom prst="rect">
              <a:avLst/>
            </a:prstGeom>
            <a:noFill/>
          </p:spPr>
          <p:txBody>
            <a:bodyPr wrap="square" rtlCol="0">
              <a:spAutoFit/>
            </a:bodyPr>
            <a:lstStyle/>
            <a:p>
              <a:pPr algn="ctr">
                <a:lnSpc>
                  <a:spcPct val="150000"/>
                </a:lnSpc>
              </a:pPr>
              <a:r>
                <a:rPr lang="zh-CN" sz="1600">
                  <a:solidFill>
                    <a:srgbClr val="00E5FF"/>
                  </a:solidFill>
                </a:rPr>
                <a:t>根据知识</a:t>
              </a:r>
              <a:endParaRPr lang="zh-CN" sz="1600">
                <a:solidFill>
                  <a:srgbClr val="00E5FF"/>
                </a:solidFill>
              </a:endParaRPr>
            </a:p>
            <a:p>
              <a:pPr algn="ctr">
                <a:lnSpc>
                  <a:spcPct val="150000"/>
                </a:lnSpc>
              </a:pPr>
              <a:r>
                <a:rPr lang="zh-CN" sz="1600">
                  <a:solidFill>
                    <a:srgbClr val="00E5FF"/>
                  </a:solidFill>
                </a:rPr>
                <a:t>回答问题</a:t>
              </a:r>
              <a:endParaRPr lang="zh-CN" sz="1600">
                <a:solidFill>
                  <a:srgbClr val="00E5FF"/>
                </a:solidFill>
              </a:endParaRPr>
            </a:p>
          </p:txBody>
        </p:sp>
        <p:cxnSp>
          <p:nvCxnSpPr>
            <p:cNvPr id="22" name="直接箭头连接符 21"/>
            <p:cNvCxnSpPr/>
            <p:nvPr/>
          </p:nvCxnSpPr>
          <p:spPr>
            <a:xfrm>
              <a:off x="4619" y="4915"/>
              <a:ext cx="1701" cy="0"/>
            </a:xfrm>
            <a:prstGeom prst="straightConnector1">
              <a:avLst/>
            </a:prstGeom>
            <a:ln w="19050">
              <a:solidFill>
                <a:srgbClr val="00E5FF"/>
              </a:solidFill>
              <a:prstDash val="sysDash"/>
              <a:tailEnd type="stealth" w="lg" len="lg"/>
            </a:ln>
          </p:spPr>
          <p:style>
            <a:lnRef idx="2">
              <a:schemeClr val="accent1"/>
            </a:lnRef>
            <a:fillRef idx="0">
              <a:srgbClr val="FFFFFF"/>
            </a:fillRef>
            <a:effectRef idx="0">
              <a:srgbClr val="FFFFFF"/>
            </a:effectRef>
            <a:fontRef idx="minor">
              <a:schemeClr val="tx1"/>
            </a:fontRef>
          </p:style>
        </p:cxnSp>
      </p:grpSp>
      <p:grpSp>
        <p:nvGrpSpPr>
          <p:cNvPr id="26" name="组合 25"/>
          <p:cNvGrpSpPr/>
          <p:nvPr/>
        </p:nvGrpSpPr>
        <p:grpSpPr>
          <a:xfrm>
            <a:off x="2667635" y="3369310"/>
            <a:ext cx="1027430" cy="1394460"/>
            <a:chOff x="3910" y="5535"/>
            <a:chExt cx="1618" cy="2196"/>
          </a:xfrm>
        </p:grpSpPr>
        <p:sp>
          <p:nvSpPr>
            <p:cNvPr id="18" name="文本框 17"/>
            <p:cNvSpPr txBox="1"/>
            <p:nvPr/>
          </p:nvSpPr>
          <p:spPr>
            <a:xfrm rot="2700000">
              <a:off x="3621" y="5979"/>
              <a:ext cx="2196" cy="1307"/>
            </a:xfrm>
            <a:prstGeom prst="rect">
              <a:avLst/>
            </a:prstGeom>
            <a:noFill/>
          </p:spPr>
          <p:txBody>
            <a:bodyPr wrap="square" rtlCol="0">
              <a:spAutoFit/>
            </a:bodyPr>
            <a:lstStyle/>
            <a:p>
              <a:pPr algn="ctr">
                <a:lnSpc>
                  <a:spcPct val="150000"/>
                </a:lnSpc>
              </a:pPr>
              <a:r>
                <a:rPr lang="zh-CN" sz="1600">
                  <a:solidFill>
                    <a:srgbClr val="FFE3B1"/>
                  </a:solidFill>
                </a:rPr>
                <a:t>调整知识</a:t>
              </a:r>
              <a:endParaRPr lang="zh-CN" sz="1600">
                <a:solidFill>
                  <a:srgbClr val="FFE3B1"/>
                </a:solidFill>
              </a:endParaRPr>
            </a:p>
            <a:p>
              <a:pPr algn="ctr">
                <a:lnSpc>
                  <a:spcPct val="150000"/>
                </a:lnSpc>
              </a:pPr>
              <a:r>
                <a:rPr lang="zh-CN" sz="1600">
                  <a:solidFill>
                    <a:srgbClr val="FFE3B1"/>
                  </a:solidFill>
                </a:rPr>
                <a:t>体系</a:t>
              </a:r>
              <a:endParaRPr lang="zh-CN" sz="1600">
                <a:solidFill>
                  <a:srgbClr val="FFE3B1"/>
                </a:solidFill>
              </a:endParaRPr>
            </a:p>
          </p:txBody>
        </p:sp>
        <p:cxnSp>
          <p:nvCxnSpPr>
            <p:cNvPr id="25" name="直接箭头连接符 24"/>
            <p:cNvCxnSpPr/>
            <p:nvPr/>
          </p:nvCxnSpPr>
          <p:spPr>
            <a:xfrm flipH="1" flipV="1">
              <a:off x="3910" y="5823"/>
              <a:ext cx="1618" cy="1619"/>
            </a:xfrm>
            <a:prstGeom prst="straightConnector1">
              <a:avLst/>
            </a:prstGeom>
            <a:ln w="19050">
              <a:solidFill>
                <a:srgbClr val="FFE3B1"/>
              </a:solidFill>
              <a:prstDash val="sysDash"/>
              <a:tailEnd type="stealth" w="lg" len="lg"/>
            </a:ln>
          </p:spPr>
          <p:style>
            <a:lnRef idx="2">
              <a:schemeClr val="accent1"/>
            </a:lnRef>
            <a:fillRef idx="0">
              <a:srgbClr val="FFFFFF"/>
            </a:fillRef>
            <a:effectRef idx="0">
              <a:srgbClr val="FFFFFF"/>
            </a:effectRef>
            <a:fontRef idx="minor">
              <a:schemeClr val="tx1"/>
            </a:fontRef>
          </p:style>
        </p:cxnSp>
      </p:grpSp>
      <p:sp>
        <p:nvSpPr>
          <p:cNvPr id="3" name="AutoShape 6"/>
          <p:cNvSpPr/>
          <p:nvPr/>
        </p:nvSpPr>
        <p:spPr>
          <a:xfrm>
            <a:off x="6604567" y="2801813"/>
            <a:ext cx="1548000" cy="540000"/>
          </a:xfrm>
          <a:prstGeom prst="roundRect">
            <a:avLst>
              <a:gd name="adj" fmla="val 0"/>
            </a:avLst>
          </a:prstGeom>
          <a:solidFill>
            <a:srgbClr val="00E5FF">
              <a:alpha val="8000"/>
            </a:srgbClr>
          </a:solidFill>
          <a:ln w="25400" cap="flat" cmpd="sng">
            <a:solidFill>
              <a:srgbClr val="00E5FF">
                <a:alpha val="100000"/>
              </a:srgbClr>
            </a:solidFill>
            <a:prstDash val="solid"/>
            <a:round/>
          </a:ln>
          <a:effectLst>
            <a:outerShdw blurRad="152400" dir="2700000" algn="tl" rotWithShape="0">
              <a:srgbClr val="00E5FF">
                <a:alpha val="40000"/>
              </a:srgbClr>
            </a:outerShdw>
          </a:effectLst>
        </p:spPr>
        <p:txBody>
          <a:bodyPr vert="horz" wrap="square" lIns="0" tIns="0" rIns="0" bIns="0" rtlCol="0" anchor="ctr" anchorCtr="0"/>
          <a:lstStyle/>
          <a:p>
            <a:pPr marL="0" indent="0" algn="ctr">
              <a:lnSpc>
                <a:spcPct val="125000"/>
              </a:lnSpc>
              <a:defRPr/>
            </a:pPr>
            <a:r>
              <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样本</a:t>
            </a:r>
            <a:r>
              <a:rPr lang="en-US" altLang="zh-CN"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 + </a:t>
            </a:r>
            <a:r>
              <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目标</a:t>
            </a:r>
            <a:endPar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p:txBody>
      </p:sp>
      <p:sp>
        <p:nvSpPr>
          <p:cNvPr id="5" name="AutoShape 6"/>
          <p:cNvSpPr/>
          <p:nvPr/>
        </p:nvSpPr>
        <p:spPr>
          <a:xfrm>
            <a:off x="9752767" y="2801813"/>
            <a:ext cx="1547495" cy="540000"/>
          </a:xfrm>
          <a:prstGeom prst="roundRect">
            <a:avLst>
              <a:gd name="adj" fmla="val 0"/>
            </a:avLst>
          </a:prstGeom>
          <a:solidFill>
            <a:srgbClr val="B388FF">
              <a:alpha val="8000"/>
            </a:srgbClr>
          </a:solidFill>
          <a:ln w="25400" cap="flat" cmpd="sng">
            <a:solidFill>
              <a:srgbClr val="B388FF">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lstStyle/>
          <a:p>
            <a:pPr marL="0" indent="0" algn="ctr">
              <a:lnSpc>
                <a:spcPct val="125000"/>
              </a:lnSpc>
              <a:defRPr/>
            </a:pPr>
            <a:r>
              <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预测结果</a:t>
            </a:r>
            <a:endPar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p:txBody>
      </p:sp>
      <p:sp>
        <p:nvSpPr>
          <p:cNvPr id="6" name="AutoShape 6"/>
          <p:cNvSpPr/>
          <p:nvPr/>
        </p:nvSpPr>
        <p:spPr>
          <a:xfrm>
            <a:off x="6604567" y="4834890"/>
            <a:ext cx="1548000" cy="540000"/>
          </a:xfrm>
          <a:prstGeom prst="roundRect">
            <a:avLst>
              <a:gd name="adj" fmla="val 0"/>
            </a:avLst>
          </a:prstGeom>
          <a:solidFill>
            <a:srgbClr val="69F0AE">
              <a:alpha val="8000"/>
            </a:srgbClr>
          </a:solidFill>
          <a:ln w="25400" cap="flat" cmpd="sng">
            <a:solidFill>
              <a:srgbClr val="69F0AE">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lstStyle/>
          <a:p>
            <a:pPr indent="0" algn="ctr" fontAlgn="auto">
              <a:spcAft>
                <a:spcPts val="600"/>
              </a:spcAft>
              <a:defRPr/>
            </a:pPr>
            <a:r>
              <a:rPr lang="zh-CN" altLang="en-US" i="0" u="none" strike="noStrike">
                <a:solidFill>
                  <a:schemeClr val="bg1"/>
                </a:solidFill>
                <a:latin typeface="Noto Sans SC" panose="020B0200000000000000" charset="-122"/>
                <a:ea typeface="SimSun" pitchFamily="2" charset="-122"/>
                <a:cs typeface="Noto Sans SC" panose="020B0200000000000000" charset="-122"/>
                <a:sym typeface="+mn-ea"/>
              </a:rPr>
              <a:t>停止</a:t>
            </a:r>
            <a:endParaRPr lang="zh-CN" altLang="en-US" i="0" u="none" strike="noStrike">
              <a:solidFill>
                <a:schemeClr val="bg1"/>
              </a:solidFill>
              <a:latin typeface="Noto Sans SC" panose="020B0200000000000000" charset="-122"/>
              <a:ea typeface="SimSun" pitchFamily="2" charset="-122"/>
              <a:cs typeface="Noto Sans SC" panose="020B0200000000000000" charset="-122"/>
              <a:sym typeface="+mn-ea"/>
            </a:endParaRPr>
          </a:p>
        </p:txBody>
      </p:sp>
      <p:sp>
        <p:nvSpPr>
          <p:cNvPr id="9" name="AutoShape 6"/>
          <p:cNvSpPr/>
          <p:nvPr/>
        </p:nvSpPr>
        <p:spPr>
          <a:xfrm>
            <a:off x="9754037" y="4835967"/>
            <a:ext cx="1547495" cy="539750"/>
          </a:xfrm>
          <a:prstGeom prst="roundRect">
            <a:avLst>
              <a:gd name="adj" fmla="val 0"/>
            </a:avLst>
          </a:prstGeom>
          <a:solidFill>
            <a:srgbClr val="FFE3B1">
              <a:alpha val="8000"/>
            </a:srgbClr>
          </a:solidFill>
          <a:ln w="25400" cap="flat" cmpd="sng">
            <a:solidFill>
              <a:srgbClr val="FFE3B1">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lstStyle/>
          <a:p>
            <a:pPr marL="0" indent="0" algn="ctr">
              <a:lnSpc>
                <a:spcPct val="125000"/>
              </a:lnSpc>
              <a:defRPr/>
            </a:pPr>
            <a:r>
              <a:rPr lang="zh-CN"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误差</a:t>
            </a:r>
            <a:r>
              <a:rPr lang="en-US" altLang="zh-CN"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a:t>
            </a:r>
            <a:r>
              <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rPr>
              <a:t>损失</a:t>
            </a:r>
            <a:endParaRPr lang="zh-CN" altLang="en-US" i="0" u="none" strike="noStrike">
              <a:solidFill>
                <a:srgbClr val="FFFFFF"/>
              </a:solidFill>
              <a:latin typeface="Noto Sans SC" panose="020B0200000000000000" charset="-122"/>
              <a:ea typeface="SimSun" pitchFamily="2" charset="-122"/>
              <a:cs typeface="Noto Sans SC" panose="020B0200000000000000" charset="-122"/>
              <a:sym typeface="Noto Sans SC" panose="020B0200000000000000" charset="-122"/>
            </a:endParaRPr>
          </a:p>
        </p:txBody>
      </p:sp>
      <p:grpSp>
        <p:nvGrpSpPr>
          <p:cNvPr id="21" name="组合 20"/>
          <p:cNvGrpSpPr/>
          <p:nvPr/>
        </p:nvGrpSpPr>
        <p:grpSpPr>
          <a:xfrm>
            <a:off x="8255437" y="2656840"/>
            <a:ext cx="1394460" cy="464820"/>
            <a:chOff x="4372" y="4183"/>
            <a:chExt cx="2196" cy="732"/>
          </a:xfrm>
        </p:grpSpPr>
        <p:sp>
          <p:nvSpPr>
            <p:cNvPr id="23" name="文本框 22"/>
            <p:cNvSpPr txBox="1"/>
            <p:nvPr/>
          </p:nvSpPr>
          <p:spPr>
            <a:xfrm>
              <a:off x="4372" y="4183"/>
              <a:ext cx="2196" cy="725"/>
            </a:xfrm>
            <a:prstGeom prst="rect">
              <a:avLst/>
            </a:prstGeom>
            <a:noFill/>
          </p:spPr>
          <p:txBody>
            <a:bodyPr wrap="square" rtlCol="0">
              <a:spAutoFit/>
            </a:bodyPr>
            <a:lstStyle/>
            <a:p>
              <a:pPr algn="ctr">
                <a:lnSpc>
                  <a:spcPct val="150000"/>
                </a:lnSpc>
              </a:pPr>
              <a:r>
                <a:rPr lang="zh-CN" sz="1600">
                  <a:solidFill>
                    <a:srgbClr val="00E5FF"/>
                  </a:solidFill>
                </a:rPr>
                <a:t>模型预测</a:t>
              </a:r>
              <a:endParaRPr lang="zh-CN" sz="1600">
                <a:solidFill>
                  <a:srgbClr val="00E5FF"/>
                </a:solidFill>
              </a:endParaRPr>
            </a:p>
          </p:txBody>
        </p:sp>
        <p:cxnSp>
          <p:nvCxnSpPr>
            <p:cNvPr id="28" name="直接箭头连接符 27"/>
            <p:cNvCxnSpPr/>
            <p:nvPr/>
          </p:nvCxnSpPr>
          <p:spPr>
            <a:xfrm>
              <a:off x="4619" y="4915"/>
              <a:ext cx="1701" cy="0"/>
            </a:xfrm>
            <a:prstGeom prst="straightConnector1">
              <a:avLst/>
            </a:prstGeom>
            <a:ln w="19050">
              <a:solidFill>
                <a:srgbClr val="00E5FF"/>
              </a:solidFill>
              <a:prstDash val="sysDash"/>
              <a:tailEnd type="stealth" w="lg" len="lg"/>
            </a:ln>
          </p:spPr>
          <p:style>
            <a:lnRef idx="2">
              <a:schemeClr val="accent1"/>
            </a:lnRef>
            <a:fillRef idx="0">
              <a:srgbClr val="FFFFFF"/>
            </a:fillRef>
            <a:effectRef idx="0">
              <a:srgbClr val="FFFFFF"/>
            </a:effectRef>
            <a:fontRef idx="minor">
              <a:schemeClr val="tx1"/>
            </a:fontRef>
          </p:style>
        </p:cxnSp>
      </p:grpSp>
      <p:grpSp>
        <p:nvGrpSpPr>
          <p:cNvPr id="29" name="组合 28"/>
          <p:cNvGrpSpPr/>
          <p:nvPr/>
        </p:nvGrpSpPr>
        <p:grpSpPr>
          <a:xfrm>
            <a:off x="8402955" y="3369945"/>
            <a:ext cx="1027430" cy="1394460"/>
            <a:chOff x="3910" y="5535"/>
            <a:chExt cx="1618" cy="2196"/>
          </a:xfrm>
        </p:grpSpPr>
        <p:sp>
          <p:nvSpPr>
            <p:cNvPr id="30" name="文本框 29"/>
            <p:cNvSpPr txBox="1"/>
            <p:nvPr/>
          </p:nvSpPr>
          <p:spPr>
            <a:xfrm rot="2700000">
              <a:off x="3621" y="5979"/>
              <a:ext cx="2196" cy="1307"/>
            </a:xfrm>
            <a:prstGeom prst="rect">
              <a:avLst/>
            </a:prstGeom>
            <a:noFill/>
          </p:spPr>
          <p:txBody>
            <a:bodyPr wrap="square" rtlCol="0">
              <a:spAutoFit/>
            </a:bodyPr>
            <a:lstStyle/>
            <a:p>
              <a:pPr algn="ctr">
                <a:lnSpc>
                  <a:spcPct val="150000"/>
                </a:lnSpc>
              </a:pPr>
              <a:r>
                <a:rPr lang="zh-CN" sz="1600">
                  <a:solidFill>
                    <a:srgbClr val="FFE3B1"/>
                  </a:solidFill>
                </a:rPr>
                <a:t>调整模型</a:t>
              </a:r>
              <a:endParaRPr lang="zh-CN" sz="1600">
                <a:solidFill>
                  <a:srgbClr val="FFE3B1"/>
                </a:solidFill>
              </a:endParaRPr>
            </a:p>
            <a:p>
              <a:pPr algn="ctr">
                <a:lnSpc>
                  <a:spcPct val="150000"/>
                </a:lnSpc>
              </a:pPr>
              <a:r>
                <a:rPr lang="zh-CN" sz="1600">
                  <a:solidFill>
                    <a:srgbClr val="FFE3B1"/>
                  </a:solidFill>
                </a:rPr>
                <a:t>参数</a:t>
              </a:r>
              <a:endParaRPr lang="zh-CN" sz="1600">
                <a:solidFill>
                  <a:srgbClr val="FFE3B1"/>
                </a:solidFill>
              </a:endParaRPr>
            </a:p>
          </p:txBody>
        </p:sp>
        <p:cxnSp>
          <p:nvCxnSpPr>
            <p:cNvPr id="31" name="直接箭头连接符 30"/>
            <p:cNvCxnSpPr/>
            <p:nvPr/>
          </p:nvCxnSpPr>
          <p:spPr>
            <a:xfrm flipH="1" flipV="1">
              <a:off x="3910" y="5823"/>
              <a:ext cx="1618" cy="1619"/>
            </a:xfrm>
            <a:prstGeom prst="straightConnector1">
              <a:avLst/>
            </a:prstGeom>
            <a:ln w="19050">
              <a:solidFill>
                <a:srgbClr val="FFE3B1"/>
              </a:solidFill>
              <a:prstDash val="sysDash"/>
              <a:tailEnd type="stealth" w="lg" len="lg"/>
            </a:ln>
          </p:spPr>
          <p:style>
            <a:lnRef idx="2">
              <a:schemeClr val="accent1"/>
            </a:lnRef>
            <a:fillRef idx="0">
              <a:srgbClr val="FFFFFF"/>
            </a:fillRef>
            <a:effectRef idx="0">
              <a:srgbClr val="FFFFFF"/>
            </a:effectRef>
            <a:fontRef idx="minor">
              <a:schemeClr val="tx1"/>
            </a:fontRef>
          </p:style>
        </p:cxnSp>
      </p:grpSp>
      <p:grpSp>
        <p:nvGrpSpPr>
          <p:cNvPr id="34" name="组合 33"/>
          <p:cNvGrpSpPr/>
          <p:nvPr/>
        </p:nvGrpSpPr>
        <p:grpSpPr>
          <a:xfrm>
            <a:off x="9820275" y="3548822"/>
            <a:ext cx="943795" cy="1080135"/>
            <a:chOff x="15465" y="5589"/>
            <a:chExt cx="1486" cy="1701"/>
          </a:xfrm>
        </p:grpSpPr>
        <p:grpSp>
          <p:nvGrpSpPr>
            <p:cNvPr id="15" name="组合 14"/>
            <p:cNvGrpSpPr/>
            <p:nvPr/>
          </p:nvGrpSpPr>
          <p:grpSpPr>
            <a:xfrm>
              <a:off x="16201" y="5589"/>
              <a:ext cx="750" cy="1701"/>
              <a:chOff x="7104" y="6218"/>
              <a:chExt cx="750" cy="1701"/>
            </a:xfrm>
          </p:grpSpPr>
          <p:cxnSp>
            <p:nvCxnSpPr>
              <p:cNvPr id="16" name="直接箭头连接符 15"/>
              <p:cNvCxnSpPr/>
              <p:nvPr/>
            </p:nvCxnSpPr>
            <p:spPr>
              <a:xfrm rot="5400000">
                <a:off x="6258" y="7068"/>
                <a:ext cx="1701" cy="0"/>
              </a:xfrm>
              <a:prstGeom prst="straightConnector1">
                <a:avLst/>
              </a:prstGeom>
              <a:ln w="19050">
                <a:solidFill>
                  <a:srgbClr val="B388FF"/>
                </a:solidFill>
                <a:prstDash val="sysDash"/>
                <a:tailEnd type="stealth" w="lg" len="lg"/>
              </a:ln>
            </p:spPr>
            <p:style>
              <a:lnRef idx="2">
                <a:schemeClr val="accent1"/>
              </a:lnRef>
              <a:fillRef idx="0">
                <a:srgbClr val="FFFFFF"/>
              </a:fillRef>
              <a:effectRef idx="0">
                <a:srgbClr val="FFFFFF"/>
              </a:effectRef>
              <a:fontRef idx="minor">
                <a:schemeClr val="tx1"/>
              </a:fontRef>
            </p:style>
          </p:cxnSp>
          <p:sp>
            <p:nvSpPr>
              <p:cNvPr id="17" name="文本框 16"/>
              <p:cNvSpPr txBox="1"/>
              <p:nvPr/>
            </p:nvSpPr>
            <p:spPr>
              <a:xfrm>
                <a:off x="7104" y="6220"/>
                <a:ext cx="750" cy="1695"/>
              </a:xfrm>
              <a:prstGeom prst="rect">
                <a:avLst/>
              </a:prstGeom>
              <a:noFill/>
            </p:spPr>
            <p:txBody>
              <a:bodyPr wrap="square" rtlCol="0">
                <a:spAutoFit/>
              </a:bodyPr>
              <a:lstStyle/>
              <a:p>
                <a:pPr algn="ctr">
                  <a:lnSpc>
                    <a:spcPct val="100000"/>
                  </a:lnSpc>
                </a:pPr>
                <a:r>
                  <a:rPr lang="zh-CN" sz="1600">
                    <a:solidFill>
                      <a:srgbClr val="B388FF"/>
                    </a:solidFill>
                  </a:rPr>
                  <a:t>对比预测</a:t>
                </a:r>
                <a:endParaRPr lang="zh-CN" sz="1600">
                  <a:solidFill>
                    <a:srgbClr val="B388FF"/>
                  </a:solidFill>
                </a:endParaRPr>
              </a:p>
            </p:txBody>
          </p:sp>
        </p:grpSp>
        <p:sp>
          <p:nvSpPr>
            <p:cNvPr id="33" name="文本框 32"/>
            <p:cNvSpPr txBox="1"/>
            <p:nvPr/>
          </p:nvSpPr>
          <p:spPr>
            <a:xfrm>
              <a:off x="15465" y="5591"/>
              <a:ext cx="750" cy="1691"/>
            </a:xfrm>
            <a:prstGeom prst="rect">
              <a:avLst/>
            </a:prstGeom>
            <a:noFill/>
          </p:spPr>
          <p:txBody>
            <a:bodyPr wrap="square" rtlCol="0" anchor="ctr" anchorCtr="0">
              <a:noAutofit/>
            </a:bodyPr>
            <a:lstStyle/>
            <a:p>
              <a:pPr algn="ctr">
                <a:lnSpc>
                  <a:spcPct val="100000"/>
                </a:lnSpc>
              </a:pPr>
              <a:r>
                <a:rPr lang="zh-CN" sz="1600">
                  <a:solidFill>
                    <a:srgbClr val="B388FF"/>
                  </a:solidFill>
                </a:rPr>
                <a:t>和理想结果</a:t>
              </a:r>
              <a:endParaRPr lang="zh-CN" sz="1600">
                <a:solidFill>
                  <a:srgbClr val="B388FF"/>
                </a:solidFill>
              </a:endParaRPr>
            </a:p>
          </p:txBody>
        </p:sp>
      </p:grpSp>
      <p:grpSp>
        <p:nvGrpSpPr>
          <p:cNvPr id="36" name="组合 35"/>
          <p:cNvGrpSpPr/>
          <p:nvPr/>
        </p:nvGrpSpPr>
        <p:grpSpPr>
          <a:xfrm>
            <a:off x="2520752" y="4646295"/>
            <a:ext cx="1394460" cy="460375"/>
            <a:chOff x="4428" y="7317"/>
            <a:chExt cx="2196" cy="725"/>
          </a:xfrm>
        </p:grpSpPr>
        <p:sp>
          <p:nvSpPr>
            <p:cNvPr id="35" name="文本框 34"/>
            <p:cNvSpPr txBox="1"/>
            <p:nvPr/>
          </p:nvSpPr>
          <p:spPr>
            <a:xfrm>
              <a:off x="4428" y="7317"/>
              <a:ext cx="2196" cy="725"/>
            </a:xfrm>
            <a:prstGeom prst="rect">
              <a:avLst/>
            </a:prstGeom>
            <a:noFill/>
          </p:spPr>
          <p:txBody>
            <a:bodyPr wrap="square" rtlCol="0">
              <a:spAutoFit/>
            </a:bodyPr>
            <a:lstStyle/>
            <a:p>
              <a:pPr algn="ctr">
                <a:lnSpc>
                  <a:spcPct val="150000"/>
                </a:lnSpc>
              </a:pPr>
              <a:r>
                <a:rPr lang="zh-CN" sz="1600">
                  <a:solidFill>
                    <a:srgbClr val="69F0AE"/>
                  </a:solidFill>
                </a:rPr>
                <a:t>错误很少</a:t>
              </a:r>
              <a:endParaRPr lang="zh-CN" sz="1600">
                <a:solidFill>
                  <a:srgbClr val="69F0AE"/>
                </a:solidFill>
              </a:endParaRPr>
            </a:p>
          </p:txBody>
        </p:sp>
        <p:cxnSp>
          <p:nvCxnSpPr>
            <p:cNvPr id="27" name="直接箭头连接符 26"/>
            <p:cNvCxnSpPr/>
            <p:nvPr/>
          </p:nvCxnSpPr>
          <p:spPr>
            <a:xfrm>
              <a:off x="4675" y="8038"/>
              <a:ext cx="1701" cy="0"/>
            </a:xfrm>
            <a:prstGeom prst="straightConnector1">
              <a:avLst/>
            </a:prstGeom>
            <a:ln w="19050">
              <a:solidFill>
                <a:srgbClr val="69F0AE"/>
              </a:solidFill>
              <a:prstDash val="sysDash"/>
              <a:headEnd type="stealth" w="lg" len="lg"/>
              <a:tailEnd type="none" w="lg" len="lg"/>
            </a:ln>
          </p:spPr>
          <p:style>
            <a:lnRef idx="2">
              <a:schemeClr val="accent1"/>
            </a:lnRef>
            <a:fillRef idx="0">
              <a:srgbClr val="FFFFFF"/>
            </a:fillRef>
            <a:effectRef idx="0">
              <a:srgbClr val="FFFFFF"/>
            </a:effectRef>
            <a:fontRef idx="minor">
              <a:schemeClr val="tx1"/>
            </a:fontRef>
          </p:style>
        </p:cxnSp>
      </p:grpSp>
      <p:grpSp>
        <p:nvGrpSpPr>
          <p:cNvPr id="37" name="组合 36"/>
          <p:cNvGrpSpPr/>
          <p:nvPr/>
        </p:nvGrpSpPr>
        <p:grpSpPr>
          <a:xfrm>
            <a:off x="8256072" y="4648835"/>
            <a:ext cx="1394460" cy="460375"/>
            <a:chOff x="4428" y="7317"/>
            <a:chExt cx="2196" cy="725"/>
          </a:xfrm>
        </p:grpSpPr>
        <p:sp>
          <p:nvSpPr>
            <p:cNvPr id="38" name="文本框 37"/>
            <p:cNvSpPr txBox="1"/>
            <p:nvPr/>
          </p:nvSpPr>
          <p:spPr>
            <a:xfrm>
              <a:off x="4428" y="7317"/>
              <a:ext cx="2196" cy="725"/>
            </a:xfrm>
            <a:prstGeom prst="rect">
              <a:avLst/>
            </a:prstGeom>
            <a:noFill/>
          </p:spPr>
          <p:txBody>
            <a:bodyPr wrap="square" rtlCol="0">
              <a:spAutoFit/>
            </a:bodyPr>
            <a:lstStyle/>
            <a:p>
              <a:pPr algn="ctr">
                <a:lnSpc>
                  <a:spcPct val="150000"/>
                </a:lnSpc>
              </a:pPr>
              <a:r>
                <a:rPr lang="zh-CN" sz="1600">
                  <a:solidFill>
                    <a:srgbClr val="69F0AE"/>
                  </a:solidFill>
                </a:rPr>
                <a:t>误差很小</a:t>
              </a:r>
              <a:endParaRPr lang="zh-CN" sz="1600">
                <a:solidFill>
                  <a:srgbClr val="69F0AE"/>
                </a:solidFill>
              </a:endParaRPr>
            </a:p>
          </p:txBody>
        </p:sp>
        <p:cxnSp>
          <p:nvCxnSpPr>
            <p:cNvPr id="39" name="直接箭头连接符 38"/>
            <p:cNvCxnSpPr/>
            <p:nvPr/>
          </p:nvCxnSpPr>
          <p:spPr>
            <a:xfrm>
              <a:off x="4675" y="8038"/>
              <a:ext cx="1701" cy="0"/>
            </a:xfrm>
            <a:prstGeom prst="straightConnector1">
              <a:avLst/>
            </a:prstGeom>
            <a:ln w="19050">
              <a:solidFill>
                <a:srgbClr val="69F0AE"/>
              </a:solidFill>
              <a:prstDash val="sysDash"/>
              <a:headEnd type="stealth" w="lg" len="lg"/>
              <a:tailEnd type="none" w="lg" len="lg"/>
            </a:ln>
          </p:spPr>
          <p:style>
            <a:lnRef idx="2">
              <a:schemeClr val="accent1"/>
            </a:lnRef>
            <a:fillRef idx="0">
              <a:srgbClr val="FFFFFF"/>
            </a:fillRef>
            <a:effectRef idx="0">
              <a:srgbClr val="FFFFFF"/>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animEffect transition="in" filter="fade">
                                      <p:cBhvr>
                                        <p:cTn id="7" dur="500"/>
                                        <p:tgtEl>
                                          <p:spTgt spid="1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500"/>
                                        <p:tgtEl>
                                          <p:spTgt spid="24"/>
                                        </p:tgtEl>
                                      </p:cBhvr>
                                    </p:animEffect>
                                  </p:childTnLst>
                                </p:cTn>
                              </p:par>
                            </p:childTnLst>
                          </p:cTn>
                        </p:par>
                        <p:par>
                          <p:cTn id="27" fill="hold">
                            <p:stCondLst>
                              <p:cond delay="500"/>
                            </p:stCondLst>
                            <p:childTnLst>
                              <p:par>
                                <p:cTn id="28" presetID="10" presetClass="entr" presetSubtype="0" fill="hold" grpId="0" nodeType="after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00"/>
                                        <p:tgtEl>
                                          <p:spTgt spid="26"/>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500"/>
                                        <p:tgtEl>
                                          <p:spTgt spid="36"/>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500"/>
                                        <p:tgtEl>
                                          <p:spTgt spid="4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0">
                                            <p:txEl>
                                              <p:pRg st="0" end="0"/>
                                            </p:txEl>
                                          </p:spTgt>
                                        </p:tgtEl>
                                        <p:attrNameLst>
                                          <p:attrName>style.visibility</p:attrName>
                                        </p:attrNameLst>
                                      </p:cBhvr>
                                      <p:to>
                                        <p:strVal val="visible"/>
                                      </p:to>
                                    </p:set>
                                    <p:animEffect transition="in" filter="fade">
                                      <p:cBhvr>
                                        <p:cTn id="49" dur="500"/>
                                        <p:tgtEl>
                                          <p:spTgt spid="20">
                                            <p:txEl>
                                              <p:pRg st="0" end="0"/>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
                                        </p:tgtEl>
                                        <p:attrNameLst>
                                          <p:attrName>style.visibility</p:attrName>
                                        </p:attrNameLst>
                                      </p:cBhvr>
                                      <p:to>
                                        <p:strVal val="visible"/>
                                      </p:to>
                                    </p:set>
                                    <p:animEffect transition="in" filter="fade">
                                      <p:cBhvr>
                                        <p:cTn id="54" dur="500"/>
                                        <p:tgtEl>
                                          <p:spTgt spid="3"/>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childTnLst>
                          </p:cTn>
                        </p:par>
                        <p:par>
                          <p:cTn id="60" fill="hold">
                            <p:stCondLst>
                              <p:cond delay="500"/>
                            </p:stCondLst>
                            <p:childTnLst>
                              <p:par>
                                <p:cTn id="61" presetID="10" presetClass="entr" presetSubtype="0" fill="hold" grpId="0" nodeType="afterEffect">
                                  <p:stCondLst>
                                    <p:cond delay="0"/>
                                  </p:stCondLst>
                                  <p:childTnLst>
                                    <p:set>
                                      <p:cBhvr>
                                        <p:cTn id="62" dur="1" fill="hold">
                                          <p:stCondLst>
                                            <p:cond delay="0"/>
                                          </p:stCondLst>
                                        </p:cTn>
                                        <p:tgtEl>
                                          <p:spTgt spid="5"/>
                                        </p:tgtEl>
                                        <p:attrNameLst>
                                          <p:attrName>style.visibility</p:attrName>
                                        </p:attrNameLst>
                                      </p:cBhvr>
                                      <p:to>
                                        <p:strVal val="visible"/>
                                      </p:to>
                                    </p:set>
                                    <p:animEffect transition="in" filter="fade">
                                      <p:cBhvr>
                                        <p:cTn id="63" dur="500"/>
                                        <p:tgtEl>
                                          <p:spTgt spid="5"/>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34"/>
                                        </p:tgtEl>
                                        <p:attrNameLst>
                                          <p:attrName>style.visibility</p:attrName>
                                        </p:attrNameLst>
                                      </p:cBhvr>
                                      <p:to>
                                        <p:strVal val="visible"/>
                                      </p:to>
                                    </p:set>
                                    <p:animEffect transition="in" filter="fade">
                                      <p:cBhvr>
                                        <p:cTn id="68" dur="500"/>
                                        <p:tgtEl>
                                          <p:spTgt spid="34"/>
                                        </p:tgtEl>
                                      </p:cBhvr>
                                    </p:animEffect>
                                  </p:childTnLst>
                                </p:cTn>
                              </p:par>
                            </p:childTnLst>
                          </p:cTn>
                        </p:par>
                        <p:par>
                          <p:cTn id="69" fill="hold">
                            <p:stCondLst>
                              <p:cond delay="500"/>
                            </p:stCondLst>
                            <p:childTnLst>
                              <p:par>
                                <p:cTn id="70" presetID="10" presetClass="entr" presetSubtype="0" fill="hold" grpId="0" nodeType="afterEffect">
                                  <p:stCondLst>
                                    <p:cond delay="0"/>
                                  </p:stCondLst>
                                  <p:childTnLst>
                                    <p:set>
                                      <p:cBhvr>
                                        <p:cTn id="71" dur="1" fill="hold">
                                          <p:stCondLst>
                                            <p:cond delay="0"/>
                                          </p:stCondLst>
                                        </p:cTn>
                                        <p:tgtEl>
                                          <p:spTgt spid="9"/>
                                        </p:tgtEl>
                                        <p:attrNameLst>
                                          <p:attrName>style.visibility</p:attrName>
                                        </p:attrNameLst>
                                      </p:cBhvr>
                                      <p:to>
                                        <p:strVal val="visible"/>
                                      </p:to>
                                    </p:set>
                                    <p:animEffect transition="in" filter="fade">
                                      <p:cBhvr>
                                        <p:cTn id="72" dur="500"/>
                                        <p:tgtEl>
                                          <p:spTgt spid="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500"/>
                                        <p:tgtEl>
                                          <p:spTgt spid="29"/>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37"/>
                                        </p:tgtEl>
                                        <p:attrNameLst>
                                          <p:attrName>style.visibility</p:attrName>
                                        </p:attrNameLst>
                                      </p:cBhvr>
                                      <p:to>
                                        <p:strVal val="visible"/>
                                      </p:to>
                                    </p:set>
                                    <p:animEffect transition="in" filter="fade">
                                      <p:cBhvr>
                                        <p:cTn id="82" dur="500"/>
                                        <p:tgtEl>
                                          <p:spTgt spid="37"/>
                                        </p:tgtEl>
                                      </p:cBhvr>
                                    </p:animEffect>
                                  </p:childTnLst>
                                </p:cTn>
                              </p:par>
                            </p:childTnLst>
                          </p:cTn>
                        </p:par>
                        <p:par>
                          <p:cTn id="83" fill="hold">
                            <p:stCondLst>
                              <p:cond delay="500"/>
                            </p:stCondLst>
                            <p:childTnLst>
                              <p:par>
                                <p:cTn id="84" presetID="10" presetClass="entr" presetSubtype="0" fill="hold" grpId="0" nodeType="afterEffect">
                                  <p:stCondLst>
                                    <p:cond delay="0"/>
                                  </p:stCondLst>
                                  <p:childTnLst>
                                    <p:set>
                                      <p:cBhvr>
                                        <p:cTn id="85" dur="1" fill="hold">
                                          <p:stCondLst>
                                            <p:cond delay="0"/>
                                          </p:stCondLst>
                                        </p:cTn>
                                        <p:tgtEl>
                                          <p:spTgt spid="6"/>
                                        </p:tgtEl>
                                        <p:attrNameLst>
                                          <p:attrName>style.visibility</p:attrName>
                                        </p:attrNameLst>
                                      </p:cBhvr>
                                      <p:to>
                                        <p:strVal val="visible"/>
                                      </p:to>
                                    </p:set>
                                    <p:animEffect transition="in" filter="fade">
                                      <p:cBhvr>
                                        <p:cTn id="86"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P spid="19" grpId="1" build="p"/>
      <p:bldP spid="20" grpId="0" build="p"/>
      <p:bldP spid="20" grpId="1" build="p"/>
      <p:bldP spid="12" grpId="0" animBg="1"/>
      <p:bldP spid="12" grpId="1" animBg="1"/>
      <p:bldP spid="13" grpId="0" animBg="1"/>
      <p:bldP spid="13" grpId="1" animBg="1"/>
      <p:bldP spid="45" grpId="0" animBg="1"/>
      <p:bldP spid="45" grpId="1" animBg="1"/>
      <p:bldP spid="10" grpId="0" animBg="1"/>
      <p:bldP spid="10" grpId="1" animBg="1"/>
      <p:bldP spid="3" grpId="0" animBg="1"/>
      <p:bldP spid="3" grpId="1" animBg="1"/>
      <p:bldP spid="5" grpId="0" animBg="1"/>
      <p:bldP spid="5" grpId="1" animBg="1"/>
      <p:bldP spid="6" grpId="0" animBg="1"/>
      <p:bldP spid="6" grpId="1" animBg="1"/>
      <p:bldP spid="9" grpId="0" animBg="1"/>
      <p:bldP spid="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模型的训练过程</a:t>
            </a:r>
            <a:endParaRPr lang="zh-CN" altLang="en-US"/>
          </a:p>
        </p:txBody>
      </p:sp>
      <mc:AlternateContent xmlns:mc="http://schemas.openxmlformats.org/markup-compatibility/2006">
        <mc:Choice xmlns:a14="http://schemas.microsoft.com/office/drawing/2010/main" Requires="a14">
          <p:sp>
            <p:nvSpPr>
              <p:cNvPr id="3" name="内容占位符 2"/>
              <p:cNvSpPr>
                <a:spLocks noGrp="1"/>
              </p:cNvSpPr>
              <p:nvPr>
                <p:ph idx="1"/>
              </p:nvPr>
            </p:nvSpPr>
            <p:spPr/>
            <p:txBody>
              <a:bodyPr/>
              <a:lstStyle/>
              <a:p>
                <a:r>
                  <a:rPr lang="zh-CN" altLang="en-US" dirty="0"/>
                  <a:t>找到用参数描述数据的最优方式</a:t>
                </a:r>
                <a:endParaRPr lang="zh-CN" altLang="en-US" dirty="0"/>
              </a:p>
              <a:p>
                <a:pPr lvl="1"/>
                <a:r>
                  <a:rPr lang="zh-CN" altLang="en-US" dirty="0"/>
                  <a:t>类似于寻找一片有丘陵和坑洼的地带海拔最低的地方</a:t>
                </a:r>
                <a:endParaRPr lang="zh-CN" altLang="en-US" dirty="0"/>
              </a:p>
              <a:p>
                <a:pPr lvl="1"/>
                <a:r>
                  <a:rPr lang="zh-CN" altLang="en-US" dirty="0"/>
                  <a:t>“地形”由训练数据决定</a:t>
                </a:r>
                <a:endParaRPr lang="zh-CN" altLang="en-US" dirty="0"/>
              </a:p>
              <a:p>
                <a:pPr lvl="0"/>
                <a:r>
                  <a:rPr lang="zh-CN" altLang="en-US" dirty="0"/>
                  <a:t>例如右图中的每一个点</a:t>
                </a:r>
                <a:r>
                  <a:rPr lang="en-US" altLang="zh-CN" dirty="0"/>
                  <a:t>(a, b, </a:t>
                </a:r>
                <a:r>
                  <a:rPr lang="en-US" altLang="zh-CN" dirty="0">
                    <a:latin typeface="Noto Sans CJK SC" panose="020B0500000000000000" charset="-122"/>
                    <a:ea typeface="Noto Sans CJK SC" panose="020B0500000000000000" charset="-122"/>
                  </a:rPr>
                  <a:t>Δ)</a:t>
                </a:r>
                <a:r>
                  <a:rPr lang="zh-CN" altLang="en-US" dirty="0"/>
                  <a:t>：</a:t>
                </a:r>
                <a:endParaRPr lang="zh-CN" altLang="en-US" dirty="0"/>
              </a:p>
              <a:p>
                <a:pPr lvl="1"/>
                <a:r>
                  <a:rPr lang="en-US" altLang="zh-CN" dirty="0"/>
                  <a:t>X=a, Y=b</a:t>
                </a:r>
                <a:endParaRPr lang="en-US" altLang="zh-CN" dirty="0"/>
              </a:p>
              <a:p>
                <a:pPr lvl="1"/>
                <a:r>
                  <a:rPr lang="en-US" altLang="zh-CN" dirty="0"/>
                  <a:t>Z=</a:t>
                </a:r>
                <a:r>
                  <a:rPr lang="en-US" altLang="zh-CN" dirty="0">
                    <a:latin typeface="Noto Sans CJK SC" panose="020B0500000000000000" charset="-122"/>
                    <a:ea typeface="Noto Sans CJK SC" panose="020B0500000000000000" charset="-122"/>
                    <a:sym typeface="+mn-ea"/>
                  </a:rPr>
                  <a:t>Δ</a:t>
                </a:r>
                <a:endParaRPr lang="en-US" altLang="zh-CN" dirty="0">
                  <a:latin typeface="Noto Sans CJK SC" panose="020B0500000000000000" charset="-122"/>
                  <a:ea typeface="Noto Sans CJK SC" panose="020B0500000000000000" charset="-122"/>
                  <a:sym typeface="+mn-ea"/>
                </a:endParaRPr>
              </a:p>
              <a:p>
                <a:pPr lvl="1"/>
                <a14:m>
                  <m:oMath xmlns:m="http://schemas.openxmlformats.org/officeDocument/2006/math">
                    <m:sSub>
                      <m:sSubPr>
                        <m:ctrlPr>
                          <a:rPr lang="en-US" altLang="zh-CN" i="1">
                            <a:latin typeface="DejaVu Math TeX Gyre" panose="02000503000000000000" charset="0"/>
                            <a:cs typeface="DejaVu Math TeX Gyre" panose="02000503000000000000" charset="0"/>
                          </a:rPr>
                        </m:ctrlPr>
                      </m:sSubPr>
                      <m:e>
                        <m:r>
                          <a:rPr lang="en-US" altLang="zh-CN" i="1">
                            <a:latin typeface="DejaVu Math TeX Gyre" panose="02000503000000000000" charset="0"/>
                            <a:cs typeface="DejaVu Math TeX Gyre" panose="02000503000000000000" charset="0"/>
                          </a:rPr>
                          <m:t>𝑓</m:t>
                        </m:r>
                      </m:e>
                      <m:sub>
                        <m:r>
                          <a:rPr lang="en-US" altLang="zh-CN" i="1">
                            <a:latin typeface="DejaVu Math TeX Gyre" panose="02000503000000000000" charset="0"/>
                            <a:cs typeface="DejaVu Math TeX Gyre" panose="02000503000000000000" charset="0"/>
                          </a:rPr>
                          <m:t>𝑥</m:t>
                        </m:r>
                        <m:r>
                          <a:rPr lang="en-US" altLang="zh-CN" i="1">
                            <a:latin typeface="DejaVu Math TeX Gyre" panose="02000503000000000000" charset="0"/>
                            <a:ea typeface="MS Mincho" charset="0"/>
                            <a:cs typeface="DejaVu Math TeX Gyre" panose="02000503000000000000" charset="0"/>
                          </a:rPr>
                          <m:t>=</m:t>
                        </m:r>
                        <m:r>
                          <a:rPr lang="en-US" altLang="zh-CN" i="1">
                            <a:latin typeface="DejaVu Math TeX Gyre" panose="02000503000000000000" charset="0"/>
                            <a:cs typeface="DejaVu Math TeX Gyre" panose="02000503000000000000" charset="0"/>
                          </a:rPr>
                          <m:t>𝑎</m:t>
                        </m:r>
                        <m:r>
                          <a:rPr lang="en-US" altLang="zh-CN" b="0" i="1" smtClean="0">
                            <a:latin typeface="Cambria Math" panose="02040503050406030204" pitchFamily="18" charset="0"/>
                            <a:cs typeface="DejaVu Math TeX Gyre" panose="02000503000000000000" charset="0"/>
                          </a:rPr>
                          <m:t>,</m:t>
                        </m:r>
                        <m:r>
                          <a:rPr lang="en-US" altLang="zh-CN" i="1">
                            <a:latin typeface="DejaVu Math TeX Gyre" panose="02000503000000000000" charset="0"/>
                            <a:cs typeface="DejaVu Math TeX Gyre" panose="02000503000000000000" charset="0"/>
                          </a:rPr>
                          <m:t>𝑦</m:t>
                        </m:r>
                        <m:r>
                          <a:rPr lang="en-US" altLang="zh-CN" i="1">
                            <a:latin typeface="DejaVu Math TeX Gyre" panose="02000503000000000000" charset="0"/>
                            <a:ea typeface="MS Mincho" charset="0"/>
                            <a:cs typeface="DejaVu Math TeX Gyre" panose="02000503000000000000" charset="0"/>
                          </a:rPr>
                          <m:t>=</m:t>
                        </m:r>
                        <m:r>
                          <a:rPr lang="en-US" altLang="zh-CN" i="1">
                            <a:latin typeface="DejaVu Math TeX Gyre" panose="02000503000000000000" charset="0"/>
                            <a:cs typeface="DejaVu Math TeX Gyre" panose="02000503000000000000" charset="0"/>
                          </a:rPr>
                          <m:t>𝑏</m:t>
                        </m:r>
                      </m:sub>
                    </m:sSub>
                    <m:r>
                      <a:rPr lang="en-US" altLang="zh-CN" i="1">
                        <a:latin typeface="DejaVu Math TeX Gyre" panose="02000503000000000000" charset="0"/>
                        <a:ea typeface="MS Mincho" charset="0"/>
                        <a:cs typeface="DejaVu Math TeX Gyre" panose="02000503000000000000" charset="0"/>
                      </a:rPr>
                      <m:t>(训练数据)−理想结果=</m:t>
                    </m:r>
                    <m:r>
                      <a:rPr lang="en-US" altLang="zh-CN" i="1">
                        <a:latin typeface="DejaVu Math TeX Gyre" panose="02000503000000000000" charset="0"/>
                        <a:ea typeface="MS Mincho" charset="0"/>
                        <a:cs typeface="DejaVu Math TeX Gyre" panose="02000503000000000000" charset="0"/>
                      </a:rPr>
                      <m:t>𝛥</m:t>
                    </m:r>
                  </m:oMath>
                </a14:m>
                <a:endParaRPr lang="en-US" altLang="zh-CN" dirty="0">
                  <a:latin typeface="DejaVu Math TeX Gyre" panose="02000503000000000000" charset="0"/>
                  <a:cs typeface="DejaVu Math TeX Gyre" panose="02000503000000000000" charset="0"/>
                </a:endParaRPr>
              </a:p>
            </p:txBody>
          </p:sp>
        </mc:Choice>
        <mc:Fallback>
          <p:sp>
            <p:nvSpPr>
              <p:cNvPr id="3" name="内容占位符 2"/>
              <p:cNvSpPr>
                <a:spLocks noRot="1" noChangeAspect="1" noMove="1" noResize="1" noEditPoints="1" noAdjustHandles="1" noChangeArrowheads="1" noChangeShapeType="1" noTextEdit="1"/>
              </p:cNvSpPr>
              <p:nvPr>
                <p:ph idx="1"/>
              </p:nvPr>
            </p:nvSpPr>
            <p:spPr>
              <a:blipFill rotWithShape="1">
                <a:blip r:embed="rId1"/>
                <a:stretch>
                  <a:fillRect/>
                </a:stretch>
              </a:blipFill>
            </p:spPr>
            <p:txBody>
              <a:bodyPr/>
              <a:lstStyle/>
              <a:p>
                <a:r>
                  <a:rPr lang="zh-CN" altLang="en-US">
                    <a:noFill/>
                  </a:rPr>
                  <a:t> </a:t>
                </a:r>
              </a:p>
            </p:txBody>
          </p:sp>
        </mc:Fallback>
      </mc:AlternateContent>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en-US" altLang="zh-CN"/>
          </a:p>
        </p:txBody>
      </p:sp>
      <p:pic>
        <p:nvPicPr>
          <p:cNvPr id="5" name="图片 4"/>
          <p:cNvPicPr/>
          <p:nvPr/>
        </p:nvPicPr>
        <p:blipFill>
          <a:blip r:embed="rId2"/>
          <a:stretch>
            <a:fillRect/>
          </a:stretch>
        </p:blipFill>
        <p:spPr>
          <a:xfrm>
            <a:off x="7267575" y="2212975"/>
            <a:ext cx="3895725" cy="2738755"/>
          </a:xfrm>
          <a:prstGeom prst="rect">
            <a:avLst/>
          </a:prstGeom>
          <a:ln w="19050">
            <a:solidFill>
              <a:schemeClr val="bg1"/>
            </a:solidFill>
          </a:ln>
          <a:effectLst>
            <a:outerShdw blurRad="50800" dist="38100" dir="2700000" algn="tl" rotWithShape="0">
              <a:schemeClr val="bg1">
                <a:alpha val="40000"/>
              </a:scheme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5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par>
                          <p:cTn id="27" fill="hold">
                            <p:stCondLst>
                              <p:cond delay="500"/>
                            </p:stCondLst>
                            <p:childTnLst>
                              <p:par>
                                <p:cTn id="28" presetID="10" presetClass="entr" presetSubtype="0" fill="hold" grpId="0" nodeType="afterEffect">
                                  <p:stCondLst>
                                    <p:cond delay="0"/>
                                  </p:stCondLst>
                                  <p:childTnLst>
                                    <p:set>
                                      <p:cBhvr>
                                        <p:cTn id="29" dur="1" fill="hold">
                                          <p:stCondLst>
                                            <p:cond delay="0"/>
                                          </p:stCondLst>
                                        </p:cTn>
                                        <p:tgtEl>
                                          <p:spTgt spid="3">
                                            <p:txEl>
                                              <p:pRg st="4" end="4"/>
                                            </p:txEl>
                                          </p:spTgt>
                                        </p:tgtEl>
                                        <p:attrNameLst>
                                          <p:attrName>style.visibility</p:attrName>
                                        </p:attrNameLst>
                                      </p:cBhvr>
                                      <p:to>
                                        <p:strVal val="visible"/>
                                      </p:to>
                                    </p:set>
                                    <p:animEffect transition="in" filter="fade">
                                      <p:cBhvr>
                                        <p:cTn id="30" dur="500"/>
                                        <p:tgtEl>
                                          <p:spTgt spid="3">
                                            <p:txEl>
                                              <p:pRg st="4" end="4"/>
                                            </p:txEl>
                                          </p:spTgt>
                                        </p:tgtEl>
                                      </p:cBhvr>
                                    </p:animEffect>
                                  </p:childTnLst>
                                </p:cTn>
                              </p:par>
                            </p:childTnLst>
                          </p:cTn>
                        </p:par>
                        <p:par>
                          <p:cTn id="31" fill="hold">
                            <p:stCondLst>
                              <p:cond delay="1000"/>
                            </p:stCondLst>
                            <p:childTnLst>
                              <p:par>
                                <p:cTn id="32" presetID="10" presetClass="entr" presetSubtype="0" fill="hold" grpId="0" nodeType="afterEffect">
                                  <p:stCondLst>
                                    <p:cond delay="0"/>
                                  </p:stCondLst>
                                  <p:childTnLst>
                                    <p:set>
                                      <p:cBhvr>
                                        <p:cTn id="33" dur="1" fill="hold">
                                          <p:stCondLst>
                                            <p:cond delay="0"/>
                                          </p:stCondLst>
                                        </p:cTn>
                                        <p:tgtEl>
                                          <p:spTgt spid="3">
                                            <p:txEl>
                                              <p:pRg st="5" end="5"/>
                                            </p:txEl>
                                          </p:spTgt>
                                        </p:tgtEl>
                                        <p:attrNameLst>
                                          <p:attrName>style.visibility</p:attrName>
                                        </p:attrNameLst>
                                      </p:cBhvr>
                                      <p:to>
                                        <p:strVal val="visible"/>
                                      </p:to>
                                    </p:set>
                                    <p:animEffect transition="in" filter="fade">
                                      <p:cBhvr>
                                        <p:cTn id="34" dur="500"/>
                                        <p:tgtEl>
                                          <p:spTgt spid="3">
                                            <p:txEl>
                                              <p:pRg st="5" end="5"/>
                                            </p:txEl>
                                          </p:spTgt>
                                        </p:tgtEl>
                                      </p:cBhvr>
                                    </p:animEffect>
                                  </p:childTnLst>
                                </p:cTn>
                              </p:par>
                            </p:childTnLst>
                          </p:cTn>
                        </p:par>
                        <p:par>
                          <p:cTn id="35" fill="hold">
                            <p:stCondLst>
                              <p:cond delay="1500"/>
                            </p:stCondLst>
                            <p:childTnLst>
                              <p:par>
                                <p:cTn id="36" presetID="10" presetClass="entr" presetSubtype="0" fill="hold" grpId="0" nodeType="after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三个训练阶段</a:t>
            </a:r>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en-US" altLang="zh-CN"/>
          </a:p>
        </p:txBody>
      </p:sp>
      <p:grpSp>
        <p:nvGrpSpPr>
          <p:cNvPr id="18" name="组合 17"/>
          <p:cNvGrpSpPr/>
          <p:nvPr/>
        </p:nvGrpSpPr>
        <p:grpSpPr>
          <a:xfrm>
            <a:off x="762000" y="1651635"/>
            <a:ext cx="9304020" cy="1333500"/>
            <a:chOff x="800" y="2600"/>
            <a:chExt cx="14652" cy="2100"/>
          </a:xfrm>
        </p:grpSpPr>
        <p:sp>
          <p:nvSpPr>
            <p:cNvPr id="6" name="AutoShape 6"/>
            <p:cNvSpPr/>
            <p:nvPr/>
          </p:nvSpPr>
          <p:spPr>
            <a:xfrm>
              <a:off x="800" y="2600"/>
              <a:ext cx="14652" cy="210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800" y="2600"/>
              <a:ext cx="120" cy="210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200" y="2800"/>
              <a:ext cx="14252" cy="7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69F0AE"/>
                  </a:solidFill>
                  <a:latin typeface="Noto Sans SC"/>
                  <a:ea typeface="Noto Sans SC"/>
                  <a:cs typeface="Noto Sans SC"/>
                  <a:sym typeface="Noto Sans SC"/>
                </a:rPr>
                <a:t>01 </a:t>
              </a:r>
              <a:r>
                <a:rPr lang="zh-CN" altLang="en-US" sz="2400" b="1" i="0" u="none" strike="noStrike">
                  <a:solidFill>
                    <a:srgbClr val="69F0AE"/>
                  </a:solidFill>
                  <a:latin typeface="Noto Sans SC"/>
                  <a:ea typeface="SimSun" charset="0"/>
                  <a:cs typeface="Noto Sans SC"/>
                  <a:sym typeface="Noto Sans SC"/>
                </a:rPr>
                <a:t>预训练</a:t>
              </a:r>
              <a:endParaRPr lang="zh-CN" altLang="en-US" sz="2400" b="1" i="0" u="none" strike="noStrike">
                <a:solidFill>
                  <a:srgbClr val="69F0AE"/>
                </a:solidFill>
                <a:latin typeface="Noto Sans SC"/>
                <a:ea typeface="SimSun" charset="0"/>
                <a:cs typeface="Noto Sans SC"/>
                <a:sym typeface="Noto Sans SC"/>
              </a:endParaRPr>
            </a:p>
          </p:txBody>
        </p:sp>
        <p:sp>
          <p:nvSpPr>
            <p:cNvPr id="9" name="AutoShape 9"/>
            <p:cNvSpPr/>
            <p:nvPr/>
          </p:nvSpPr>
          <p:spPr>
            <a:xfrm>
              <a:off x="1200" y="3560"/>
              <a:ext cx="14252"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600" b="0" i="0" u="none" strike="noStrike">
                  <a:solidFill>
                    <a:srgbClr val="AAAAAA"/>
                  </a:solidFill>
                  <a:latin typeface="Noto Sans SC"/>
                  <a:ea typeface="SimSun" charset="0"/>
                  <a:cs typeface="Noto Sans SC"/>
                  <a:sym typeface="Noto Sans SC"/>
                </a:rPr>
                <a:t>在大量文本上学规律，预训练后的模型行文连贯、符合语法，但不一定会按指令完成任务。</a:t>
              </a:r>
              <a:endParaRPr lang="zh-CN" altLang="en-US" sz="1600" b="0" i="0" u="none" strike="noStrike">
                <a:solidFill>
                  <a:srgbClr val="AAAAAA"/>
                </a:solidFill>
                <a:latin typeface="Noto Sans SC"/>
                <a:ea typeface="SimSun" charset="0"/>
                <a:cs typeface="Noto Sans SC"/>
                <a:sym typeface="Noto Sans SC"/>
              </a:endParaRPr>
            </a:p>
          </p:txBody>
        </p:sp>
      </p:grpSp>
      <p:grpSp>
        <p:nvGrpSpPr>
          <p:cNvPr id="19" name="组合 18"/>
          <p:cNvGrpSpPr/>
          <p:nvPr/>
        </p:nvGrpSpPr>
        <p:grpSpPr>
          <a:xfrm>
            <a:off x="762000" y="3175635"/>
            <a:ext cx="9304020" cy="1333500"/>
            <a:chOff x="800" y="5000"/>
            <a:chExt cx="14652" cy="2100"/>
          </a:xfrm>
        </p:grpSpPr>
        <p:sp>
          <p:nvSpPr>
            <p:cNvPr id="10" name="AutoShape 10"/>
            <p:cNvSpPr/>
            <p:nvPr/>
          </p:nvSpPr>
          <p:spPr>
            <a:xfrm>
              <a:off x="800" y="5000"/>
              <a:ext cx="14652" cy="2100"/>
            </a:xfrm>
            <a:prstGeom prst="roundRect">
              <a:avLst>
                <a:gd name="adj" fmla="val 0"/>
              </a:avLst>
            </a:prstGeom>
            <a:solidFill>
              <a:srgbClr val="B388FF">
                <a:alpha val="8000"/>
              </a:srgbClr>
            </a:solidFill>
            <a:ln w="12700" cap="flat" cmpd="sng">
              <a:solidFill>
                <a:srgbClr val="B388FF">
                  <a:alpha val="4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800" y="5000"/>
              <a:ext cx="120" cy="2100"/>
            </a:xfrm>
            <a:prstGeom prst="roundRect">
              <a:avLst>
                <a:gd name="adj" fmla="val 0"/>
              </a:avLst>
            </a:prstGeom>
            <a:solidFill>
              <a:srgbClr val="B388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1200" y="5200"/>
              <a:ext cx="14252" cy="7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B388FF"/>
                  </a:solidFill>
                  <a:latin typeface="Noto Sans SC"/>
                  <a:ea typeface="Noto Sans SC"/>
                  <a:cs typeface="Noto Sans SC"/>
                  <a:sym typeface="Noto Sans SC"/>
                </a:rPr>
                <a:t>02 </a:t>
              </a:r>
              <a:r>
                <a:rPr lang="zh-CN" altLang="en-US" sz="2400" b="1" i="0" u="none" strike="noStrike">
                  <a:solidFill>
                    <a:srgbClr val="B388FF"/>
                  </a:solidFill>
                  <a:latin typeface="Noto Sans SC"/>
                  <a:ea typeface="Noto Sans SC"/>
                  <a:cs typeface="Noto Sans SC"/>
                  <a:sym typeface="Noto Sans SC"/>
                </a:rPr>
                <a:t>后训练</a:t>
              </a:r>
              <a:endParaRPr lang="zh-CN" altLang="en-US" sz="2400" b="1" i="0" u="none" strike="noStrike">
                <a:solidFill>
                  <a:srgbClr val="B388FF"/>
                </a:solidFill>
                <a:latin typeface="Noto Sans SC"/>
                <a:ea typeface="Noto Sans SC"/>
                <a:cs typeface="Noto Sans SC"/>
                <a:sym typeface="Noto Sans SC"/>
              </a:endParaRPr>
            </a:p>
          </p:txBody>
        </p:sp>
        <p:sp>
          <p:nvSpPr>
            <p:cNvPr id="13" name="AutoShape 13"/>
            <p:cNvSpPr/>
            <p:nvPr/>
          </p:nvSpPr>
          <p:spPr>
            <a:xfrm>
              <a:off x="1200" y="5960"/>
              <a:ext cx="14252"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600">
                  <a:solidFill>
                    <a:srgbClr val="AAAAAA"/>
                  </a:solidFill>
                  <a:latin typeface="Noto Sans SC"/>
                  <a:ea typeface="SimSun" charset="0"/>
                  <a:cs typeface="Noto Sans SC"/>
                </a:rPr>
                <a:t>学习根据任务说明后回答的方法，更能遵守用户要求、按格式输出</a:t>
              </a:r>
              <a:endParaRPr lang="zh-CN" altLang="en-US" sz="1600">
                <a:solidFill>
                  <a:srgbClr val="AAAAAA"/>
                </a:solidFill>
                <a:latin typeface="Noto Sans SC"/>
                <a:ea typeface="SimSun" charset="0"/>
                <a:cs typeface="Noto Sans SC"/>
              </a:endParaRPr>
            </a:p>
          </p:txBody>
        </p:sp>
      </p:grpSp>
      <p:grpSp>
        <p:nvGrpSpPr>
          <p:cNvPr id="20" name="组合 19"/>
          <p:cNvGrpSpPr/>
          <p:nvPr/>
        </p:nvGrpSpPr>
        <p:grpSpPr>
          <a:xfrm>
            <a:off x="762000" y="4699635"/>
            <a:ext cx="9304020" cy="1460500"/>
            <a:chOff x="800" y="7400"/>
            <a:chExt cx="14652" cy="2300"/>
          </a:xfrm>
        </p:grpSpPr>
        <p:sp>
          <p:nvSpPr>
            <p:cNvPr id="14" name="AutoShape 14"/>
            <p:cNvSpPr/>
            <p:nvPr/>
          </p:nvSpPr>
          <p:spPr>
            <a:xfrm>
              <a:off x="800" y="7400"/>
              <a:ext cx="14652" cy="2300"/>
            </a:xfrm>
            <a:prstGeom prst="roundRect">
              <a:avLst>
                <a:gd name="adj" fmla="val 0"/>
              </a:avLst>
            </a:prstGeom>
            <a:solidFill>
              <a:srgbClr val="00E5FF">
                <a:alpha val="15000"/>
              </a:srgbClr>
            </a:solidFill>
            <a:ln w="12700" cap="flat" cmpd="sng">
              <a:solidFill>
                <a:srgbClr val="00E5FF">
                  <a:alpha val="4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800" y="7400"/>
              <a:ext cx="120" cy="2300"/>
            </a:xfrm>
            <a:prstGeom prst="roundRect">
              <a:avLst>
                <a:gd name="adj" fmla="val 0"/>
              </a:avLst>
            </a:prstGeom>
            <a:solidFill>
              <a:srgbClr val="00E5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1200" y="7600"/>
              <a:ext cx="14252" cy="7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00E5FF"/>
                  </a:solidFill>
                  <a:latin typeface="Noto Sans SC"/>
                  <a:ea typeface="Noto Sans SC"/>
                  <a:cs typeface="Noto Sans SC"/>
                  <a:sym typeface="Noto Sans SC"/>
                </a:rPr>
                <a:t>03 </a:t>
              </a:r>
              <a:r>
                <a:rPr lang="zh-CN" altLang="en-US" sz="2400" b="1" i="0" u="none" strike="noStrike">
                  <a:solidFill>
                    <a:srgbClr val="00E5FF"/>
                  </a:solidFill>
                  <a:latin typeface="Noto Sans SC"/>
                  <a:ea typeface="Noto Sans SC"/>
                  <a:cs typeface="Noto Sans SC"/>
                  <a:sym typeface="Noto Sans SC"/>
                </a:rPr>
                <a:t>偏好优化/强化训练</a:t>
              </a:r>
              <a:endParaRPr lang="zh-CN" altLang="en-US" sz="2400" b="1" i="0" u="none" strike="noStrike">
                <a:solidFill>
                  <a:srgbClr val="00E5FF"/>
                </a:solidFill>
                <a:latin typeface="Noto Sans SC"/>
                <a:ea typeface="Noto Sans SC"/>
                <a:cs typeface="Noto Sans SC"/>
                <a:sym typeface="Noto Sans SC"/>
              </a:endParaRPr>
            </a:p>
          </p:txBody>
        </p:sp>
        <p:sp>
          <p:nvSpPr>
            <p:cNvPr id="17" name="AutoShape 17"/>
            <p:cNvSpPr/>
            <p:nvPr/>
          </p:nvSpPr>
          <p:spPr>
            <a:xfrm>
              <a:off x="1200" y="8360"/>
              <a:ext cx="13849" cy="13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600">
                  <a:solidFill>
                    <a:srgbClr val="AAAAAA"/>
                  </a:solidFill>
                  <a:latin typeface="Noto Sans SC"/>
                  <a:ea typeface="SimSun" charset="0"/>
                  <a:cs typeface="Noto Sans SC"/>
                </a:rPr>
                <a:t>根据人类反馈在多个候选里选更优的文本，让模型更“听话、好用、安全”，适应多轮对话、拒绝危险请求</a:t>
              </a:r>
              <a:endParaRPr lang="zh-CN" altLang="en-US" sz="1600">
                <a:solidFill>
                  <a:srgbClr val="AAAAAA"/>
                </a:solidFill>
                <a:latin typeface="Noto Sans SC"/>
                <a:ea typeface="SimSun" charset="0"/>
                <a:cs typeface="Noto Sans SC"/>
              </a:endParaRPr>
            </a:p>
          </p:txBody>
        </p:sp>
      </p:grpSp>
      <p:pic>
        <p:nvPicPr>
          <p:cNvPr id="22" name="图片 21" descr="/home/ruoyu/Downloads/article-5f60911f2983a.jpgarticle-5f60911f2983a"/>
          <p:cNvPicPr>
            <a:picLocks noChangeAspect="1"/>
          </p:cNvPicPr>
          <p:nvPr/>
        </p:nvPicPr>
        <p:blipFill>
          <a:blip r:embed="rId1"/>
          <a:srcRect l="16663" r="16662"/>
          <a:stretch>
            <a:fillRect/>
          </a:stretch>
        </p:blipFill>
        <p:spPr>
          <a:xfrm>
            <a:off x="10243787" y="1778635"/>
            <a:ext cx="1080000" cy="1080000"/>
          </a:xfrm>
          <a:prstGeom prst="snip2DiagRect">
            <a:avLst/>
          </a:prstGeom>
          <a:ln>
            <a:solidFill>
              <a:schemeClr val="bg1"/>
            </a:solidFill>
          </a:ln>
          <a:effectLst>
            <a:outerShdw blurRad="50800" dist="38100" dir="2700000" algn="tl" rotWithShape="0">
              <a:schemeClr val="bg1">
                <a:alpha val="40000"/>
              </a:schemeClr>
            </a:outerShdw>
          </a:effectLst>
        </p:spPr>
      </p:pic>
      <p:pic>
        <p:nvPicPr>
          <p:cNvPr id="24" name="图片 23" descr="/home/ruoyu/Downloads/test-1024x683.jpgtest-1024x683"/>
          <p:cNvPicPr>
            <a:picLocks noChangeAspect="1"/>
          </p:cNvPicPr>
          <p:nvPr/>
        </p:nvPicPr>
        <p:blipFill>
          <a:blip r:embed="rId2"/>
          <a:srcRect l="16706" r="16706"/>
          <a:stretch>
            <a:fillRect/>
          </a:stretch>
        </p:blipFill>
        <p:spPr>
          <a:xfrm>
            <a:off x="10244596" y="3334885"/>
            <a:ext cx="1078383" cy="1079500"/>
          </a:xfrm>
          <a:prstGeom prst="snip2DiagRect">
            <a:avLst/>
          </a:prstGeom>
          <a:ln>
            <a:solidFill>
              <a:schemeClr val="bg1"/>
            </a:solidFill>
          </a:ln>
          <a:effectLst>
            <a:outerShdw blurRad="50800" dist="38100" dir="2700000" algn="tl" rotWithShape="0">
              <a:schemeClr val="bg1">
                <a:alpha val="40000"/>
              </a:schemeClr>
            </a:outerShdw>
          </a:effectLst>
        </p:spPr>
      </p:pic>
      <p:pic>
        <p:nvPicPr>
          <p:cNvPr id="25" name="图片 24" descr="/home/ruoyu/Downloads/THIN-K.pngTHIN-K"/>
          <p:cNvPicPr>
            <a:picLocks noChangeAspect="1"/>
          </p:cNvPicPr>
          <p:nvPr/>
        </p:nvPicPr>
        <p:blipFill>
          <a:blip r:embed="rId3"/>
          <a:srcRect t="23" b="23"/>
          <a:stretch>
            <a:fillRect/>
          </a:stretch>
        </p:blipFill>
        <p:spPr>
          <a:xfrm>
            <a:off x="10243787" y="4890635"/>
            <a:ext cx="1080000" cy="1079500"/>
          </a:xfrm>
          <a:prstGeom prst="snip2DiagRect">
            <a:avLst/>
          </a:prstGeom>
          <a:ln>
            <a:solidFill>
              <a:schemeClr val="bg1"/>
            </a:solidFill>
          </a:ln>
          <a:effectLst>
            <a:outerShdw blurRad="50800" dist="38100" dir="2700000" algn="tl" rotWithShape="0">
              <a:schemeClr val="bg1">
                <a:alpha val="40000"/>
              </a:scheme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5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500"/>
                                        <p:tgtEl>
                                          <p:spTgt spid="2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childTnLst>
                                </p:cTn>
                              </p:par>
                            </p:childTnLst>
                          </p:cTn>
                        </p:par>
                        <p:par>
                          <p:cTn id="26" fill="hold">
                            <p:stCondLst>
                              <p:cond delay="500"/>
                            </p:stCondLst>
                            <p:childTnLst>
                              <p:par>
                                <p:cTn id="27" presetID="10" presetClass="entr" presetSubtype="0" fill="hold"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训练文本</a:t>
            </a:r>
            <a:endParaRPr lang="zh-CN" altLang="en-US"/>
          </a:p>
        </p:txBody>
      </p:sp>
      <p:sp>
        <p:nvSpPr>
          <p:cNvPr id="3" name="文本占位符 2"/>
          <p:cNvSpPr>
            <a:spLocks noGrp="1"/>
          </p:cNvSpPr>
          <p:nvPr>
            <p:ph type="body" idx="1"/>
          </p:nvPr>
        </p:nvSpPr>
        <p:spPr/>
        <p:txBody>
          <a:bodyPr/>
          <a:lstStyle/>
          <a:p>
            <a:r>
              <a:rPr lang="zh-CN" altLang="en-US"/>
              <a:t>结构（后训练</a:t>
            </a:r>
            <a:r>
              <a:rPr altLang="zh-CN"/>
              <a:t>/</a:t>
            </a:r>
            <a:r>
              <a:rPr lang="zh-CN" altLang="en-US"/>
              <a:t>强化训练）</a:t>
            </a:r>
            <a:endParaRPr lang="zh-CN" altLang="en-US"/>
          </a:p>
        </p:txBody>
      </p:sp>
      <p:sp>
        <p:nvSpPr>
          <p:cNvPr id="4" name="内容占位符 3"/>
          <p:cNvSpPr>
            <a:spLocks noGrp="1"/>
          </p:cNvSpPr>
          <p:nvPr>
            <p:ph sz="half" idx="2"/>
          </p:nvPr>
        </p:nvSpPr>
        <p:spPr/>
        <p:txBody>
          <a:bodyPr>
            <a:normAutofit/>
          </a:bodyPr>
          <a:lstStyle/>
          <a:p>
            <a:pPr>
              <a:lnSpc>
                <a:spcPct val="150000"/>
              </a:lnSpc>
            </a:pPr>
            <a:r>
              <a:rPr lang="zh-CN" altLang="en-US"/>
              <a:t>普通文本</a:t>
            </a:r>
            <a:r>
              <a:rPr lang="en-US" altLang="zh-CN"/>
              <a:t> + </a:t>
            </a:r>
            <a:r>
              <a:rPr lang="zh-CN" altLang="en-US"/>
              <a:t>引导</a:t>
            </a:r>
            <a:r>
              <a:rPr lang="en-US" altLang="zh-CN"/>
              <a:t> token</a:t>
            </a:r>
            <a:endParaRPr lang="en-US" altLang="zh-CN"/>
          </a:p>
          <a:p>
            <a:pPr>
              <a:lnSpc>
                <a:spcPct val="150000"/>
              </a:lnSpc>
            </a:pPr>
            <a:r>
              <a:rPr lang="zh-CN" altLang="en-US"/>
              <a:t>分角色：</a:t>
            </a:r>
            <a:endParaRPr lang="zh-CN" altLang="en-US"/>
          </a:p>
          <a:p>
            <a:pPr lvl="1">
              <a:lnSpc>
                <a:spcPct val="150000"/>
              </a:lnSpc>
            </a:pPr>
            <a:r>
              <a:rPr lang="zh-CN" altLang="en-US"/>
              <a:t>系统：</a:t>
            </a:r>
            <a:r>
              <a:rPr lang="en-US" altLang="zh-CN"/>
              <a:t>&lt;system&gt;</a:t>
            </a:r>
            <a:endParaRPr lang="en-US" altLang="zh-CN"/>
          </a:p>
          <a:p>
            <a:pPr lvl="1">
              <a:lnSpc>
                <a:spcPct val="150000"/>
              </a:lnSpc>
            </a:pPr>
            <a:r>
              <a:rPr lang="zh-CN" altLang="en-US"/>
              <a:t>用户：</a:t>
            </a:r>
            <a:r>
              <a:rPr lang="en-US" altLang="zh-CN"/>
              <a:t>&lt;user&gt;</a:t>
            </a:r>
            <a:endParaRPr lang="en-US" altLang="zh-CN"/>
          </a:p>
          <a:p>
            <a:pPr lvl="1">
              <a:lnSpc>
                <a:spcPct val="150000"/>
              </a:lnSpc>
            </a:pPr>
            <a:r>
              <a:rPr lang="zh-CN" altLang="en-US"/>
              <a:t>助手：</a:t>
            </a:r>
            <a:r>
              <a:rPr lang="en-US" altLang="zh-CN"/>
              <a:t>&lt;assistant&gt;</a:t>
            </a:r>
            <a:endParaRPr lang="en-US" altLang="zh-CN"/>
          </a:p>
          <a:p>
            <a:pPr lvl="0">
              <a:lnSpc>
                <a:spcPct val="150000"/>
              </a:lnSpc>
            </a:pPr>
            <a:r>
              <a:rPr lang="zh-CN" altLang="en-US" sz="2000"/>
              <a:t>其他：工具</a:t>
            </a:r>
            <a:r>
              <a:rPr lang="en-US" altLang="zh-CN" sz="2000"/>
              <a:t>(tool)</a:t>
            </a:r>
            <a:r>
              <a:rPr lang="zh-CN" altLang="en-US" sz="2000"/>
              <a:t>，开发者</a:t>
            </a:r>
            <a:r>
              <a:rPr lang="en-US" altLang="zh-CN" sz="2000"/>
              <a:t>(developer)</a:t>
            </a:r>
            <a:endParaRPr lang="en-US" altLang="zh-CN" sz="2000"/>
          </a:p>
        </p:txBody>
      </p:sp>
      <p:sp>
        <p:nvSpPr>
          <p:cNvPr id="5" name="文本占位符 4"/>
          <p:cNvSpPr>
            <a:spLocks noGrp="1"/>
          </p:cNvSpPr>
          <p:nvPr>
            <p:ph type="body" sz="quarter" idx="3"/>
          </p:nvPr>
        </p:nvSpPr>
        <p:spPr/>
        <p:txBody>
          <a:bodyPr/>
          <a:lstStyle/>
          <a:p>
            <a:r>
              <a:rPr lang="zh-CN" altLang="en-US"/>
              <a:t>示例</a:t>
            </a:r>
            <a:endParaRPr lang="zh-CN" altLang="en-US"/>
          </a:p>
        </p:txBody>
      </p:sp>
      <p:sp>
        <p:nvSpPr>
          <p:cNvPr id="6" name="内容占位符 5"/>
          <p:cNvSpPr>
            <a:spLocks noGrp="1"/>
          </p:cNvSpPr>
          <p:nvPr>
            <p:ph sz="quarter" idx="4"/>
          </p:nvPr>
        </p:nvSpPr>
        <p:spPr/>
        <p:txBody>
          <a:bodyPr>
            <a:normAutofit/>
          </a:bodyPr>
          <a:lstStyle/>
          <a:p>
            <a:pPr marL="0" indent="0" fontAlgn="auto">
              <a:lnSpc>
                <a:spcPct val="100000"/>
              </a:lnSpc>
              <a:spcBef>
                <a:spcPts val="600"/>
              </a:spcBef>
              <a:buNone/>
            </a:pPr>
            <a:r>
              <a:rPr lang="en-US" altLang="zh-CN" sz="1600">
                <a:sym typeface="+mn-ea"/>
              </a:rPr>
              <a:t>&lt;system&gt;</a:t>
            </a:r>
            <a:endParaRPr lang="en-US" altLang="zh-CN" sz="1600"/>
          </a:p>
          <a:p>
            <a:pPr marL="0" indent="0" fontAlgn="auto">
              <a:lnSpc>
                <a:spcPct val="100000"/>
              </a:lnSpc>
              <a:spcBef>
                <a:spcPts val="600"/>
              </a:spcBef>
              <a:buNone/>
            </a:pPr>
            <a:r>
              <a:rPr lang="zh-CN" altLang="en-US" sz="1600">
                <a:sym typeface="+mn-ea"/>
              </a:rPr>
              <a:t>你是一个百科问答助手，可以回答用户提出的科学问题。</a:t>
            </a:r>
            <a:endParaRPr lang="en-US" altLang="zh-CN" sz="1600"/>
          </a:p>
          <a:p>
            <a:pPr marL="0" indent="0" fontAlgn="auto">
              <a:lnSpc>
                <a:spcPct val="100000"/>
              </a:lnSpc>
              <a:spcBef>
                <a:spcPts val="600"/>
              </a:spcBef>
              <a:buNone/>
            </a:pPr>
            <a:r>
              <a:rPr lang="en-US" altLang="zh-CN" sz="1600">
                <a:sym typeface="+mn-ea"/>
              </a:rPr>
              <a:t>&lt;/system&gt;</a:t>
            </a:r>
            <a:endParaRPr lang="en-US" altLang="zh-CN" sz="1600">
              <a:sym typeface="+mn-ea"/>
            </a:endParaRPr>
          </a:p>
          <a:p>
            <a:pPr marL="0" indent="0" fontAlgn="auto">
              <a:lnSpc>
                <a:spcPct val="100000"/>
              </a:lnSpc>
              <a:spcBef>
                <a:spcPts val="600"/>
              </a:spcBef>
              <a:buNone/>
            </a:pPr>
            <a:r>
              <a:rPr lang="en-US" altLang="zh-CN" sz="1600">
                <a:sym typeface="+mn-ea"/>
              </a:rPr>
              <a:t>&lt;user&gt;</a:t>
            </a:r>
            <a:endParaRPr lang="en-US" altLang="zh-CN" sz="1600">
              <a:sym typeface="+mn-ea"/>
            </a:endParaRPr>
          </a:p>
          <a:p>
            <a:pPr marL="0" indent="0" fontAlgn="auto">
              <a:lnSpc>
                <a:spcPct val="100000"/>
              </a:lnSpc>
              <a:spcBef>
                <a:spcPts val="600"/>
              </a:spcBef>
              <a:buNone/>
            </a:pPr>
            <a:r>
              <a:rPr lang="zh-CN" altLang="en-US" sz="1600">
                <a:sym typeface="+mn-ea"/>
              </a:rPr>
              <a:t>天空为什么是蓝色的？</a:t>
            </a:r>
            <a:endParaRPr lang="en-US" altLang="zh-CN" sz="1600"/>
          </a:p>
          <a:p>
            <a:pPr marL="0" indent="0" fontAlgn="auto">
              <a:lnSpc>
                <a:spcPct val="100000"/>
              </a:lnSpc>
              <a:spcBef>
                <a:spcPts val="600"/>
              </a:spcBef>
              <a:buNone/>
            </a:pPr>
            <a:r>
              <a:rPr lang="en-US" altLang="zh-CN" sz="1600">
                <a:sym typeface="+mn-ea"/>
              </a:rPr>
              <a:t>&lt;/user&gt;</a:t>
            </a:r>
            <a:endParaRPr lang="en-US" altLang="zh-CN" sz="1600"/>
          </a:p>
          <a:p>
            <a:pPr marL="0" indent="0" fontAlgn="auto">
              <a:lnSpc>
                <a:spcPct val="100000"/>
              </a:lnSpc>
              <a:spcBef>
                <a:spcPts val="600"/>
              </a:spcBef>
              <a:buNone/>
            </a:pPr>
            <a:r>
              <a:rPr lang="en-US" altLang="zh-CN" sz="1600">
                <a:sym typeface="+mn-ea"/>
              </a:rPr>
              <a:t>&lt;assistant&gt;</a:t>
            </a:r>
            <a:endParaRPr lang="en-US" altLang="zh-CN" sz="1600"/>
          </a:p>
          <a:p>
            <a:pPr marL="0" indent="0" fontAlgn="auto">
              <a:lnSpc>
                <a:spcPct val="100000"/>
              </a:lnSpc>
              <a:spcBef>
                <a:spcPts val="600"/>
              </a:spcBef>
              <a:buNone/>
            </a:pPr>
            <a:r>
              <a:rPr lang="zh-CN" altLang="en-US" sz="1600">
                <a:sym typeface="+mn-ea"/>
              </a:rPr>
              <a:t>阳光被大气散射，蓝光波长最短、散射最强，布满天穹，因此天空呈蓝色。</a:t>
            </a:r>
            <a:endParaRPr lang="zh-CN" altLang="en-US" sz="1600"/>
          </a:p>
          <a:p>
            <a:pPr marL="0" indent="0" fontAlgn="auto">
              <a:lnSpc>
                <a:spcPct val="100000"/>
              </a:lnSpc>
              <a:spcBef>
                <a:spcPts val="600"/>
              </a:spcBef>
              <a:buNone/>
            </a:pPr>
            <a:r>
              <a:rPr lang="en-US" altLang="zh-CN" sz="1600">
                <a:sym typeface="+mn-ea"/>
              </a:rPr>
              <a:t>&lt;/assistant&gt;</a:t>
            </a:r>
            <a:endParaRPr lang="en-US" altLang="zh-CN" sz="1600">
              <a:sym typeface="+mn-ea"/>
            </a:endParaRPr>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en-US" altLang="zh-C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fade">
                                      <p:cBhvr>
                                        <p:cTn id="12" dur="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fade">
                                      <p:cBhvr>
                                        <p:cTn id="17" dur="500"/>
                                        <p:tgtEl>
                                          <p:spTgt spid="4">
                                            <p:txEl>
                                              <p:pRg st="1" end="1"/>
                                            </p:txEl>
                                          </p:spTgt>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500"/>
                                        <p:tgtEl>
                                          <p:spTgt spid="4">
                                            <p:txEl>
                                              <p:pRg st="2" end="2"/>
                                            </p:txEl>
                                          </p:spTgt>
                                        </p:tgtEl>
                                      </p:cBhvr>
                                    </p:animEffect>
                                  </p:childTnLst>
                                </p:cTn>
                              </p:par>
                            </p:childTnLst>
                          </p:cTn>
                        </p:par>
                        <p:par>
                          <p:cTn id="22" fill="hold">
                            <p:stCondLst>
                              <p:cond delay="1000"/>
                            </p:stCondLst>
                            <p:childTnLst>
                              <p:par>
                                <p:cTn id="23" presetID="10" presetClass="entr" presetSubtype="0" fill="hold" grpId="0" nodeType="afterEffect">
                                  <p:stCondLst>
                                    <p:cond delay="0"/>
                                  </p:stCondLst>
                                  <p:childTnLst>
                                    <p:set>
                                      <p:cBhvr>
                                        <p:cTn id="24" dur="1" fill="hold">
                                          <p:stCondLst>
                                            <p:cond delay="0"/>
                                          </p:stCondLst>
                                        </p:cTn>
                                        <p:tgtEl>
                                          <p:spTgt spid="4">
                                            <p:txEl>
                                              <p:pRg st="3" end="3"/>
                                            </p:txEl>
                                          </p:spTgt>
                                        </p:tgtEl>
                                        <p:attrNameLst>
                                          <p:attrName>style.visibility</p:attrName>
                                        </p:attrNameLst>
                                      </p:cBhvr>
                                      <p:to>
                                        <p:strVal val="visible"/>
                                      </p:to>
                                    </p:set>
                                    <p:animEffect transition="in" filter="fade">
                                      <p:cBhvr>
                                        <p:cTn id="25" dur="500"/>
                                        <p:tgtEl>
                                          <p:spTgt spid="4">
                                            <p:txEl>
                                              <p:pRg st="3" end="3"/>
                                            </p:txEl>
                                          </p:spTgt>
                                        </p:tgtEl>
                                      </p:cBhvr>
                                    </p:animEffect>
                                  </p:childTnLst>
                                </p:cTn>
                              </p:par>
                            </p:childTnLst>
                          </p:cTn>
                        </p:par>
                        <p:par>
                          <p:cTn id="26" fill="hold">
                            <p:stCondLst>
                              <p:cond delay="1500"/>
                            </p:stCondLst>
                            <p:childTnLst>
                              <p:par>
                                <p:cTn id="27" presetID="10" presetClass="entr" presetSubtype="0" fill="hold" grpId="0" nodeType="after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animEffect transition="in" filter="fade">
                                      <p:cBhvr>
                                        <p:cTn id="29" dur="500"/>
                                        <p:tgtEl>
                                          <p:spTgt spid="4">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4">
                                            <p:txEl>
                                              <p:pRg st="5" end="5"/>
                                            </p:txEl>
                                          </p:spTgt>
                                        </p:tgtEl>
                                        <p:attrNameLst>
                                          <p:attrName>style.visibility</p:attrName>
                                        </p:attrNameLst>
                                      </p:cBhvr>
                                      <p:to>
                                        <p:strVal val="visible"/>
                                      </p:to>
                                    </p:set>
                                    <p:animEffect transition="in" filter="fade">
                                      <p:cBhvr>
                                        <p:cTn id="34" dur="500"/>
                                        <p:tgtEl>
                                          <p:spTgt spid="4">
                                            <p:txEl>
                                              <p:pRg st="5" end="5"/>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5">
                                            <p:txEl>
                                              <p:pRg st="0" end="0"/>
                                            </p:txEl>
                                          </p:spTgt>
                                        </p:tgtEl>
                                        <p:attrNameLst>
                                          <p:attrName>style.visibility</p:attrName>
                                        </p:attrNameLst>
                                      </p:cBhvr>
                                      <p:to>
                                        <p:strVal val="visible"/>
                                      </p:to>
                                    </p:set>
                                    <p:animEffect transition="in" filter="fade">
                                      <p:cBhvr>
                                        <p:cTn id="39" dur="500"/>
                                        <p:tgtEl>
                                          <p:spTgt spid="5">
                                            <p:txEl>
                                              <p:pRg st="0" end="0"/>
                                            </p:txEl>
                                          </p:spTgt>
                                        </p:tgtEl>
                                      </p:cBhvr>
                                    </p:animEffect>
                                  </p:childTnLst>
                                </p:cTn>
                              </p:par>
                            </p:childTnLst>
                          </p:cTn>
                        </p:par>
                        <p:par>
                          <p:cTn id="40" fill="hold">
                            <p:stCondLst>
                              <p:cond delay="500"/>
                            </p:stCondLst>
                            <p:childTnLst>
                              <p:par>
                                <p:cTn id="41" presetID="10" presetClass="entr" presetSubtype="0" fill="hold" grpId="0" nodeType="afterEffect">
                                  <p:stCondLst>
                                    <p:cond delay="0"/>
                                  </p:stCondLst>
                                  <p:childTnLst>
                                    <p:set>
                                      <p:cBhvr>
                                        <p:cTn id="42" dur="1" fill="hold">
                                          <p:stCondLst>
                                            <p:cond delay="0"/>
                                          </p:stCondLst>
                                        </p:cTn>
                                        <p:tgtEl>
                                          <p:spTgt spid="6">
                                            <p:txEl>
                                              <p:pRg st="0" end="0"/>
                                            </p:txEl>
                                          </p:spTgt>
                                        </p:tgtEl>
                                        <p:attrNameLst>
                                          <p:attrName>style.visibility</p:attrName>
                                        </p:attrNameLst>
                                      </p:cBhvr>
                                      <p:to>
                                        <p:strVal val="visible"/>
                                      </p:to>
                                    </p:set>
                                    <p:animEffect transition="in" filter="fade">
                                      <p:cBhvr>
                                        <p:cTn id="43" dur="500"/>
                                        <p:tgtEl>
                                          <p:spTgt spid="6">
                                            <p:txEl>
                                              <p:pRg st="0" end="0"/>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
                                            <p:txEl>
                                              <p:pRg st="1" end="1"/>
                                            </p:txEl>
                                          </p:spTgt>
                                        </p:tgtEl>
                                        <p:attrNameLst>
                                          <p:attrName>style.visibility</p:attrName>
                                        </p:attrNameLst>
                                      </p:cBhvr>
                                      <p:to>
                                        <p:strVal val="visible"/>
                                      </p:to>
                                    </p:set>
                                    <p:animEffect transition="in" filter="fade">
                                      <p:cBhvr>
                                        <p:cTn id="46" dur="500"/>
                                        <p:tgtEl>
                                          <p:spTgt spid="6">
                                            <p:txEl>
                                              <p:pRg st="1" end="1"/>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6">
                                            <p:txEl>
                                              <p:pRg st="2" end="2"/>
                                            </p:txEl>
                                          </p:spTgt>
                                        </p:tgtEl>
                                        <p:attrNameLst>
                                          <p:attrName>style.visibility</p:attrName>
                                        </p:attrNameLst>
                                      </p:cBhvr>
                                      <p:to>
                                        <p:strVal val="visible"/>
                                      </p:to>
                                    </p:set>
                                    <p:animEffect transition="in" filter="fade">
                                      <p:cBhvr>
                                        <p:cTn id="49" dur="500"/>
                                        <p:tgtEl>
                                          <p:spTgt spid="6">
                                            <p:txEl>
                                              <p:pRg st="2" end="2"/>
                                            </p:txEl>
                                          </p:spTgt>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fade">
                                      <p:cBhvr>
                                        <p:cTn id="52" dur="500"/>
                                        <p:tgtEl>
                                          <p:spTgt spid="6">
                                            <p:txEl>
                                              <p:pRg st="3" end="3"/>
                                            </p:txEl>
                                          </p:spTgt>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6">
                                            <p:txEl>
                                              <p:pRg st="4" end="4"/>
                                            </p:txEl>
                                          </p:spTgt>
                                        </p:tgtEl>
                                        <p:attrNameLst>
                                          <p:attrName>style.visibility</p:attrName>
                                        </p:attrNameLst>
                                      </p:cBhvr>
                                      <p:to>
                                        <p:strVal val="visible"/>
                                      </p:to>
                                    </p:set>
                                    <p:animEffect transition="in" filter="fade">
                                      <p:cBhvr>
                                        <p:cTn id="55" dur="500"/>
                                        <p:tgtEl>
                                          <p:spTgt spid="6">
                                            <p:txEl>
                                              <p:pRg st="4" end="4"/>
                                            </p:txEl>
                                          </p:spTgt>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6">
                                            <p:txEl>
                                              <p:pRg st="5" end="5"/>
                                            </p:txEl>
                                          </p:spTgt>
                                        </p:tgtEl>
                                        <p:attrNameLst>
                                          <p:attrName>style.visibility</p:attrName>
                                        </p:attrNameLst>
                                      </p:cBhvr>
                                      <p:to>
                                        <p:strVal val="visible"/>
                                      </p:to>
                                    </p:set>
                                    <p:animEffect transition="in" filter="fade">
                                      <p:cBhvr>
                                        <p:cTn id="58" dur="500"/>
                                        <p:tgtEl>
                                          <p:spTgt spid="6">
                                            <p:txEl>
                                              <p:pRg st="5" end="5"/>
                                            </p:txEl>
                                          </p:spTgt>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6">
                                            <p:txEl>
                                              <p:pRg st="6" end="6"/>
                                            </p:txEl>
                                          </p:spTgt>
                                        </p:tgtEl>
                                        <p:attrNameLst>
                                          <p:attrName>style.visibility</p:attrName>
                                        </p:attrNameLst>
                                      </p:cBhvr>
                                      <p:to>
                                        <p:strVal val="visible"/>
                                      </p:to>
                                    </p:set>
                                    <p:animEffect transition="in" filter="fade">
                                      <p:cBhvr>
                                        <p:cTn id="61" dur="500"/>
                                        <p:tgtEl>
                                          <p:spTgt spid="6">
                                            <p:txEl>
                                              <p:pRg st="6" end="6"/>
                                            </p:txEl>
                                          </p:spTgt>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6">
                                            <p:txEl>
                                              <p:pRg st="7" end="7"/>
                                            </p:txEl>
                                          </p:spTgt>
                                        </p:tgtEl>
                                        <p:attrNameLst>
                                          <p:attrName>style.visibility</p:attrName>
                                        </p:attrNameLst>
                                      </p:cBhvr>
                                      <p:to>
                                        <p:strVal val="visible"/>
                                      </p:to>
                                    </p:set>
                                    <p:animEffect transition="in" filter="fade">
                                      <p:cBhvr>
                                        <p:cTn id="64" dur="500"/>
                                        <p:tgtEl>
                                          <p:spTgt spid="6">
                                            <p:txEl>
                                              <p:pRg st="7" end="7"/>
                                            </p:txEl>
                                          </p:spTgt>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xEl>
                                              <p:pRg st="8" end="8"/>
                                            </p:txEl>
                                          </p:spTgt>
                                        </p:tgtEl>
                                        <p:attrNameLst>
                                          <p:attrName>style.visibility</p:attrName>
                                        </p:attrNameLst>
                                      </p:cBhvr>
                                      <p:to>
                                        <p:strVal val="visible"/>
                                      </p:to>
                                    </p:set>
                                    <p:animEffect transition="in" filter="fade">
                                      <p:cBhvr>
                                        <p:cTn id="67" dur="500"/>
                                        <p:tgtEl>
                                          <p:spTgt spid="6">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P spid="4" grpId="0" uiExpand="1" build="p"/>
      <p:bldP spid="4" grpId="1" build="p"/>
      <p:bldP spid="5" grpId="0" build="p"/>
      <p:bldP spid="5" grpId="1" build="p"/>
      <p:bldP spid="6" grpId="0" uiExpand="1" build="p"/>
      <p:bldP spid="6" grpI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t>推理过程</a:t>
            </a:r>
          </a:p>
        </p:txBody>
      </p:sp>
      <p:sp>
        <p:nvSpPr>
          <p:cNvPr id="3" name="文本占位符 2"/>
          <p:cNvSpPr>
            <a:spLocks noGrp="1"/>
          </p:cNvSpPr>
          <p:nvPr>
            <p:ph type="body" idx="1"/>
          </p:nvPr>
        </p:nvSpPr>
        <p:spPr/>
        <p:txBody>
          <a:bodyPr/>
          <a:lstStyle/>
          <a:p>
            <a:r>
              <a:rPr lang="zh-CN" altLang="en-US"/>
              <a:t>机制</a:t>
            </a:r>
            <a:endParaRPr lang="zh-CN" altLang="en-US"/>
          </a:p>
        </p:txBody>
      </p:sp>
      <p:sp>
        <p:nvSpPr>
          <p:cNvPr id="4" name="内容占位符 3"/>
          <p:cNvSpPr>
            <a:spLocks noGrp="1"/>
          </p:cNvSpPr>
          <p:nvPr>
            <p:ph sz="half" idx="2"/>
          </p:nvPr>
        </p:nvSpPr>
        <p:spPr/>
        <p:txBody>
          <a:bodyPr/>
          <a:lstStyle/>
          <a:p>
            <a:r>
              <a:rPr lang="zh-CN" altLang="en-US" dirty="0"/>
              <a:t>文本续写</a:t>
            </a:r>
            <a:endParaRPr lang="zh-CN" altLang="en-US" dirty="0"/>
          </a:p>
          <a:p>
            <a:r>
              <a:rPr lang="zh-CN" altLang="en-US" dirty="0"/>
              <a:t>给出</a:t>
            </a:r>
            <a:r>
              <a:rPr lang="en-US" altLang="zh-CN" dirty="0"/>
              <a:t> system + user</a:t>
            </a:r>
            <a:r>
              <a:rPr lang="zh-CN" altLang="en-US" dirty="0"/>
              <a:t>，让模型续写</a:t>
            </a:r>
            <a:r>
              <a:rPr lang="en-US" altLang="zh-CN" dirty="0"/>
              <a:t> assistant </a:t>
            </a:r>
            <a:r>
              <a:rPr lang="zh-CN" altLang="en-US" dirty="0"/>
              <a:t>部分</a:t>
            </a:r>
            <a:endParaRPr lang="zh-CN" altLang="en-US" dirty="0"/>
          </a:p>
          <a:p>
            <a:r>
              <a:rPr lang="zh-CN" altLang="en-US" dirty="0"/>
              <a:t>多轮：追加 </a:t>
            </a:r>
            <a:r>
              <a:rPr lang="en-US" altLang="zh-CN" dirty="0"/>
              <a:t>user + </a:t>
            </a:r>
            <a:r>
              <a:rPr lang="zh-CN" altLang="en-US" dirty="0"/>
              <a:t>续写</a:t>
            </a:r>
            <a:r>
              <a:rPr lang="en-US" altLang="zh-CN" dirty="0"/>
              <a:t> assistant</a:t>
            </a:r>
            <a:endParaRPr lang="en-US" altLang="zh-CN" dirty="0"/>
          </a:p>
        </p:txBody>
      </p:sp>
      <p:sp>
        <p:nvSpPr>
          <p:cNvPr id="5" name="文本占位符 4"/>
          <p:cNvSpPr>
            <a:spLocks noGrp="1"/>
          </p:cNvSpPr>
          <p:nvPr>
            <p:ph type="body" sz="quarter" idx="3"/>
          </p:nvPr>
        </p:nvSpPr>
        <p:spPr/>
        <p:txBody>
          <a:bodyPr/>
          <a:lstStyle/>
          <a:p>
            <a:r>
              <a:rPr lang="zh-CN" altLang="en-US"/>
              <a:t>示例</a:t>
            </a:r>
            <a:endParaRPr lang="zh-CN" altLang="en-US"/>
          </a:p>
        </p:txBody>
      </p:sp>
      <p:sp>
        <p:nvSpPr>
          <p:cNvPr id="6" name="内容占位符 5"/>
          <p:cNvSpPr>
            <a:spLocks noGrp="1"/>
          </p:cNvSpPr>
          <p:nvPr>
            <p:ph sz="quarter" idx="4"/>
          </p:nvPr>
        </p:nvSpPr>
        <p:spPr/>
        <p:txBody>
          <a:bodyPr>
            <a:normAutofit/>
          </a:bodyPr>
          <a:lstStyle/>
          <a:p>
            <a:pPr marL="0" algn="l" fontAlgn="auto">
              <a:lnSpc>
                <a:spcPct val="100000"/>
              </a:lnSpc>
              <a:spcBef>
                <a:spcPts val="600"/>
              </a:spcBef>
              <a:buSzTx/>
              <a:buNone/>
            </a:pPr>
            <a:r>
              <a:rPr lang="en-US" altLang="zh-CN" sz="1600">
                <a:sym typeface="+mn-ea"/>
              </a:rPr>
              <a:t>&lt;system&gt;</a:t>
            </a:r>
            <a:endParaRPr lang="en-US" altLang="zh-CN" sz="1600"/>
          </a:p>
          <a:p>
            <a:pPr marL="0" algn="l" fontAlgn="auto">
              <a:lnSpc>
                <a:spcPct val="100000"/>
              </a:lnSpc>
              <a:spcBef>
                <a:spcPts val="600"/>
              </a:spcBef>
              <a:buSzTx/>
              <a:buNone/>
            </a:pPr>
            <a:r>
              <a:rPr lang="en-US" altLang="zh-CN" sz="1600">
                <a:sym typeface="+mn-ea"/>
              </a:rPr>
              <a:t>你是一个</a:t>
            </a:r>
            <a:r>
              <a:rPr lang="zh-CN" altLang="en-US" sz="1600">
                <a:sym typeface="+mn-ea"/>
              </a:rPr>
              <a:t>天文学家</a:t>
            </a:r>
            <a:r>
              <a:rPr lang="en-US" altLang="zh-CN" sz="1600">
                <a:sym typeface="+mn-ea"/>
              </a:rPr>
              <a:t>，可以回答用户提出的</a:t>
            </a:r>
            <a:r>
              <a:rPr lang="zh-CN" altLang="en-US" sz="1600">
                <a:sym typeface="+mn-ea"/>
              </a:rPr>
              <a:t>天文学</a:t>
            </a:r>
            <a:r>
              <a:rPr lang="en-US" altLang="zh-CN" sz="1600">
                <a:sym typeface="+mn-ea"/>
              </a:rPr>
              <a:t>问题。</a:t>
            </a:r>
            <a:endParaRPr lang="en-US" altLang="zh-CN" sz="1600"/>
          </a:p>
          <a:p>
            <a:pPr marL="0" algn="l" fontAlgn="auto">
              <a:lnSpc>
                <a:spcPct val="100000"/>
              </a:lnSpc>
              <a:spcBef>
                <a:spcPts val="600"/>
              </a:spcBef>
              <a:buSzTx/>
              <a:buNone/>
            </a:pPr>
            <a:r>
              <a:rPr lang="en-US" altLang="zh-CN" sz="1600">
                <a:sym typeface="+mn-ea"/>
              </a:rPr>
              <a:t>&lt;/system&gt;</a:t>
            </a:r>
            <a:endParaRPr lang="en-US" altLang="zh-CN" sz="1600">
              <a:sym typeface="+mn-ea"/>
            </a:endParaRPr>
          </a:p>
          <a:p>
            <a:pPr marL="0" algn="l" fontAlgn="auto">
              <a:lnSpc>
                <a:spcPct val="100000"/>
              </a:lnSpc>
              <a:spcBef>
                <a:spcPts val="600"/>
              </a:spcBef>
              <a:buSzTx/>
              <a:buNone/>
            </a:pPr>
            <a:r>
              <a:rPr lang="en-US" altLang="zh-CN" sz="1600">
                <a:sym typeface="+mn-ea"/>
              </a:rPr>
              <a:t>&lt;user&gt;</a:t>
            </a:r>
            <a:endParaRPr lang="en-US" altLang="zh-CN" sz="1600">
              <a:sym typeface="+mn-ea"/>
            </a:endParaRPr>
          </a:p>
          <a:p>
            <a:pPr marL="0" algn="l" fontAlgn="auto">
              <a:lnSpc>
                <a:spcPct val="100000"/>
              </a:lnSpc>
              <a:spcBef>
                <a:spcPts val="600"/>
              </a:spcBef>
              <a:buSzTx/>
              <a:buNone/>
            </a:pPr>
            <a:r>
              <a:rPr lang="zh-CN" altLang="en-US" sz="1600">
                <a:sym typeface="+mn-ea"/>
              </a:rPr>
              <a:t>恒星为什么会发光？</a:t>
            </a:r>
            <a:endParaRPr lang="en-US" altLang="zh-CN" sz="1600"/>
          </a:p>
          <a:p>
            <a:pPr marL="0" algn="l" fontAlgn="auto">
              <a:lnSpc>
                <a:spcPct val="100000"/>
              </a:lnSpc>
              <a:spcBef>
                <a:spcPts val="600"/>
              </a:spcBef>
              <a:buSzTx/>
              <a:buNone/>
            </a:pPr>
            <a:r>
              <a:rPr lang="en-US" altLang="zh-CN" sz="1600">
                <a:sym typeface="+mn-ea"/>
              </a:rPr>
              <a:t>&lt;/user&gt;</a:t>
            </a:r>
            <a:endParaRPr lang="en-US" altLang="zh-CN" sz="1600"/>
          </a:p>
          <a:p>
            <a:pPr marL="0" algn="l" fontAlgn="auto">
              <a:lnSpc>
                <a:spcPct val="100000"/>
              </a:lnSpc>
              <a:spcBef>
                <a:spcPts val="600"/>
              </a:spcBef>
              <a:buSzTx/>
              <a:buNone/>
            </a:pPr>
            <a:r>
              <a:rPr lang="en-US" altLang="zh-CN" sz="1600">
                <a:sym typeface="+mn-ea"/>
              </a:rPr>
              <a:t>&lt;assistant&gt;</a:t>
            </a:r>
            <a:endParaRPr lang="en-US" altLang="zh-CN" sz="1600"/>
          </a:p>
          <a:p>
            <a:pPr marL="0" algn="l" fontAlgn="auto">
              <a:lnSpc>
                <a:spcPct val="100000"/>
              </a:lnSpc>
              <a:spcBef>
                <a:spcPts val="600"/>
              </a:spcBef>
              <a:buSzTx/>
              <a:buNone/>
            </a:pPr>
            <a:r>
              <a:rPr lang="en-US" altLang="zh-CN" sz="1600">
                <a:sym typeface="+mn-ea"/>
              </a:rPr>
              <a:t>……</a:t>
            </a:r>
            <a:endParaRPr lang="en-US" altLang="zh-CN" sz="1600">
              <a:sym typeface="+mn-ea"/>
            </a:endParaRPr>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en-US" altLang="zh-CN"/>
          </a:p>
        </p:txBody>
      </p:sp>
      <p:sp>
        <p:nvSpPr>
          <p:cNvPr id="8" name="文本框 7"/>
          <p:cNvSpPr txBox="1"/>
          <p:nvPr/>
        </p:nvSpPr>
        <p:spPr>
          <a:xfrm>
            <a:off x="13112750" y="4123690"/>
            <a:ext cx="4064000" cy="368300"/>
          </a:xfrm>
          <a:prstGeom prst="rect">
            <a:avLst/>
          </a:prstGeom>
          <a:noFill/>
        </p:spPr>
        <p:txBody>
          <a:bodyPr wrap="square" rtlCol="0">
            <a:spAutoFit/>
          </a:bodyPr>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fade">
                                      <p:cBhvr>
                                        <p:cTn id="12" dur="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fade">
                                      <p:cBhvr>
                                        <p:cTn id="17" dur="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fade">
                                      <p:cBhvr>
                                        <p:cTn id="22" dur="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fade">
                                      <p:cBhvr>
                                        <p:cTn id="27" dur="500"/>
                                        <p:tgtEl>
                                          <p:spTgt spid="5">
                                            <p:txEl>
                                              <p:pRg st="0" end="0"/>
                                            </p:txEl>
                                          </p:spTgt>
                                        </p:tgtEl>
                                      </p:cBhvr>
                                    </p:animEffect>
                                  </p:childTnLst>
                                </p:cTn>
                              </p:par>
                            </p:childTnLst>
                          </p:cTn>
                        </p:par>
                        <p:par>
                          <p:cTn id="28" fill="hold">
                            <p:stCondLst>
                              <p:cond delay="500"/>
                            </p:stCondLst>
                            <p:childTnLst>
                              <p:par>
                                <p:cTn id="29" presetID="10" presetClass="entr" presetSubtype="0"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fade">
                                      <p:cBhvr>
                                        <p:cTn id="31" dur="500"/>
                                        <p:tgtEl>
                                          <p:spTgt spid="6">
                                            <p:txEl>
                                              <p:pRg st="0" end="0"/>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
                                            <p:txEl>
                                              <p:pRg st="1" end="1"/>
                                            </p:txEl>
                                          </p:spTgt>
                                        </p:tgtEl>
                                        <p:attrNameLst>
                                          <p:attrName>style.visibility</p:attrName>
                                        </p:attrNameLst>
                                      </p:cBhvr>
                                      <p:to>
                                        <p:strVal val="visible"/>
                                      </p:to>
                                    </p:set>
                                    <p:animEffect transition="in" filter="fade">
                                      <p:cBhvr>
                                        <p:cTn id="34" dur="500"/>
                                        <p:tgtEl>
                                          <p:spTgt spid="6">
                                            <p:txEl>
                                              <p:pRg st="1" end="1"/>
                                            </p:txEl>
                                          </p:spTgt>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6">
                                            <p:txEl>
                                              <p:pRg st="2" end="2"/>
                                            </p:txEl>
                                          </p:spTgt>
                                        </p:tgtEl>
                                        <p:attrNameLst>
                                          <p:attrName>style.visibility</p:attrName>
                                        </p:attrNameLst>
                                      </p:cBhvr>
                                      <p:to>
                                        <p:strVal val="visible"/>
                                      </p:to>
                                    </p:set>
                                    <p:animEffect transition="in" filter="fade">
                                      <p:cBhvr>
                                        <p:cTn id="37" dur="500"/>
                                        <p:tgtEl>
                                          <p:spTgt spid="6">
                                            <p:txEl>
                                              <p:pRg st="2" end="2"/>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
                                            <p:txEl>
                                              <p:pRg st="3" end="3"/>
                                            </p:txEl>
                                          </p:spTgt>
                                        </p:tgtEl>
                                        <p:attrNameLst>
                                          <p:attrName>style.visibility</p:attrName>
                                        </p:attrNameLst>
                                      </p:cBhvr>
                                      <p:to>
                                        <p:strVal val="visible"/>
                                      </p:to>
                                    </p:set>
                                    <p:animEffect transition="in" filter="fade">
                                      <p:cBhvr>
                                        <p:cTn id="40" dur="500"/>
                                        <p:tgtEl>
                                          <p:spTgt spid="6">
                                            <p:txEl>
                                              <p:pRg st="3" end="3"/>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
                                            <p:txEl>
                                              <p:pRg st="4" end="4"/>
                                            </p:txEl>
                                          </p:spTgt>
                                        </p:tgtEl>
                                        <p:attrNameLst>
                                          <p:attrName>style.visibility</p:attrName>
                                        </p:attrNameLst>
                                      </p:cBhvr>
                                      <p:to>
                                        <p:strVal val="visible"/>
                                      </p:to>
                                    </p:set>
                                    <p:animEffect transition="in" filter="fade">
                                      <p:cBhvr>
                                        <p:cTn id="43" dur="500"/>
                                        <p:tgtEl>
                                          <p:spTgt spid="6">
                                            <p:txEl>
                                              <p:pRg st="4" end="4"/>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
                                            <p:txEl>
                                              <p:pRg st="5" end="5"/>
                                            </p:txEl>
                                          </p:spTgt>
                                        </p:tgtEl>
                                        <p:attrNameLst>
                                          <p:attrName>style.visibility</p:attrName>
                                        </p:attrNameLst>
                                      </p:cBhvr>
                                      <p:to>
                                        <p:strVal val="visible"/>
                                      </p:to>
                                    </p:set>
                                    <p:animEffect transition="in" filter="fade">
                                      <p:cBhvr>
                                        <p:cTn id="46" dur="500"/>
                                        <p:tgtEl>
                                          <p:spTgt spid="6">
                                            <p:txEl>
                                              <p:pRg st="5" end="5"/>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6">
                                            <p:txEl>
                                              <p:pRg st="6" end="6"/>
                                            </p:txEl>
                                          </p:spTgt>
                                        </p:tgtEl>
                                        <p:attrNameLst>
                                          <p:attrName>style.visibility</p:attrName>
                                        </p:attrNameLst>
                                      </p:cBhvr>
                                      <p:to>
                                        <p:strVal val="visible"/>
                                      </p:to>
                                    </p:set>
                                    <p:animEffect transition="in" filter="fade">
                                      <p:cBhvr>
                                        <p:cTn id="49" dur="500"/>
                                        <p:tgtEl>
                                          <p:spTgt spid="6">
                                            <p:txEl>
                                              <p:pRg st="6" end="6"/>
                                            </p:txEl>
                                          </p:spTgt>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6">
                                            <p:txEl>
                                              <p:pRg st="7" end="7"/>
                                            </p:txEl>
                                          </p:spTgt>
                                        </p:tgtEl>
                                        <p:attrNameLst>
                                          <p:attrName>style.visibility</p:attrName>
                                        </p:attrNameLst>
                                      </p:cBhvr>
                                      <p:to>
                                        <p:strVal val="visible"/>
                                      </p:to>
                                    </p:set>
                                    <p:animEffect transition="in" filter="fade">
                                      <p:cBhvr>
                                        <p:cTn id="52" dur="500"/>
                                        <p:tgtEl>
                                          <p:spTgt spid="6">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P spid="4" grpId="0" uiExpand="1" build="p"/>
      <p:bldP spid="4" grpId="1" build="p"/>
      <p:bldP spid="5" grpId="0" build="p"/>
      <p:bldP spid="5" grpId="1" build="p"/>
      <p:bldP spid="6" grpId="0" uiExpand="1" build="p"/>
      <p:bldP spid="6" grpI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p:cNvSpPr>
            <a:spLocks noGrp="1"/>
          </p:cNvSpPr>
          <p:nvPr>
            <p:ph type="title"/>
          </p:nvPr>
        </p:nvSpPr>
        <p:spPr/>
        <p:txBody>
          <a:bodyPr>
            <a:normAutofit/>
          </a:bodyPr>
          <a:lstStyle/>
          <a:p>
            <a:r>
              <a:rPr lang="zh-CN" altLang="en-US"/>
              <a:t>多轮推理</a:t>
            </a:r>
            <a:r>
              <a:rPr altLang="zh-CN"/>
              <a:t> —— </a:t>
            </a:r>
            <a:r>
              <a:rPr lang="zh-CN" altLang="en-US"/>
              <a:t>示例</a:t>
            </a:r>
            <a:endParaRPr lang="zh-CN" altLang="en-US"/>
          </a:p>
        </p:txBody>
      </p:sp>
      <p:sp>
        <p:nvSpPr>
          <p:cNvPr id="9" name="内容占位符 8"/>
          <p:cNvSpPr>
            <a:spLocks noGrp="1"/>
          </p:cNvSpPr>
          <p:nvPr>
            <p:ph idx="1"/>
          </p:nvPr>
        </p:nvSpPr>
        <p:spPr/>
        <p:txBody>
          <a:bodyPr/>
          <a:lstStyle/>
          <a:p>
            <a:r>
              <a:rPr lang="en-US" altLang="zh-CN" dirty="0"/>
              <a:t>system: </a:t>
            </a:r>
            <a:r>
              <a:rPr lang="en-US" altLang="zh-CN" dirty="0" err="1">
                <a:sym typeface="+mn-ea"/>
              </a:rPr>
              <a:t>你是一个</a:t>
            </a:r>
            <a:r>
              <a:rPr lang="zh-CN" altLang="en-US" dirty="0">
                <a:sym typeface="+mn-ea"/>
              </a:rPr>
              <a:t>天文学家</a:t>
            </a:r>
            <a:r>
              <a:rPr lang="en-US" altLang="zh-CN" dirty="0">
                <a:sym typeface="+mn-ea"/>
              </a:rPr>
              <a:t>，</a:t>
            </a:r>
            <a:r>
              <a:rPr lang="en-US" altLang="zh-CN" dirty="0" err="1">
                <a:sym typeface="+mn-ea"/>
              </a:rPr>
              <a:t>可以回答用户提出的</a:t>
            </a:r>
            <a:r>
              <a:rPr lang="zh-CN" altLang="en-US" dirty="0">
                <a:sym typeface="+mn-ea"/>
              </a:rPr>
              <a:t>天文学</a:t>
            </a:r>
            <a:r>
              <a:rPr lang="en-US" altLang="zh-CN" dirty="0" err="1">
                <a:sym typeface="+mn-ea"/>
              </a:rPr>
              <a:t>问题</a:t>
            </a:r>
            <a:r>
              <a:rPr lang="en-US" altLang="zh-CN" dirty="0">
                <a:sym typeface="+mn-ea"/>
              </a:rPr>
              <a:t>。</a:t>
            </a:r>
            <a:endParaRPr lang="en-US" altLang="zh-CN" dirty="0">
              <a:sym typeface="+mn-ea"/>
            </a:endParaRPr>
          </a:p>
          <a:p>
            <a:r>
              <a:rPr lang="en-US" altLang="zh-CN" dirty="0"/>
              <a:t>user: </a:t>
            </a:r>
            <a:r>
              <a:rPr lang="zh-CN" altLang="en-US" dirty="0">
                <a:sym typeface="+mn-ea"/>
              </a:rPr>
              <a:t>恒星为什么会发光？</a:t>
            </a:r>
            <a:endParaRPr lang="zh-CN" altLang="en-US" dirty="0">
              <a:sym typeface="+mn-ea"/>
            </a:endParaRPr>
          </a:p>
          <a:p>
            <a:r>
              <a:rPr lang="en-US" altLang="zh-CN" dirty="0"/>
              <a:t>assistant: </a:t>
            </a:r>
            <a:r>
              <a:rPr lang="zh-CN" altLang="en-US" dirty="0"/>
              <a:t>恒星发光是因为其核心持续发生核聚变，释放巨大能量并以光和热的形式辐射出来。</a:t>
            </a:r>
            <a:endParaRPr lang="zh-CN" altLang="en-US" dirty="0"/>
          </a:p>
          <a:p>
            <a:r>
              <a:rPr lang="en-US" altLang="zh-CN" dirty="0">
                <a:sym typeface="+mn-ea"/>
              </a:rPr>
              <a:t>user</a:t>
            </a:r>
            <a:r>
              <a:rPr lang="zh-CN" altLang="en-US" dirty="0"/>
              <a:t>：当恒星核心的核燃料耗尽后，它会发生什么？</a:t>
            </a:r>
            <a:endParaRPr lang="zh-CN" altLang="en-US" dirty="0"/>
          </a:p>
          <a:p>
            <a:r>
              <a:rPr lang="en-US" altLang="zh-CN" dirty="0"/>
              <a:t>assistant: ……</a:t>
            </a:r>
            <a:endParaRPr lang="en-US" altLang="zh-CN" dirty="0"/>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en-US" altLang="zh-C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animEffect transition="in" filter="fade">
                                      <p:cBhvr>
                                        <p:cTn id="11" dur="500"/>
                                        <p:tgtEl>
                                          <p:spTgt spid="9">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fade">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fade">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fade">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9" grpI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影响训练的因素</a:t>
            </a:r>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en-US" altLang="zh-CN"/>
          </a:p>
        </p:txBody>
      </p:sp>
      <p:sp>
        <p:nvSpPr>
          <p:cNvPr id="14" name="内容占位符 5"/>
          <p:cNvSpPr>
            <a:spLocks noGrp="1"/>
          </p:cNvSpPr>
          <p:nvPr/>
        </p:nvSpPr>
        <p:spPr>
          <a:xfrm>
            <a:off x="762635" y="2543810"/>
            <a:ext cx="3211195" cy="3484245"/>
          </a:xfrm>
          <a:prstGeom prst="rect">
            <a:avLst/>
          </a:prstGeom>
        </p:spPr>
        <p:txBody>
          <a:bodyPr vert="horz" lIns="91440" tIns="45720" rIns="91440" bIns="45720" rtlCol="0">
            <a:normAutofit/>
          </a:bodyPr>
          <a:lstStyle>
            <a:lvl1pPr marL="228600" indent="-228600" algn="l" defTabSz="914400" rtl="0" eaLnBrk="1" latinLnBrk="0" hangingPunct="1">
              <a:lnSpc>
                <a:spcPct val="150000"/>
              </a:lnSpc>
              <a:spcBef>
                <a:spcPts val="1000"/>
              </a:spcBef>
              <a:buClr>
                <a:srgbClr val="00E5FF"/>
              </a:buClr>
              <a:buFont typeface="Arial" panose="02080604020202020204" pitchFamily="34" charset="0"/>
              <a:buChar char="•"/>
              <a:defRPr sz="2400" kern="1200">
                <a:solidFill>
                  <a:schemeClr val="bg1"/>
                </a:solidFill>
                <a:latin typeface="+mn-lt"/>
                <a:ea typeface="+mn-ea"/>
                <a:cs typeface="+mn-cs"/>
              </a:defRPr>
            </a:lvl1pPr>
            <a:lvl2pPr marL="685800" indent="-228600" algn="l" defTabSz="914400" rtl="0" eaLnBrk="1" latinLnBrk="0" hangingPunct="1">
              <a:lnSpc>
                <a:spcPct val="150000"/>
              </a:lnSpc>
              <a:spcBef>
                <a:spcPts val="500"/>
              </a:spcBef>
              <a:buClr>
                <a:srgbClr val="00E5FF"/>
              </a:buClr>
              <a:buFont typeface="Arial" panose="02080604020202020204" pitchFamily="34" charset="0"/>
              <a:buChar char="•"/>
              <a:defRPr sz="2000" kern="1200">
                <a:solidFill>
                  <a:schemeClr val="bg1"/>
                </a:solidFill>
                <a:latin typeface="+mn-lt"/>
                <a:ea typeface="+mn-ea"/>
                <a:cs typeface="+mn-cs"/>
              </a:defRPr>
            </a:lvl2pPr>
            <a:lvl3pPr marL="1143000" indent="-228600" algn="l" defTabSz="914400" rtl="0" eaLnBrk="1" latinLnBrk="0" hangingPunct="1">
              <a:lnSpc>
                <a:spcPct val="150000"/>
              </a:lnSpc>
              <a:spcBef>
                <a:spcPts val="500"/>
              </a:spcBef>
              <a:buClr>
                <a:srgbClr val="00E5FF"/>
              </a:buClr>
              <a:buFont typeface="Arial" panose="02080604020202020204" pitchFamily="34" charset="0"/>
              <a:buChar char="•"/>
              <a:defRPr sz="1800" kern="1200">
                <a:solidFill>
                  <a:schemeClr val="bg1"/>
                </a:solidFill>
                <a:latin typeface="+mn-lt"/>
                <a:ea typeface="+mn-ea"/>
                <a:cs typeface="+mn-cs"/>
              </a:defRPr>
            </a:lvl3pPr>
            <a:lvl4pPr marL="1600200" indent="-228600" algn="l" defTabSz="914400" rtl="0" eaLnBrk="1" latinLnBrk="0" hangingPunct="1">
              <a:lnSpc>
                <a:spcPct val="150000"/>
              </a:lnSpc>
              <a:spcBef>
                <a:spcPts val="500"/>
              </a:spcBef>
              <a:buClr>
                <a:srgbClr val="00E5FF"/>
              </a:buClr>
              <a:buFont typeface="Arial" panose="0208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150000"/>
              </a:lnSpc>
              <a:spcBef>
                <a:spcPts val="500"/>
              </a:spcBef>
              <a:buClr>
                <a:srgbClr val="00E5FF"/>
              </a:buClr>
              <a:buFont typeface="Arial" panose="0208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a:lstStyle>
          <a:p>
            <a:r>
              <a:rPr lang="zh-CN" altLang="en-US" sz="1800"/>
              <a:t>训练数据时间边界：</a:t>
            </a:r>
            <a:endParaRPr lang="zh-CN" altLang="en-US" sz="1800"/>
          </a:p>
          <a:p>
            <a:pPr lvl="1"/>
            <a:r>
              <a:rPr lang="zh-CN" altLang="en-US" sz="1500"/>
              <a:t>新资讯、新知识</a:t>
            </a:r>
            <a:endParaRPr lang="zh-CN" altLang="en-US" sz="1500"/>
          </a:p>
          <a:p>
            <a:r>
              <a:rPr lang="zh-CN" altLang="en-US" sz="1800"/>
              <a:t>数据质量：</a:t>
            </a:r>
            <a:endParaRPr lang="zh-CN" altLang="en-US" sz="1800"/>
          </a:p>
          <a:p>
            <a:pPr lvl="1"/>
            <a:r>
              <a:rPr lang="zh-CN" altLang="en-US" sz="1500"/>
              <a:t>错误、偏见</a:t>
            </a:r>
            <a:endParaRPr lang="zh-CN" altLang="en-US" sz="1500"/>
          </a:p>
          <a:p>
            <a:r>
              <a:rPr lang="zh-CN" altLang="en-US" sz="1800"/>
              <a:t>领域覆盖：</a:t>
            </a:r>
            <a:endParaRPr lang="zh-CN" altLang="en-US" sz="1800"/>
          </a:p>
          <a:p>
            <a:pPr lvl="1"/>
            <a:r>
              <a:rPr lang="zh-CN" altLang="en-US" sz="1500"/>
              <a:t>专业任务训练少，表现弱</a:t>
            </a:r>
            <a:endParaRPr lang="zh-CN" altLang="en-US" sz="1500"/>
          </a:p>
        </p:txBody>
      </p:sp>
      <p:sp>
        <p:nvSpPr>
          <p:cNvPr id="15" name="文本占位符 6"/>
          <p:cNvSpPr>
            <a:spLocks noGrp="1"/>
          </p:cNvSpPr>
          <p:nvPr/>
        </p:nvSpPr>
        <p:spPr>
          <a:xfrm>
            <a:off x="8278495" y="1903730"/>
            <a:ext cx="3209925" cy="509905"/>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80604020202020204" pitchFamily="34" charset="0"/>
              <a:buNone/>
              <a:defRPr kumimoji="0" lang="en-US" sz="2400" b="1" i="0" u="none" strike="noStrike" kern="0" cap="none" spc="0" normalizeH="0" baseline="0" noProof="1">
                <a:solidFill>
                  <a:srgbClr val="B388FF"/>
                </a:solidFill>
                <a:latin typeface="Noto Sans SC"/>
                <a:ea typeface="Noto Sans SC"/>
                <a:cs typeface="Noto Sans SC"/>
                <a:sym typeface="Noto Sans SC"/>
              </a:defRPr>
            </a:lvl1pPr>
            <a:lvl2pPr marL="457200" indent="0" algn="l" defTabSz="914400" rtl="0" eaLnBrk="1" latinLnBrk="0" hangingPunct="1">
              <a:lnSpc>
                <a:spcPct val="90000"/>
              </a:lnSpc>
              <a:spcBef>
                <a:spcPts val="500"/>
              </a:spcBef>
              <a:buFont typeface="Arial" panose="02080604020202020204" pitchFamily="34" charset="0"/>
              <a:buNone/>
              <a:defRPr sz="2000" b="1"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80604020202020204" pitchFamily="34" charset="0"/>
              <a:buNone/>
              <a:defRPr sz="1800" b="1"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80604020202020204" pitchFamily="34" charset="0"/>
              <a:buNone/>
              <a:defRPr sz="1600" b="1"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80604020202020204" pitchFamily="34" charset="0"/>
              <a:buNone/>
              <a:defRPr sz="1600" b="1" kern="1200">
                <a:solidFill>
                  <a:schemeClr val="bg1"/>
                </a:solidFill>
                <a:latin typeface="+mn-lt"/>
                <a:ea typeface="+mn-ea"/>
                <a:cs typeface="+mn-cs"/>
              </a:defRPr>
            </a:lvl5pPr>
            <a:lvl6pPr marL="22860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9pPr>
          </a:lstStyle>
          <a:p>
            <a:r>
              <a:rPr lang="zh-CN" altLang="en-US"/>
              <a:t>目标</a:t>
            </a:r>
            <a:endParaRPr lang="zh-CN" altLang="en-US"/>
          </a:p>
        </p:txBody>
      </p:sp>
      <p:sp>
        <p:nvSpPr>
          <p:cNvPr id="18" name="文本占位符 6"/>
          <p:cNvSpPr>
            <a:spLocks noGrp="1"/>
          </p:cNvSpPr>
          <p:nvPr/>
        </p:nvSpPr>
        <p:spPr>
          <a:xfrm>
            <a:off x="762635" y="1903730"/>
            <a:ext cx="3210560" cy="509905"/>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80604020202020204" pitchFamily="34" charset="0"/>
              <a:buNone/>
              <a:defRPr kumimoji="0" lang="en-US" sz="2400" b="1" i="0" u="none" strike="noStrike" kern="0" cap="none" spc="0" normalizeH="0" baseline="0" noProof="1">
                <a:solidFill>
                  <a:srgbClr val="B388FF"/>
                </a:solidFill>
                <a:latin typeface="Noto Sans SC"/>
                <a:ea typeface="Noto Sans SC"/>
                <a:cs typeface="Noto Sans SC"/>
                <a:sym typeface="Noto Sans SC"/>
              </a:defRPr>
            </a:lvl1pPr>
            <a:lvl2pPr marL="457200" indent="0" algn="l" defTabSz="914400" rtl="0" eaLnBrk="1" latinLnBrk="0" hangingPunct="1">
              <a:lnSpc>
                <a:spcPct val="90000"/>
              </a:lnSpc>
              <a:spcBef>
                <a:spcPts val="500"/>
              </a:spcBef>
              <a:buFont typeface="Arial" panose="02080604020202020204" pitchFamily="34" charset="0"/>
              <a:buNone/>
              <a:defRPr sz="2000" b="1"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80604020202020204" pitchFamily="34" charset="0"/>
              <a:buNone/>
              <a:defRPr sz="1800" b="1"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80604020202020204" pitchFamily="34" charset="0"/>
              <a:buNone/>
              <a:defRPr sz="1600" b="1"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80604020202020204" pitchFamily="34" charset="0"/>
              <a:buNone/>
              <a:defRPr sz="1600" b="1" kern="1200">
                <a:solidFill>
                  <a:schemeClr val="bg1"/>
                </a:solidFill>
                <a:latin typeface="+mn-lt"/>
                <a:ea typeface="+mn-ea"/>
                <a:cs typeface="+mn-cs"/>
              </a:defRPr>
            </a:lvl5pPr>
            <a:lvl6pPr marL="22860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9pPr>
          </a:lstStyle>
          <a:p>
            <a:r>
              <a:rPr lang="zh-CN" altLang="en-US">
                <a:solidFill>
                  <a:srgbClr val="00E5FF"/>
                </a:solidFill>
              </a:rPr>
              <a:t>数据</a:t>
            </a:r>
            <a:endParaRPr lang="zh-CN" altLang="en-US">
              <a:solidFill>
                <a:srgbClr val="00E5FF"/>
              </a:solidFill>
            </a:endParaRPr>
          </a:p>
        </p:txBody>
      </p:sp>
      <p:sp>
        <p:nvSpPr>
          <p:cNvPr id="19" name="内容占位符 5"/>
          <p:cNvSpPr>
            <a:spLocks noGrp="1"/>
          </p:cNvSpPr>
          <p:nvPr/>
        </p:nvSpPr>
        <p:spPr>
          <a:xfrm>
            <a:off x="4520565" y="2543810"/>
            <a:ext cx="3211195" cy="3484245"/>
          </a:xfrm>
          <a:prstGeom prst="rect">
            <a:avLst/>
          </a:prstGeom>
        </p:spPr>
        <p:txBody>
          <a:bodyPr vert="horz" lIns="91440" tIns="45720" rIns="91440" bIns="45720" rtlCol="0">
            <a:normAutofit/>
          </a:bodyPr>
          <a:lstStyle>
            <a:lvl1pPr marL="228600" indent="-228600" algn="l" defTabSz="914400" rtl="0" eaLnBrk="1" latinLnBrk="0" hangingPunct="1">
              <a:lnSpc>
                <a:spcPct val="150000"/>
              </a:lnSpc>
              <a:spcBef>
                <a:spcPts val="1000"/>
              </a:spcBef>
              <a:buClr>
                <a:srgbClr val="00E5FF"/>
              </a:buClr>
              <a:buFont typeface="Arial" panose="02080604020202020204" pitchFamily="34" charset="0"/>
              <a:buChar char="•"/>
              <a:defRPr sz="2400" kern="1200">
                <a:solidFill>
                  <a:schemeClr val="bg1"/>
                </a:solidFill>
                <a:latin typeface="+mn-lt"/>
                <a:ea typeface="+mn-ea"/>
                <a:cs typeface="+mn-cs"/>
              </a:defRPr>
            </a:lvl1pPr>
            <a:lvl2pPr marL="685800" indent="-228600" algn="l" defTabSz="914400" rtl="0" eaLnBrk="1" latinLnBrk="0" hangingPunct="1">
              <a:lnSpc>
                <a:spcPct val="150000"/>
              </a:lnSpc>
              <a:spcBef>
                <a:spcPts val="500"/>
              </a:spcBef>
              <a:buClr>
                <a:srgbClr val="00E5FF"/>
              </a:buClr>
              <a:buFont typeface="Arial" panose="02080604020202020204" pitchFamily="34" charset="0"/>
              <a:buChar char="•"/>
              <a:defRPr sz="2000" kern="1200">
                <a:solidFill>
                  <a:schemeClr val="bg1"/>
                </a:solidFill>
                <a:latin typeface="+mn-lt"/>
                <a:ea typeface="+mn-ea"/>
                <a:cs typeface="+mn-cs"/>
              </a:defRPr>
            </a:lvl2pPr>
            <a:lvl3pPr marL="1143000" indent="-228600" algn="l" defTabSz="914400" rtl="0" eaLnBrk="1" latinLnBrk="0" hangingPunct="1">
              <a:lnSpc>
                <a:spcPct val="150000"/>
              </a:lnSpc>
              <a:spcBef>
                <a:spcPts val="500"/>
              </a:spcBef>
              <a:buClr>
                <a:srgbClr val="00E5FF"/>
              </a:buClr>
              <a:buFont typeface="Arial" panose="02080604020202020204" pitchFamily="34" charset="0"/>
              <a:buChar char="•"/>
              <a:defRPr sz="1800" kern="1200">
                <a:solidFill>
                  <a:schemeClr val="bg1"/>
                </a:solidFill>
                <a:latin typeface="+mn-lt"/>
                <a:ea typeface="+mn-ea"/>
                <a:cs typeface="+mn-cs"/>
              </a:defRPr>
            </a:lvl3pPr>
            <a:lvl4pPr marL="1600200" indent="-228600" algn="l" defTabSz="914400" rtl="0" eaLnBrk="1" latinLnBrk="0" hangingPunct="1">
              <a:lnSpc>
                <a:spcPct val="150000"/>
              </a:lnSpc>
              <a:spcBef>
                <a:spcPts val="500"/>
              </a:spcBef>
              <a:buClr>
                <a:srgbClr val="00E5FF"/>
              </a:buClr>
              <a:buFont typeface="Arial" panose="0208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150000"/>
              </a:lnSpc>
              <a:spcBef>
                <a:spcPts val="500"/>
              </a:spcBef>
              <a:buClr>
                <a:srgbClr val="00E5FF"/>
              </a:buClr>
              <a:buFont typeface="Arial" panose="0208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a:lstStyle>
          <a:p>
            <a:pPr>
              <a:buClr>
                <a:srgbClr val="69F0AE"/>
              </a:buClr>
            </a:pPr>
            <a:r>
              <a:rPr lang="zh-CN" altLang="en-US" sz="1800"/>
              <a:t>参数量：</a:t>
            </a:r>
            <a:endParaRPr lang="zh-CN" altLang="en-US" sz="1800"/>
          </a:p>
          <a:p>
            <a:pPr lvl="1">
              <a:buClr>
                <a:srgbClr val="69F0AE"/>
              </a:buClr>
            </a:pPr>
            <a:r>
              <a:rPr lang="zh-CN" altLang="en-US" sz="1500"/>
              <a:t>参数更多，保存的信息越多</a:t>
            </a:r>
            <a:endParaRPr lang="zh-CN" altLang="en-US" sz="1500"/>
          </a:p>
          <a:p>
            <a:pPr lvl="0">
              <a:buClr>
                <a:srgbClr val="69F0AE"/>
              </a:buClr>
            </a:pPr>
            <a:r>
              <a:rPr lang="zh-CN" altLang="en-US" sz="1800"/>
              <a:t>上下文长度：</a:t>
            </a:r>
            <a:endParaRPr lang="zh-CN" altLang="en-US" sz="1800"/>
          </a:p>
          <a:p>
            <a:pPr lvl="1">
              <a:buClr>
                <a:srgbClr val="69F0AE"/>
              </a:buClr>
            </a:pPr>
            <a:r>
              <a:rPr lang="zh-CN" altLang="en-US" sz="1500"/>
              <a:t>上下文越长，越能处理复杂任务</a:t>
            </a:r>
            <a:endParaRPr lang="zh-CN" altLang="en-US" sz="1500"/>
          </a:p>
          <a:p>
            <a:pPr lvl="0"/>
            <a:endParaRPr lang="zh-CN" altLang="en-US" sz="1800"/>
          </a:p>
        </p:txBody>
      </p:sp>
      <p:sp>
        <p:nvSpPr>
          <p:cNvPr id="20" name="内容占位符 5"/>
          <p:cNvSpPr>
            <a:spLocks noGrp="1"/>
          </p:cNvSpPr>
          <p:nvPr/>
        </p:nvSpPr>
        <p:spPr>
          <a:xfrm>
            <a:off x="8278495" y="2543810"/>
            <a:ext cx="3211195" cy="3484245"/>
          </a:xfrm>
          <a:prstGeom prst="rect">
            <a:avLst/>
          </a:prstGeom>
        </p:spPr>
        <p:txBody>
          <a:bodyPr vert="horz" lIns="91440" tIns="45720" rIns="91440" bIns="45720" rtlCol="0">
            <a:normAutofit/>
          </a:bodyPr>
          <a:lstStyle>
            <a:lvl1pPr marL="228600" indent="-228600" algn="l" defTabSz="914400" rtl="0" eaLnBrk="1" latinLnBrk="0" hangingPunct="1">
              <a:lnSpc>
                <a:spcPct val="150000"/>
              </a:lnSpc>
              <a:spcBef>
                <a:spcPts val="1000"/>
              </a:spcBef>
              <a:buClr>
                <a:srgbClr val="00E5FF"/>
              </a:buClr>
              <a:buFont typeface="Arial" panose="02080604020202020204" pitchFamily="34" charset="0"/>
              <a:buChar char="•"/>
              <a:defRPr sz="2400" kern="1200">
                <a:solidFill>
                  <a:schemeClr val="bg1"/>
                </a:solidFill>
                <a:latin typeface="+mn-lt"/>
                <a:ea typeface="+mn-ea"/>
                <a:cs typeface="+mn-cs"/>
              </a:defRPr>
            </a:lvl1pPr>
            <a:lvl2pPr marL="685800" indent="-228600" algn="l" defTabSz="914400" rtl="0" eaLnBrk="1" latinLnBrk="0" hangingPunct="1">
              <a:lnSpc>
                <a:spcPct val="150000"/>
              </a:lnSpc>
              <a:spcBef>
                <a:spcPts val="500"/>
              </a:spcBef>
              <a:buClr>
                <a:srgbClr val="00E5FF"/>
              </a:buClr>
              <a:buFont typeface="Arial" panose="02080604020202020204" pitchFamily="34" charset="0"/>
              <a:buChar char="•"/>
              <a:defRPr sz="2000" kern="1200">
                <a:solidFill>
                  <a:schemeClr val="bg1"/>
                </a:solidFill>
                <a:latin typeface="+mn-lt"/>
                <a:ea typeface="+mn-ea"/>
                <a:cs typeface="+mn-cs"/>
              </a:defRPr>
            </a:lvl2pPr>
            <a:lvl3pPr marL="1143000" indent="-228600" algn="l" defTabSz="914400" rtl="0" eaLnBrk="1" latinLnBrk="0" hangingPunct="1">
              <a:lnSpc>
                <a:spcPct val="150000"/>
              </a:lnSpc>
              <a:spcBef>
                <a:spcPts val="500"/>
              </a:spcBef>
              <a:buClr>
                <a:srgbClr val="00E5FF"/>
              </a:buClr>
              <a:buFont typeface="Arial" panose="02080604020202020204" pitchFamily="34" charset="0"/>
              <a:buChar char="•"/>
              <a:defRPr sz="1800" kern="1200">
                <a:solidFill>
                  <a:schemeClr val="bg1"/>
                </a:solidFill>
                <a:latin typeface="+mn-lt"/>
                <a:ea typeface="+mn-ea"/>
                <a:cs typeface="+mn-cs"/>
              </a:defRPr>
            </a:lvl3pPr>
            <a:lvl4pPr marL="1600200" indent="-228600" algn="l" defTabSz="914400" rtl="0" eaLnBrk="1" latinLnBrk="0" hangingPunct="1">
              <a:lnSpc>
                <a:spcPct val="150000"/>
              </a:lnSpc>
              <a:spcBef>
                <a:spcPts val="500"/>
              </a:spcBef>
              <a:buClr>
                <a:srgbClr val="00E5FF"/>
              </a:buClr>
              <a:buFont typeface="Arial" panose="0208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150000"/>
              </a:lnSpc>
              <a:spcBef>
                <a:spcPts val="500"/>
              </a:spcBef>
              <a:buClr>
                <a:srgbClr val="00E5FF"/>
              </a:buClr>
              <a:buFont typeface="Arial" panose="0208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a:lstStyle>
          <a:p>
            <a:pPr>
              <a:buClr>
                <a:srgbClr val="B388FF"/>
              </a:buClr>
            </a:pPr>
            <a:r>
              <a:rPr lang="zh-CN" altLang="en-US" sz="1800"/>
              <a:t>训练任务：</a:t>
            </a:r>
            <a:endParaRPr lang="zh-CN" altLang="en-US" sz="1800"/>
          </a:p>
          <a:p>
            <a:pPr lvl="1">
              <a:buClr>
                <a:srgbClr val="B388FF"/>
              </a:buClr>
            </a:pPr>
            <a:r>
              <a:rPr lang="zh-CN" altLang="en-US" sz="1500"/>
              <a:t>直接影响模型偏好</a:t>
            </a:r>
            <a:endParaRPr lang="zh-CN" altLang="en-US" sz="1500"/>
          </a:p>
          <a:p>
            <a:pPr>
              <a:buClr>
                <a:srgbClr val="B388FF"/>
              </a:buClr>
            </a:pPr>
            <a:r>
              <a:rPr lang="zh-CN" altLang="en-US" sz="1800"/>
              <a:t>对齐环节：</a:t>
            </a:r>
            <a:endParaRPr lang="zh-CN" altLang="en-US" sz="1800"/>
          </a:p>
          <a:p>
            <a:pPr lvl="1">
              <a:buClr>
                <a:srgbClr val="B388FF"/>
              </a:buClr>
            </a:pPr>
            <a:r>
              <a:rPr lang="zh-CN" altLang="en-US" sz="1500"/>
              <a:t>影响模型的使用安全性</a:t>
            </a:r>
            <a:endParaRPr lang="zh-CN" altLang="en-US" sz="1500"/>
          </a:p>
          <a:p>
            <a:pPr lvl="1">
              <a:buClr>
                <a:srgbClr val="B388FF"/>
              </a:buClr>
            </a:pPr>
            <a:r>
              <a:rPr lang="zh-CN" altLang="en-US" sz="1500"/>
              <a:t>影响输出质量</a:t>
            </a:r>
            <a:endParaRPr lang="zh-CN" altLang="en-US" sz="1500"/>
          </a:p>
        </p:txBody>
      </p:sp>
      <p:sp>
        <p:nvSpPr>
          <p:cNvPr id="21" name="文本占位符 6"/>
          <p:cNvSpPr>
            <a:spLocks noGrp="1"/>
          </p:cNvSpPr>
          <p:nvPr/>
        </p:nvSpPr>
        <p:spPr>
          <a:xfrm>
            <a:off x="4520565" y="1903730"/>
            <a:ext cx="3210560" cy="509905"/>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80604020202020204" pitchFamily="34" charset="0"/>
              <a:buNone/>
              <a:defRPr kumimoji="0" lang="en-US" sz="2400" b="1" i="0" u="none" strike="noStrike" kern="0" cap="none" spc="0" normalizeH="0" baseline="0" noProof="1">
                <a:solidFill>
                  <a:srgbClr val="B388FF"/>
                </a:solidFill>
                <a:latin typeface="Noto Sans SC"/>
                <a:ea typeface="Noto Sans SC"/>
                <a:cs typeface="Noto Sans SC"/>
                <a:sym typeface="Noto Sans SC"/>
              </a:defRPr>
            </a:lvl1pPr>
            <a:lvl2pPr marL="457200" indent="0" algn="l" defTabSz="914400" rtl="0" eaLnBrk="1" latinLnBrk="0" hangingPunct="1">
              <a:lnSpc>
                <a:spcPct val="90000"/>
              </a:lnSpc>
              <a:spcBef>
                <a:spcPts val="500"/>
              </a:spcBef>
              <a:buFont typeface="Arial" panose="02080604020202020204" pitchFamily="34" charset="0"/>
              <a:buNone/>
              <a:defRPr sz="2000" b="1"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80604020202020204" pitchFamily="34" charset="0"/>
              <a:buNone/>
              <a:defRPr sz="1800" b="1"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80604020202020204" pitchFamily="34" charset="0"/>
              <a:buNone/>
              <a:defRPr sz="1600" b="1"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80604020202020204" pitchFamily="34" charset="0"/>
              <a:buNone/>
              <a:defRPr sz="1600" b="1" kern="1200">
                <a:solidFill>
                  <a:schemeClr val="bg1"/>
                </a:solidFill>
                <a:latin typeface="+mn-lt"/>
                <a:ea typeface="+mn-ea"/>
                <a:cs typeface="+mn-cs"/>
              </a:defRPr>
            </a:lvl5pPr>
            <a:lvl6pPr marL="22860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80604020202020204" pitchFamily="34" charset="0"/>
              <a:buNone/>
              <a:defRPr sz="1600" b="1" kern="1200">
                <a:solidFill>
                  <a:schemeClr val="tx1"/>
                </a:solidFill>
                <a:latin typeface="+mn-lt"/>
                <a:ea typeface="+mn-ea"/>
                <a:cs typeface="+mn-cs"/>
              </a:defRPr>
            </a:lvl9pPr>
          </a:lstStyle>
          <a:p>
            <a:r>
              <a:rPr lang="zh-CN" altLang="en-US">
                <a:solidFill>
                  <a:srgbClr val="69F0AE"/>
                </a:solidFill>
              </a:rPr>
              <a:t>模型</a:t>
            </a:r>
            <a:endParaRPr lang="zh-CN" altLang="en-US">
              <a:solidFill>
                <a:srgbClr val="69F0AE"/>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500"/>
                                        <p:tgtEl>
                                          <p:spTgt spid="21"/>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4" grpId="1"/>
      <p:bldP spid="15" grpId="0"/>
      <p:bldP spid="15" grpId="1"/>
      <p:bldP spid="18" grpId="0"/>
      <p:bldP spid="18" grpId="1"/>
      <p:bldP spid="19" grpId="0"/>
      <p:bldP spid="19" grpId="1"/>
      <p:bldP spid="20" grpId="0"/>
      <p:bldP spid="20" grpId="1"/>
      <p:bldP spid="21" grpId="0"/>
      <p:bldP spid="21"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p:cNvSpPr>
            <a:spLocks noGrp="1"/>
          </p:cNvSpPr>
          <p:nvPr>
            <p:ph type="title"/>
          </p:nvPr>
        </p:nvSpPr>
        <p:spPr/>
        <p:txBody>
          <a:bodyPr>
            <a:normAutofit/>
          </a:bodyPr>
          <a:lstStyle/>
          <a:p>
            <a:r>
              <a:rPr lang="zh-CN" altLang="en-US"/>
              <a:t>产品差异也是重要因素</a:t>
            </a:r>
            <a:endParaRPr lang="zh-CN" altLang="en-US"/>
          </a:p>
        </p:txBody>
      </p:sp>
      <p:sp>
        <p:nvSpPr>
          <p:cNvPr id="9" name="内容占位符 8"/>
          <p:cNvSpPr>
            <a:spLocks noGrp="1"/>
          </p:cNvSpPr>
          <p:nvPr>
            <p:ph idx="1"/>
          </p:nvPr>
        </p:nvSpPr>
        <p:spPr/>
        <p:txBody>
          <a:bodyPr/>
          <a:lstStyle/>
          <a:p>
            <a:r>
              <a:rPr lang="zh-CN" altLang="en-US">
                <a:solidFill>
                  <a:schemeClr val="bg1"/>
                </a:solidFill>
              </a:rPr>
              <a:t>工具能力</a:t>
            </a:r>
            <a:endParaRPr lang="zh-CN" altLang="en-US">
              <a:solidFill>
                <a:schemeClr val="bg1"/>
              </a:solidFill>
            </a:endParaRPr>
          </a:p>
          <a:p>
            <a:pPr lvl="1"/>
            <a:r>
              <a:rPr lang="zh-CN" altLang="en-US">
                <a:solidFill>
                  <a:schemeClr val="bg1"/>
                </a:solidFill>
              </a:rPr>
              <a:t>工具是否可以完成任务需求？</a:t>
            </a:r>
            <a:endParaRPr lang="zh-CN" altLang="en-US">
              <a:solidFill>
                <a:schemeClr val="bg1"/>
              </a:solidFill>
            </a:endParaRPr>
          </a:p>
          <a:p>
            <a:pPr lvl="1"/>
            <a:r>
              <a:rPr lang="zh-CN" altLang="en-US">
                <a:solidFill>
                  <a:schemeClr val="bg1"/>
                </a:solidFill>
              </a:rPr>
              <a:t>有需求的时候是否能够用到匹配的工具？</a:t>
            </a:r>
            <a:endParaRPr lang="zh-CN" altLang="en-US">
              <a:solidFill>
                <a:schemeClr val="bg1"/>
              </a:solidFill>
            </a:endParaRPr>
          </a:p>
          <a:p>
            <a:r>
              <a:rPr lang="zh-CN" altLang="en-US">
                <a:solidFill>
                  <a:schemeClr val="bg1"/>
                </a:solidFill>
              </a:rPr>
              <a:t>工作流编排</a:t>
            </a:r>
            <a:endParaRPr lang="zh-CN" altLang="en-US">
              <a:solidFill>
                <a:schemeClr val="bg1"/>
              </a:solidFill>
            </a:endParaRPr>
          </a:p>
          <a:p>
            <a:pPr lvl="1"/>
            <a:r>
              <a:rPr lang="zh-CN" altLang="en-US" sz="1800">
                <a:solidFill>
                  <a:schemeClr val="bg1"/>
                </a:solidFill>
              </a:rPr>
              <a:t>是否进行质量检查？</a:t>
            </a:r>
            <a:endParaRPr lang="zh-CN" altLang="en-US" sz="1800">
              <a:solidFill>
                <a:schemeClr val="bg1"/>
              </a:solidFill>
            </a:endParaRPr>
          </a:p>
          <a:p>
            <a:pPr lvl="1"/>
            <a:r>
              <a:rPr lang="zh-CN" altLang="en-US" sz="1800">
                <a:solidFill>
                  <a:schemeClr val="bg1"/>
                </a:solidFill>
              </a:rPr>
              <a:t>检查发现缺陷后是否能够自动修复？</a:t>
            </a:r>
            <a:endParaRPr lang="zh-CN" altLang="en-US">
              <a:solidFill>
                <a:schemeClr val="bg1"/>
              </a:solidFill>
            </a:endParaRPr>
          </a:p>
          <a:p>
            <a:r>
              <a:rPr lang="zh-CN" altLang="en-US">
                <a:solidFill>
                  <a:schemeClr val="bg1"/>
                </a:solidFill>
              </a:rPr>
              <a:t>用户交互</a:t>
            </a:r>
            <a:endParaRPr lang="zh-CN" altLang="en-US">
              <a:solidFill>
                <a:schemeClr val="bg1"/>
              </a:solidFill>
            </a:endParaRPr>
          </a:p>
          <a:p>
            <a:pPr lvl="1"/>
            <a:r>
              <a:rPr lang="zh-CN" altLang="en-US">
                <a:solidFill>
                  <a:schemeClr val="bg1"/>
                </a:solidFill>
              </a:rPr>
              <a:t>是否在需要用户决策的时候把决策权还给用户</a:t>
            </a:r>
            <a:endParaRPr lang="zh-CN" altLang="en-US">
              <a:solidFill>
                <a:schemeClr val="bg1"/>
              </a:solidFill>
            </a:endParaRPr>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en-US" altLang="zh-C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animEffect transition="in" filter="fade">
                                      <p:cBhvr>
                                        <p:cTn id="11" dur="500"/>
                                        <p:tgtEl>
                                          <p:spTgt spid="9">
                                            <p:txEl>
                                              <p:pRg st="1" end="1"/>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fade">
                                      <p:cBhvr>
                                        <p:cTn id="15" dur="500"/>
                                        <p:tgtEl>
                                          <p:spTgt spid="9">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fade">
                                      <p:cBhvr>
                                        <p:cTn id="20" dur="500"/>
                                        <p:tgtEl>
                                          <p:spTgt spid="9">
                                            <p:txEl>
                                              <p:pRg st="3" end="3"/>
                                            </p:txEl>
                                          </p:spTgt>
                                        </p:tgtEl>
                                      </p:cBhvr>
                                    </p:animEffect>
                                  </p:childTnLst>
                                </p:cTn>
                              </p:par>
                            </p:childTnLst>
                          </p:cTn>
                        </p:par>
                        <p:par>
                          <p:cTn id="21" fill="hold">
                            <p:stCondLst>
                              <p:cond delay="500"/>
                            </p:stCondLst>
                            <p:childTnLst>
                              <p:par>
                                <p:cTn id="22" presetID="10" presetClass="entr" presetSubtype="0" fill="hold" grpId="0" nodeType="after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fade">
                                      <p:cBhvr>
                                        <p:cTn id="24" dur="500"/>
                                        <p:tgtEl>
                                          <p:spTgt spid="9">
                                            <p:txEl>
                                              <p:pRg st="4" end="4"/>
                                            </p:txEl>
                                          </p:spTgt>
                                        </p:tgtEl>
                                      </p:cBhvr>
                                    </p:animEffect>
                                  </p:childTnLst>
                                </p:cTn>
                              </p:par>
                            </p:childTnLst>
                          </p:cTn>
                        </p:par>
                        <p:par>
                          <p:cTn id="25" fill="hold">
                            <p:stCondLst>
                              <p:cond delay="1000"/>
                            </p:stCondLst>
                            <p:childTnLst>
                              <p:par>
                                <p:cTn id="26" presetID="10" presetClass="entr" presetSubtype="0" fill="hold" grpId="0" nodeType="after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fade">
                                      <p:cBhvr>
                                        <p:cTn id="28" dur="500"/>
                                        <p:tgtEl>
                                          <p:spTgt spid="9">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xEl>
                                              <p:pRg st="6" end="6"/>
                                            </p:txEl>
                                          </p:spTgt>
                                        </p:tgtEl>
                                        <p:attrNameLst>
                                          <p:attrName>style.visibility</p:attrName>
                                        </p:attrNameLst>
                                      </p:cBhvr>
                                      <p:to>
                                        <p:strVal val="visible"/>
                                      </p:to>
                                    </p:set>
                                    <p:animEffect transition="in" filter="fade">
                                      <p:cBhvr>
                                        <p:cTn id="33" dur="500"/>
                                        <p:tgtEl>
                                          <p:spTgt spid="9">
                                            <p:txEl>
                                              <p:pRg st="6" end="6"/>
                                            </p:txEl>
                                          </p:spTgt>
                                        </p:tgtEl>
                                      </p:cBhvr>
                                    </p:animEffect>
                                  </p:childTnLst>
                                </p:cTn>
                              </p:par>
                            </p:childTnLst>
                          </p:cTn>
                        </p:par>
                        <p:par>
                          <p:cTn id="34" fill="hold">
                            <p:stCondLst>
                              <p:cond delay="500"/>
                            </p:stCondLst>
                            <p:childTnLst>
                              <p:par>
                                <p:cTn id="35" presetID="10" presetClass="entr" presetSubtype="0" fill="hold" grpId="0" nodeType="after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fade">
                                      <p:cBhvr>
                                        <p:cTn id="37"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9" grpI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模型微调（</a:t>
            </a:r>
            <a:r>
              <a:rPr altLang="zh-CN"/>
              <a:t>Fine-tuning</a:t>
            </a:r>
            <a:r>
              <a:rPr lang="zh-CN" altLang="en-US"/>
              <a:t>）</a:t>
            </a:r>
            <a:endParaRPr lang="zh-CN" altLang="en-US"/>
          </a:p>
        </p:txBody>
      </p:sp>
      <p:sp>
        <p:nvSpPr>
          <p:cNvPr id="5" name="内容占位符 4"/>
          <p:cNvSpPr>
            <a:spLocks noGrp="1"/>
          </p:cNvSpPr>
          <p:nvPr>
            <p:ph idx="1"/>
          </p:nvPr>
        </p:nvSpPr>
        <p:spPr/>
        <p:txBody>
          <a:bodyPr/>
          <a:lstStyle/>
          <a:p>
            <a:r>
              <a:rPr lang="zh-CN" altLang="en-US"/>
              <a:t>这里所说的微调是专指基于已经完成后训练的模型进行的额外训练</a:t>
            </a:r>
            <a:endParaRPr lang="zh-CN" altLang="en-US"/>
          </a:p>
          <a:p>
            <a:r>
              <a:rPr lang="zh-CN" altLang="en-US"/>
              <a:t>训练的数据是某一个特定领域的专门数据</a:t>
            </a:r>
            <a:endParaRPr lang="zh-CN" altLang="en-US"/>
          </a:p>
          <a:p>
            <a:pPr lvl="1"/>
            <a:r>
              <a:rPr lang="zh-CN" altLang="en-US"/>
              <a:t>如：金融、法律、医疗</a:t>
            </a:r>
            <a:endParaRPr lang="zh-CN" altLang="en-US"/>
          </a:p>
          <a:p>
            <a:pPr lvl="0"/>
            <a:r>
              <a:rPr lang="zh-CN" altLang="en-US"/>
              <a:t>通常在小模型上进行，作为专有业务的特定环节</a:t>
            </a:r>
            <a:endParaRPr lang="zh-CN" altLang="en-US"/>
          </a:p>
          <a:p>
            <a:pPr lvl="1"/>
            <a:r>
              <a:rPr lang="zh-CN" altLang="en-US"/>
              <a:t>如：提取病历中的症状并进行标准化</a:t>
            </a:r>
            <a:endParaRPr lang="zh-CN" altLang="en-US"/>
          </a:p>
        </p:txBody>
      </p:sp>
      <p:sp>
        <p:nvSpPr>
          <p:cNvPr id="6" name="内容占位符 5"/>
          <p:cNvSpPr>
            <a:spLocks noGrp="1"/>
          </p:cNvSpPr>
          <p:nvPr>
            <p:ph idx="13"/>
          </p:nvPr>
        </p:nvSpPr>
        <p:spPr/>
        <p:txBody>
          <a:bodyPr/>
          <a:lstStyle/>
          <a:p>
            <a:r>
              <a:rPr lang="zh-CN" altLang="en-US" dirty="0"/>
              <a:t>微调是用特定数据继续训练大模型，使其适配</a:t>
            </a:r>
            <a:endParaRPr lang="zh-CN" altLang="en-US" dirty="0"/>
          </a:p>
          <a:p>
            <a:r>
              <a:rPr lang="zh-CN" altLang="en-US" dirty="0"/>
              <a:t>下游任务或领域，提升专业表现。</a:t>
            </a:r>
            <a:endParaRPr lang="zh-CN" altLang="en-US" dirty="0"/>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en-US" altLang="zh-C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animEffect transition="in" filter="fade">
                                      <p:cBhvr>
                                        <p:cTn id="11" dur="500"/>
                                        <p:tgtEl>
                                          <p:spTgt spid="6">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fade">
                                      <p:cBhvr>
                                        <p:cTn id="16" dur="500"/>
                                        <p:tgtEl>
                                          <p:spTgt spid="5">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
                                            <p:txEl>
                                              <p:pRg st="1" end="1"/>
                                            </p:txEl>
                                          </p:spTgt>
                                        </p:tgtEl>
                                        <p:attrNameLst>
                                          <p:attrName>style.visibility</p:attrName>
                                        </p:attrNameLst>
                                      </p:cBhvr>
                                      <p:to>
                                        <p:strVal val="visible"/>
                                      </p:to>
                                    </p:set>
                                    <p:animEffect transition="in" filter="fade">
                                      <p:cBhvr>
                                        <p:cTn id="21" dur="500"/>
                                        <p:tgtEl>
                                          <p:spTgt spid="5">
                                            <p:txEl>
                                              <p:pRg st="1" end="1"/>
                                            </p:txEl>
                                          </p:spTgt>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5">
                                            <p:txEl>
                                              <p:pRg st="2" end="2"/>
                                            </p:txEl>
                                          </p:spTgt>
                                        </p:tgtEl>
                                        <p:attrNameLst>
                                          <p:attrName>style.visibility</p:attrName>
                                        </p:attrNameLst>
                                      </p:cBhvr>
                                      <p:to>
                                        <p:strVal val="visible"/>
                                      </p:to>
                                    </p:set>
                                    <p:animEffect transition="in" filter="fade">
                                      <p:cBhvr>
                                        <p:cTn id="25" dur="500"/>
                                        <p:tgtEl>
                                          <p:spTgt spid="5">
                                            <p:txEl>
                                              <p:pRg st="2" end="2"/>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5">
                                            <p:txEl>
                                              <p:pRg st="3" end="3"/>
                                            </p:txEl>
                                          </p:spTgt>
                                        </p:tgtEl>
                                        <p:attrNameLst>
                                          <p:attrName>style.visibility</p:attrName>
                                        </p:attrNameLst>
                                      </p:cBhvr>
                                      <p:to>
                                        <p:strVal val="visible"/>
                                      </p:to>
                                    </p:set>
                                    <p:animEffect transition="in" filter="fade">
                                      <p:cBhvr>
                                        <p:cTn id="30" dur="500"/>
                                        <p:tgtEl>
                                          <p:spTgt spid="5">
                                            <p:txEl>
                                              <p:pRg st="3" end="3"/>
                                            </p:txEl>
                                          </p:spTgt>
                                        </p:tgtEl>
                                      </p:cBhvr>
                                    </p:animEffect>
                                  </p:childTnLst>
                                </p:cTn>
                              </p:par>
                            </p:childTnLst>
                          </p:cTn>
                        </p:par>
                        <p:par>
                          <p:cTn id="31" fill="hold">
                            <p:stCondLst>
                              <p:cond delay="500"/>
                            </p:stCondLst>
                            <p:childTnLst>
                              <p:par>
                                <p:cTn id="32" presetID="10" presetClass="entr" presetSubtype="0" fill="hold" grpId="0" nodeType="afterEffect">
                                  <p:stCondLst>
                                    <p:cond delay="0"/>
                                  </p:stCondLst>
                                  <p:childTnLst>
                                    <p:set>
                                      <p:cBhvr>
                                        <p:cTn id="33" dur="1" fill="hold">
                                          <p:stCondLst>
                                            <p:cond delay="0"/>
                                          </p:stCondLst>
                                        </p:cTn>
                                        <p:tgtEl>
                                          <p:spTgt spid="5">
                                            <p:txEl>
                                              <p:pRg st="4" end="4"/>
                                            </p:txEl>
                                          </p:spTgt>
                                        </p:tgtEl>
                                        <p:attrNameLst>
                                          <p:attrName>style.visibility</p:attrName>
                                        </p:attrNameLst>
                                      </p:cBhvr>
                                      <p:to>
                                        <p:strVal val="visible"/>
                                      </p:to>
                                    </p:set>
                                    <p:animEffect transition="in" filter="fade">
                                      <p:cBhvr>
                                        <p:cTn id="34"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build="p"/>
      <p:bldP spid="6" grpId="0" uiExpand="1" build="p"/>
      <p:bldP spid="6" grpI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模型微调</a:t>
            </a:r>
            <a:r>
              <a:rPr altLang="zh-CN"/>
              <a:t> vs </a:t>
            </a:r>
            <a:r>
              <a:rPr lang="zh-CN" altLang="en-US"/>
              <a:t>检索增强生成</a:t>
            </a:r>
            <a:endParaRPr lang="zh-CN" altLang="en-US"/>
          </a:p>
        </p:txBody>
      </p:sp>
      <p:sp>
        <p:nvSpPr>
          <p:cNvPr id="5" name="文本占位符 4"/>
          <p:cNvSpPr>
            <a:spLocks noGrp="1"/>
          </p:cNvSpPr>
          <p:nvPr>
            <p:ph type="body" idx="1"/>
          </p:nvPr>
        </p:nvSpPr>
        <p:spPr/>
        <p:txBody>
          <a:bodyPr/>
          <a:lstStyle/>
          <a:p>
            <a:r>
              <a:rPr lang="zh-CN" altLang="en-US"/>
              <a:t>微调</a:t>
            </a:r>
            <a:endParaRPr lang="zh-CN" altLang="en-US"/>
          </a:p>
        </p:txBody>
      </p:sp>
      <p:sp>
        <p:nvSpPr>
          <p:cNvPr id="6" name="内容占位符 5"/>
          <p:cNvSpPr>
            <a:spLocks noGrp="1"/>
          </p:cNvSpPr>
          <p:nvPr>
            <p:ph sz="half" idx="2"/>
          </p:nvPr>
        </p:nvSpPr>
        <p:spPr/>
        <p:txBody>
          <a:bodyPr/>
          <a:lstStyle/>
          <a:p>
            <a:r>
              <a:rPr lang="zh-CN" altLang="en-US"/>
              <a:t>让模型学会</a:t>
            </a:r>
            <a:r>
              <a:rPr lang="en-US" altLang="zh-CN"/>
              <a:t>/</a:t>
            </a:r>
            <a:r>
              <a:rPr lang="zh-CN" altLang="en-US"/>
              <a:t>记住资料</a:t>
            </a:r>
            <a:endParaRPr lang="zh-CN" altLang="en-US"/>
          </a:p>
          <a:p>
            <a:r>
              <a:rPr lang="zh-CN" altLang="en-US"/>
              <a:t>模型参数会被修改</a:t>
            </a:r>
            <a:endParaRPr lang="zh-CN" altLang="en-US"/>
          </a:p>
          <a:p>
            <a:r>
              <a:rPr lang="zh-CN" altLang="en-US"/>
              <a:t>小模型也能“专精”</a:t>
            </a:r>
            <a:endParaRPr lang="zh-CN" altLang="en-US"/>
          </a:p>
          <a:p>
            <a:r>
              <a:rPr lang="zh-CN" altLang="en-US"/>
              <a:t>训练成本高，通用性弱</a:t>
            </a:r>
            <a:endParaRPr lang="zh-CN" altLang="en-US"/>
          </a:p>
        </p:txBody>
      </p:sp>
      <p:sp>
        <p:nvSpPr>
          <p:cNvPr id="7" name="文本占位符 6"/>
          <p:cNvSpPr>
            <a:spLocks noGrp="1"/>
          </p:cNvSpPr>
          <p:nvPr>
            <p:ph type="body" sz="quarter" idx="3"/>
          </p:nvPr>
        </p:nvSpPr>
        <p:spPr/>
        <p:txBody>
          <a:bodyPr/>
          <a:lstStyle/>
          <a:p>
            <a:r>
              <a:rPr altLang="zh-CN"/>
              <a:t>RAG</a:t>
            </a:r>
            <a:endParaRPr altLang="zh-CN"/>
          </a:p>
        </p:txBody>
      </p:sp>
      <p:sp>
        <p:nvSpPr>
          <p:cNvPr id="8" name="内容占位符 7"/>
          <p:cNvSpPr>
            <a:spLocks noGrp="1"/>
          </p:cNvSpPr>
          <p:nvPr>
            <p:ph sz="quarter" idx="4"/>
          </p:nvPr>
        </p:nvSpPr>
        <p:spPr/>
        <p:txBody>
          <a:bodyPr/>
          <a:lstStyle/>
          <a:p>
            <a:r>
              <a:rPr lang="zh-CN" altLang="en-US"/>
              <a:t>当场根据资料回答问题</a:t>
            </a:r>
            <a:endParaRPr lang="zh-CN" altLang="en-US"/>
          </a:p>
          <a:p>
            <a:r>
              <a:rPr lang="zh-CN" altLang="en-US"/>
              <a:t>模型参数不变</a:t>
            </a:r>
            <a:endParaRPr lang="zh-CN" altLang="en-US"/>
          </a:p>
          <a:p>
            <a:r>
              <a:rPr lang="zh-CN" altLang="en-US"/>
              <a:t>不用训练，通用性强</a:t>
            </a:r>
            <a:endParaRPr lang="zh-CN" altLang="en-US"/>
          </a:p>
          <a:p>
            <a:r>
              <a:rPr lang="zh-CN" altLang="en-US"/>
              <a:t>查找结果未必精准，</a:t>
            </a:r>
            <a:r>
              <a:rPr lang="en-US" altLang="zh-CN"/>
              <a:t>token</a:t>
            </a:r>
            <a:r>
              <a:rPr lang="zh-CN" altLang="en-US"/>
              <a:t>消耗多</a:t>
            </a:r>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en-US" altLang="zh-C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Effect transition="in" filter="fade">
                                      <p:cBhvr>
                                        <p:cTn id="11" dur="500"/>
                                        <p:tgtEl>
                                          <p:spTgt spid="6">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7">
                                            <p:txEl>
                                              <p:pRg st="0" end="0"/>
                                            </p:txEl>
                                          </p:spTgt>
                                        </p:tgtEl>
                                        <p:attrNameLst>
                                          <p:attrName>style.visibility</p:attrName>
                                        </p:attrNameLst>
                                      </p:cBhvr>
                                      <p:to>
                                        <p:strVal val="visible"/>
                                      </p:to>
                                    </p:set>
                                    <p:animEffect transition="in" filter="fade">
                                      <p:cBhvr>
                                        <p:cTn id="16" dur="500"/>
                                        <p:tgtEl>
                                          <p:spTgt spid="7">
                                            <p:txEl>
                                              <p:pRg st="0" end="0"/>
                                            </p:txEl>
                                          </p:spTgt>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8">
                                            <p:txEl>
                                              <p:pRg st="0" end="0"/>
                                            </p:txEl>
                                          </p:spTgt>
                                        </p:tgtEl>
                                        <p:attrNameLst>
                                          <p:attrName>style.visibility</p:attrName>
                                        </p:attrNameLst>
                                      </p:cBhvr>
                                      <p:to>
                                        <p:strVal val="visible"/>
                                      </p:to>
                                    </p:set>
                                    <p:animEffect transition="in" filter="fade">
                                      <p:cBhvr>
                                        <p:cTn id="20" dur="500"/>
                                        <p:tgtEl>
                                          <p:spTgt spid="8">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
                                            <p:txEl>
                                              <p:pRg st="1" end="1"/>
                                            </p:txEl>
                                          </p:spTgt>
                                        </p:tgtEl>
                                        <p:attrNameLst>
                                          <p:attrName>style.visibility</p:attrName>
                                        </p:attrNameLst>
                                      </p:cBhvr>
                                      <p:to>
                                        <p:strVal val="visible"/>
                                      </p:to>
                                    </p:set>
                                    <p:animEffect transition="in" filter="fade">
                                      <p:cBhvr>
                                        <p:cTn id="25" dur="500"/>
                                        <p:tgtEl>
                                          <p:spTgt spid="6">
                                            <p:txEl>
                                              <p:pRg st="1" end="1"/>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8">
                                            <p:txEl>
                                              <p:pRg st="1" end="1"/>
                                            </p:txEl>
                                          </p:spTgt>
                                        </p:tgtEl>
                                        <p:attrNameLst>
                                          <p:attrName>style.visibility</p:attrName>
                                        </p:attrNameLst>
                                      </p:cBhvr>
                                      <p:to>
                                        <p:strVal val="visible"/>
                                      </p:to>
                                    </p:set>
                                    <p:animEffect transition="in" filter="fade">
                                      <p:cBhvr>
                                        <p:cTn id="30" dur="500"/>
                                        <p:tgtEl>
                                          <p:spTgt spid="8">
                                            <p:txEl>
                                              <p:pRg st="1" end="1"/>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animEffect transition="in" filter="fade">
                                      <p:cBhvr>
                                        <p:cTn id="35" dur="500"/>
                                        <p:tgtEl>
                                          <p:spTgt spid="6">
                                            <p:txEl>
                                              <p:pRg st="2" end="2"/>
                                            </p:txEl>
                                          </p:spTgt>
                                        </p:tgtEl>
                                      </p:cBhvr>
                                    </p:animEffect>
                                  </p:childTnLst>
                                </p:cTn>
                              </p:par>
                            </p:childTnLst>
                          </p:cTn>
                        </p:par>
                        <p:par>
                          <p:cTn id="36" fill="hold">
                            <p:stCondLst>
                              <p:cond delay="500"/>
                            </p:stCondLst>
                            <p:childTnLst>
                              <p:par>
                                <p:cTn id="37" presetID="10" presetClass="entr" presetSubtype="0" fill="hold" grpId="0" nodeType="afterEffect">
                                  <p:stCondLst>
                                    <p:cond delay="0"/>
                                  </p:stCondLst>
                                  <p:childTnLst>
                                    <p:set>
                                      <p:cBhvr>
                                        <p:cTn id="38" dur="1" fill="hold">
                                          <p:stCondLst>
                                            <p:cond delay="0"/>
                                          </p:stCondLst>
                                        </p:cTn>
                                        <p:tgtEl>
                                          <p:spTgt spid="6">
                                            <p:txEl>
                                              <p:pRg st="3" end="3"/>
                                            </p:txEl>
                                          </p:spTgt>
                                        </p:tgtEl>
                                        <p:attrNameLst>
                                          <p:attrName>style.visibility</p:attrName>
                                        </p:attrNameLst>
                                      </p:cBhvr>
                                      <p:to>
                                        <p:strVal val="visible"/>
                                      </p:to>
                                    </p:set>
                                    <p:animEffect transition="in" filter="fade">
                                      <p:cBhvr>
                                        <p:cTn id="39" dur="500"/>
                                        <p:tgtEl>
                                          <p:spTgt spid="6">
                                            <p:txEl>
                                              <p:pRg st="3" end="3"/>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8">
                                            <p:txEl>
                                              <p:pRg st="2" end="2"/>
                                            </p:txEl>
                                          </p:spTgt>
                                        </p:tgtEl>
                                        <p:attrNameLst>
                                          <p:attrName>style.visibility</p:attrName>
                                        </p:attrNameLst>
                                      </p:cBhvr>
                                      <p:to>
                                        <p:strVal val="visible"/>
                                      </p:to>
                                    </p:set>
                                    <p:animEffect transition="in" filter="fade">
                                      <p:cBhvr>
                                        <p:cTn id="44" dur="500"/>
                                        <p:tgtEl>
                                          <p:spTgt spid="8">
                                            <p:txEl>
                                              <p:pRg st="2" end="2"/>
                                            </p:txEl>
                                          </p:spTgt>
                                        </p:tgtEl>
                                      </p:cBhvr>
                                    </p:animEffect>
                                  </p:childTnLst>
                                </p:cTn>
                              </p:par>
                            </p:childTnLst>
                          </p:cTn>
                        </p:par>
                        <p:par>
                          <p:cTn id="45" fill="hold">
                            <p:stCondLst>
                              <p:cond delay="500"/>
                            </p:stCondLst>
                            <p:childTnLst>
                              <p:par>
                                <p:cTn id="46" presetID="10" presetClass="entr" presetSubtype="0" fill="hold" grpId="0" nodeType="afterEffect">
                                  <p:stCondLst>
                                    <p:cond delay="0"/>
                                  </p:stCondLst>
                                  <p:childTnLst>
                                    <p:set>
                                      <p:cBhvr>
                                        <p:cTn id="47" dur="1" fill="hold">
                                          <p:stCondLst>
                                            <p:cond delay="0"/>
                                          </p:stCondLst>
                                        </p:cTn>
                                        <p:tgtEl>
                                          <p:spTgt spid="8">
                                            <p:txEl>
                                              <p:pRg st="3" end="3"/>
                                            </p:txEl>
                                          </p:spTgt>
                                        </p:tgtEl>
                                        <p:attrNameLst>
                                          <p:attrName>style.visibility</p:attrName>
                                        </p:attrNameLst>
                                      </p:cBhvr>
                                      <p:to>
                                        <p:strVal val="visible"/>
                                      </p:to>
                                    </p:set>
                                    <p:animEffect transition="in" filter="fade">
                                      <p:cBhvr>
                                        <p:cTn id="48"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5" grpId="1" build="p"/>
      <p:bldP spid="6" grpId="0" uiExpand="1" build="p"/>
      <p:bldP spid="6" grpId="1" build="p"/>
      <p:bldP spid="7" grpId="0" build="p"/>
      <p:bldP spid="7" grpId="1" build="p"/>
      <p:bldP spid="8" grpId="0" uiExpand="1" build="p"/>
      <p:bldP spid="8" grpI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总结</a:t>
            </a:r>
            <a:endParaRPr lang="zh-CN" altLang="en-US"/>
          </a:p>
        </p:txBody>
      </p:sp>
      <p:sp>
        <p:nvSpPr>
          <p:cNvPr id="3" name="内容占位符 2"/>
          <p:cNvSpPr>
            <a:spLocks noGrp="1"/>
          </p:cNvSpPr>
          <p:nvPr>
            <p:ph idx="1"/>
          </p:nvPr>
        </p:nvSpPr>
        <p:spPr>
          <a:xfrm>
            <a:off x="762000" y="1825625"/>
            <a:ext cx="10509250" cy="4351655"/>
          </a:xfrm>
        </p:spPr>
        <p:txBody>
          <a:bodyPr>
            <a:normAutofit fontScale="90000" lnSpcReduction="10000"/>
          </a:bodyPr>
          <a:lstStyle/>
          <a:p>
            <a:r>
              <a:rPr lang="zh-CN" altLang="en-US" sz="2800" dirty="0">
                <a:solidFill>
                  <a:schemeClr val="bg1"/>
                </a:solidFill>
              </a:rPr>
              <a:t>模型的训练就是通过不断</a:t>
            </a:r>
            <a:r>
              <a:rPr lang="zh-CN" altLang="en-US" sz="2800" b="1" dirty="0">
                <a:solidFill>
                  <a:srgbClr val="00E5FF"/>
                </a:solidFill>
              </a:rPr>
              <a:t>调整参数</a:t>
            </a:r>
            <a:r>
              <a:rPr lang="zh-CN" altLang="en-US" sz="2800" dirty="0">
                <a:solidFill>
                  <a:schemeClr val="bg1"/>
                </a:solidFill>
              </a:rPr>
              <a:t>，使得在训练数据上的预测结果尽可能接近理想的预期结果</a:t>
            </a:r>
            <a:endParaRPr lang="zh-CN" altLang="en-US" sz="2800" dirty="0">
              <a:solidFill>
                <a:schemeClr val="bg1"/>
              </a:solidFill>
            </a:endParaRPr>
          </a:p>
          <a:p>
            <a:r>
              <a:rPr lang="zh-CN" altLang="en-US" sz="2800" dirty="0">
                <a:solidFill>
                  <a:schemeClr val="bg1"/>
                </a:solidFill>
              </a:rPr>
              <a:t>大模型的训练分为</a:t>
            </a:r>
            <a:r>
              <a:rPr lang="zh-CN" altLang="en-US" sz="2800" b="1" dirty="0">
                <a:solidFill>
                  <a:srgbClr val="00E5FF"/>
                </a:solidFill>
              </a:rPr>
              <a:t>预训练</a:t>
            </a:r>
            <a:r>
              <a:rPr lang="zh-CN" altLang="en-US" sz="2800" dirty="0">
                <a:solidFill>
                  <a:schemeClr val="bg1"/>
                </a:solidFill>
              </a:rPr>
              <a:t>、</a:t>
            </a:r>
            <a:r>
              <a:rPr lang="zh-CN" altLang="en-US" sz="2800" b="1" dirty="0">
                <a:solidFill>
                  <a:srgbClr val="00E5FF"/>
                </a:solidFill>
              </a:rPr>
              <a:t>后训练</a:t>
            </a:r>
            <a:r>
              <a:rPr lang="zh-CN" altLang="en-US" sz="2800" dirty="0">
                <a:solidFill>
                  <a:schemeClr val="bg1"/>
                </a:solidFill>
              </a:rPr>
              <a:t>和</a:t>
            </a:r>
            <a:r>
              <a:rPr lang="zh-CN" altLang="en-US" sz="2800" b="1" dirty="0">
                <a:solidFill>
                  <a:srgbClr val="00E5FF"/>
                </a:solidFill>
              </a:rPr>
              <a:t>强化训练</a:t>
            </a:r>
            <a:r>
              <a:rPr lang="zh-CN" altLang="en-US" sz="2800" dirty="0">
                <a:solidFill>
                  <a:schemeClr val="bg1"/>
                </a:solidFill>
              </a:rPr>
              <a:t>三个阶段</a:t>
            </a:r>
            <a:endParaRPr lang="zh-CN" altLang="en-US" sz="2800" dirty="0">
              <a:solidFill>
                <a:schemeClr val="bg1"/>
              </a:solidFill>
            </a:endParaRPr>
          </a:p>
          <a:p>
            <a:r>
              <a:rPr lang="en-US" altLang="zh-CN" sz="2800">
                <a:sym typeface="+mn-ea"/>
              </a:rPr>
              <a:t>除了</a:t>
            </a:r>
            <a:r>
              <a:rPr lang="en-US" altLang="zh-CN" sz="2800" b="1">
                <a:solidFill>
                  <a:srgbClr val="00E5FA"/>
                </a:solidFill>
                <a:sym typeface="+mn-ea"/>
              </a:rPr>
              <a:t>模型规模和结构</a:t>
            </a:r>
            <a:r>
              <a:rPr lang="en-US" altLang="zh-CN" sz="2800">
                <a:sym typeface="+mn-ea"/>
              </a:rPr>
              <a:t>，</a:t>
            </a:r>
            <a:r>
              <a:rPr lang="en-US" altLang="zh-CN" sz="2800" b="1">
                <a:solidFill>
                  <a:srgbClr val="00E5FA"/>
                </a:solidFill>
                <a:sym typeface="+mn-ea"/>
              </a:rPr>
              <a:t>数据质量</a:t>
            </a:r>
            <a:r>
              <a:rPr lang="en-US" altLang="zh-CN" sz="2800">
                <a:sym typeface="+mn-ea"/>
              </a:rPr>
              <a:t>和</a:t>
            </a:r>
            <a:r>
              <a:rPr lang="en-US" altLang="zh-CN" sz="2800" b="1">
                <a:solidFill>
                  <a:srgbClr val="00E5FA"/>
                </a:solidFill>
                <a:sym typeface="+mn-ea"/>
              </a:rPr>
              <a:t>对齐目标</a:t>
            </a:r>
            <a:r>
              <a:rPr lang="en-US" altLang="zh-CN" sz="2800">
                <a:sym typeface="+mn-ea"/>
              </a:rPr>
              <a:t>都会影响模型能力和对外的表现</a:t>
            </a:r>
            <a:endParaRPr lang="en-US" altLang="zh-CN" sz="2800"/>
          </a:p>
          <a:p>
            <a:r>
              <a:rPr lang="zh-CN" altLang="en-US" sz="2800" dirty="0">
                <a:solidFill>
                  <a:schemeClr val="bg1"/>
                </a:solidFill>
              </a:rPr>
              <a:t>下一节课：</a:t>
            </a:r>
            <a:endParaRPr lang="zh-CN" altLang="en-US" sz="2800" dirty="0">
              <a:solidFill>
                <a:schemeClr val="bg1"/>
              </a:solidFill>
            </a:endParaRPr>
          </a:p>
          <a:p>
            <a:pPr lvl="1"/>
            <a:r>
              <a:rPr lang="zh-CN" altLang="en-US" sz="2520" dirty="0">
                <a:solidFill>
                  <a:schemeClr val="bg1"/>
                </a:solidFill>
              </a:rPr>
              <a:t>如何更好地驾驭</a:t>
            </a:r>
            <a:r>
              <a:rPr lang="en-US" altLang="zh-CN" sz="2520" dirty="0">
                <a:solidFill>
                  <a:schemeClr val="bg1"/>
                </a:solidFill>
              </a:rPr>
              <a:t> AI </a:t>
            </a:r>
            <a:r>
              <a:rPr lang="zh-CN" altLang="en-US" sz="2520" dirty="0">
                <a:solidFill>
                  <a:schemeClr val="bg1"/>
                </a:solidFill>
              </a:rPr>
              <a:t>？</a:t>
            </a:r>
            <a:endParaRPr lang="zh-CN" altLang="en-US" sz="2520" dirty="0">
              <a:solidFill>
                <a:schemeClr val="bg1"/>
              </a:solidFill>
            </a:endParaRPr>
          </a:p>
          <a:p>
            <a:pPr lvl="1"/>
            <a:endParaRPr lang="zh-CN" altLang="en-US" sz="2400" dirty="0">
              <a:solidFill>
                <a:schemeClr val="bg1"/>
              </a:solidFill>
            </a:endParaRPr>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en-US" altLang="zh-C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fade">
                                      <p:cBhvr>
                                        <p:cTn id="26"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build="p"/>
    </p:bldLst>
  </p:timing>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2062</Words>
  <Application>WPS 演示</Application>
  <PresentationFormat>宽屏</PresentationFormat>
  <Paragraphs>323</Paragraphs>
  <Slides>16</Slides>
  <Notes>13</Notes>
  <HiddenSlides>0</HiddenSlides>
  <MMClips>0</MMClips>
  <ScaleCrop>false</ScaleCrop>
  <HeadingPairs>
    <vt:vector size="6" baseType="variant">
      <vt:variant>
        <vt:lpstr>已用的字体</vt:lpstr>
      </vt:variant>
      <vt:variant>
        <vt:i4>22</vt:i4>
      </vt:variant>
      <vt:variant>
        <vt:lpstr>主题</vt:lpstr>
      </vt:variant>
      <vt:variant>
        <vt:i4>1</vt:i4>
      </vt:variant>
      <vt:variant>
        <vt:lpstr>幻灯片标题</vt:lpstr>
      </vt:variant>
      <vt:variant>
        <vt:i4>16</vt:i4>
      </vt:variant>
    </vt:vector>
  </HeadingPairs>
  <TitlesOfParts>
    <vt:vector size="39" baseType="lpstr">
      <vt:lpstr>Arial</vt:lpstr>
      <vt:lpstr>SimSun</vt:lpstr>
      <vt:lpstr>Wingdings</vt:lpstr>
      <vt:lpstr>DejaVu Sans</vt:lpstr>
      <vt:lpstr>Arial</vt:lpstr>
      <vt:lpstr>Noto Sans SC</vt:lpstr>
      <vt:lpstr>苹方_细体</vt:lpstr>
      <vt:lpstr>Calibri</vt:lpstr>
      <vt:lpstr>Noto Serif CJK SC</vt:lpstr>
      <vt:lpstr>Calibri Light</vt:lpstr>
      <vt:lpstr>Microsoft YaHei</vt:lpstr>
      <vt:lpstr>Droid Sans Fallback</vt:lpstr>
      <vt:lpstr>Arial Unicode MS</vt:lpstr>
      <vt:lpstr>Noto Sans CJK SC</vt:lpstr>
      <vt:lpstr>DejaVu Math TeX Gyre</vt:lpstr>
      <vt:lpstr>MS Mincho</vt:lpstr>
      <vt:lpstr>Cambria Math</vt:lpstr>
      <vt:lpstr>Noto Sans SC</vt:lpstr>
      <vt:lpstr>C059</vt:lpstr>
      <vt:lpstr>SimSun</vt:lpstr>
      <vt:lpstr>SimSun</vt:lpstr>
      <vt:lpstr>OpenSymbol</vt:lpstr>
      <vt:lpstr>WPS</vt:lpstr>
      <vt:lpstr>第五课 不同 AI 为什么表现不同</vt:lpstr>
      <vt:lpstr>回顾</vt:lpstr>
      <vt:lpstr>PowerPoint 演示文稿</vt:lpstr>
      <vt:lpstr>课程路线图</vt:lpstr>
      <vt:lpstr>模型的能力差异</vt:lpstr>
      <vt:lpstr>模型的训练过程</vt:lpstr>
      <vt:lpstr>模型的训练过程</vt:lpstr>
      <vt:lpstr>三个训练阶段</vt:lpstr>
      <vt:lpstr>训练文本</vt:lpstr>
      <vt:lpstr>推理过程</vt:lpstr>
      <vt:lpstr>多轮推理 —— 示例</vt:lpstr>
      <vt:lpstr>影响训练的因素</vt:lpstr>
      <vt:lpstr>产品差异也是重要因素</vt:lpstr>
      <vt:lpstr>模型微调（Fine-tuning）</vt:lpstr>
      <vt:lpstr>模型微调 vs 检索增强生成</vt:lpstr>
      <vt:lpstr>总结</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上海钢琴师</cp:lastModifiedBy>
  <cp:revision>630</cp:revision>
  <dcterms:created xsi:type="dcterms:W3CDTF">2026-10-03T11:49:28Z</dcterms:created>
  <dcterms:modified xsi:type="dcterms:W3CDTF">2026-10-03T11:49:28Z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2052-12.1.2.28080</vt:lpwstr>
  </property>
  <property fmtid="{D5CDD505-2E9C-101B-9397-08002B2CF9AE}" pid="3" name="ICV">
    <vt:lpwstr>AF1A490D30A00710C6B26D6AE3DED764_43</vt:lpwstr>
  </property>
</Properties>
</file>