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科技感十足的课程封面模板。深炭灰色背景搭配微弱的网格纹理,营造出深邃的未来感。左上与右下的霓虹青、霓虹紫光晕为画面注入活力,避免深色背景过于沉闷。主标题采用大字号加粗白色字体,配合字距控制,形成强烈的视觉焦点;副标题以浅灰色呈现,层级清晰。底部左右分置授课人与日期信息,中间以细竖线分隔,保持整体版式的平衡与专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这是演示文稿的目录页,采用深色科技风格。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左侧是大标题"目录",配以霓虹青色装饰线,确立视觉重心。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右侧列出了五个主要章节,每个章节包含大号紫色序号、白色章节标题和浅灰色简介。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整体设计突出科技感与现代感,深炭灰底色配合霓虹紫青双色调,营造出专业而富有视觉冲击力的氛围。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章节过渡页,用于分隔演示文稿的不同主要部分。超大号的"01"作为视觉焦点,配合青紫色的霓虹渐变与外发光效果,营造出强烈的视觉冲击力。右侧的主标题清晰传达章节主题,副标题则提供补充说明或引言。整体深色主题与霓虹光晕相结合,既专业又富有科技感,能有效吸引观众注意力,标志着进入新的内容板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这是一个深色主题的标准内容页模板。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顶部区域包含主标题和右上角的章节导航,霓虹青色的装饰线强化了标题的视觉焦点。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正文部分采用了清晰的分层结构,三个要点均以霓虹青色小圆点作为视觉引导,白色粗体标题突出重点,浅灰色描述文字保证了阅读舒适度。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底部的细横线和页码设计,增强了页面的正式感和导航性。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整体设计风格简洁、专业,适合用于商务汇报、技术分享等场景。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这是一个深色主题的双栏内容页模板,适用于需要并列展示两组信息的场景。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页面顶部是主标题区域,采用 36px 思源黑体加粗白色文字,下方是一条霓虹青色的渐变装饰线,增强了科技感和视觉引导。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主体部分分为左右两栏,中间用一条极细的半透明分隔线区隔。左栏使用霓虹青色作为强调色,右栏使用霓虹紫色作为强调色,形成清晰的视觉分区。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每一栏内部结构一致:24px 的栏目小标题、三段 18px 的正文内容、以及底部的几何形状装饰。这种高度对称的结构有助于观众快速对比理解两侧内容。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背景中加入了极淡的青、紫径向渐变光晕,为深炭灰底色增添了层次而不干扰阅读。底部是简洁的页码设计。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这一页展示了三个并列的核心概念。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左侧是【栏目一】,采用霓虹青色作为主题色,代表着科技与创新。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中间是【栏目二】,使用霓虹紫色,象征着创意与变革。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右侧是【栏目三】,以霓虹绿色呈现,寓意着成长与希望。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三个栏目结构对称、视觉均衡,便于观众快速建立对三个概念的整体认知。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这是一个深色主题的内容页模板,采用左文右图的经典布局。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左侧承载核心信息:主标题下方的霓虹青装饰线强化了科技感与视觉焦点;要点标题使用霓虹青色突出层级;四段正文保持舒适的行高与段间距,确保阅读体验。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右侧为图片占位区,霓虹青细边框配合微弱外发光效果,与整体深色主题呼应,等待插入与主题相关的图片素材。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底部页码设计简洁,与主色系统一。整体风格克制、专业,适合商务汇报、科技产品介绍等场景。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这是一个深色主题的内容页模板,采用左图右文的经典布局。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左侧是图片展示区,预留了较大的空间用于放置与主题相关的图片、图表或视觉素材,霓虹紫色边框与外发光效果增强了科技感与设计感。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右侧是文字信息区,顶部是要点小标题,下方是四段带紫色方块项目符号的正文内容,层级清晰、便于阅读。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整体配色采用深炭灰为底,搭配霓虹紫与霓虹青作为强调色,营造出专业、现代且富有科技感的视觉氛围。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这张图表展示了我们在过去五个季度的核心业务指标变化情况。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首先请看左侧的柱状图,我们可以清晰地看到,数据在 Q3 季度达到了峰值,达到了 215,这是一个非常积极的信号。这主要得益于我们在 Q2 末推出的新产品。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然而,进入 Q4 后,受季节性因素影响,数据出现了一定程度的回落,降至 170。这属于正常的市场波动。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 Q5,基于历史数据模型,我们预计将反弹至 130 左右。我们需要重点关注这一趋势。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这一页展示了完整的四步流程。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第一步是项目的起始阶段,需要明确核心目标与执行要点。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第二步进入实施阶段,重点在于资源调配与过程监控。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第三步是优化与迭代,通过数据分析进行策略调整。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第四步是总结与交付,确保项目高质量落地。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整个流程环环相扣,每个环节都有明确的产出要求。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这是一个重点强调页,用于突出展示关键数据或核心概念。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视觉焦点:页面中央的大字号核心数据/关键词是绝对视觉中心,配合青紫色霓虹光晕与外发光效果,让观众一眼锁定。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层级结构:80px 主字、24px 说明文字、低对比页码,形成清晰的三级视觉层级。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配色与氛围:深炭灰底 + 青→紫渐变霓虹光晕,营造专业且富有科技感的氛围;四角装饰线条呼应主色,增强设计感与边界感。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使用建议:替换【核心数据 / 关键词】为具体数字或概念词,【含义说明 / 补充信息】为一句话解释,即可快速落地。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这一页是金句引用页,用于呈现重要观点、名言或核心结论。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设计上采用深色主题,深炭灰背景配合霓虹青色的大引号,营造出专注、深邃的思考氛围。大字号的左引号作为视觉主锚点,引导观众视线聚焦到引用内容上。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引用文字使用思源宋体,宋体的笔画结构更能传达文字的分量感与文化底蕴;出处部分采用中灰色、右对齐,与主文字形成清晰的视觉层级。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整体版式简洁克制,无多余装饰,让金句本身成为主角。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这一页是方案 A 与方案 B 的核心对比。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左侧是方案 A,采用霓虹青色调,强调传统与稳定性,四个维度分别是性能、成本、部署难度与维护复杂度。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右侧是方案 B,采用霓虹紫色调,代表创新与突破,同样从这四个维度进行了重新设计。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中间的 VS 是本次对比的视觉焦点,帮助观众清晰建立两侧的对立关系。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接下来我们逐一拆解这四个维度的具体差异。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这一页是互动思考环节。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请大家思考屏幕中央的问题。这是一个开放性问题,没有标准答案。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大家可以先在小组内进行简短讨论,然后我会邀请几位同学分享自己的观点。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如果暂时没有想法也没关系,这个问题也可以作为课后思考,欢迎下次课继续交流。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感谢大家的聆听。这一页是我们的交流环节,欢迎各位提出问题或分享想法。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屏幕上留有我们的联系方式,包括邮箱、公众号和电话,欢迎会后进一步交流。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再次感谢大家!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5098"/>
              </a:srgbClr>
            </a:fgClr>
            <a:bgClr>
              <a:srgbClr val="121212">
                <a:alpha val="0"/>
              </a:srgbClr>
            </a:bgClr>
          </a:pattFill>
          <a:ln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2032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20000"/>
                </a:srgbClr>
              </a:gs>
              <a:gs pos="30000">
                <a:srgbClr val="00E5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0000"/>
                  </a:srgbClr>
                </a:gs>
                <a:gs pos="30000">
                  <a:srgbClr val="00CE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636000" y="3556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B388FF">
                  <a:alpha val="20000"/>
                </a:srgbClr>
              </a:gs>
              <a:gs pos="30000">
                <a:srgbClr val="B388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20000"/>
                  </a:srgbClr>
                </a:gs>
                <a:gs pos="30000">
                  <a:srgbClr val="9263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286000" y="1524000"/>
            <a:ext cx="7620000" cy="4064000"/>
          </a:xfrm>
          <a:prstGeom prst="ellipse">
            <a:avLst/>
          </a:prstGeom>
          <a:gradFill rotWithShape="1">
            <a:gsLst>
              <a:gs pos="0">
                <a:srgbClr val="FFFFFF">
                  <a:alpha val="9000"/>
                </a:srgbClr>
              </a:gs>
              <a:gs pos="35000">
                <a:srgbClr val="FFFFFF">
                  <a:alpha val="3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E6CFCF">
                    <a:alpha val="9000"/>
                  </a:srgbClr>
                </a:gs>
                <a:gs pos="35000">
                  <a:srgbClr val="E6CFCF">
                    <a:alpha val="3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50000">
                <a:srgbClr val="00E5FF">
                  <a:alpha val="55000"/>
                </a:srgbClr>
              </a:gs>
              <a:gs pos="100000">
                <a:srgbClr val="00E5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50000">
                  <a:srgbClr val="00CEE6">
                    <a:alpha val="55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0998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388FF">
                  <a:alpha val="0"/>
                </a:srgbClr>
              </a:gs>
              <a:gs pos="50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9263E6">
                    <a:alpha val="0"/>
                  </a:srgbClr>
                </a:gs>
                <a:gs pos="50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1066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6400" b="1" i="0" u="none" strike="noStrike" spc="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【课程标题】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132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0" i="0" u="none" strike="noStrike" spc="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【副标题 / 课程简介】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21000" y="5207000"/>
            <a:ext cx="6350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28000">
                <a:srgbClr val="00E5FF">
                  <a:alpha val="55000"/>
                </a:srgbClr>
              </a:gs>
              <a:gs pos="72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28000">
                  <a:srgbClr val="00CEE6">
                    <a:alpha val="55000"/>
                  </a:srgbClr>
                </a:gs>
                <a:gs pos="72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558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 spc="300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【授课人】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256843">
            <a:off x="5943600" y="58103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558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2000" b="0" i="0" u="none" strike="noStrike" spc="300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【日期】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032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0000"/>
                  </a:srgbClr>
                </a:gs>
                <a:gs pos="7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636000" y="4826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B388FF">
                  <a:alpha val="8000"/>
                </a:srgbClr>
              </a:gs>
              <a:gs pos="7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8000"/>
                  </a:srgbClr>
                </a:gs>
                <a:gs pos="7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800" b="1" i="0" u="none" strike="noStrike" spc="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1485">
            <a:off x="762020" y="3041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4572000" y="762000"/>
            <a:ext cx="1079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 spc="200">
                <a:solidFill>
                  <a:srgbClr val="B388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38618">
            <a:off x="5486400" y="11875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388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096000" y="762000"/>
            <a:ext cx="546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【章节标题】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1270000"/>
            <a:ext cx="558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【章节简介】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6366">
            <a:off x="4572006" y="1847850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72000" y="2057400"/>
            <a:ext cx="1079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 spc="200">
                <a:solidFill>
                  <a:srgbClr val="B388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38618">
            <a:off x="5486400" y="24829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388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096000" y="2057400"/>
            <a:ext cx="546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【章节标题】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2565400"/>
            <a:ext cx="558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【章节简介】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6366">
            <a:off x="4572006" y="3143250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3352800"/>
            <a:ext cx="1079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 spc="200">
                <a:solidFill>
                  <a:srgbClr val="B388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38618">
            <a:off x="5486400" y="37783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388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096000" y="3352800"/>
            <a:ext cx="546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【章节标题】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3860800"/>
            <a:ext cx="558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【章节简介】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6366">
            <a:off x="4572006" y="4438650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572000" y="4648200"/>
            <a:ext cx="1079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 spc="200">
                <a:solidFill>
                  <a:srgbClr val="B388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38618">
            <a:off x="5486400" y="50737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388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096000" y="4648200"/>
            <a:ext cx="546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【章节标题】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0" y="5156200"/>
            <a:ext cx="558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【章节简介】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6366">
            <a:off x="4572006" y="5734050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4572000" y="5867400"/>
            <a:ext cx="1079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 spc="200">
                <a:solidFill>
                  <a:srgbClr val="B388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25278">
            <a:off x="5549900" y="6204019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388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096000" y="58674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【章节标题】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096000" y="6235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【章节简介】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0" y="3048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E5FF">
                  <a:alpha val="22000"/>
                </a:srgbClr>
              </a:gs>
              <a:gs pos="28000">
                <a:srgbClr val="B388FF">
                  <a:alpha val="12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2000"/>
                  </a:srgbClr>
                </a:gs>
                <a:gs pos="28000">
                  <a:srgbClr val="9263E6">
                    <a:alpha val="12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588000" y="4572000"/>
            <a:ext cx="6350000" cy="6350000"/>
          </a:xfrm>
          <a:prstGeom prst="ellipse">
            <a:avLst/>
          </a:prstGeom>
          <a:gradFill rotWithShape="1">
            <a:gsLst>
              <a:gs pos="0">
                <a:srgbClr val="B388FF">
                  <a:alpha val="18000"/>
                </a:srgbClr>
              </a:gs>
              <a:gs pos="6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18000"/>
                  </a:srgbClr>
                </a:gs>
                <a:gs pos="6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89000" y="19050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6000" b="1" i="0" u="none" strike="noStrike" spc="600"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2603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400" b="1" i="0" u="none" strike="noStrike" spc="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【章节大标题】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784600"/>
            <a:ext cx="762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B388FF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100000"/>
                  </a:srgbClr>
                </a:gs>
                <a:gs pos="100000">
                  <a:srgbClr val="9263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0" y="4064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 spc="300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【章节副标题 / 引言】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09600"/>
            <a:ext cx="889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【页面标题】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652000" y="7112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 spc="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【章节名】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082800"/>
            <a:ext cx="152400" cy="152400"/>
          </a:xfrm>
          <a:prstGeom prst="ellipse">
            <a:avLst/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17600" y="198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要点标题一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7600" y="2540000"/>
            <a:ext cx="1041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这里是要点一的详细描述内容,可以涵盖关键信息、数据支撑或核心观点。保持语言精炼,突出重点。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30600"/>
            <a:ext cx="152400" cy="152400"/>
          </a:xfrm>
          <a:prstGeom prst="ellipse">
            <a:avLst/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17600" y="34290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要点标题二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3987800"/>
            <a:ext cx="1041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这里是要点二的详细描述内容,可以深入分析相关背景、解决方案或实施路径。确保信息层次清晰。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978400"/>
            <a:ext cx="152400" cy="152400"/>
          </a:xfrm>
          <a:prstGeom prst="ellipse">
            <a:avLst/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117600" y="48768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要点标题三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17600" y="54356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这里是要点三的详细描述内容,可补充案例说明、预期成果或后续计划。保持与整体逻辑的一致性。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63754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spc="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01 / 15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【页面标题】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190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【左侧小标题】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67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8C8CD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这是左侧栏的第一行正文内容,用于承载核心信息。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8C8CD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这是左侧栏的第二行正文内容,可以展开详细说明。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8C8CD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这是左侧栏的第三行正文内容,补充关键数据或案例。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740400"/>
            <a:ext cx="482600" cy="482600"/>
          </a:xfrm>
          <a:prstGeom prst="ellipse">
            <a:avLst/>
          </a:prstGeom>
          <a:solidFill>
            <a:srgbClr val="00E5FF">
              <a:alpha val="0"/>
            </a:srgbClr>
          </a:solidFill>
          <a:ln w="25400" cap="flat" cmpd="sng">
            <a:solidFill>
              <a:srgbClr val="00E5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397000" y="5740400"/>
            <a:ext cx="279400" cy="27940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190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B388FF"/>
                </a:solidFill>
                <a:latin typeface="Noto Sans SC"/>
                <a:ea typeface="Noto Sans SC"/>
                <a:cs typeface="Noto Sans SC"/>
                <a:sym typeface="Noto Sans SC"/>
              </a:rPr>
              <a:t>【右侧小标题】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667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8C8CD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这是右侧栏的第一行正文内容,与左侧形成呼应。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683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8C8CD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这是右侧栏的第二行正文内容,深入探讨相关主题。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4699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8C8CD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这是右侧栏的第三行正文内容,总结要点或提出展望。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rot="2700000">
            <a:off x="6604000" y="5740400"/>
            <a:ext cx="431800" cy="431800"/>
          </a:xfrm>
          <a:prstGeom prst="roundRect">
            <a:avLst>
              <a:gd name="adj" fmla="val 0"/>
            </a:avLst>
          </a:prstGeom>
          <a:solidFill>
            <a:srgbClr val="B388FF">
              <a:alpha val="0"/>
            </a:srgbClr>
          </a:solidFill>
          <a:ln w="25400" cap="flat" cmpd="sng">
            <a:solidFill>
              <a:srgbClr val="B388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2700000">
            <a:off x="7264400" y="581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B388FF">
              <a:alpha val="18000"/>
            </a:srgbClr>
          </a:solidFill>
          <a:ln w="12700" cap="flat" cmpd="sng">
            <a:solidFill>
              <a:srgbClr val="B38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0" y="6324600"/>
            <a:ext cx="1219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 01 —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032000" y="-2032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00E5FF">
                  <a:alpha val="14000"/>
                </a:srgbClr>
              </a:gs>
              <a:gs pos="65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4000"/>
                  </a:srgbClr>
                </a:gs>
                <a:gs pos="65000">
                  <a:srgbClr val="00CE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826000" y="-1524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B388FF">
                  <a:alpha val="11000"/>
                </a:srgbClr>
              </a:gs>
              <a:gs pos="65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11000"/>
                  </a:srgbClr>
                </a:gs>
                <a:gs pos="65000">
                  <a:srgbClr val="9263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636000" y="-1778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69F0AE">
                  <a:alpha val="10000"/>
                </a:srgbClr>
              </a:gs>
              <a:gs pos="65000">
                <a:srgbClr val="69F0A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48D691">
                    <a:alpha val="10000"/>
                  </a:srgbClr>
                </a:gs>
                <a:gs pos="65000">
                  <a:srgbClr val="48D691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508000"/>
            <a:ext cx="11176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【页面标题】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371600"/>
            <a:ext cx="762000" cy="381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cap="flat" cmpd="sng">
            <a:solidFill>
              <a:srgbClr val="00CE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7" name="Connector 7"/>
          <p:cNvCxnSpPr/>
          <p:nvPr/>
        </p:nvCxnSpPr>
        <p:spPr>
          <a:xfrm rot="5388145">
            <a:off x="23749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88145">
            <a:off x="61341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587500" y="196850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00E5FF">
                  <a:alpha val="30000"/>
                </a:srgbClr>
              </a:gs>
              <a:gs pos="55000">
                <a:srgbClr val="00E5FF">
                  <a:alpha val="8000"/>
                </a:srgbClr>
              </a:gs>
              <a:gs pos="100000">
                <a:srgbClr val="00E5FF">
                  <a:alpha val="2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355600" dir="5400000" algn="ctr" rotWithShape="0">
              <a:srgbClr val="00E5FF">
                <a:alpha val="5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" y="33655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200" b="1" i="0" u="none" strike="noStrike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【栏目一】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3937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C8C8D2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这是栏目一的简短描述文字,可以概括该部分的核心要点。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C8C8D2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保持简洁,突出重点。</a:t>
            </a:r>
            <a:endParaRPr lang="en-US" sz="1600" b="0" i="0" u="none" strike="noStrike">
              <a:solidFill>
                <a:srgbClr val="C8C8D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524500" y="196850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B388FF">
                  <a:alpha val="30000"/>
                </a:srgbClr>
              </a:gs>
              <a:gs pos="55000">
                <a:srgbClr val="B388FF">
                  <a:alpha val="8000"/>
                </a:srgbClr>
              </a:gs>
              <a:gs pos="100000">
                <a:srgbClr val="B388FF">
                  <a:alpha val="2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355600" dir="5400000" algn="ctr" rotWithShape="0">
              <a:srgbClr val="B388FF">
                <a:alpha val="5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0" y="33655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200" b="1" i="0" u="none" strike="noStrike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【栏目二】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937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C8C8D2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这是栏目二的简短描述文字,可以概括该部分的核心要点。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C8C8D2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保持简洁,突出重点。</a:t>
            </a:r>
            <a:endParaRPr lang="en-US" sz="1600" b="0" i="0" u="none" strike="noStrike">
              <a:solidFill>
                <a:srgbClr val="C8C8D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461500" y="196850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69F0AE">
                  <a:alpha val="30000"/>
                </a:srgbClr>
              </a:gs>
              <a:gs pos="55000">
                <a:srgbClr val="69F0AE">
                  <a:alpha val="8000"/>
                </a:srgbClr>
              </a:gs>
              <a:gs pos="100000">
                <a:srgbClr val="69F0AE">
                  <a:alpha val="2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solidFill>
              <a:srgbClr val="69F0AE">
                <a:alpha val="100000"/>
              </a:srgbClr>
            </a:solidFill>
            <a:prstDash val="solid"/>
            <a:round/>
          </a:ln>
          <a:effectLst>
            <a:outerShdw blurRad="355600" dir="5400000" algn="ctr" rotWithShape="0">
              <a:srgbClr val="69F0AE">
                <a:alpha val="5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509000" y="33655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200" b="1" i="0" u="none" strike="noStrike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【栏目三】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09000" y="3937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C8C8D2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这是栏目三的简短描述文字,可以概括该部分的核心要点。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C8C8D2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保持简洁,突出重点。</a:t>
            </a:r>
            <a:endParaRPr lang="en-US" sz="1600" b="0" i="0" u="none" strike="noStrike">
              <a:solidFill>
                <a:srgbClr val="C8C8D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632460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spc="300">
                <a:solidFill>
                  <a:srgbClr val="FFFFFF">
                    <a:alpha val="4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86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F0FF">
                  <a:alpha val="14000"/>
                </a:srgbClr>
              </a:gs>
              <a:gs pos="70000">
                <a:srgbClr val="00F0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D8E6">
                    <a:alpha val="14000"/>
                  </a:srgbClr>
                </a:gs>
                <a:gs pos="70000">
                  <a:srgbClr val="00D8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144000" y="482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F0FF">
                  <a:alpha val="10000"/>
                </a:srgbClr>
              </a:gs>
              <a:gs pos="70000">
                <a:srgbClr val="00F0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D8E6">
                    <a:alpha val="10000"/>
                  </a:srgbClr>
                </a:gs>
                <a:gs pos="70000">
                  <a:srgbClr val="00D8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【页面标题】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295400"/>
            <a:ext cx="1143000" cy="508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cap="flat" cmpd="sng">
            <a:solidFill>
              <a:srgbClr val="00D8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778000"/>
            <a:ext cx="609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 spc="300">
                <a:solidFill>
                  <a:srgbClr val="00F0FF"/>
                </a:solidFill>
                <a:latin typeface="Noto Sans SC"/>
                <a:ea typeface="Noto Sans SC"/>
                <a:cs typeface="Noto Sans SC"/>
                <a:sym typeface="Noto Sans SC"/>
              </a:rPr>
              <a:t>【要点标题】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540000"/>
            <a:ext cx="609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这是第一段正文内容,用于阐述核心观点。可以详细说明项目背景、关键数据或理论依据。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3429000"/>
            <a:ext cx="609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这是第二段正文内容,承接上文逻辑。建议使用清晰的分点或连贯的段落,保持信息的流畅性。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4318000"/>
            <a:ext cx="609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这是第三段正文内容,深入分析或补充细节。可加入案例、用户反馈或技术参数,增强说服力。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5207000"/>
            <a:ext cx="609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这是第四段正文内容,总结或提出下一步计划。确保结论有力,与开篇形成呼应。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1778000"/>
            <a:ext cx="4572000" cy="3429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8000"/>
                </a:srgbClr>
              </a:gs>
              <a:gs pos="100000">
                <a:srgbClr val="00F0FF">
                  <a:alpha val="2000"/>
                </a:srgbClr>
              </a:gs>
            </a:gsLst>
            <a:lin ang="2700000"/>
          </a:gra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</a:ln>
          <a:effectLst>
            <a:outerShdw blurRad="431800" dir="5400000" algn="ctr" rotWithShape="0">
              <a:srgbClr val="00F0FF">
                <a:alpha val="2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1100" y="2540000"/>
            <a:ext cx="1193800" cy="1193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4000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 spc="300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【图片区域】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6223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Page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6311900"/>
            <a:ext cx="25400" cy="152400"/>
          </a:xfrm>
          <a:prstGeom prst="roundRect">
            <a:avLst>
              <a:gd name="adj" fmla="val 0"/>
            </a:avLst>
          </a:prstGeom>
          <a:solidFill>
            <a:srgbClr val="00F0FF">
              <a:alpha val="55000"/>
            </a:srgbClr>
          </a:solidFill>
          <a:ln cap="flat" cmpd="sng">
            <a:solidFill>
              <a:srgbClr val="00D8E6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41500" y="6223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spc="1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778000" y="-177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2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【页面标题】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244600"/>
            <a:ext cx="76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98500" y="1778000"/>
            <a:ext cx="4064000" cy="3810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388FF">
                  <a:alpha val="10000"/>
                </a:srgbClr>
              </a:gs>
              <a:gs pos="100000">
                <a:srgbClr val="B388FF">
                  <a:alpha val="2000"/>
                </a:srgbClr>
              </a:gs>
            </a:gsLst>
            <a:lin ang="2700000"/>
          </a:gradFill>
          <a:ln w="127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381000" dir="5400000" algn="ctr" rotWithShape="0">
              <a:srgbClr val="B388FF">
                <a:alpha val="4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98500" y="33020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 spc="600">
                <a:solidFill>
                  <a:srgbClr val="D2D2DC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【图片区域】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1778000"/>
            <a:ext cx="6223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0" i="0" u="none" strike="noStrike" spc="100">
                <a:solidFill>
                  <a:srgbClr val="B388FF"/>
                </a:solidFill>
                <a:latin typeface="Noto Sans SC"/>
                <a:ea typeface="Noto Sans SC"/>
                <a:cs typeface="Noto Sans SC"/>
                <a:sym typeface="Noto Sans SC"/>
              </a:rPr>
              <a:t>【要点标题】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2413000"/>
            <a:ext cx="508000" cy="38100"/>
          </a:xfrm>
          <a:prstGeom prst="roundRect">
            <a:avLst>
              <a:gd name="adj" fmla="val 0"/>
            </a:avLst>
          </a:prstGeom>
          <a:solidFill>
            <a:srgbClr val="B38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461000" y="2794000"/>
            <a:ext cx="101600" cy="101600"/>
          </a:xfrm>
          <a:prstGeom prst="roundRect">
            <a:avLst>
              <a:gd name="adj" fmla="val 0"/>
            </a:avLst>
          </a:prstGeom>
          <a:solidFill>
            <a:srgbClr val="B38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740400" y="2717800"/>
            <a:ext cx="584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CDCE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这是正文内容的第一段,用于阐述核心观点或关键信息。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3581400"/>
            <a:ext cx="101600" cy="101600"/>
          </a:xfrm>
          <a:prstGeom prst="roundRect">
            <a:avLst>
              <a:gd name="adj" fmla="val 0"/>
            </a:avLst>
          </a:prstGeom>
          <a:solidFill>
            <a:srgbClr val="B38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740400" y="3505200"/>
            <a:ext cx="584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CDCE1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第二段内容可深入探讨细节,或提供数据支撑与案例说明。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61000" y="4368800"/>
            <a:ext cx="101600" cy="101600"/>
          </a:xfrm>
          <a:prstGeom prst="roundRect">
            <a:avLst>
              <a:gd name="adj" fmla="val 0"/>
            </a:avLst>
          </a:prstGeom>
          <a:solidFill>
            <a:srgbClr val="B38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40400" y="4292600"/>
            <a:ext cx="584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CDCE1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第三段可补充说明,或提出解决方案、策略建议等延伸思考。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61000" y="5156200"/>
            <a:ext cx="101600" cy="101600"/>
          </a:xfrm>
          <a:prstGeom prst="roundRect">
            <a:avLst>
              <a:gd name="adj" fmla="val 0"/>
            </a:avLst>
          </a:prstGeom>
          <a:solidFill>
            <a:srgbClr val="B38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740400" y="5080000"/>
            <a:ext cx="584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CDCE1"/>
                </a:solidFill>
                <a:latin typeface="Noto Sans SC"/>
                <a:ea typeface="Noto Sans SC"/>
                <a:cs typeface="Noto Sans SC"/>
                <a:sym typeface="Noto Sans SC"/>
              </a:rPr>
              <a:t>第四段用于总结或展望,强化主题,引导观众关注后续内容。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049000" y="63246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 spc="200">
                <a:solidFill>
                  <a:srgbClr val="8C8C9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86000" y="-2286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00F0FF">
                  <a:alpha val="12000"/>
                </a:srgbClr>
              </a:gs>
              <a:gs pos="7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D8E6">
                    <a:alpha val="12000"/>
                  </a:srgbClr>
                </a:gs>
                <a:gs pos="7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144000" y="4572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B464FF">
                  <a:alpha val="10000"/>
                </a:srgbClr>
              </a:gs>
              <a:gs pos="7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743E6">
                    <a:alpha val="10000"/>
                  </a:srgbClr>
                </a:gs>
                <a:gs pos="7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【数据标题】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938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cap="flat" cmpd="sng">
            <a:solidFill>
              <a:srgbClr val="00D8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711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1524000"/>
            <a:ext cx="50800" cy="39370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cap="flat" cmpd="sng">
            <a:solidFill>
              <a:srgbClr val="00D8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 rot="-6875">
            <a:off x="889006" y="4819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D2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5385053">
            <a:off x="-571500" y="3359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D2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143000" y="3556000"/>
            <a:ext cx="698500" cy="1270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B464FF">
                  <a:alpha val="100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9743E6">
                    <a:alpha val="100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3251200"/>
            <a:ext cx="698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125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22500" y="2984500"/>
            <a:ext cx="698500" cy="1841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B464FF">
                  <a:alpha val="100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9743E6">
                    <a:alpha val="100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222500" y="2679700"/>
            <a:ext cx="698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180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02000" y="2603500"/>
            <a:ext cx="698500" cy="2222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B464FF">
                  <a:alpha val="100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9743E6">
                    <a:alpha val="100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302000" y="2298700"/>
            <a:ext cx="698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215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81500" y="3149600"/>
            <a:ext cx="698500" cy="1676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B464FF">
                  <a:alpha val="100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9743E6">
                    <a:alpha val="100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381500" y="2844800"/>
            <a:ext cx="698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170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61000" y="3746500"/>
            <a:ext cx="698500" cy="1079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B464FF">
                  <a:alpha val="100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9743E6">
                    <a:alpha val="100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461000" y="3441700"/>
            <a:ext cx="698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110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43000" y="4978400"/>
            <a:ext cx="698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Q1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222500" y="4978400"/>
            <a:ext cx="698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Q2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302000" y="4978400"/>
            <a:ext cx="698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Q3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81500" y="4978400"/>
            <a:ext cx="698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Q4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461000" y="4978400"/>
            <a:ext cx="698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Q5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64500" y="1524000"/>
            <a:ext cx="368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064500" y="1524000"/>
            <a:ext cx="38100" cy="12065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cap="flat" cmpd="sng">
            <a:solidFill>
              <a:srgbClr val="00D8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280400" y="1600200"/>
            <a:ext cx="336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spc="300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关键趋势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80400" y="1905000"/>
            <a:ext cx="336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峰值出现在 Q3 季度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80400" y="2286000"/>
            <a:ext cx="336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696A5"/>
                </a:solidFill>
                <a:latin typeface="Noto Sans SC"/>
                <a:ea typeface="Noto Sans SC"/>
                <a:cs typeface="Noto Sans SC"/>
                <a:sym typeface="Noto Sans SC"/>
              </a:rPr>
              <a:t>较去年同期增长 15%,达到全年最高水平。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64500" y="2921000"/>
            <a:ext cx="368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064500" y="2921000"/>
            <a:ext cx="38100" cy="1206500"/>
          </a:xfrm>
          <a:prstGeom prst="roundRect">
            <a:avLst>
              <a:gd name="adj" fmla="val 0"/>
            </a:avLst>
          </a:prstGeom>
          <a:solidFill>
            <a:srgbClr val="B464FF">
              <a:alpha val="100000"/>
            </a:srgbClr>
          </a:solidFill>
          <a:ln cap="flat" cmpd="sng">
            <a:solidFill>
              <a:srgbClr val="9743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280400" y="2997200"/>
            <a:ext cx="336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spc="300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环比变化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80400" y="3302000"/>
            <a:ext cx="336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Q4 出现回落态势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80400" y="3683000"/>
            <a:ext cx="336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696A5"/>
                </a:solidFill>
                <a:latin typeface="Noto Sans SC"/>
                <a:ea typeface="Noto Sans SC"/>
                <a:cs typeface="Noto Sans SC"/>
                <a:sym typeface="Noto Sans SC"/>
              </a:rPr>
              <a:t>受季节性因素影响,环比下降 10 个百分点。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064500" y="4318000"/>
            <a:ext cx="368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064500" y="4318000"/>
            <a:ext cx="38100" cy="12065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cap="flat" cmpd="sng">
            <a:solidFill>
              <a:srgbClr val="00D8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280400" y="4394200"/>
            <a:ext cx="336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spc="300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未来预测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280400" y="4699000"/>
            <a:ext cx="336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Q5 有望回升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280400" y="5080000"/>
            <a:ext cx="336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696A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基于历史数据模型,预计将反弹至 130 左右。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508000" y="5994400"/>
            <a:ext cx="203200" cy="1524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cap="flat" cmpd="sng">
            <a:solidFill>
              <a:srgbClr val="00D8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787400" y="59436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实际数据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2032000" y="5994400"/>
            <a:ext cx="203200" cy="152400"/>
          </a:xfrm>
          <a:prstGeom prst="roundRect">
            <a:avLst>
              <a:gd name="adj" fmla="val 0"/>
            </a:avLst>
          </a:prstGeom>
          <a:solidFill>
            <a:srgbClr val="B464FF">
              <a:alpha val="100000"/>
            </a:srgbClr>
          </a:solidFill>
          <a:ln cap="flat" cmpd="sng">
            <a:solidFill>
              <a:srgbClr val="9743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2311400" y="59436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目标值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10795000" y="6286500"/>
            <a:ext cx="88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 spc="200">
                <a:solidFill>
                  <a:srgbClr val="78788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86000" y="-2286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00F0FF">
                  <a:alpha val="10000"/>
                </a:srgbClr>
              </a:gs>
              <a:gs pos="70000">
                <a:srgbClr val="00F0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D8E6">
                    <a:alpha val="10000"/>
                  </a:srgbClr>
                </a:gs>
                <a:gs pos="70000">
                  <a:srgbClr val="00D8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144000" y="4572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00F0FF">
                  <a:alpha val="8000"/>
                </a:srgbClr>
              </a:gs>
              <a:gs pos="70000">
                <a:srgbClr val="00F0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D8E6">
                    <a:alpha val="8000"/>
                  </a:srgbClr>
                </a:gs>
                <a:gs pos="70000">
                  <a:srgbClr val="00D8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【流程标题】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938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cap="flat" cmpd="sng">
            <a:solidFill>
              <a:srgbClr val="00D8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316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5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752600" y="2959100"/>
            <a:ext cx="431800" cy="431800"/>
          </a:xfrm>
          <a:prstGeom prst="ellipse">
            <a:avLst/>
          </a:prstGeom>
          <a:solidFill>
            <a:srgbClr val="00F0FF">
              <a:alpha val="28000"/>
            </a:srgbClr>
          </a:solidFill>
          <a:ln cap="flat" cmpd="sng">
            <a:solidFill>
              <a:srgbClr val="00D8E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854200" y="3060700"/>
            <a:ext cx="228600" cy="228600"/>
          </a:xfrm>
          <a:prstGeom prst="ellipse">
            <a:avLst/>
          </a:prstGeom>
          <a:solidFill>
            <a:srgbClr val="00F0FF">
              <a:alpha val="100000"/>
            </a:srgbClr>
          </a:solidFill>
          <a:ln w="25400" cap="flat" cmpd="sng">
            <a:solidFill>
              <a:srgbClr val="00F0FF">
                <a:alpha val="60000"/>
              </a:srgbClr>
            </a:solidFill>
            <a:prstDash val="solid"/>
            <a:round/>
          </a:ln>
          <a:effectLst>
            <a:outerShdw blurRad="228600" algn="ctr" rotWithShape="0">
              <a:srgbClr val="00F0FF">
                <a:alpha val="7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1651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1651000"/>
            <a:ext cx="50800" cy="1206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00F0FF">
                  <a:alpha val="25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00D8E6">
                    <a:alpha val="25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65200" y="1651000"/>
            <a:ext cx="228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200" b="1" i="0" u="none" strike="noStrike">
                <a:solidFill>
                  <a:srgbClr val="00F0FF">
                    <a:alpha val="2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65200" y="23368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【步骤标题】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619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【步骤描述】详细说明该步骤的具体内容和执行要点。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29000" y="3086100"/>
            <a:ext cx="381000" cy="177800"/>
          </a:xfrm>
          <a:prstGeom prst="rightArrow">
            <a:avLst/>
          </a:prstGeom>
          <a:solidFill>
            <a:srgbClr val="00F0FF">
              <a:alpha val="55000"/>
            </a:srgbClr>
          </a:solidFill>
          <a:ln cap="flat" cmpd="sng">
            <a:solidFill>
              <a:srgbClr val="00D8E6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46600" y="2959100"/>
            <a:ext cx="431800" cy="431800"/>
          </a:xfrm>
          <a:prstGeom prst="ellipse">
            <a:avLst/>
          </a:prstGeom>
          <a:solidFill>
            <a:srgbClr val="00F0FF">
              <a:alpha val="28000"/>
            </a:srgbClr>
          </a:solidFill>
          <a:ln cap="flat" cmpd="sng">
            <a:solidFill>
              <a:srgbClr val="00D8E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48200" y="3060700"/>
            <a:ext cx="228600" cy="228600"/>
          </a:xfrm>
          <a:prstGeom prst="ellipse">
            <a:avLst/>
          </a:prstGeom>
          <a:solidFill>
            <a:srgbClr val="00F0FF">
              <a:alpha val="100000"/>
            </a:srgbClr>
          </a:solidFill>
          <a:ln w="25400" cap="flat" cmpd="sng">
            <a:solidFill>
              <a:srgbClr val="00F0FF">
                <a:alpha val="60000"/>
              </a:srgbClr>
            </a:solidFill>
            <a:prstDash val="solid"/>
            <a:round/>
          </a:ln>
          <a:effectLst>
            <a:outerShdw blurRad="228600" algn="ctr" rotWithShape="0">
              <a:srgbClr val="00F0FF">
                <a:alpha val="7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556000" y="3619500"/>
            <a:ext cx="266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200" b="1" i="0" u="none" strike="noStrike">
                <a:solidFill>
                  <a:srgbClr val="00F0FF">
                    <a:alpha val="2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556000" y="43434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【步骤标题】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556000" y="4826000"/>
            <a:ext cx="2667000" cy="10160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556000" y="4826000"/>
            <a:ext cx="50800" cy="1016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00F0FF">
                  <a:alpha val="25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00D8E6">
                    <a:alpha val="25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759200" y="4902200"/>
            <a:ext cx="23495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【步骤描述】详细说明该步骤的具体内容和执行要点。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3086100"/>
            <a:ext cx="381000" cy="177800"/>
          </a:xfrm>
          <a:prstGeom prst="rightArrow">
            <a:avLst/>
          </a:prstGeom>
          <a:solidFill>
            <a:srgbClr val="00F0FF">
              <a:alpha val="55000"/>
            </a:srgbClr>
          </a:solidFill>
          <a:ln cap="flat" cmpd="sng">
            <a:solidFill>
              <a:srgbClr val="00D8E6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340600" y="2959100"/>
            <a:ext cx="431800" cy="431800"/>
          </a:xfrm>
          <a:prstGeom prst="ellipse">
            <a:avLst/>
          </a:prstGeom>
          <a:solidFill>
            <a:srgbClr val="00F0FF">
              <a:alpha val="28000"/>
            </a:srgbClr>
          </a:solidFill>
          <a:ln cap="flat" cmpd="sng">
            <a:solidFill>
              <a:srgbClr val="00D8E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442200" y="3060700"/>
            <a:ext cx="228600" cy="228600"/>
          </a:xfrm>
          <a:prstGeom prst="ellipse">
            <a:avLst/>
          </a:prstGeom>
          <a:solidFill>
            <a:srgbClr val="00F0FF">
              <a:alpha val="100000"/>
            </a:srgbClr>
          </a:solidFill>
          <a:ln w="25400" cap="flat" cmpd="sng">
            <a:solidFill>
              <a:srgbClr val="00F0FF">
                <a:alpha val="60000"/>
              </a:srgbClr>
            </a:solidFill>
            <a:prstDash val="solid"/>
            <a:round/>
          </a:ln>
          <a:effectLst>
            <a:outerShdw blurRad="228600" algn="ctr" rotWithShape="0">
              <a:srgbClr val="00F0FF">
                <a:alpha val="7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1651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1651000"/>
            <a:ext cx="50800" cy="1206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00F0FF">
                  <a:alpha val="25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00D8E6">
                    <a:alpha val="25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53200" y="1651000"/>
            <a:ext cx="228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200" b="1" i="0" u="none" strike="noStrike">
                <a:solidFill>
                  <a:srgbClr val="00F0FF">
                    <a:alpha val="2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53200" y="23368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【步骤标题】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3619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【步骤描述】详细说明该步骤的具体内容和执行要点。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17000" y="3086100"/>
            <a:ext cx="381000" cy="177800"/>
          </a:xfrm>
          <a:prstGeom prst="rightArrow">
            <a:avLst/>
          </a:prstGeom>
          <a:solidFill>
            <a:srgbClr val="00F0FF">
              <a:alpha val="55000"/>
            </a:srgbClr>
          </a:solidFill>
          <a:ln cap="flat" cmpd="sng">
            <a:solidFill>
              <a:srgbClr val="00D8E6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134600" y="2959100"/>
            <a:ext cx="431800" cy="431800"/>
          </a:xfrm>
          <a:prstGeom prst="ellipse">
            <a:avLst/>
          </a:prstGeom>
          <a:solidFill>
            <a:srgbClr val="00F0FF">
              <a:alpha val="28000"/>
            </a:srgbClr>
          </a:solidFill>
          <a:ln cap="flat" cmpd="sng">
            <a:solidFill>
              <a:srgbClr val="00D8E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0236200" y="3060700"/>
            <a:ext cx="228600" cy="228600"/>
          </a:xfrm>
          <a:prstGeom prst="ellipse">
            <a:avLst/>
          </a:prstGeom>
          <a:solidFill>
            <a:srgbClr val="00F0FF">
              <a:alpha val="100000"/>
            </a:srgbClr>
          </a:solidFill>
          <a:ln w="25400" cap="flat" cmpd="sng">
            <a:solidFill>
              <a:srgbClr val="00F0FF">
                <a:alpha val="60000"/>
              </a:srgbClr>
            </a:solidFill>
            <a:prstDash val="solid"/>
            <a:round/>
          </a:ln>
          <a:effectLst>
            <a:outerShdw blurRad="228600" algn="ctr" rotWithShape="0">
              <a:srgbClr val="00F0FF">
                <a:alpha val="7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144000" y="3619500"/>
            <a:ext cx="266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200" b="1" i="0" u="none" strike="noStrike">
                <a:solidFill>
                  <a:srgbClr val="00F0FF">
                    <a:alpha val="2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144000" y="43434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【步骤标题】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144000" y="4826000"/>
            <a:ext cx="2667000" cy="10160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144000" y="4826000"/>
            <a:ext cx="50800" cy="1016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0FF">
                  <a:alpha val="100000"/>
                </a:srgbClr>
              </a:gs>
              <a:gs pos="100000">
                <a:srgbClr val="00F0FF">
                  <a:alpha val="2500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D8E6">
                    <a:alpha val="100000"/>
                  </a:srgbClr>
                </a:gs>
                <a:gs pos="100000">
                  <a:srgbClr val="00D8E6">
                    <a:alpha val="250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347200" y="4902200"/>
            <a:ext cx="23495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【步骤描述】详细说明该步骤的具体内容和执行要点。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1176000" y="6350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82837">
                  <a:alpha val="55000"/>
                </a:srgbClr>
              </a:gs>
              <a:gs pos="45000">
                <a:srgbClr val="121212">
                  <a:alpha val="0"/>
                </a:srgbClr>
              </a:gs>
              <a:gs pos="7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13131E">
                    <a:alpha val="55000"/>
                  </a:srgbClr>
                </a:gs>
                <a:gs pos="45000">
                  <a:srgbClr val="000000">
                    <a:alpha val="0"/>
                  </a:srgbClr>
                </a:gs>
                <a:gs pos="7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4572000"/>
          </a:xfrm>
          <a:prstGeom prst="ellipse">
            <a:avLst/>
          </a:prstGeom>
          <a:gradFill rotWithShape="1">
            <a:gsLst>
              <a:gs pos="0">
                <a:srgbClr val="06B6D4">
                  <a:alpha val="32000"/>
                </a:srgbClr>
              </a:gs>
              <a:gs pos="28000">
                <a:srgbClr val="A855F7">
                  <a:alpha val="20000"/>
                </a:srgbClr>
              </a:gs>
              <a:gs pos="68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9FBB">
                    <a:alpha val="32000"/>
                  </a:srgbClr>
                </a:gs>
                <a:gs pos="28000">
                  <a:srgbClr val="8C36DE">
                    <a:alpha val="20000"/>
                  </a:srgbClr>
                </a:gs>
                <a:gs pos="68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4" name="Connector 4"/>
          <p:cNvCxnSpPr/>
          <p:nvPr/>
        </p:nvCxnSpPr>
        <p:spPr>
          <a:xfrm rot="-61381">
            <a:off x="533457" y="5270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B6D4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5338618">
            <a:off x="177800" y="8827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B6D4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" name="Connector 6"/>
          <p:cNvCxnSpPr/>
          <p:nvPr/>
        </p:nvCxnSpPr>
        <p:spPr>
          <a:xfrm rot="-61381">
            <a:off x="10947457" y="5270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" name="Connector 7"/>
          <p:cNvCxnSpPr/>
          <p:nvPr/>
        </p:nvCxnSpPr>
        <p:spPr>
          <a:xfrm rot="5338618">
            <a:off x="11303000" y="8827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5338618">
            <a:off x="177800" y="59627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/>
        </p:nvCxnSpPr>
        <p:spPr>
          <a:xfrm rot="-61381">
            <a:off x="533457" y="6318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0" name="Connector 10"/>
          <p:cNvCxnSpPr/>
          <p:nvPr/>
        </p:nvCxnSpPr>
        <p:spPr>
          <a:xfrm rot="5338618">
            <a:off x="11303000" y="5962707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B6D4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" name="Connector 11"/>
          <p:cNvCxnSpPr/>
          <p:nvPr/>
        </p:nvCxnSpPr>
        <p:spPr>
          <a:xfrm rot="-61381">
            <a:off x="10947457" y="6318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B6D4">
                <a:alpha val="6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762000" y="228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000" b="1" i="0" u="none" strike="noStrike" spc="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【核心数据 / 关键词】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400" b="0" i="0" u="none" strike="noStrike" spc="8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【含义说明 / 补充信息】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5000" y="63500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spc="300">
                <a:solidFill>
                  <a:srgbClr val="FFFFFF">
                    <a:alpha val="4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"/>
                </a:srgbClr>
              </a:gs>
              <a:gs pos="25000">
                <a:srgbClr val="00E5FF">
                  <a:alpha val="4000"/>
                </a:srgbClr>
              </a:gs>
              <a:gs pos="5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889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238500"/>
            <a:ext cx="1066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 spc="400">
                <a:solidFill>
                  <a:srgbClr val="F0F0F0"/>
                </a:solidFill>
                <a:latin typeface="Noto Serif SC"/>
                <a:ea typeface="Noto Serif SC"/>
                <a:cs typeface="Noto Serif SC"/>
                <a:sym typeface="Noto Serif SC"/>
              </a:rPr>
              <a:t>【引用内容 / 金句 / 重要观点】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20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2000" b="0" i="0" u="none" strike="noStrike" spc="600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【出处 / 人名 / 来源】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6375400"/>
            <a:ext cx="1219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00" b="0" i="0" u="none" strike="noStrike" spc="3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778000" y="1524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F0FF">
                  <a:alpha val="14000"/>
                </a:srgbClr>
              </a:gs>
              <a:gs pos="7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0" y="1524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B464FF">
                  <a:alpha val="14000"/>
                </a:srgbClr>
              </a:gs>
              <a:gs pos="7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【对比主题】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684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77800" dir="5400000" algn="ctr" rotWithShape="0">
              <a:srgbClr val="00F0FF">
                <a:alpha val="6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520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 spc="200">
                <a:solidFill>
                  <a:srgbClr val="00F0FF"/>
                </a:solidFill>
                <a:latin typeface="Noto Sans SC"/>
                <a:ea typeface="Noto Sans SC"/>
                <a:cs typeface="Noto Sans SC"/>
                <a:sym typeface="Noto Sans SC"/>
              </a:rPr>
              <a:t>【方案A / 对比项A】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508008" y="227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08000" y="2540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2540000"/>
            <a:ext cx="381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36600" y="2730500"/>
            <a:ext cx="482600" cy="482600"/>
          </a:xfrm>
          <a:prstGeom prst="ellipse">
            <a:avLst/>
          </a:prstGeom>
          <a:solidFill>
            <a:srgbClr val="00F0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36600" y="2730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2590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1 标题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2946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1 描述文案,简洁说明该维度的特性。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3556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08000" y="3556000"/>
            <a:ext cx="381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36600" y="3746500"/>
            <a:ext cx="482600" cy="482600"/>
          </a:xfrm>
          <a:prstGeom prst="ellipse">
            <a:avLst/>
          </a:prstGeom>
          <a:solidFill>
            <a:srgbClr val="00F0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36600" y="3746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397000" y="3606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2 标题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397000" y="3962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2 描述文案,简洁说明该维度的特性。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4572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4572000"/>
            <a:ext cx="381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36600" y="4762500"/>
            <a:ext cx="482600" cy="482600"/>
          </a:xfrm>
          <a:prstGeom prst="ellipse">
            <a:avLst/>
          </a:prstGeom>
          <a:solidFill>
            <a:srgbClr val="00F0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36600" y="4762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397000" y="4622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3 标题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397000" y="4978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3 描述文案,简洁说明该维度的特性。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5588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08000" y="5588000"/>
            <a:ext cx="38100" cy="8636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36600" y="5778500"/>
            <a:ext cx="482600" cy="482600"/>
          </a:xfrm>
          <a:prstGeom prst="ellipse">
            <a:avLst/>
          </a:prstGeom>
          <a:solidFill>
            <a:srgbClr val="00F0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36600" y="5778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397000" y="5638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4 标题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97000" y="5994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4 描述文案,简洁说明该维度的特性。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842000" y="34290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304800" dir="5400000" algn="ctr" rotWithShape="0">
              <a:srgbClr val="B464FF">
                <a:alpha val="6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4800" b="1" i="0" u="none" strike="noStrike" spc="400">
                <a:solidFill>
                  <a:srgbClr val="B464FF"/>
                </a:solidFill>
                <a:latin typeface="Poppins"/>
                <a:ea typeface="Poppins"/>
                <a:cs typeface="Poppins"/>
                <a:sym typeface="Poppins"/>
              </a:rPr>
              <a:t>VS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239000" y="1524000"/>
            <a:ext cx="520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 spc="200">
                <a:solidFill>
                  <a:srgbClr val="B464FF"/>
                </a:solidFill>
                <a:latin typeface="Noto Sans SC"/>
                <a:ea typeface="Noto Sans SC"/>
                <a:cs typeface="Noto Sans SC"/>
                <a:sym typeface="Noto Sans SC"/>
              </a:rPr>
              <a:t>【方案B / 对比项B】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9822">
            <a:off x="7239009" y="2279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64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7239000" y="2540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239000" y="2540000"/>
            <a:ext cx="381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467600" y="2730500"/>
            <a:ext cx="482600" cy="482600"/>
          </a:xfrm>
          <a:prstGeom prst="ellipse">
            <a:avLst/>
          </a:prstGeom>
          <a:solidFill>
            <a:srgbClr val="B464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7467600" y="2730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64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128000" y="2590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1 标题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128000" y="2946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1 描述文案,简洁说明该维度的特性。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7239000" y="3556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7239000" y="3556000"/>
            <a:ext cx="381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7467600" y="3746500"/>
            <a:ext cx="482600" cy="482600"/>
          </a:xfrm>
          <a:prstGeom prst="ellipse">
            <a:avLst/>
          </a:prstGeom>
          <a:solidFill>
            <a:srgbClr val="B464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7467600" y="3746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64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128000" y="3606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2 标题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128000" y="3962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2 描述文案,简洁说明该维度的特性。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7239000" y="4572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7239000" y="4572000"/>
            <a:ext cx="381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7467600" y="4762500"/>
            <a:ext cx="482600" cy="482600"/>
          </a:xfrm>
          <a:prstGeom prst="ellipse">
            <a:avLst/>
          </a:prstGeom>
          <a:solidFill>
            <a:srgbClr val="B464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7467600" y="4762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64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128000" y="4622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3 标题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8128000" y="4978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3 描述文案,简洁说明该维度的特性。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7239000" y="5588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54"/>
          <p:cNvSpPr/>
          <p:nvPr/>
        </p:nvSpPr>
        <p:spPr>
          <a:xfrm>
            <a:off x="7239000" y="5588000"/>
            <a:ext cx="38100" cy="863600"/>
          </a:xfrm>
          <a:prstGeom prst="roundRect">
            <a:avLst>
              <a:gd name="adj" fmla="val 0"/>
            </a:avLst>
          </a:prstGeom>
          <a:solidFill>
            <a:srgbClr val="B46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7467600" y="5778500"/>
            <a:ext cx="482600" cy="482600"/>
          </a:xfrm>
          <a:prstGeom prst="ellipse">
            <a:avLst/>
          </a:prstGeom>
          <a:solidFill>
            <a:srgbClr val="B464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AutoShape 56"/>
          <p:cNvSpPr/>
          <p:nvPr/>
        </p:nvSpPr>
        <p:spPr>
          <a:xfrm>
            <a:off x="7467600" y="5778500"/>
            <a:ext cx="48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64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8128000" y="56388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4 标题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8128000" y="5994400"/>
            <a:ext cx="412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0A0A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对比点 4 描述文案,简洁说明该维度的特性。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spc="200">
                <a:solidFill>
                  <a:srgbClr val="82828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86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8000"/>
                  </a:srgbClr>
                </a:gs>
                <a:gs pos="70000">
                  <a:srgbClr val="00CE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4318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9F0AE">
                  <a:alpha val="14000"/>
                </a:srgbClr>
              </a:gs>
              <a:gs pos="70000">
                <a:srgbClr val="69F0A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48D691">
                    <a:alpha val="14000"/>
                  </a:srgbClr>
                </a:gs>
                <a:gs pos="70000">
                  <a:srgbClr val="48D691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600" b="1" i="0" u="none" strike="noStrike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【思考与讨论】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30000">
                <a:srgbClr val="00E5FF">
                  <a:alpha val="100000"/>
                </a:srgbClr>
              </a:gs>
              <a:gs pos="70000">
                <a:srgbClr val="00E5FF">
                  <a:alpha val="100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30000">
                  <a:srgbClr val="00CEE6">
                    <a:alpha val="100000"/>
                  </a:srgbClr>
                </a:gs>
                <a:gs pos="70000">
                  <a:srgbClr val="00CEE6">
                    <a:alpha val="100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71500" dir="5400000" algn="ctr" rotWithShape="0">
              <a:srgbClr val="69F0AE">
                <a:alpha val="5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000" b="1" i="0" u="none" strike="noStrike">
                <a:solidFill>
                  <a:srgbClr val="69F0AE"/>
                </a:solidFill>
                <a:latin typeface="Noto Sans SC"/>
                <a:ea typeface="Noto Sans SC"/>
                <a:cs typeface="Noto Sans SC"/>
                <a:sym typeface="Noto Sans SC"/>
              </a:rPr>
              <a:t>?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381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800" b="0" i="0" u="none" strike="noStrike" spc="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【提出一个开放性问题,引导学生思考】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397500"/>
            <a:ext cx="1066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 spc="200">
                <a:solidFill>
                  <a:srgbClr val="C8C8D2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【提示:可以分组讨论 / 举手回答 / 课后思考】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0" y="6223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 spc="300">
                <a:solidFill>
                  <a:srgbClr val="A0A0A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86000" y="-2286000"/>
            <a:ext cx="16764000" cy="9144000"/>
          </a:xfrm>
          <a:prstGeom prst="ellipse">
            <a:avLst/>
          </a:prstGeom>
          <a:gradFill rotWithShape="1">
            <a:gsLst>
              <a:gs pos="0">
                <a:srgbClr val="38BDF8">
                  <a:alpha val="22000"/>
                </a:srgbClr>
              </a:gs>
              <a:gs pos="22000">
                <a:srgbClr val="A855F7">
                  <a:alpha val="14000"/>
                </a:srgbClr>
              </a:gs>
              <a:gs pos="62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1CA3DF">
                    <a:alpha val="22000"/>
                  </a:srgbClr>
                </a:gs>
                <a:gs pos="22000">
                  <a:srgbClr val="8C36DE">
                    <a:alpha val="14000"/>
                  </a:srgbClr>
                </a:gs>
                <a:gs pos="62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778000" y="-1524000"/>
            <a:ext cx="15748000" cy="787400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20000">
                <a:srgbClr val="38BDF8">
                  <a:alpha val="8000"/>
                </a:srgbClr>
              </a:gs>
              <a:gs pos="57999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8C36DE">
                    <a:alpha val="18000"/>
                  </a:srgbClr>
                </a:gs>
                <a:gs pos="20000">
                  <a:srgbClr val="1CA3DF">
                    <a:alpha val="8000"/>
                  </a:srgbClr>
                </a:gs>
                <a:gs pos="57999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7200" b="1" i="0" u="none" strike="noStrike" spc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306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0" i="0" u="none" strike="noStrike" spc="800">
                <a:solidFill>
                  <a:srgbClr val="E5E7EB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【Q &amp; A / 提问交流环节】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7290">
            <a:off x="5715053" y="4565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0" y="49784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692400" y="4953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1D5D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contact@mail.com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267844">
            <a:off x="47879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49784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740400" y="4953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1D5D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公众号:TechTalk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267844">
            <a:off x="77724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49784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24900" y="49530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1D5D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400-123-4567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0" y="6121400"/>
            <a:ext cx="1219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 spc="400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【课程名称 / 机构名】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1652</Words>
  <Application>WPS 演示</Application>
  <PresentationFormat/>
  <Paragraphs>305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Arial</vt:lpstr>
      <vt:lpstr>DejaVu Sans</vt:lpstr>
      <vt:lpstr>Noto Sans SC</vt:lpstr>
      <vt:lpstr>C059</vt:lpstr>
      <vt:lpstr>Poppins</vt:lpstr>
      <vt:lpstr>Noto Serif CJK SC</vt:lpstr>
      <vt:lpstr>SimSun</vt:lpstr>
      <vt:lpstr>Microsoft YaHei</vt:lpstr>
      <vt:lpstr>Droid Sans Fallback</vt:lpstr>
      <vt:lpstr>Arial Unicode MS</vt:lpstr>
      <vt:lpstr>Noto Serif SC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ruoyu</cp:lastModifiedBy>
  <cp:revision>1</cp:revision>
  <dcterms:created xsi:type="dcterms:W3CDTF">2026-08-01T11:39:43Z</dcterms:created>
  <dcterms:modified xsi:type="dcterms:W3CDTF">2026-08-01T11:39:43Z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{"Label":"1","ContentProducer":"001191110102MACQD9K64010000","ProduceID":"7668966198554922163","ReservedCode1":"","ContentPropagator":"","PropagateID":"","ReservedCode2":""}</vt:lpwstr>
  </property>
  <property fmtid="{D5CDD505-2E9C-101B-9397-08002B2CF9AE}" pid="3" name="ICV">
    <vt:lpwstr>E0933F849CA7A951FEDA6D6A795EC68C_42</vt:lpwstr>
  </property>
  <property fmtid="{D5CDD505-2E9C-101B-9397-08002B2CF9AE}" pid="4" name="KSOProductBuildVer">
    <vt:lpwstr>2052-12.1.2.26885</vt:lpwstr>
  </property>
</Properties>
</file>