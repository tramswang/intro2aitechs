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8"/>
  </p:handoutMasterIdLst>
  <p:sldIdLst>
    <p:sldId id="256" r:id="rId3"/>
    <p:sldId id="257" r:id="rId4"/>
    <p:sldId id="259" r:id="rId6"/>
    <p:sldId id="275" r:id="rId7"/>
    <p:sldId id="263" r:id="rId8"/>
    <p:sldId id="265" r:id="rId9"/>
    <p:sldId id="267" r:id="rId10"/>
    <p:sldId id="266" r:id="rId11"/>
    <p:sldId id="268" r:id="rId12"/>
    <p:sldId id="264" r:id="rId13"/>
    <p:sldId id="269" r:id="rId14"/>
    <p:sldId id="270" r:id="rId15"/>
    <p:sldId id="272" r:id="rId16"/>
    <p:sldId id="274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5FA"/>
    <a:srgbClr val="1E1E1E"/>
    <a:srgbClr val="5A5A5A"/>
    <a:srgbClr val="B388FF"/>
    <a:srgbClr val="00E5FF"/>
    <a:srgbClr val="121212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72"/>
        <p:guide pos="39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【页面内容】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在第2节课的时候，大家已经知道，和大模型的沟通其实是和人的沟通是一样的，我们在布置任务的时候要说明【四要素】，并且要做到【四原则】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好！怀着激动的心情，我赶紧试了一下最新的</a:t>
            </a:r>
            <a:r>
              <a:rPr lang="en-US" altLang="zh-CN">
                <a:sym typeface="+mn-ea"/>
              </a:rPr>
              <a:t> DeepSeek V4 </a:t>
            </a:r>
            <a:r>
              <a:rPr lang="zh-CN" altLang="en-US">
                <a:sym typeface="+mn-ea"/>
              </a:rPr>
              <a:t>模型</a:t>
            </a:r>
            <a:r>
              <a:rPr lang="en-US" altLang="zh-CN">
                <a:sym typeface="+mn-ea"/>
              </a:rPr>
              <a:t>……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好家伙，我已经说的很完整了啊，大模型的回答直接让我两眼一黑。【简单描述】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这到底是怎么回事？我们又要如何避免这样情况的发生呢？</a:t>
            </a:r>
            <a:r>
              <a:rPr lang="en-US" altLang="zh-CN">
                <a:sym typeface="+mn-ea"/>
              </a:rPr>
              <a:t>今天我们继续讲解一些高级的提示词使用技巧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 b="1" dirty="0">
                <a:sym typeface="+mn-ea"/>
              </a:rPr>
              <a:t>【以下是用于直接在DeepSeek中演示的例子】</a:t>
            </a:r>
            <a:endParaRPr lang="en-US" altLang="en-US" b="1" dirty="0"/>
          </a:p>
          <a:p>
            <a:endParaRPr lang="en-US" altLang="en-US" b="1" dirty="0"/>
          </a:p>
          <a:p>
            <a:r>
              <a:rPr lang="en-US" altLang="en-US" b="1" dirty="0">
                <a:sym typeface="+mn-ea"/>
              </a:rPr>
              <a:t>## 老Prompt：</a:t>
            </a:r>
            <a:endParaRPr lang="en-US" altLang="en-US" dirty="0"/>
          </a:p>
          <a:p>
            <a:endParaRPr lang="en-US" altLang="zh-CN" dirty="0"/>
          </a:p>
          <a:p>
            <a:r>
              <a:rPr lang="zh-CN" altLang="en-US" dirty="0"/>
              <a:t>根据学校社团名称写一句招新宣传语。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社团：天文社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en-US" b="1" dirty="0">
                <a:sym typeface="+mn-ea"/>
              </a:rPr>
              <a:t>## 新Prompt：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根据学校社团名称写一句招新宣传语。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 示例：</a:t>
            </a:r>
            <a:endParaRPr lang="zh-CN" altLang="en-US" dirty="0"/>
          </a:p>
          <a:p>
            <a:r>
              <a:rPr lang="zh-CN" altLang="en-US" dirty="0"/>
              <a:t> - 篮球社 → 别只在场边为别⼈喝彩，这次换你上场</a:t>
            </a:r>
            <a:endParaRPr lang="zh-CN" altLang="en-US" dirty="0"/>
          </a:p>
          <a:p>
            <a:r>
              <a:rPr lang="zh-CN" altLang="en-US" dirty="0"/>
              <a:t> - 动漫社 → 别只把脑洞留在纸上，这次让它变成作品</a:t>
            </a:r>
            <a:endParaRPr lang="zh-CN" altLang="en-US" dirty="0"/>
          </a:p>
          <a:p>
            <a:r>
              <a:rPr lang="zh-CN" altLang="en-US" dirty="0"/>
              <a:t> - 辩论社 → 别只把观点藏在⼼⾥，这次让全场听⻅你的声⾳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社团：天文社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【观察】</a:t>
            </a:r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输出一致性更强</a:t>
            </a:r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甚至模仿了标语的开头模式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 dirty="0">
                <a:sym typeface="+mn-ea"/>
              </a:rPr>
              <a:t>## 原Prompt：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ym typeface="+mn-ea"/>
              </a:rPr>
              <a:t>设计一个在班级聚会的时候整蛊班主任的方案，不超过500字：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b="1" dirty="0">
                <a:sym typeface="+mn-ea"/>
              </a:rPr>
              <a:t>##新Prompt：</a:t>
            </a:r>
            <a:endParaRPr lang="en-US" altLang="zh-CN" dirty="0"/>
          </a:p>
          <a:p>
            <a:endParaRPr lang="en-US" altLang="zh-CN" dirty="0"/>
          </a:p>
          <a:p>
            <a:pPr algn="just"/>
            <a:r>
              <a:rPr lang="zh-CN" altLang="en-US" dirty="0">
                <a:sym typeface="+mn-ea"/>
              </a:rPr>
              <a:t>请按以下4步，设计一个在班级聚会的时候整蛊班主任的方案，不超过500字：</a:t>
            </a:r>
            <a:endParaRPr lang="zh-CN" altLang="en-US" dirty="0"/>
          </a:p>
          <a:p>
            <a:pPr algn="just"/>
            <a:endParaRPr lang="en-US" altLang="zh-CN" dirty="0"/>
          </a:p>
          <a:p>
            <a:pPr algn="just"/>
            <a:r>
              <a:rPr lang="zh-CN" altLang="en-US" dirty="0">
                <a:sym typeface="+mn-ea"/>
              </a:rPr>
              <a:t>1. 明确人员分工，设定具体职责</a:t>
            </a:r>
            <a:endParaRPr lang="zh-CN" altLang="en-US" dirty="0"/>
          </a:p>
          <a:p>
            <a:pPr algn="just"/>
            <a:r>
              <a:rPr lang="zh-CN" altLang="en-US" dirty="0">
                <a:sym typeface="+mn-ea"/>
              </a:rPr>
              <a:t>2. 列出所有需要准备的道具（如有）</a:t>
            </a:r>
            <a:endParaRPr lang="zh-CN" altLang="en-US" dirty="0"/>
          </a:p>
          <a:p>
            <a:pPr algn="just"/>
            <a:r>
              <a:rPr lang="zh-CN" altLang="en-US" dirty="0">
                <a:sym typeface="+mn-ea"/>
              </a:rPr>
              <a:t>3. 分条罗列每一步执行环节</a:t>
            </a:r>
            <a:endParaRPr lang="zh-CN" altLang="en-US" dirty="0"/>
          </a:p>
          <a:p>
            <a:pPr algn="just"/>
            <a:r>
              <a:rPr lang="zh-CN" altLang="en-US" dirty="0">
                <a:sym typeface="+mn-ea"/>
              </a:rPr>
              <a:t>4. 给出安全及其他注意事项</a:t>
            </a: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 dirty="0">
                <a:sym typeface="+mn-ea"/>
              </a:rPr>
              <a:t>## 原Prompt：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描述小说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《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三体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》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中对剧情走向最具有决定性影响的三个人物，并简要描述人物特点。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>
                <a:sym typeface="+mn-ea"/>
              </a:rPr>
              <a:t>##新Prompt：</a:t>
            </a:r>
            <a:endParaRPr lang="en-US" altLang="zh-CN" dirty="0"/>
          </a:p>
          <a:p>
            <a:endParaRPr lang="en-US" altLang="zh-CN" dirty="0"/>
          </a:p>
          <a:p>
            <a:pPr algn="just"/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描述小说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《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三体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》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中对剧情走向最具有决定性影响的三个人物，并简要描述人物特点。</a:t>
            </a:r>
            <a:endParaRPr lang="zh-CN" altLang="en-US" dirty="0">
              <a:latin typeface="Microsoft YaHei" charset="-122"/>
              <a:ea typeface="Microsoft YaHei" charset="-122"/>
            </a:endParaRPr>
          </a:p>
          <a:p>
            <a:pPr algn="just"/>
            <a:endParaRPr lang="zh-CN" altLang="en-US" dirty="0">
              <a:latin typeface="Microsoft YaHei" charset="-122"/>
              <a:ea typeface="Microsoft YaHei" charset="-122"/>
            </a:endParaRPr>
          </a:p>
          <a:p>
            <a:pPr algn="just"/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要求：以表格的方式给出分析，除表头外，表格共有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3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行，每行列举一个人物；表格有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4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列，按顺序分别是：姓名、性别、性格特质（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1-2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个词）以及代表性事件（</a:t>
            </a:r>
            <a:r>
              <a:rPr lang="en-US" altLang="zh-CN" dirty="0">
                <a:latin typeface="Microsoft YaHei" charset="-122"/>
                <a:ea typeface="Microsoft YaHei" charset="-122"/>
                <a:sym typeface="+mn-ea"/>
              </a:rPr>
              <a:t>1</a:t>
            </a:r>
            <a:r>
              <a:rPr lang="zh-CN" altLang="en-US" dirty="0">
                <a:latin typeface="Microsoft YaHei" charset="-122"/>
                <a:ea typeface="Microsoft YaHei" charset="-122"/>
                <a:sym typeface="+mn-ea"/>
              </a:rPr>
              <a:t>句话描述）。</a:t>
            </a:r>
            <a:endParaRPr lang="en-US" altLang="zh-CN" dirty="0">
              <a:latin typeface="Microsoft YaHei" charset="-122"/>
              <a:ea typeface="Microsoft YaHei" charset="-122"/>
            </a:endParaRPr>
          </a:p>
          <a:p>
            <a:endParaRPr lang="en-US" altLang="zh-CN" dirty="0"/>
          </a:p>
          <a:p>
            <a:r>
              <a:rPr lang="en-US" altLang="zh-CN" b="1" dirty="0">
                <a:sym typeface="+mn-ea"/>
              </a:rPr>
              <a:t>##新Prompt</a:t>
            </a:r>
            <a:r>
              <a:rPr lang="en-US" altLang="en-US" b="1" dirty="0">
                <a:sym typeface="+mn-ea"/>
              </a:rPr>
              <a:t>（V2）</a:t>
            </a:r>
            <a:r>
              <a:rPr lang="en-US" altLang="zh-CN" b="1" dirty="0">
                <a:sym typeface="+mn-ea"/>
              </a:rPr>
              <a:t>：</a:t>
            </a:r>
            <a:endParaRPr lang="en-US" altLang="zh-CN" b="1" dirty="0">
              <a:sym typeface="+mn-ea"/>
            </a:endParaRPr>
          </a:p>
          <a:p>
            <a:endParaRPr lang="en-US" altLang="zh-CN" dirty="0"/>
          </a:p>
          <a:p>
            <a:pPr algn="just"/>
            <a:r>
              <a:rPr lang="zh-CN" altLang="en-US" dirty="0"/>
              <a:t>描述小说《三体》中对剧情走向最具有决定性影响的三个人物，并简要描述人物特点。</a:t>
            </a:r>
            <a:endParaRPr lang="zh-CN" altLang="en-US" dirty="0"/>
          </a:p>
          <a:p>
            <a:pPr algn="just"/>
            <a:endParaRPr lang="en-US" altLang="zh-CN" dirty="0"/>
          </a:p>
          <a:p>
            <a:pPr algn="just"/>
            <a:r>
              <a:rPr lang="zh-CN" altLang="en-US" dirty="0"/>
              <a:t>要求：以人物卡片的方式给出每个人的介绍，卡片形式如下：</a:t>
            </a:r>
            <a:endParaRPr lang="zh-CN" altLang="en-US" dirty="0"/>
          </a:p>
          <a:p>
            <a:pPr algn="just"/>
            <a:endParaRPr lang="en-US" altLang="zh-CN" dirty="0"/>
          </a:p>
          <a:p>
            <a:pPr algn="just"/>
            <a:r>
              <a:rPr lang="en-US" altLang="zh-CN" dirty="0"/>
              <a:t>┌─────────────┐</a:t>
            </a:r>
            <a:endParaRPr lang="en-US" altLang="zh-CN" dirty="0"/>
          </a:p>
          <a:p>
            <a:pPr algn="just"/>
            <a:r>
              <a:rPr lang="zh-CN" altLang="en-US" dirty="0"/>
              <a:t>│ 姓名：</a:t>
            </a:r>
            <a:r>
              <a:rPr lang="en-US" altLang="zh-CN" dirty="0"/>
              <a:t>xxx                             │</a:t>
            </a:r>
            <a:endParaRPr lang="en-US" altLang="zh-CN" dirty="0"/>
          </a:p>
          <a:p>
            <a:pPr algn="just"/>
            <a:r>
              <a:rPr lang="en-US" altLang="zh-CN" dirty="0"/>
              <a:t>├─────────────┤</a:t>
            </a:r>
            <a:endParaRPr lang="en-US" altLang="zh-CN" dirty="0"/>
          </a:p>
          <a:p>
            <a:pPr algn="just"/>
            <a:r>
              <a:rPr lang="zh-CN" altLang="en-US" dirty="0"/>
              <a:t>│ 性别：</a:t>
            </a:r>
            <a:r>
              <a:rPr lang="en-US" altLang="zh-CN" dirty="0"/>
              <a:t>x                                 │</a:t>
            </a:r>
            <a:endParaRPr lang="en-US" altLang="zh-CN" dirty="0"/>
          </a:p>
          <a:p>
            <a:pPr algn="just"/>
            <a:r>
              <a:rPr lang="en-US" altLang="zh-CN" dirty="0"/>
              <a:t>├─────────────┤</a:t>
            </a:r>
            <a:endParaRPr lang="en-US" altLang="zh-CN" dirty="0"/>
          </a:p>
          <a:p>
            <a:pPr algn="just"/>
            <a:r>
              <a:rPr lang="zh-CN" altLang="en-US" dirty="0"/>
              <a:t>│ 性格特质：（1-2个词）        │</a:t>
            </a:r>
            <a:endParaRPr lang="zh-CN" altLang="en-US" dirty="0"/>
          </a:p>
          <a:p>
            <a:pPr algn="just"/>
            <a:r>
              <a:rPr lang="en-US" altLang="zh-CN" dirty="0"/>
              <a:t>├─────────────┤</a:t>
            </a:r>
            <a:endParaRPr lang="en-US" altLang="zh-CN" dirty="0"/>
          </a:p>
          <a:p>
            <a:pPr algn="just"/>
            <a:r>
              <a:rPr lang="zh-CN" altLang="en-US" dirty="0"/>
              <a:t>│ 代表性事件：（1句话描述） │</a:t>
            </a:r>
            <a:endParaRPr lang="zh-CN" altLang="en-US" dirty="0"/>
          </a:p>
          <a:p>
            <a:pPr algn="just"/>
            <a:r>
              <a:rPr lang="en-US" altLang="zh-CN" dirty="0"/>
              <a:t>└─────────────┘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171450" indent="-171450">
              <a:buFontTx/>
              <a:buChar char="-"/>
            </a:pPr>
            <a:r>
              <a:rPr lang="zh-CN" altLang="en-US" dirty="0">
                <a:sym typeface="+mn-ea"/>
              </a:rPr>
              <a:t>在使用代码与大模型进行交互的时候，可以设置</a:t>
            </a:r>
            <a:r>
              <a:rPr lang="en-US" altLang="zh-CN" dirty="0">
                <a:sym typeface="+mn-ea"/>
              </a:rPr>
              <a:t>System/User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Prompt</a:t>
            </a:r>
            <a:endParaRPr lang="en-US" altLang="zh-CN" dirty="0"/>
          </a:p>
          <a:p>
            <a:pPr marL="171450" indent="-171450">
              <a:buFontTx/>
              <a:buChar char="-"/>
            </a:pPr>
            <a:r>
              <a:rPr lang="zh-CN" altLang="en-US" dirty="0">
                <a:sym typeface="+mn-ea"/>
              </a:rPr>
              <a:t>一般角色设定、任务约束都会写在</a:t>
            </a:r>
            <a:r>
              <a:rPr lang="en-US" altLang="zh-CN" dirty="0">
                <a:sym typeface="+mn-ea"/>
              </a:rPr>
              <a:t>system Prompt</a:t>
            </a:r>
            <a:r>
              <a:rPr lang="zh-CN" altLang="en-US" dirty="0">
                <a:sym typeface="+mn-ea"/>
              </a:rPr>
              <a:t>里，约束的效果比写在</a:t>
            </a:r>
            <a:r>
              <a:rPr lang="en-US" altLang="zh-CN" dirty="0">
                <a:sym typeface="+mn-ea"/>
              </a:rPr>
              <a:t>user prompt</a:t>
            </a:r>
            <a:r>
              <a:rPr lang="zh-CN" altLang="en-US" dirty="0">
                <a:sym typeface="+mn-ea"/>
              </a:rPr>
              <a:t>里约束力更强</a:t>
            </a:r>
            <a:endParaRPr lang="en-US" altLang="zh-CN" dirty="0"/>
          </a:p>
          <a:p>
            <a:pPr marL="171450" indent="-171450">
              <a:buFontTx/>
              <a:buChar char="-"/>
            </a:pPr>
            <a:endParaRPr lang="en-US" altLang="zh-CN" dirty="0"/>
          </a:p>
          <a:p>
            <a:pPr indent="0">
              <a:buFontTx/>
              <a:buNone/>
            </a:pPr>
            <a:r>
              <a:rPr lang="en-US" altLang="en-US" b="1" dirty="0">
                <a:sym typeface="+mn-ea"/>
              </a:rPr>
              <a:t>## Prompt 1：</a:t>
            </a:r>
            <a:endParaRPr lang="en-US" altLang="en-US" dirty="0"/>
          </a:p>
          <a:p>
            <a:pPr indent="0">
              <a:buFontTx/>
              <a:buNone/>
            </a:pPr>
            <a:endParaRPr lang="en-US" altLang="en-US" dirty="0"/>
          </a:p>
          <a:p>
            <a:pPr indent="0">
              <a:buFontTx/>
              <a:buNone/>
            </a:pPr>
            <a:r>
              <a:rPr lang="zh-CN" altLang="en-US" dirty="0"/>
              <a:t>你是⼀名脑科学家，请向⾼中⽣解释：“为什么越临近考试，我越想打游戏？”</a:t>
            </a:r>
            <a:endParaRPr lang="zh-CN" altLang="en-US" dirty="0"/>
          </a:p>
          <a:p>
            <a:pPr indent="0">
              <a:buFontTx/>
              <a:buNone/>
            </a:pPr>
            <a:endParaRPr lang="zh-CN" altLang="en-US" dirty="0"/>
          </a:p>
          <a:p>
            <a:pPr indent="0">
              <a:buFontTx/>
              <a:buNone/>
            </a:pPr>
            <a:r>
              <a:rPr lang="en-US" altLang="en-US" b="1" dirty="0">
                <a:sym typeface="+mn-ea"/>
              </a:rPr>
              <a:t>## Prompt 2:</a:t>
            </a:r>
            <a:endParaRPr lang="en-US" altLang="en-US" dirty="0"/>
          </a:p>
          <a:p>
            <a:pPr indent="0">
              <a:buFontTx/>
              <a:buNone/>
            </a:pPr>
            <a:endParaRPr lang="en-US" altLang="en-US" dirty="0"/>
          </a:p>
          <a:p>
            <a:pPr indent="0">
              <a:buFontTx/>
              <a:buNone/>
            </a:pPr>
            <a:r>
              <a:rPr lang="zh-CN" altLang="en-US" dirty="0"/>
              <a:t>你是⼀名资深游戏策划，请向⾼中⽣解释：“为什么越临近考试，我越想打游戏？”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 b="1" dirty="0">
                <a:sym typeface="+mn-ea"/>
              </a:rPr>
              <a:t>【展示：豆包版本号比较的错误】</a:t>
            </a:r>
            <a:endParaRPr lang="en-US" altLang="en-US" b="1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【页面内容】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【展示开头的例子的创建过程】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但是这样的流程往往很繁琐，写一个优秀的提示词会占用很多时间，哪怕只是想要完成一个小任务，有什么提高效率的办法吗？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【页面内容】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【下面是几个可选的例子：】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【</a:t>
            </a:r>
            <a:r>
              <a:rPr lang="en-US" altLang="zh-CN"/>
              <a:t>#1</a:t>
            </a:r>
            <a:r>
              <a:rPr lang="zh-CN" altLang="en-US"/>
              <a:t>】</a:t>
            </a:r>
            <a:br>
              <a:rPr lang="zh-CN" altLang="en-US"/>
            </a:br>
            <a:r>
              <a:rPr lang="zh-CN" altLang="en-US"/>
              <a:t>我想写一封给班里学霸的匿名情书，表达好感，但不想太直白。我需要留下关于我特征的3条线索，最后约</a:t>
            </a:r>
            <a:r>
              <a:rPr lang="en-US" altLang="zh-CN"/>
              <a:t>ta</a:t>
            </a:r>
            <a:r>
              <a:rPr lang="zh-CN" altLang="en-US"/>
              <a:t>周五放学后在图书馆见面。语气要可爱一点。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按照上述的要求帮我生成一份中文的</a:t>
            </a:r>
            <a:r>
              <a:rPr lang="en-US" altLang="zh-CN"/>
              <a:t>prompt, </a:t>
            </a:r>
            <a:r>
              <a:rPr lang="zh-CN" altLang="en-US"/>
              <a:t>要符合高中的实际情况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【</a:t>
            </a:r>
            <a:r>
              <a:rPr lang="en-US" altLang="zh-CN"/>
              <a:t>#2</a:t>
            </a:r>
            <a:r>
              <a:rPr lang="zh-CN" altLang="en-US"/>
              <a:t>】</a:t>
            </a:r>
            <a:endParaRPr lang="zh-CN" altLang="en-US"/>
          </a:p>
          <a:p>
            <a:r>
              <a:rPr lang="zh-CN" altLang="en-US"/>
              <a:t>我想要周末每天能玩2小时手机游戏，但爸妈总怕我上瘾。所以我需要拟订一份条约，让条约要显得我很自律、很有规划，让他们放心。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帮我设计一个写作这样的条约的 </a:t>
            </a:r>
            <a:r>
              <a:rPr lang="en-US" altLang="zh-CN"/>
              <a:t>prompt, </a:t>
            </a:r>
            <a:r>
              <a:rPr lang="zh-CN" altLang="en-US"/>
              <a:t>语气正式、恳切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【</a:t>
            </a:r>
            <a:r>
              <a:rPr lang="en-US" altLang="zh-CN"/>
              <a:t>#3</a:t>
            </a:r>
            <a:r>
              <a:rPr lang="zh-CN" altLang="en-US"/>
              <a:t>】</a:t>
            </a:r>
            <a:endParaRPr lang="zh-CN" altLang="en-US"/>
          </a:p>
          <a:p>
            <a:r>
              <a:rPr lang="zh-CN" altLang="en-US"/>
              <a:t>我想要让大模型每天帮我复盘学习和心情，再给明天的计划。语气像好朋友聊天，别太官方，稍微搞笑一点。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设计一个可以复用的 </a:t>
            </a:r>
            <a:r>
              <a:rPr lang="en-US" altLang="zh-CN"/>
              <a:t>prompt </a:t>
            </a:r>
            <a:r>
              <a:rPr lang="zh-CN" altLang="en-US"/>
              <a:t>让我每天都可以用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我们已经使用了高质量的提示词，在多数场景下已经能够发挥大模型的大部分能力了。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但是，对于一些复杂的任务、或者类似数学运算这样的非文本化的任务，又应该如何处理呢？且听下回分解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5098"/>
              </a:srgbClr>
            </a:fgClr>
            <a:bgClr>
              <a:srgbClr val="121212">
                <a:alpha val="0"/>
              </a:srgbClr>
            </a:bgClr>
          </a:pattFill>
          <a:ln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5"/>
          <p:cNvSpPr/>
          <p:nvPr userDrawn="1"/>
        </p:nvSpPr>
        <p:spPr>
          <a:xfrm>
            <a:off x="2286000" y="1524000"/>
            <a:ext cx="7620000" cy="4064000"/>
          </a:xfrm>
          <a:prstGeom prst="ellipse">
            <a:avLst/>
          </a:prstGeom>
          <a:gradFill rotWithShape="1">
            <a:gsLst>
              <a:gs pos="0">
                <a:srgbClr val="FFFFFF">
                  <a:alpha val="9000"/>
                </a:srgbClr>
              </a:gs>
              <a:gs pos="35000">
                <a:srgbClr val="FFFFFF">
                  <a:alpha val="3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E6CFCF">
                    <a:alpha val="9000"/>
                  </a:srgbClr>
                </a:gs>
                <a:gs pos="35000">
                  <a:srgbClr val="E6CFCF">
                    <a:alpha val="3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 userDrawn="1"/>
        </p:nvSpPr>
        <p:spPr>
          <a:xfrm>
            <a:off x="-2032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20000"/>
                </a:srgbClr>
              </a:gs>
              <a:gs pos="30000">
                <a:srgbClr val="00E5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0000"/>
                  </a:srgbClr>
                </a:gs>
                <a:gs pos="30000">
                  <a:srgbClr val="00CE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4"/>
          <p:cNvSpPr/>
          <p:nvPr userDrawn="1"/>
        </p:nvSpPr>
        <p:spPr>
          <a:xfrm>
            <a:off x="8636000" y="3556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B388FF">
                  <a:alpha val="20000"/>
                </a:srgbClr>
              </a:gs>
              <a:gs pos="30000">
                <a:srgbClr val="B388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20000"/>
                  </a:srgbClr>
                </a:gs>
                <a:gs pos="30000">
                  <a:srgbClr val="9263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6"/>
          <p:cNvSpPr/>
          <p:nvPr userDrawn="1"/>
        </p:nvSpPr>
        <p:spPr>
          <a:xfrm>
            <a:off x="10160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50000">
                <a:srgbClr val="00E5FF">
                  <a:alpha val="55000"/>
                </a:srgbClr>
              </a:gs>
              <a:gs pos="100000">
                <a:srgbClr val="00E5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50000">
                  <a:srgbClr val="00CEE6">
                    <a:alpha val="55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7"/>
          <p:cNvSpPr/>
          <p:nvPr userDrawn="1"/>
        </p:nvSpPr>
        <p:spPr>
          <a:xfrm>
            <a:off x="110998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388FF">
                  <a:alpha val="0"/>
                </a:srgbClr>
              </a:gs>
              <a:gs pos="50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9263E6">
                    <a:alpha val="0"/>
                  </a:srgbClr>
                </a:gs>
                <a:gs pos="50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0"/>
          <p:cNvSpPr/>
          <p:nvPr userDrawn="1"/>
        </p:nvSpPr>
        <p:spPr>
          <a:xfrm>
            <a:off x="2921000" y="5207000"/>
            <a:ext cx="6350000" cy="12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28000">
                <a:srgbClr val="00E5FF">
                  <a:alpha val="55000"/>
                </a:srgbClr>
              </a:gs>
              <a:gs pos="72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28000">
                  <a:srgbClr val="00CEE6">
                    <a:alpha val="55000"/>
                  </a:srgbClr>
                </a:gs>
                <a:gs pos="72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2"/>
          <p:cNvCxnSpPr/>
          <p:nvPr userDrawn="1"/>
        </p:nvCxnSpPr>
        <p:spPr>
          <a:xfrm rot="5256843">
            <a:off x="5943600" y="5810382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000" y="1433195"/>
            <a:ext cx="10668000" cy="2325370"/>
          </a:xfrm>
        </p:spPr>
        <p:txBody>
          <a:bodyPr anchor="b">
            <a:normAutofit/>
          </a:bodyPr>
          <a:lstStyle>
            <a:lvl1pPr marL="0" marR="0" lvl="0" algn="ctr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62000" y="4012565"/>
            <a:ext cx="10668000" cy="175387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3" hasCustomPrompt="1"/>
          </p:nvPr>
        </p:nvSpPr>
        <p:spPr>
          <a:xfrm>
            <a:off x="757555" y="5588000"/>
            <a:ext cx="4831080" cy="431800"/>
          </a:xfrm>
        </p:spPr>
        <p:txBody>
          <a:bodyPr/>
          <a:lstStyle>
            <a:lvl1pPr indent="0">
              <a:buNone/>
              <a:defRPr sz="2000"/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pc="300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【授课人】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" hasCustomPrompt="1"/>
          </p:nvPr>
        </p:nvSpPr>
        <p:spPr>
          <a:xfrm>
            <a:off x="6604000" y="5588000"/>
            <a:ext cx="4830445" cy="431800"/>
          </a:xfrm>
        </p:spPr>
        <p:txBody>
          <a:bodyPr/>
          <a:lstStyle>
            <a:lvl1pPr marL="0" indent="0" algn="r">
              <a:buNone/>
              <a:defRPr kumimoji="0" lang="zh-CN" altLang="en-US" sz="2000" b="0" i="0" u="none" strike="noStrike" kern="1200" cap="none" spc="300" normalizeH="0" baseline="0" noProof="1">
                <a:solidFill>
                  <a:srgbClr val="BEBEBE"/>
                </a:solidFill>
                <a:latin typeface="Noto Sans SC"/>
                <a:ea typeface="SimSun" charset="0"/>
                <a:cs typeface="Noto Sans SC"/>
                <a:sym typeface="Noto Sans SC"/>
              </a:defRPr>
            </a:lvl1pPr>
            <a:lvl5pPr algn="ctr">
              <a:defRPr/>
            </a:lvl5pPr>
          </a:lstStyle>
          <a:p>
            <a:pPr lvl="0"/>
            <a:r>
              <a:rPr lang="zh-CN" altLang="en-US" smtClean="0"/>
              <a:t>【日期】</a:t>
            </a:r>
            <a:endParaRPr lang="zh-CN" altLang="en-US" smtClean="0"/>
          </a:p>
          <a:p>
            <a:pPr lvl="0"/>
            <a:endParaRPr lang="zh-CN" altLang="en-US" smtClean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10401300" cy="43516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3298825"/>
            <a:ext cx="10401300" cy="28784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 userDrawn="1"/>
        </p:nvSpPr>
        <p:spPr>
          <a:xfrm>
            <a:off x="762000" y="1676400"/>
            <a:ext cx="10401300" cy="1422400"/>
          </a:xfrm>
          <a:prstGeom prst="snip2DiagRect">
            <a:avLst/>
          </a:prstGeom>
          <a:solidFill>
            <a:srgbClr val="00E5FF">
              <a:alpha val="15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304800" dir="5400000" algn="ctr" rotWithShape="0">
              <a:srgbClr val="00E5FF">
                <a:alpha val="3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762000" y="1678305"/>
            <a:ext cx="10401300" cy="1421130"/>
          </a:xfrm>
        </p:spPr>
        <p:txBody>
          <a:bodyPr anchor="ctr" anchorCtr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zh-CN" altLang="en-US" smtClean="0"/>
              <a:t>插入定义文本</a:t>
            </a:r>
            <a:endParaRPr lang="zh-CN" altLang="en-US" smtClean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/>
          <p:cNvSpPr/>
          <p:nvPr userDrawn="1"/>
        </p:nvSpPr>
        <p:spPr>
          <a:xfrm>
            <a:off x="-2286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18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18000"/>
                  </a:srgbClr>
                </a:gs>
                <a:gs pos="70000">
                  <a:srgbClr val="00CE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3"/>
          <p:cNvSpPr/>
          <p:nvPr userDrawn="1"/>
        </p:nvSpPr>
        <p:spPr>
          <a:xfrm>
            <a:off x="8890000" y="4318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69F0AE">
                  <a:alpha val="14000"/>
                </a:srgbClr>
              </a:gs>
              <a:gs pos="70000">
                <a:srgbClr val="69F0A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48D691">
                    <a:alpha val="14000"/>
                  </a:srgbClr>
                </a:gs>
                <a:gs pos="70000">
                  <a:srgbClr val="48D691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r>
              <a:rPr lang="zh-CN" altLang="en-US" dirty="0"/>
              <a:t>【思考与讨论】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62000" y="4382135"/>
            <a:ext cx="10401300" cy="7613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2800" b="0" i="0" u="none" strike="noStrike" kern="0" cap="none" spc="300" normalizeH="0" baseline="0" noProof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【提出一个开放性问题,引导学生思考】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5"/>
          <p:cNvSpPr/>
          <p:nvPr userDrawn="1"/>
        </p:nvSpPr>
        <p:spPr>
          <a:xfrm>
            <a:off x="762000" y="1524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30000">
                <a:srgbClr val="00E5FF">
                  <a:alpha val="100000"/>
                </a:srgbClr>
              </a:gs>
              <a:gs pos="70000">
                <a:srgbClr val="00E5FF">
                  <a:alpha val="100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30000">
                  <a:srgbClr val="00CEE6">
                    <a:alpha val="100000"/>
                  </a:srgbClr>
                </a:gs>
                <a:gs pos="70000">
                  <a:srgbClr val="00CEE6">
                    <a:alpha val="100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6"/>
          <p:cNvSpPr/>
          <p:nvPr userDrawn="1"/>
        </p:nvSpPr>
        <p:spPr>
          <a:xfrm>
            <a:off x="0" y="2032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71500" dir="5400000" algn="ctr" rotWithShape="0">
              <a:srgbClr val="69F0AE">
                <a:alpha val="5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000" b="1" i="0" u="none" strike="noStrike">
                <a:solidFill>
                  <a:srgbClr val="69F0AE"/>
                </a:solidFill>
                <a:latin typeface="Noto Sans SC"/>
                <a:ea typeface="Noto Sans SC"/>
                <a:cs typeface="Noto Sans SC"/>
                <a:sym typeface="Noto Sans SC"/>
              </a:rPr>
              <a:t>?</a:t>
            </a:r>
            <a:endParaRPr lang="en-US" sz="1100"/>
          </a:p>
        </p:txBody>
      </p:sp>
      <p:sp>
        <p:nvSpPr>
          <p:cNvPr id="19" name="内容占位符 18"/>
          <p:cNvSpPr>
            <a:spLocks noGrp="1"/>
          </p:cNvSpPr>
          <p:nvPr>
            <p:ph idx="13" hasCustomPrompt="1"/>
          </p:nvPr>
        </p:nvSpPr>
        <p:spPr>
          <a:xfrm>
            <a:off x="762000" y="5398135"/>
            <a:ext cx="10401300" cy="4057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1800" b="0" i="0" u="none" strike="noStrike" kern="0" cap="none" spc="200" normalizeH="0" baseline="0" noProof="1">
                <a:solidFill>
                  <a:srgbClr val="C8C8D2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【提示:可以分组讨论 / 举手回答 / 课后思考】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635" y="508000"/>
            <a:ext cx="10847070" cy="66103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2635" y="1904365"/>
            <a:ext cx="5234940" cy="50863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1200" cap="none" spc="0" normalizeH="0" baseline="0" noProof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635" y="2480310"/>
            <a:ext cx="523494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00E5FF"/>
              </a:buClr>
              <a:defRPr/>
            </a:lvl1pPr>
            <a:lvl2pPr>
              <a:lnSpc>
                <a:spcPct val="150000"/>
              </a:lnSpc>
              <a:buClr>
                <a:srgbClr val="00E5FF"/>
              </a:buClr>
              <a:defRPr/>
            </a:lvl2pPr>
            <a:lvl3pPr>
              <a:lnSpc>
                <a:spcPct val="150000"/>
              </a:lnSpc>
              <a:buClr>
                <a:srgbClr val="00E5FF"/>
              </a:buClr>
              <a:defRPr/>
            </a:lvl3pPr>
            <a:lvl4pPr>
              <a:lnSpc>
                <a:spcPct val="150000"/>
              </a:lnSpc>
              <a:buClr>
                <a:srgbClr val="00E5FF"/>
              </a:buClr>
              <a:defRPr/>
            </a:lvl4pPr>
            <a:lvl5pPr>
              <a:lnSpc>
                <a:spcPct val="150000"/>
              </a:lnSpc>
              <a:buClr>
                <a:srgbClr val="00E5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604635" y="1903730"/>
            <a:ext cx="5079365" cy="50990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0" cap="none" spc="0" normalizeH="0" baseline="0" noProof="1">
                <a:solidFill>
                  <a:srgbClr val="B388FF"/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604635" y="2480310"/>
            <a:ext cx="507873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B388FF"/>
              </a:buClr>
              <a:defRPr/>
            </a:lvl1pPr>
            <a:lvl2pPr>
              <a:lnSpc>
                <a:spcPct val="150000"/>
              </a:lnSpc>
              <a:buClr>
                <a:srgbClr val="B388FF"/>
              </a:buClr>
              <a:defRPr/>
            </a:lvl2pPr>
            <a:lvl3pPr>
              <a:lnSpc>
                <a:spcPct val="150000"/>
              </a:lnSpc>
              <a:buClr>
                <a:srgbClr val="B388FF"/>
              </a:buClr>
              <a:defRPr/>
            </a:lvl3pPr>
            <a:lvl4pPr>
              <a:lnSpc>
                <a:spcPct val="150000"/>
              </a:lnSpc>
              <a:buClr>
                <a:srgbClr val="B388FF"/>
              </a:buClr>
              <a:defRPr/>
            </a:lvl4pPr>
            <a:lvl5pPr>
              <a:lnSpc>
                <a:spcPct val="150000"/>
              </a:lnSpc>
              <a:buClr>
                <a:srgbClr val="B388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" name="AutoShape 2"/>
          <p:cNvSpPr/>
          <p:nvPr userDrawn="1"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3"/>
          <p:cNvSpPr/>
          <p:nvPr userDrawn="1"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1"/>
          <p:cNvSpPr/>
          <p:nvPr userDrawn="1"/>
        </p:nvSpPr>
        <p:spPr>
          <a:xfrm>
            <a:off x="762000" y="5740400"/>
            <a:ext cx="482600" cy="482600"/>
          </a:xfrm>
          <a:prstGeom prst="ellipse">
            <a:avLst/>
          </a:prstGeom>
          <a:solidFill>
            <a:srgbClr val="00E5FF">
              <a:alpha val="0"/>
            </a:srgbClr>
          </a:solidFill>
          <a:ln w="25400" cap="flat" cmpd="sng">
            <a:solidFill>
              <a:srgbClr val="00E5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2"/>
          <p:cNvSpPr/>
          <p:nvPr userDrawn="1"/>
        </p:nvSpPr>
        <p:spPr>
          <a:xfrm>
            <a:off x="1397000" y="5740400"/>
            <a:ext cx="279400" cy="27940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 cap="flat" cmpd="sng">
            <a:solidFill>
              <a:srgbClr val="00E5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 userDrawn="1"/>
        </p:nvSpPr>
        <p:spPr>
          <a:xfrm rot="2700000">
            <a:off x="6604000" y="5740400"/>
            <a:ext cx="431800" cy="431800"/>
          </a:xfrm>
          <a:prstGeom prst="roundRect">
            <a:avLst>
              <a:gd name="adj" fmla="val 0"/>
            </a:avLst>
          </a:prstGeom>
          <a:solidFill>
            <a:srgbClr val="B388FF">
              <a:alpha val="0"/>
            </a:srgbClr>
          </a:solidFill>
          <a:ln w="25400" cap="flat" cmpd="sng">
            <a:solidFill>
              <a:srgbClr val="B388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 userDrawn="1"/>
        </p:nvSpPr>
        <p:spPr>
          <a:xfrm rot="2700000">
            <a:off x="7264400" y="5816600"/>
            <a:ext cx="279400" cy="279400"/>
          </a:xfrm>
          <a:prstGeom prst="roundRect">
            <a:avLst>
              <a:gd name="adj" fmla="val 0"/>
            </a:avLst>
          </a:prstGeom>
          <a:solidFill>
            <a:srgbClr val="B388FF">
              <a:alpha val="18000"/>
            </a:srgbClr>
          </a:solidFill>
          <a:ln w="12700" cap="flat" cmpd="sng">
            <a:solidFill>
              <a:srgbClr val="B38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5" name="Connector 6"/>
          <p:cNvCxnSpPr/>
          <p:nvPr userDrawn="1"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5"/>
          <p:cNvSpPr/>
          <p:nvPr userDrawn="1"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8635" y="1651635"/>
            <a:ext cx="5967730" cy="2440305"/>
          </a:xfrm>
        </p:spPr>
        <p:txBody>
          <a:bodyPr anchor="b" anchorCtr="0"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AutoShape 2"/>
          <p:cNvSpPr/>
          <p:nvPr userDrawn="1"/>
        </p:nvSpPr>
        <p:spPr>
          <a:xfrm>
            <a:off x="7112000" y="3048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E5FF">
                  <a:alpha val="22000"/>
                </a:srgbClr>
              </a:gs>
              <a:gs pos="28000">
                <a:srgbClr val="B388FF">
                  <a:alpha val="12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2000"/>
                  </a:srgbClr>
                </a:gs>
                <a:gs pos="28000">
                  <a:srgbClr val="9263E6">
                    <a:alpha val="12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3"/>
          <p:cNvSpPr/>
          <p:nvPr userDrawn="1"/>
        </p:nvSpPr>
        <p:spPr>
          <a:xfrm>
            <a:off x="5588000" y="4572000"/>
            <a:ext cx="6350000" cy="6350000"/>
          </a:xfrm>
          <a:prstGeom prst="ellipse">
            <a:avLst/>
          </a:prstGeom>
          <a:gradFill rotWithShape="1">
            <a:gsLst>
              <a:gs pos="0">
                <a:srgbClr val="B388FF">
                  <a:alpha val="18000"/>
                </a:srgbClr>
              </a:gs>
              <a:gs pos="6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18000"/>
                  </a:srgbClr>
                </a:gs>
                <a:gs pos="6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4"/>
          <p:cNvSpPr/>
          <p:nvPr userDrawn="1"/>
        </p:nvSpPr>
        <p:spPr>
          <a:xfrm>
            <a:off x="889000" y="1905000"/>
            <a:ext cx="482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6000" b="1" i="0" u="none" strike="noStrike" spc="600">
                <a:solidFill>
                  <a:schemeClr val="bg1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6000" b="1" i="0" u="none" strike="noStrike" spc="600">
              <a:solidFill>
                <a:schemeClr val="bg1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AutoShape 6"/>
          <p:cNvSpPr/>
          <p:nvPr userDrawn="1"/>
        </p:nvSpPr>
        <p:spPr>
          <a:xfrm>
            <a:off x="6350000" y="3784600"/>
            <a:ext cx="762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B388FF">
                  <a:alpha val="10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100000"/>
                  </a:srgbClr>
                </a:gs>
                <a:gs pos="100000">
                  <a:srgbClr val="9263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7"/>
          <p:cNvSpPr/>
          <p:nvPr userDrawn="1"/>
        </p:nvSpPr>
        <p:spPr>
          <a:xfrm>
            <a:off x="6350000" y="4064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 spc="300">
                <a:solidFill>
                  <a:srgbClr val="B4B4BE"/>
                </a:solidFill>
                <a:latin typeface="Noto Sans SC"/>
                <a:ea typeface="Noto Sans SC"/>
                <a:cs typeface="Noto Sans SC"/>
                <a:sym typeface="Noto Sans SC"/>
              </a:rPr>
              <a:t>【章节副标题 / 引言】</a:t>
            </a:r>
            <a:endParaRPr lang="en-US" sz="110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 userDrawn="1"/>
        </p:nvSpPr>
        <p:spPr>
          <a:xfrm>
            <a:off x="-2286000" y="-2286000"/>
            <a:ext cx="16764000" cy="9144000"/>
          </a:xfrm>
          <a:prstGeom prst="ellipse">
            <a:avLst/>
          </a:prstGeom>
          <a:gradFill rotWithShape="1">
            <a:gsLst>
              <a:gs pos="0">
                <a:srgbClr val="38BDF8">
                  <a:alpha val="22000"/>
                </a:srgbClr>
              </a:gs>
              <a:gs pos="22000">
                <a:srgbClr val="A855F7">
                  <a:alpha val="14000"/>
                </a:srgbClr>
              </a:gs>
              <a:gs pos="62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1CA3DF">
                    <a:alpha val="22000"/>
                  </a:srgbClr>
                </a:gs>
                <a:gs pos="22000">
                  <a:srgbClr val="8C36DE">
                    <a:alpha val="14000"/>
                  </a:srgbClr>
                </a:gs>
                <a:gs pos="62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3"/>
          <p:cNvSpPr/>
          <p:nvPr userDrawn="1"/>
        </p:nvSpPr>
        <p:spPr>
          <a:xfrm>
            <a:off x="-1778000" y="-1524000"/>
            <a:ext cx="15748000" cy="7874000"/>
          </a:xfrm>
          <a:prstGeom prst="ellipse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20000">
                <a:srgbClr val="38BDF8">
                  <a:alpha val="8000"/>
                </a:srgbClr>
              </a:gs>
              <a:gs pos="57999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8C36DE">
                    <a:alpha val="18000"/>
                  </a:srgbClr>
                </a:gs>
                <a:gs pos="20000">
                  <a:srgbClr val="1CA3DF">
                    <a:alpha val="8000"/>
                  </a:srgbClr>
                </a:gs>
                <a:gs pos="57999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AutoShape 4"/>
          <p:cNvSpPr/>
          <p:nvPr userDrawn="1"/>
        </p:nvSpPr>
        <p:spPr>
          <a:xfrm>
            <a:off x="762000" y="1778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7200" b="1" i="0" u="none" strike="noStrike" spc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谢谢聆听</a:t>
            </a:r>
            <a:endParaRPr lang="en-US" sz="1100"/>
          </a:p>
        </p:txBody>
      </p:sp>
      <p:sp>
        <p:nvSpPr>
          <p:cNvPr id="9" name="AutoShape 5"/>
          <p:cNvSpPr/>
          <p:nvPr userDrawn="1"/>
        </p:nvSpPr>
        <p:spPr>
          <a:xfrm>
            <a:off x="762000" y="35306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0" i="0" u="none" strike="noStrike" spc="800">
                <a:solidFill>
                  <a:srgbClr val="E5E7EB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【Q &amp; A / 提问交流环节】</a:t>
            </a:r>
            <a:endParaRPr lang="en-US" sz="1100"/>
          </a:p>
        </p:txBody>
      </p:sp>
      <p:cxnSp>
        <p:nvCxnSpPr>
          <p:cNvPr id="10" name="Connector 6"/>
          <p:cNvCxnSpPr/>
          <p:nvPr userDrawn="1"/>
        </p:nvCxnSpPr>
        <p:spPr>
          <a:xfrm rot="-57290">
            <a:off x="5715053" y="4565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1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0" y="4978400"/>
            <a:ext cx="279400" cy="279400"/>
          </a:xfrm>
          <a:prstGeom prst="rect">
            <a:avLst/>
          </a:prstGeom>
        </p:spPr>
      </p:pic>
      <p:cxnSp>
        <p:nvCxnSpPr>
          <p:cNvPr id="13" name="Connector 9"/>
          <p:cNvCxnSpPr/>
          <p:nvPr userDrawn="1"/>
        </p:nvCxnSpPr>
        <p:spPr>
          <a:xfrm rot="5267844">
            <a:off x="47879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4978400"/>
            <a:ext cx="279400" cy="279400"/>
          </a:xfrm>
          <a:prstGeom prst="rect">
            <a:avLst/>
          </a:prstGeom>
        </p:spPr>
      </p:pic>
      <p:cxnSp>
        <p:nvCxnSpPr>
          <p:cNvPr id="16" name="Connector 12"/>
          <p:cNvCxnSpPr/>
          <p:nvPr userDrawn="1"/>
        </p:nvCxnSpPr>
        <p:spPr>
          <a:xfrm rot="5267844">
            <a:off x="77724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978400"/>
            <a:ext cx="279400" cy="279400"/>
          </a:xfrm>
          <a:prstGeom prst="rect">
            <a:avLst/>
          </a:prstGeom>
        </p:spPr>
      </p:pic>
      <p:sp>
        <p:nvSpPr>
          <p:cNvPr id="21" name="内容占位符 20"/>
          <p:cNvSpPr>
            <a:spLocks noGrp="1"/>
          </p:cNvSpPr>
          <p:nvPr>
            <p:ph idx="13" hasCustomPrompt="1"/>
          </p:nvPr>
        </p:nvSpPr>
        <p:spPr>
          <a:xfrm>
            <a:off x="2693035" y="4952365"/>
            <a:ext cx="203073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>
                <a:sym typeface="Noto Sans SC"/>
              </a:rPr>
              <a:t>contact@xxx.com</a:t>
            </a:r>
            <a:endParaRPr lang="en-US" altLang="zh-CN" smtClean="0"/>
          </a:p>
        </p:txBody>
      </p:sp>
      <p:sp>
        <p:nvSpPr>
          <p:cNvPr id="22" name="内容占位符 21"/>
          <p:cNvSpPr>
            <a:spLocks noGrp="1"/>
          </p:cNvSpPr>
          <p:nvPr>
            <p:ph idx="14" hasCustomPrompt="1"/>
          </p:nvPr>
        </p:nvSpPr>
        <p:spPr>
          <a:xfrm>
            <a:off x="5740400" y="4953000"/>
            <a:ext cx="2032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 smtClean="0"/>
              <a:t>公众号：</a:t>
            </a:r>
            <a:r>
              <a:rPr altLang="zh-CN" smtClean="0"/>
              <a:t>XXX</a:t>
            </a:r>
            <a:endParaRPr altLang="zh-CN" smtClean="0"/>
          </a:p>
        </p:txBody>
      </p:sp>
      <p:sp>
        <p:nvSpPr>
          <p:cNvPr id="23" name="内容占位符 22"/>
          <p:cNvSpPr>
            <a:spLocks noGrp="1"/>
          </p:cNvSpPr>
          <p:nvPr>
            <p:ph idx="15" hasCustomPrompt="1"/>
          </p:nvPr>
        </p:nvSpPr>
        <p:spPr>
          <a:xfrm>
            <a:off x="8724900" y="4953000"/>
            <a:ext cx="2159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/>
                <a:ea typeface="SimSun" charset="0"/>
                <a:cs typeface="Noto Sans SC"/>
                <a:sym typeface="Noto Sans SC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 smtClean="0"/>
              <a:t>公众号：</a:t>
            </a:r>
            <a:r>
              <a:rPr altLang="zh-CN" smtClean="0"/>
              <a:t>XXX</a:t>
            </a:r>
            <a:r>
              <a:rPr lang="zh-CN" altLang="en-US" smtClean="0"/>
              <a:t>事实</a:t>
            </a:r>
            <a:endParaRPr lang="zh-CN" altLang="en-US" smtClean="0"/>
          </a:p>
        </p:txBody>
      </p:sp>
      <p:sp>
        <p:nvSpPr>
          <p:cNvPr id="25" name="内容占位符 24"/>
          <p:cNvSpPr>
            <a:spLocks noGrp="1"/>
          </p:cNvSpPr>
          <p:nvPr>
            <p:ph idx="16" hasCustomPrompt="1"/>
          </p:nvPr>
        </p:nvSpPr>
        <p:spPr>
          <a:xfrm>
            <a:off x="3215958" y="6121400"/>
            <a:ext cx="5760085" cy="329565"/>
          </a:xfrm>
        </p:spPr>
        <p:txBody>
          <a:bodyPr anchor="ctr" anchorCtr="0"/>
          <a:lstStyle>
            <a:lvl1pPr marL="0" indent="0" algn="ctr">
              <a:buNone/>
              <a:defRPr kumimoji="0" lang="en-US" sz="1400" b="0" i="0" u="none" strike="noStrike" kern="1200" cap="none" spc="400" normalizeH="0" baseline="0" noProof="1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>
                <a:sym typeface="Noto Sans SC"/>
              </a:rPr>
              <a:t>【课程名称 / 机构名】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000"/>
              <a:t>第六课</a:t>
            </a:r>
            <a:br>
              <a:rPr lang="zh-CN" altLang="en-US" sz="6000"/>
            </a:br>
            <a:r>
              <a:rPr lang="zh-CN" altLang="en-US" sz="6000"/>
              <a:t>怎样让 </a:t>
            </a:r>
            <a:r>
              <a:rPr lang="en-US" altLang="zh-CN" sz="6000"/>
              <a:t>AI </a:t>
            </a:r>
            <a:r>
              <a:rPr lang="zh-CN" altLang="en-US" sz="6000"/>
              <a:t>听你的</a:t>
            </a:r>
            <a:endParaRPr lang="zh-CN" altLang="en-US" sz="6000"/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港科大人工智能前沿系列课程——大模型基础通识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授课人：王若愚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"/>
          </p:nvPr>
        </p:nvSpPr>
        <p:spPr/>
        <p:txBody>
          <a:bodyPr/>
          <a:p>
            <a:r>
              <a:rPr lang="en-US" altLang="zh-CN"/>
              <a:t>2026/08/01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回顾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zh-CN" altLang="en-US" sz="2800">
                <a:sym typeface="+mn-ea"/>
              </a:rPr>
              <a:t>模型在大量</a:t>
            </a:r>
            <a:r>
              <a:rPr lang="zh-CN" altLang="en-US" sz="2800" b="1">
                <a:solidFill>
                  <a:srgbClr val="00E5FA"/>
                </a:solidFill>
                <a:sym typeface="+mn-ea"/>
              </a:rPr>
              <a:t>文本</a:t>
            </a:r>
            <a:r>
              <a:rPr lang="zh-CN" altLang="en-US" sz="2800">
                <a:sym typeface="+mn-ea"/>
              </a:rPr>
              <a:t>、</a:t>
            </a:r>
            <a:r>
              <a:rPr lang="zh-CN" altLang="en-US" sz="2800" b="1">
                <a:solidFill>
                  <a:srgbClr val="00E5FA"/>
                </a:solidFill>
                <a:sym typeface="+mn-ea"/>
              </a:rPr>
              <a:t>代码</a:t>
            </a:r>
            <a:r>
              <a:rPr lang="zh-CN" altLang="en-US" sz="2800">
                <a:sym typeface="+mn-ea"/>
              </a:rPr>
              <a:t>、</a:t>
            </a:r>
            <a:r>
              <a:rPr lang="zh-CN" altLang="en-US" sz="2800" b="1">
                <a:solidFill>
                  <a:srgbClr val="00E5FA"/>
                </a:solidFill>
                <a:sym typeface="+mn-ea"/>
              </a:rPr>
              <a:t>图片</a:t>
            </a:r>
            <a:r>
              <a:rPr lang="zh-CN" altLang="en-US" sz="2800">
                <a:sym typeface="+mn-ea"/>
              </a:rPr>
              <a:t>或其他数据上学习规律，通过</a:t>
            </a:r>
            <a:r>
              <a:rPr lang="zh-CN" altLang="en-US" sz="2800" b="1">
                <a:solidFill>
                  <a:srgbClr val="00E5FA"/>
                </a:solidFill>
                <a:sym typeface="+mn-ea"/>
              </a:rPr>
              <a:t>错误反馈</a:t>
            </a:r>
            <a:r>
              <a:rPr lang="zh-CN" altLang="en-US" sz="2800">
                <a:sym typeface="+mn-ea"/>
              </a:rPr>
              <a:t>调整参数。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>
                <a:sym typeface="+mn-ea"/>
              </a:rPr>
              <a:t>除了</a:t>
            </a:r>
            <a:r>
              <a:rPr lang="en-US" altLang="zh-CN" sz="2800" b="1">
                <a:solidFill>
                  <a:srgbClr val="00E5FA"/>
                </a:solidFill>
                <a:sym typeface="+mn-ea"/>
              </a:rPr>
              <a:t>模型规模和结构</a:t>
            </a:r>
            <a:r>
              <a:rPr lang="en-US" altLang="zh-CN" sz="2800">
                <a:sym typeface="+mn-ea"/>
              </a:rPr>
              <a:t>，</a:t>
            </a:r>
            <a:r>
              <a:rPr lang="en-US" altLang="zh-CN" sz="2800" b="1">
                <a:solidFill>
                  <a:srgbClr val="00E5FA"/>
                </a:solidFill>
                <a:sym typeface="+mn-ea"/>
              </a:rPr>
              <a:t>数据质量</a:t>
            </a:r>
            <a:r>
              <a:rPr lang="en-US" altLang="zh-CN" sz="2800">
                <a:sym typeface="+mn-ea"/>
              </a:rPr>
              <a:t>和</a:t>
            </a:r>
            <a:r>
              <a:rPr lang="en-US" altLang="zh-CN" sz="2800" b="1">
                <a:solidFill>
                  <a:srgbClr val="00E5FA"/>
                </a:solidFill>
                <a:sym typeface="+mn-ea"/>
              </a:rPr>
              <a:t>对齐目标</a:t>
            </a:r>
            <a:r>
              <a:rPr lang="en-US" altLang="zh-CN" sz="2800">
                <a:sym typeface="+mn-ea"/>
              </a:rPr>
              <a:t>都会影响模型能力和对外的表现</a:t>
            </a:r>
            <a:endParaRPr lang="en-US" altLang="zh-CN" sz="2800"/>
          </a:p>
          <a:p>
            <a:pPr>
              <a:lnSpc>
                <a:spcPct val="150000"/>
              </a:lnSpc>
            </a:pPr>
            <a:r>
              <a:rPr lang="en-US" altLang="zh-CN" sz="2800">
                <a:sym typeface="+mn-ea"/>
              </a:rPr>
              <a:t>对模型能力的评估不仅要</a:t>
            </a:r>
            <a:r>
              <a:rPr lang="en-US" altLang="zh-CN" sz="2800" b="1">
                <a:solidFill>
                  <a:srgbClr val="00E5FA"/>
                </a:solidFill>
                <a:sym typeface="+mn-ea"/>
              </a:rPr>
              <a:t>参考官方的介绍</a:t>
            </a:r>
            <a:r>
              <a:rPr lang="en-US" altLang="zh-CN" sz="2800">
                <a:sym typeface="+mn-ea"/>
              </a:rPr>
              <a:t>，更要自己</a:t>
            </a:r>
            <a:r>
              <a:rPr lang="en-US" altLang="zh-CN" sz="2800" b="1">
                <a:solidFill>
                  <a:srgbClr val="00E5FA"/>
                </a:solidFill>
                <a:sym typeface="+mn-ea"/>
              </a:rPr>
              <a:t>亲手实测</a:t>
            </a:r>
            <a:endParaRPr lang="en-US" altLang="zh-CN" sz="2800" b="1">
              <a:solidFill>
                <a:srgbClr val="00E5FA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提示词的基本技巧（第2课）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四要素：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p>
            <a:pPr>
              <a:buClr>
                <a:srgbClr val="00E5FF"/>
              </a:buClr>
            </a:pPr>
            <a:r>
              <a:rPr lang="zh-CN" altLang="en-US"/>
              <a:t>任务：要 </a:t>
            </a:r>
            <a:r>
              <a:rPr lang="en-US" altLang="zh-CN"/>
              <a:t>AI </a:t>
            </a:r>
            <a:r>
              <a:rPr lang="zh-CN" altLang="en-US"/>
              <a:t>做什么？</a:t>
            </a:r>
            <a:endParaRPr lang="zh-CN" altLang="en-US"/>
          </a:p>
          <a:p>
            <a:pPr>
              <a:buClr>
                <a:srgbClr val="00E5FF"/>
              </a:buClr>
            </a:pPr>
            <a:r>
              <a:rPr lang="zh-CN" altLang="en-US"/>
              <a:t>要求：必须遵守哪些限制？</a:t>
            </a:r>
            <a:endParaRPr lang="zh-CN" altLang="en-US"/>
          </a:p>
          <a:p>
            <a:pPr>
              <a:buClr>
                <a:srgbClr val="00E5FF"/>
              </a:buClr>
            </a:pPr>
            <a:r>
              <a:rPr lang="zh-CN" altLang="en-US"/>
              <a:t>格式：输出长什么样？</a:t>
            </a:r>
            <a:endParaRPr lang="zh-CN" altLang="en-US"/>
          </a:p>
          <a:p>
            <a:pPr>
              <a:buClr>
                <a:srgbClr val="00E5FF"/>
              </a:buClr>
            </a:pPr>
            <a:r>
              <a:rPr lang="zh-CN" altLang="en-US"/>
              <a:t>场景：用户是谁、背景是什么？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altLang="en-US"/>
              <a:t>四原则：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4"/>
          </p:nvPr>
        </p:nvSpPr>
        <p:spPr/>
        <p:txBody>
          <a:bodyPr/>
          <a:p>
            <a:r>
              <a:rPr lang="zh-CN" altLang="en-US"/>
              <a:t>全面性：不要遗漏</a:t>
            </a:r>
            <a:endParaRPr lang="zh-CN" altLang="en-US"/>
          </a:p>
          <a:p>
            <a:r>
              <a:rPr lang="zh-CN" altLang="en-US"/>
              <a:t>一致性：不要前后矛盾</a:t>
            </a:r>
            <a:endParaRPr lang="zh-CN" altLang="en-US"/>
          </a:p>
          <a:p>
            <a:r>
              <a:rPr lang="zh-CN" altLang="en-US"/>
              <a:t>简洁性：不要引入无关内容</a:t>
            </a:r>
            <a:endParaRPr lang="zh-CN" altLang="en-US"/>
          </a:p>
          <a:p>
            <a:r>
              <a:rPr lang="zh-CN" altLang="en-US"/>
              <a:t>合理性：不要引入实事错误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 build="p"/>
      <p:bldP spid="8" grpId="0" build="p"/>
      <p:bldP spid="5" grpId="1" build="p"/>
      <p:bldP spid="6" grpId="1" build="p"/>
      <p:bldP spid="7" grpId="1" build="p"/>
      <p:bldP spid="8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体验一下</a:t>
            </a:r>
            <a:r>
              <a:rPr altLang="zh-CN"/>
              <a:t> DeepSeek V4</a:t>
            </a:r>
            <a:endParaRPr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600" y="1690370"/>
            <a:ext cx="6896800" cy="43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提示词进阶技巧#1：样例提示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>
                <a:solidFill>
                  <a:srgbClr val="00E5FA"/>
                </a:solidFill>
              </a:rPr>
              <a:t>利用大模型 的“模仿”特长</a:t>
            </a:r>
            <a:r>
              <a:rPr lang="zh-CN" altLang="en-US" b="1"/>
              <a:t>：</a:t>
            </a:r>
            <a:r>
              <a:rPr lang="zh-CN" altLang="en-US"/>
              <a:t>给它看到你期望的输入和输出示例，它就会在新任务中复制结构、语气与逻辑。</a:t>
            </a:r>
            <a:endParaRPr lang="zh-CN" altLang="en-US"/>
          </a:p>
          <a:p>
            <a:r>
              <a:rPr lang="zh-CN" altLang="en-US" b="1">
                <a:solidFill>
                  <a:srgbClr val="00E5FA"/>
                </a:solidFill>
              </a:rPr>
              <a:t>弥补显式指令的不足</a:t>
            </a:r>
            <a:r>
              <a:rPr lang="zh-CN" altLang="en-US" b="1"/>
              <a:t>：</a:t>
            </a:r>
            <a:r>
              <a:rPr lang="zh-CN" altLang="en-US"/>
              <a:t>示例让模型明确你要的格式、深度、细节程度，而不用推测。</a:t>
            </a:r>
            <a:endParaRPr lang="zh-CN" altLang="en-US"/>
          </a:p>
          <a:p>
            <a:r>
              <a:rPr lang="zh-CN" altLang="en-US"/>
              <a:t>对于复杂任务，可提高稳定性与一致性，尤其适合结构化文本生成、数据提取、分类等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/>
          <a:p>
            <a:r>
              <a:rPr lang="zh-CN" altLang="en-US"/>
              <a:t>在给大模型布置了任务之后，选择</a:t>
            </a:r>
            <a:r>
              <a:rPr lang="en-US" altLang="zh-CN"/>
              <a:t> </a:t>
            </a:r>
            <a:r>
              <a:rPr lang="zh-CN" altLang="en-US"/>
              <a:t>1-3</a:t>
            </a:r>
            <a:r>
              <a:rPr lang="en-US" altLang="zh-CN"/>
              <a:t> </a:t>
            </a:r>
            <a:r>
              <a:rPr lang="zh-CN" altLang="en-US"/>
              <a:t>个高质量的示例，展示</a:t>
            </a:r>
            <a:endParaRPr lang="zh-CN" altLang="en-US"/>
          </a:p>
          <a:p>
            <a:r>
              <a:rPr lang="zh-CN" altLang="en-US"/>
              <a:t>清晰的输入和输出关系，让大模型仿照示例进行操作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9" grpId="0" build="p"/>
      <p:bldP spid="10" grpId="1" build="p"/>
      <p:bldP spid="9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提示词进阶技巧#2：分步提示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AI </a:t>
            </a:r>
            <a:r>
              <a:rPr lang="zh-CN" altLang="en-US"/>
              <a:t>不擅长 “跳跃式思考”：复杂问题直接丢给 </a:t>
            </a:r>
            <a:r>
              <a:rPr lang="en-US" altLang="zh-CN"/>
              <a:t>AI，</a:t>
            </a:r>
            <a:r>
              <a:rPr lang="zh-CN" altLang="en-US"/>
              <a:t>容易出现逻辑断层、答案遗漏</a:t>
            </a:r>
            <a:endParaRPr lang="zh-CN" altLang="en-US"/>
          </a:p>
          <a:p>
            <a:r>
              <a:rPr lang="zh-CN" altLang="en-US"/>
              <a:t>让模型显式地先推理再回答，推理的内容会影响后续生成的文本，结果通常更准确、更少遗漏。</a:t>
            </a:r>
            <a:endParaRPr lang="zh-CN" altLang="en-US"/>
          </a:p>
          <a:p>
            <a:r>
              <a:rPr lang="zh-CN" altLang="en-US"/>
              <a:t>适合逻辑推理、数学、需求分析、决策相关的任务。</a:t>
            </a:r>
            <a:endParaRPr lang="zh-CN" altLang="en-US"/>
          </a:p>
          <a:p>
            <a:r>
              <a:rPr lang="zh-CN" altLang="en-US"/>
              <a:t>避免模型只给出肤浅或表面化的回答。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/>
          <a:p>
            <a:r>
              <a:rPr lang="zh-CN" altLang="en-US"/>
              <a:t>按人类思考逻辑拆分解决问题的步骤，给每个步骤定义“明确要求”，</a:t>
            </a:r>
            <a:endParaRPr lang="zh-CN" altLang="en-US"/>
          </a:p>
          <a:p>
            <a:r>
              <a:rPr lang="zh-CN" altLang="en-US"/>
              <a:t>然后用序号串联这些步骤，最后明确要求大模型先推理再回答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0" grpId="1" build="p"/>
      <p:bldP spid="9" grpId="0" build="p"/>
      <p:bldP spid="9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提示词进阶技巧#</a:t>
            </a:r>
            <a:r>
              <a:rPr altLang="zh-CN"/>
              <a:t>3</a:t>
            </a:r>
            <a:r>
              <a:rPr lang="zh-CN" altLang="en-US"/>
              <a:t>：结构化输出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大模型输出是有“</a:t>
            </a:r>
            <a:r>
              <a:rPr lang="zh-CN" altLang="en-US" b="1">
                <a:solidFill>
                  <a:srgbClr val="00E5FA"/>
                </a:solidFill>
              </a:rPr>
              <a:t>温度（</a:t>
            </a:r>
            <a:r>
              <a:rPr lang="en-US" altLang="zh-CN" b="1">
                <a:solidFill>
                  <a:srgbClr val="00E5FA"/>
                </a:solidFill>
              </a:rPr>
              <a:t>Temperature）</a:t>
            </a:r>
            <a:r>
              <a:rPr lang="en-US" altLang="zh-CN"/>
              <a:t>”</a:t>
            </a:r>
            <a:r>
              <a:rPr lang="zh-CN" altLang="en-US"/>
              <a:t>的：输出的内容就像在做布朗运动一样，温度越高，越会变得杂乱无章</a:t>
            </a:r>
            <a:endParaRPr lang="zh-CN" altLang="en-US"/>
          </a:p>
          <a:p>
            <a:r>
              <a:rPr lang="zh-CN" altLang="en-US"/>
              <a:t>避免模型生成多余语言或解释，让输出更可控、更一致</a:t>
            </a:r>
            <a:endParaRPr lang="zh-CN" altLang="en-US"/>
          </a:p>
          <a:p>
            <a:r>
              <a:rPr lang="zh-CN" altLang="en-US"/>
              <a:t>大模型默认输出大段文字，但结构化要求能让输出逻辑可视化、信息易提取</a:t>
            </a:r>
            <a:endParaRPr lang="zh-CN" altLang="en-US"/>
          </a:p>
          <a:p>
            <a:r>
              <a:rPr lang="zh-CN" altLang="en-US"/>
              <a:t>常用的结构：列表、</a:t>
            </a:r>
            <a:r>
              <a:rPr lang="en-US" altLang="zh-CN"/>
              <a:t>JSON、Markdown</a:t>
            </a:r>
            <a:endParaRPr lang="en-US" altLang="zh-CN"/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p>
            <a:r>
              <a:rPr lang="zh-CN" altLang="en-US"/>
              <a:t>向大模型明确它的角色定位（如：资深中学语文教师），设定</a:t>
            </a:r>
            <a:endParaRPr lang="zh-CN" altLang="en-US"/>
          </a:p>
          <a:p>
            <a:r>
              <a:rPr lang="zh-CN" altLang="en-US"/>
              <a:t>角色的技能属性（如：善于分析故事中的人物性格特点），</a:t>
            </a:r>
            <a:endParaRPr lang="zh-CN" altLang="en-US"/>
          </a:p>
          <a:p>
            <a:r>
              <a:rPr lang="zh-CN" altLang="en-US"/>
              <a:t>限定场景和受众，给出输出约束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0" grpId="1" build="p"/>
      <p:bldP spid="9" grpId="0" build="p"/>
      <p:bldP spid="9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提示词进阶技巧#</a:t>
            </a:r>
            <a:r>
              <a:rPr altLang="zh-CN"/>
              <a:t>4</a:t>
            </a:r>
            <a:r>
              <a:rPr lang="zh-CN" altLang="en-US"/>
              <a:t>：角色扮演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用简单高效的方式限定模型的语言风格、专业视角与内容范围。</a:t>
            </a:r>
            <a:endParaRPr lang="zh-CN" altLang="en-US"/>
          </a:p>
          <a:p>
            <a:r>
              <a:rPr lang="zh-CN" altLang="en-US"/>
              <a:t>模型在“扮演某个专家”时会更聚焦、更专业，减少偏题内容。</a:t>
            </a:r>
            <a:endParaRPr lang="zh-CN" altLang="en-US"/>
          </a:p>
          <a:p>
            <a:r>
              <a:rPr lang="zh-CN" altLang="en-US"/>
              <a:t>易于控制写作语气（正式、教学、咨询、法律、技术等）。</a:t>
            </a:r>
            <a:endParaRPr lang="zh-CN" altLang="en-US"/>
          </a:p>
          <a:p>
            <a:r>
              <a:rPr lang="zh-CN" altLang="en-US"/>
              <a:t>区分系统提示词（</a:t>
            </a:r>
            <a:r>
              <a:rPr lang="en-US" altLang="zh-CN"/>
              <a:t>System Prompt）</a:t>
            </a:r>
            <a:r>
              <a:rPr lang="zh-CN" altLang="en-US"/>
              <a:t>与用户提示词（</a:t>
            </a:r>
            <a:r>
              <a:rPr lang="en-US" altLang="zh-CN"/>
              <a:t>User Prompt）：</a:t>
            </a:r>
            <a:r>
              <a:rPr lang="zh-CN" altLang="en-US"/>
              <a:t>系统提示词用于严格限制大模型的输出和思考风格，用户提示词直接发布任务内容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/>
          <a:p>
            <a:r>
              <a:rPr lang="zh-CN" altLang="en-US"/>
              <a:t>明确任务的输出格式（表格、分点等），写出一个具体的模板</a:t>
            </a:r>
            <a:endParaRPr lang="zh-CN" altLang="en-US"/>
          </a:p>
          <a:p>
            <a:r>
              <a:rPr lang="zh-CN" altLang="en-US"/>
              <a:t>范例，详细解释给定结构的每个部分包含的信息（可以给每个</a:t>
            </a:r>
            <a:endParaRPr lang="zh-CN" altLang="en-US"/>
          </a:p>
          <a:p>
            <a:r>
              <a:rPr lang="zh-CN" altLang="en-US"/>
              <a:t>部分命名），并强制要求大模型按照给定格式输出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0" grpId="1" build="p"/>
      <p:bldP spid="9" grpId="0" build="p"/>
      <p:bldP spid="9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提示词进阶技巧#5：选择对话上下文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根本原因：在同一个上下文中，任意一条新的对话都可以看做是承接前面所有对话的“续写”</a:t>
            </a:r>
            <a:endParaRPr lang="zh-CN" altLang="en-US"/>
          </a:p>
          <a:p>
            <a:pPr lvl="1"/>
            <a:r>
              <a:rPr lang="zh-CN" altLang="en-US"/>
              <a:t>模型会极力“保持连贯与一致”</a:t>
            </a:r>
            <a:endParaRPr lang="zh-CN" altLang="en-US"/>
          </a:p>
          <a:p>
            <a:pPr lvl="1"/>
            <a:r>
              <a:rPr lang="zh-CN" altLang="en-US"/>
              <a:t>前文的指令会一直对后续对话起作用</a:t>
            </a:r>
            <a:endParaRPr lang="zh-CN" altLang="en-US"/>
          </a:p>
          <a:p>
            <a:r>
              <a:rPr lang="zh-CN" altLang="en-US"/>
              <a:t>上下文对新生成的内容的影响力“近大远小” </a:t>
            </a:r>
            <a:endParaRPr lang="zh-CN" altLang="en-US"/>
          </a:p>
          <a:p>
            <a:r>
              <a:rPr lang="zh-CN" altLang="en-US"/>
              <a:t>上下文里的错误会级联放大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p>
            <a:r>
              <a:rPr lang="zh-CN" altLang="en-US"/>
              <a:t>如果当前的问题需要依赖前面说过的东西，则保持在当前</a:t>
            </a:r>
            <a:endParaRPr lang="zh-CN" altLang="en-US"/>
          </a:p>
          <a:p>
            <a:r>
              <a:rPr lang="zh-CN" altLang="en-US"/>
              <a:t>上下文（对话窗口）中对话；否则应当使用新的上下文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0" grpId="1" build="p"/>
      <p:bldP spid="9" grpId="0" build="p"/>
      <p:bldP spid="9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提示词进阶技巧#5：选择对话上下文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同一个上下文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342900" indent="-342900">
              <a:buAutoNum type="arabicPeriod"/>
            </a:pPr>
            <a:r>
              <a:rPr lang="zh-CN" altLang="en-US" sz="2000"/>
              <a:t>大模型能 “记住” 所有修改痕迹，避免每次都重新说明，适合多轮对话解决复杂任务。</a:t>
            </a:r>
            <a:endParaRPr lang="zh-CN" altLang="en-US" sz="2000"/>
          </a:p>
          <a:p>
            <a:pPr marL="342900" indent="-342900">
              <a:buAutoNum type="arabicPeriod"/>
            </a:pPr>
            <a:r>
              <a:rPr lang="zh-CN" altLang="en-US" sz="2000"/>
              <a:t>适合对同一内容进行多次调整（修改、补充、细化）</a:t>
            </a:r>
            <a:endParaRPr lang="zh-CN" altLang="en-US" sz="2000"/>
          </a:p>
          <a:p>
            <a:pPr marL="342900" indent="-342900">
              <a:buAutoNum type="arabicPeriod"/>
            </a:pPr>
            <a:r>
              <a:rPr lang="zh-CN" altLang="en-US" sz="2000"/>
              <a:t>多轮追问同一主题，保持回答的连贯性。</a:t>
            </a:r>
            <a:endParaRPr lang="zh-CN" altLang="en-US" sz="20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altLang="en-US"/>
              <a:t>新的上下文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342900" indent="-342900">
              <a:buAutoNum type="arabicPeriod"/>
            </a:pPr>
            <a:r>
              <a:rPr lang="zh-CN" altLang="en-US" sz="2000"/>
              <a:t>切换完全不同的主题或任务时避免之前的信息干扰</a:t>
            </a:r>
            <a:endParaRPr lang="zh-CN" altLang="en-US" sz="2000"/>
          </a:p>
          <a:p>
            <a:pPr marL="342900" indent="-342900">
              <a:buAutoNum type="arabicPeriod"/>
            </a:pPr>
            <a:r>
              <a:rPr lang="zh-CN" altLang="en-US" sz="2000"/>
              <a:t>出现了和之前不一致的要求，切换上下文能避免逻辑冲突。</a:t>
            </a:r>
            <a:endParaRPr lang="zh-CN" altLang="en-US" sz="2000"/>
          </a:p>
          <a:p>
            <a:pPr marL="342900" indent="-342900">
              <a:buAutoNum type="arabicPeriod"/>
            </a:pPr>
            <a:r>
              <a:rPr lang="zh-CN" altLang="en-US" sz="2000">
                <a:sym typeface="+mn-ea"/>
              </a:rPr>
              <a:t>之前的上下文过于冗长，早期的细节可能被遗忘，导致后续输出出错。</a:t>
            </a:r>
            <a:endParaRPr lang="zh-CN" altLang="en-US" sz="200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  <p:bldP spid="3" grpId="1" build="p"/>
      <p:bldP spid="4" grpId="1" build="p"/>
      <p:bldP spid="5" grpId="1" build="p"/>
      <p:bldP spid="6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不断更新和迭代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小步迭代：每次只修改 1 个问题（比如先改格式，再改风格），避免同时改多个地方，不知道哪个修改起作用；</a:t>
            </a:r>
            <a:endParaRPr lang="zh-CN" altLang="en-US"/>
          </a:p>
          <a:p>
            <a:r>
              <a:rPr lang="zh-CN" altLang="en-US"/>
              <a:t>保留有效信息：调试时不删除之前的合理要求，只补充 / 修正问题部分；</a:t>
            </a:r>
            <a:endParaRPr lang="zh-CN" altLang="en-US"/>
          </a:p>
          <a:p>
            <a:r>
              <a:rPr lang="zh-CN" altLang="en-US"/>
              <a:t>加入失败处理机制：让模型在不确定的时候明确表示不确定，在无法明确处理问题的时候给出默认反馈</a:t>
            </a:r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3"/>
          </p:nvPr>
        </p:nvSpPr>
        <p:spPr/>
        <p:txBody>
          <a:bodyPr/>
          <a:p>
            <a:r>
              <a:rPr lang="zh-CN" altLang="en-US"/>
              <a:t>先找到 </a:t>
            </a:r>
            <a:r>
              <a:rPr lang="en-US" altLang="zh-CN"/>
              <a:t>AI </a:t>
            </a:r>
            <a:r>
              <a:rPr lang="zh-CN" altLang="en-US"/>
              <a:t>输出的问题所在（如答非所问、格式错误、信息不全），</a:t>
            </a:r>
            <a:endParaRPr lang="zh-CN" altLang="en-US"/>
          </a:p>
          <a:p>
            <a:r>
              <a:rPr lang="zh-CN" altLang="en-US"/>
              <a:t>再针对性调整提示词（补充信息、明确要求、修正逻辑），通过 </a:t>
            </a:r>
            <a:endParaRPr lang="zh-CN" altLang="en-US"/>
          </a:p>
          <a:p>
            <a:r>
              <a:rPr lang="zh-CN" altLang="en-US"/>
              <a:t>“提问→反馈→修改→再提问” 的循环，逐步逼近理想结果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1" grpId="1" build="p"/>
      <p:bldP spid="10" grpId="0" build="p"/>
      <p:bldP spid="10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【思考】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如何快速地撰写复杂的提示词？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“偷懒”妙招：提示词生成提示词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  <p:cxnSp>
        <p:nvCxnSpPr>
          <p:cNvPr id="8" name="Connector 6"/>
          <p:cNvCxnSpPr/>
          <p:nvPr/>
        </p:nvCxnSpPr>
        <p:spPr>
          <a:xfrm rot="-4297">
            <a:off x="1016004" y="320548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gradFill>
              <a:gsLst>
                <a:gs pos="25000">
                  <a:srgbClr val="5A5A5A"/>
                </a:gs>
                <a:gs pos="100000">
                  <a:srgbClr val="5A5A5A">
                    <a:alpha val="0"/>
                  </a:srgbClr>
                </a:gs>
                <a:gs pos="0">
                  <a:srgbClr val="5A5A5A">
                    <a:alpha val="0"/>
                  </a:srgbClr>
                </a:gs>
                <a:gs pos="75000">
                  <a:srgbClr val="5A5A5A"/>
                </a:gs>
              </a:gsLst>
              <a:lin ang="0" scaled="0"/>
            </a:gradFill>
            <a:prstDash val="sysDash"/>
            <a:round/>
            <a:headEnd type="none" w="lg" len="lg"/>
            <a:tailEnd type="none" w="lg" len="lg"/>
          </a:ln>
        </p:spPr>
      </p:cxnSp>
      <p:sp>
        <p:nvSpPr>
          <p:cNvPr id="15" name="AutoShape 13"/>
          <p:cNvSpPr/>
          <p:nvPr/>
        </p:nvSpPr>
        <p:spPr>
          <a:xfrm>
            <a:off x="1301750" y="3656330"/>
            <a:ext cx="2667000" cy="1118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1755" tIns="0" rIns="71755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chemeClr val="bg1"/>
                </a:solidFill>
                <a:latin typeface="Noto Sans SC"/>
                <a:ea typeface="SimSun" charset="0"/>
                <a:cs typeface="Noto Sans SC"/>
                <a:sym typeface="Noto Sans SC"/>
              </a:rPr>
              <a:t>以润色提示词为本轮大模型的任务，以实际任务说明为要求，人工撰写提示词</a:t>
            </a:r>
            <a:endParaRPr lang="zh-CN" altLang="en-US" sz="1400" b="0" i="0" u="none" strike="noStrike">
              <a:solidFill>
                <a:schemeClr val="bg1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</p:txBody>
      </p:sp>
      <p:sp>
        <p:nvSpPr>
          <p:cNvPr id="31" name="AutoShape 29"/>
          <p:cNvSpPr/>
          <p:nvPr/>
        </p:nvSpPr>
        <p:spPr>
          <a:xfrm>
            <a:off x="4769485" y="3656330"/>
            <a:ext cx="2667000" cy="1118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1755" tIns="0" rIns="71755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chemeClr val="bg1"/>
                </a:solidFill>
                <a:latin typeface="Noto Sans SC"/>
                <a:ea typeface="SimSun" charset="0"/>
                <a:cs typeface="Noto Sans SC"/>
                <a:sym typeface="Noto Sans SC"/>
              </a:rPr>
              <a:t>大模型根据提示词要求生成真正用于执行实际任务的完整的、精细化提示词</a:t>
            </a:r>
            <a:endParaRPr lang="zh-CN" altLang="en-US" sz="1400" b="0" i="0" u="none" strike="noStrike">
              <a:solidFill>
                <a:schemeClr val="bg1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</p:txBody>
      </p:sp>
      <p:pic>
        <p:nvPicPr>
          <p:cNvPr id="68" name="图片 67" descr="目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941955"/>
            <a:ext cx="540000" cy="540000"/>
          </a:xfrm>
          <a:prstGeom prst="rect">
            <a:avLst/>
          </a:prstGeom>
        </p:spPr>
      </p:pic>
      <p:pic>
        <p:nvPicPr>
          <p:cNvPr id="74" name="图片 73" descr="/home/ruoyu/Intro2AITechs/1-基础通识部分/8课时/assets/对话框（紫）.png对话框（紫）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7523730" y="2941955"/>
            <a:ext cx="539750" cy="540000"/>
          </a:xfrm>
          <a:prstGeom prst="rect">
            <a:avLst/>
          </a:prstGeom>
        </p:spPr>
      </p:pic>
      <p:pic>
        <p:nvPicPr>
          <p:cNvPr id="77" name="图片 76" descr="记录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990" y="2941955"/>
            <a:ext cx="539750" cy="540000"/>
          </a:xfrm>
          <a:prstGeom prst="rect">
            <a:avLst/>
          </a:prstGeom>
        </p:spPr>
      </p:pic>
      <p:pic>
        <p:nvPicPr>
          <p:cNvPr id="69" name="图片 68" descr="产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4470" y="2941955"/>
            <a:ext cx="539750" cy="540000"/>
          </a:xfrm>
          <a:prstGeom prst="rect">
            <a:avLst/>
          </a:prstGeom>
        </p:spPr>
      </p:pic>
      <p:pic>
        <p:nvPicPr>
          <p:cNvPr id="90" name="图片 89" descr="箭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620" y="2945130"/>
            <a:ext cx="539750" cy="540000"/>
          </a:xfrm>
          <a:prstGeom prst="rect">
            <a:avLst/>
          </a:prstGeom>
        </p:spPr>
      </p:pic>
      <p:pic>
        <p:nvPicPr>
          <p:cNvPr id="91" name="图片 90" descr="箭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360" y="2945130"/>
            <a:ext cx="539750" cy="540000"/>
          </a:xfrm>
          <a:prstGeom prst="rect">
            <a:avLst/>
          </a:prstGeom>
        </p:spPr>
      </p:pic>
      <p:pic>
        <p:nvPicPr>
          <p:cNvPr id="92" name="图片 91" descr="箭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4100" y="2945130"/>
            <a:ext cx="539750" cy="540000"/>
          </a:xfrm>
          <a:prstGeom prst="rect">
            <a:avLst/>
          </a:prstGeom>
        </p:spPr>
      </p:pic>
      <p:sp>
        <p:nvSpPr>
          <p:cNvPr id="93" name="AutoShape 29"/>
          <p:cNvSpPr/>
          <p:nvPr/>
        </p:nvSpPr>
        <p:spPr>
          <a:xfrm>
            <a:off x="8237220" y="3656330"/>
            <a:ext cx="2667000" cy="1118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1755" tIns="0" rIns="71755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chemeClr val="bg1"/>
                </a:solidFill>
                <a:latin typeface="Noto Sans SC"/>
                <a:ea typeface="SimSun" charset="0"/>
                <a:cs typeface="Noto Sans SC"/>
                <a:sym typeface="Noto Sans SC"/>
              </a:rPr>
              <a:t>大模型根据优化后的提示词执行任务，得到最终结果</a:t>
            </a:r>
            <a:endParaRPr lang="zh-CN" altLang="en-US" sz="1400" b="0" i="0" u="none" strike="noStrike">
              <a:solidFill>
                <a:schemeClr val="bg1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</p:txBody>
      </p:sp>
      <p:sp useBgFill="1">
        <p:nvSpPr>
          <p:cNvPr id="97" name="矩形 96"/>
          <p:cNvSpPr/>
          <p:nvPr/>
        </p:nvSpPr>
        <p:spPr>
          <a:xfrm>
            <a:off x="1136015" y="3424555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98" name="矩形 97"/>
          <p:cNvSpPr/>
          <p:nvPr/>
        </p:nvSpPr>
        <p:spPr>
          <a:xfrm>
            <a:off x="2839720" y="34442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99" name="矩形 98"/>
          <p:cNvSpPr/>
          <p:nvPr/>
        </p:nvSpPr>
        <p:spPr>
          <a:xfrm>
            <a:off x="4543425" y="3424555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00" name="矩形 99"/>
          <p:cNvSpPr/>
          <p:nvPr/>
        </p:nvSpPr>
        <p:spPr>
          <a:xfrm>
            <a:off x="6216015" y="34442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01" name="矩形 100"/>
          <p:cNvSpPr/>
          <p:nvPr/>
        </p:nvSpPr>
        <p:spPr>
          <a:xfrm>
            <a:off x="7888605" y="34442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02" name="矩形 101"/>
          <p:cNvSpPr/>
          <p:nvPr/>
        </p:nvSpPr>
        <p:spPr>
          <a:xfrm>
            <a:off x="9622155" y="34442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03" name="矩形 102"/>
          <p:cNvSpPr/>
          <p:nvPr/>
        </p:nvSpPr>
        <p:spPr>
          <a:xfrm>
            <a:off x="11312525" y="3424555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301750" y="1687195"/>
            <a:ext cx="2667000" cy="1206500"/>
            <a:chOff x="2050" y="2657"/>
            <a:chExt cx="4200" cy="1900"/>
          </a:xfrm>
        </p:grpSpPr>
        <p:grpSp>
          <p:nvGrpSpPr>
            <p:cNvPr id="40" name="组合 39"/>
            <p:cNvGrpSpPr/>
            <p:nvPr/>
          </p:nvGrpSpPr>
          <p:grpSpPr>
            <a:xfrm>
              <a:off x="2050" y="2657"/>
              <a:ext cx="4201" cy="1900"/>
              <a:chOff x="1200" y="2600"/>
              <a:chExt cx="4201" cy="1900"/>
            </a:xfrm>
          </p:grpSpPr>
          <p:sp>
            <p:nvSpPr>
              <p:cNvPr id="11" name="AutoShape 9"/>
              <p:cNvSpPr/>
              <p:nvPr/>
            </p:nvSpPr>
            <p:spPr>
              <a:xfrm>
                <a:off x="1200" y="2600"/>
                <a:ext cx="4200" cy="1900"/>
              </a:xfrm>
              <a:prstGeom prst="roundRect">
                <a:avLst>
                  <a:gd name="adj" fmla="val 0"/>
                </a:avLst>
              </a:prstGeom>
              <a:solidFill>
                <a:srgbClr val="1E1E1E">
                  <a:alpha val="100000"/>
                </a:srgbClr>
              </a:solidFill>
              <a:ln w="12700" cap="flat" cmpd="sng">
                <a:solidFill>
                  <a:srgbClr val="00F0FF">
                    <a:alpha val="35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12" name="AutoShape 10"/>
              <p:cNvSpPr/>
              <p:nvPr/>
            </p:nvSpPr>
            <p:spPr>
              <a:xfrm>
                <a:off x="1200" y="2600"/>
                <a:ext cx="80" cy="1900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rgbClr val="00F0FF">
                      <a:alpha val="100000"/>
                    </a:srgbClr>
                  </a:gs>
                  <a:gs pos="100000">
                    <a:srgbClr val="00F0FF">
                      <a:alpha val="25000"/>
                    </a:srgbClr>
                  </a:gs>
                </a:gsLst>
                <a:lin ang="5400000"/>
              </a:gradFill>
              <a:ln cap="flat" cmpd="sng">
                <a:gradFill rotWithShape="1">
                  <a:gsLst>
                    <a:gs pos="0">
                      <a:srgbClr val="00D8E6">
                        <a:alpha val="100000"/>
                      </a:srgbClr>
                    </a:gs>
                    <a:gs pos="100000">
                      <a:srgbClr val="00D8E6">
                        <a:alpha val="25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13" name="AutoShape 11"/>
              <p:cNvSpPr/>
              <p:nvPr/>
            </p:nvSpPr>
            <p:spPr>
              <a:xfrm>
                <a:off x="1520" y="2600"/>
                <a:ext cx="3600" cy="10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4200" b="1" i="0" u="none" strike="noStrike">
                    <a:solidFill>
                      <a:srgbClr val="00F0FF">
                        <a:alpha val="27843"/>
                      </a:srgb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</a:t>
                </a:r>
                <a:endParaRPr lang="en-US" sz="1100"/>
              </a:p>
            </p:txBody>
          </p:sp>
          <p:sp>
            <p:nvSpPr>
              <p:cNvPr id="14" name="AutoShape 12"/>
              <p:cNvSpPr/>
              <p:nvPr/>
            </p:nvSpPr>
            <p:spPr>
              <a:xfrm>
                <a:off x="2610" y="2601"/>
                <a:ext cx="2791" cy="189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zh-CN" altLang="en-US" sz="2000" b="1" i="0" u="none" strike="noStrike">
                    <a:solidFill>
                      <a:srgbClr val="FFFFFF"/>
                    </a:solidFill>
                    <a:latin typeface="Noto Sans SC"/>
                    <a:ea typeface="SimSun" charset="0"/>
                    <a:cs typeface="Noto Sans SC"/>
                    <a:sym typeface="Noto Sans SC"/>
                  </a:rPr>
                  <a:t>整理要点</a:t>
                </a:r>
                <a:endParaRPr lang="zh-CN" altLang="en-US" sz="2000" b="1" i="0" u="none" strike="noStrike">
                  <a:solidFill>
                    <a:srgbClr val="FFFFFF"/>
                  </a:solidFill>
                  <a:latin typeface="Noto Sans SC"/>
                  <a:ea typeface="SimSun" charset="0"/>
                  <a:cs typeface="Noto Sans SC"/>
                  <a:sym typeface="Noto Sans SC"/>
                </a:endParaRPr>
              </a:p>
            </p:txBody>
          </p:sp>
        </p:grpSp>
        <p:pic>
          <p:nvPicPr>
            <p:cNvPr id="76" name="图片 75" descr="用户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70" y="3573"/>
              <a:ext cx="850" cy="850"/>
            </a:xfrm>
            <a:prstGeom prst="rect">
              <a:avLst/>
            </a:prstGeom>
          </p:spPr>
        </p:pic>
        <p:sp>
          <p:nvSpPr>
            <p:cNvPr id="104" name="矩形 103"/>
            <p:cNvSpPr/>
            <p:nvPr/>
          </p:nvSpPr>
          <p:spPr>
            <a:xfrm>
              <a:off x="3016" y="4308"/>
              <a:ext cx="287" cy="12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768850" y="1688465"/>
            <a:ext cx="2667000" cy="1206500"/>
            <a:chOff x="7510" y="2659"/>
            <a:chExt cx="4200" cy="1900"/>
          </a:xfrm>
        </p:grpSpPr>
        <p:grpSp>
          <p:nvGrpSpPr>
            <p:cNvPr id="78" name="组合 77"/>
            <p:cNvGrpSpPr/>
            <p:nvPr/>
          </p:nvGrpSpPr>
          <p:grpSpPr>
            <a:xfrm>
              <a:off x="7510" y="2659"/>
              <a:ext cx="4201" cy="1900"/>
              <a:chOff x="1200" y="2600"/>
              <a:chExt cx="4201" cy="1900"/>
            </a:xfrm>
          </p:grpSpPr>
          <p:sp>
            <p:nvSpPr>
              <p:cNvPr id="79" name="AutoShape 9"/>
              <p:cNvSpPr/>
              <p:nvPr/>
            </p:nvSpPr>
            <p:spPr>
              <a:xfrm>
                <a:off x="1200" y="2600"/>
                <a:ext cx="4200" cy="1900"/>
              </a:xfrm>
              <a:prstGeom prst="roundRect">
                <a:avLst>
                  <a:gd name="adj" fmla="val 0"/>
                </a:avLst>
              </a:prstGeom>
              <a:solidFill>
                <a:srgbClr val="1E1E1E">
                  <a:alpha val="100000"/>
                </a:srgbClr>
              </a:solidFill>
              <a:ln w="12700" cap="flat" cmpd="sng">
                <a:solidFill>
                  <a:srgbClr val="00F0FF">
                    <a:alpha val="35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80" name="AutoShape 10"/>
              <p:cNvSpPr/>
              <p:nvPr/>
            </p:nvSpPr>
            <p:spPr>
              <a:xfrm>
                <a:off x="1200" y="2600"/>
                <a:ext cx="80" cy="1900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rgbClr val="00F0FF">
                      <a:alpha val="100000"/>
                    </a:srgbClr>
                  </a:gs>
                  <a:gs pos="100000">
                    <a:srgbClr val="00F0FF">
                      <a:alpha val="25000"/>
                    </a:srgbClr>
                  </a:gs>
                </a:gsLst>
                <a:lin ang="5400000"/>
              </a:gradFill>
              <a:ln cap="flat" cmpd="sng">
                <a:gradFill rotWithShape="1">
                  <a:gsLst>
                    <a:gs pos="0">
                      <a:srgbClr val="00D8E6">
                        <a:alpha val="100000"/>
                      </a:srgbClr>
                    </a:gs>
                    <a:gs pos="100000">
                      <a:srgbClr val="00D8E6">
                        <a:alpha val="25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81" name="AutoShape 11"/>
              <p:cNvSpPr/>
              <p:nvPr/>
            </p:nvSpPr>
            <p:spPr>
              <a:xfrm>
                <a:off x="1520" y="2600"/>
                <a:ext cx="3600" cy="10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4200" b="1" i="0" u="none" strike="noStrike">
                    <a:solidFill>
                      <a:srgbClr val="00F0FF">
                        <a:alpha val="27843"/>
                      </a:srgb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</a:t>
                </a:r>
                <a:endParaRPr lang="en-US" sz="1100"/>
              </a:p>
            </p:txBody>
          </p:sp>
          <p:sp>
            <p:nvSpPr>
              <p:cNvPr id="82" name="AutoShape 12"/>
              <p:cNvSpPr/>
              <p:nvPr/>
            </p:nvSpPr>
            <p:spPr>
              <a:xfrm>
                <a:off x="2610" y="2601"/>
                <a:ext cx="2791" cy="189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zh-CN" altLang="en-US" sz="2000" b="1" i="0" u="none" strike="noStrike">
                    <a:solidFill>
                      <a:srgbClr val="FFFFFF"/>
                    </a:solidFill>
                    <a:latin typeface="Noto Sans SC"/>
                    <a:ea typeface="SimSun" charset="0"/>
                    <a:cs typeface="Noto Sans SC"/>
                    <a:sym typeface="Noto Sans SC"/>
                  </a:rPr>
                  <a:t>自动扩充</a:t>
                </a:r>
                <a:endParaRPr lang="zh-CN" altLang="en-US" sz="2000" b="1" i="0" u="none" strike="noStrike">
                  <a:solidFill>
                    <a:srgbClr val="FFFFFF"/>
                  </a:solidFill>
                  <a:latin typeface="Noto Sans SC"/>
                  <a:ea typeface="SimSun" charset="0"/>
                  <a:cs typeface="Noto Sans SC"/>
                  <a:sym typeface="Noto Sans SC"/>
                </a:endParaRPr>
              </a:p>
            </p:txBody>
          </p:sp>
        </p:grpSp>
        <p:pic>
          <p:nvPicPr>
            <p:cNvPr id="75" name="图片 74" descr="机器人j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30" y="3573"/>
              <a:ext cx="850" cy="850"/>
            </a:xfrm>
            <a:prstGeom prst="rect">
              <a:avLst/>
            </a:prstGeom>
          </p:spPr>
        </p:pic>
        <p:sp>
          <p:nvSpPr>
            <p:cNvPr id="105" name="矩形 104"/>
            <p:cNvSpPr/>
            <p:nvPr/>
          </p:nvSpPr>
          <p:spPr>
            <a:xfrm>
              <a:off x="8496" y="4331"/>
              <a:ext cx="287" cy="12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235950" y="1686560"/>
            <a:ext cx="2667000" cy="1206500"/>
            <a:chOff x="12970" y="2656"/>
            <a:chExt cx="4200" cy="1900"/>
          </a:xfrm>
        </p:grpSpPr>
        <p:grpSp>
          <p:nvGrpSpPr>
            <p:cNvPr id="83" name="组合 82"/>
            <p:cNvGrpSpPr/>
            <p:nvPr/>
          </p:nvGrpSpPr>
          <p:grpSpPr>
            <a:xfrm>
              <a:off x="12970" y="2656"/>
              <a:ext cx="4201" cy="1900"/>
              <a:chOff x="1200" y="2600"/>
              <a:chExt cx="4201" cy="1900"/>
            </a:xfrm>
          </p:grpSpPr>
          <p:sp>
            <p:nvSpPr>
              <p:cNvPr id="84" name="AutoShape 9"/>
              <p:cNvSpPr/>
              <p:nvPr/>
            </p:nvSpPr>
            <p:spPr>
              <a:xfrm>
                <a:off x="1200" y="2600"/>
                <a:ext cx="4200" cy="1900"/>
              </a:xfrm>
              <a:prstGeom prst="roundRect">
                <a:avLst>
                  <a:gd name="adj" fmla="val 0"/>
                </a:avLst>
              </a:prstGeom>
              <a:solidFill>
                <a:srgbClr val="1E1E1E">
                  <a:alpha val="100000"/>
                </a:srgbClr>
              </a:solidFill>
              <a:ln w="12700" cap="flat" cmpd="sng">
                <a:solidFill>
                  <a:srgbClr val="00F0FF">
                    <a:alpha val="35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85" name="AutoShape 10"/>
              <p:cNvSpPr/>
              <p:nvPr/>
            </p:nvSpPr>
            <p:spPr>
              <a:xfrm>
                <a:off x="1200" y="2600"/>
                <a:ext cx="80" cy="1900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rgbClr val="00F0FF">
                      <a:alpha val="100000"/>
                    </a:srgbClr>
                  </a:gs>
                  <a:gs pos="100000">
                    <a:srgbClr val="00F0FF">
                      <a:alpha val="25000"/>
                    </a:srgbClr>
                  </a:gs>
                </a:gsLst>
                <a:lin ang="5400000"/>
              </a:gradFill>
              <a:ln cap="flat" cmpd="sng">
                <a:gradFill rotWithShape="1">
                  <a:gsLst>
                    <a:gs pos="0">
                      <a:srgbClr val="00D8E6">
                        <a:alpha val="100000"/>
                      </a:srgbClr>
                    </a:gs>
                    <a:gs pos="100000">
                      <a:srgbClr val="00D8E6">
                        <a:alpha val="25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86" name="AutoShape 11"/>
              <p:cNvSpPr/>
              <p:nvPr/>
            </p:nvSpPr>
            <p:spPr>
              <a:xfrm>
                <a:off x="1520" y="2600"/>
                <a:ext cx="3600" cy="10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4200" b="1" i="0" u="none" strike="noStrike">
                    <a:solidFill>
                      <a:srgbClr val="00F0FF">
                        <a:alpha val="27843"/>
                      </a:srgb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</a:t>
                </a:r>
                <a:endParaRPr lang="en-US" sz="1100"/>
              </a:p>
            </p:txBody>
          </p:sp>
          <p:sp>
            <p:nvSpPr>
              <p:cNvPr id="87" name="AutoShape 12"/>
              <p:cNvSpPr/>
              <p:nvPr/>
            </p:nvSpPr>
            <p:spPr>
              <a:xfrm>
                <a:off x="2610" y="2601"/>
                <a:ext cx="2791" cy="189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zh-CN" altLang="en-US" sz="2000" b="1" i="0" u="none" strike="noStrike">
                    <a:solidFill>
                      <a:srgbClr val="FFFFFF"/>
                    </a:solidFill>
                    <a:latin typeface="Noto Sans SC"/>
                    <a:ea typeface="SimSun" charset="0"/>
                    <a:cs typeface="Noto Sans SC"/>
                    <a:sym typeface="Noto Sans SC"/>
                  </a:rPr>
                  <a:t>任务执行</a:t>
                </a:r>
                <a:endParaRPr lang="zh-CN" altLang="en-US" sz="2000" b="1" i="0" u="none" strike="noStrike">
                  <a:solidFill>
                    <a:srgbClr val="FFFFFF"/>
                  </a:solidFill>
                  <a:latin typeface="Noto Sans SC"/>
                  <a:ea typeface="SimSun" charset="0"/>
                  <a:cs typeface="Noto Sans SC"/>
                  <a:sym typeface="Noto Sans SC"/>
                </a:endParaRPr>
              </a:p>
            </p:txBody>
          </p:sp>
        </p:grpSp>
        <p:pic>
          <p:nvPicPr>
            <p:cNvPr id="89" name="图片 88" descr="机器人j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290" y="3573"/>
              <a:ext cx="850" cy="850"/>
            </a:xfrm>
            <a:prstGeom prst="rect">
              <a:avLst/>
            </a:prstGeom>
          </p:spPr>
        </p:pic>
        <p:sp>
          <p:nvSpPr>
            <p:cNvPr id="106" name="矩形 105"/>
            <p:cNvSpPr/>
            <p:nvPr/>
          </p:nvSpPr>
          <p:spPr>
            <a:xfrm>
              <a:off x="13923" y="4331"/>
              <a:ext cx="287" cy="12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464300" y="4775200"/>
            <a:ext cx="2667000" cy="1206500"/>
            <a:chOff x="10180" y="7520"/>
            <a:chExt cx="4200" cy="1900"/>
          </a:xfrm>
        </p:grpSpPr>
        <p:grpSp>
          <p:nvGrpSpPr>
            <p:cNvPr id="107" name="组合 106"/>
            <p:cNvGrpSpPr/>
            <p:nvPr/>
          </p:nvGrpSpPr>
          <p:grpSpPr>
            <a:xfrm>
              <a:off x="10180" y="7520"/>
              <a:ext cx="4201" cy="1900"/>
              <a:chOff x="1200" y="2600"/>
              <a:chExt cx="4201" cy="1900"/>
            </a:xfrm>
          </p:grpSpPr>
          <p:sp>
            <p:nvSpPr>
              <p:cNvPr id="108" name="AutoShape 9"/>
              <p:cNvSpPr/>
              <p:nvPr/>
            </p:nvSpPr>
            <p:spPr>
              <a:xfrm>
                <a:off x="1200" y="2600"/>
                <a:ext cx="4200" cy="1900"/>
              </a:xfrm>
              <a:prstGeom prst="roundRect">
                <a:avLst>
                  <a:gd name="adj" fmla="val 0"/>
                </a:avLst>
              </a:prstGeom>
              <a:solidFill>
                <a:srgbClr val="1E1E1E">
                  <a:alpha val="100000"/>
                </a:srgbClr>
              </a:solidFill>
              <a:ln w="12700" cap="flat" cmpd="sng">
                <a:solidFill>
                  <a:srgbClr val="00F0FF">
                    <a:alpha val="35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109" name="AutoShape 10"/>
              <p:cNvSpPr/>
              <p:nvPr/>
            </p:nvSpPr>
            <p:spPr>
              <a:xfrm>
                <a:off x="1200" y="2600"/>
                <a:ext cx="80" cy="1900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rgbClr val="00F0FF">
                      <a:alpha val="100000"/>
                    </a:srgbClr>
                  </a:gs>
                  <a:gs pos="100000">
                    <a:srgbClr val="00F0FF">
                      <a:alpha val="25000"/>
                    </a:srgbClr>
                  </a:gs>
                </a:gsLst>
                <a:lin ang="5400000"/>
              </a:gradFill>
              <a:ln cap="flat" cmpd="sng">
                <a:gradFill rotWithShape="1">
                  <a:gsLst>
                    <a:gs pos="0">
                      <a:srgbClr val="00D8E6">
                        <a:alpha val="100000"/>
                      </a:srgbClr>
                    </a:gs>
                    <a:gs pos="100000">
                      <a:srgbClr val="00D8E6">
                        <a:alpha val="25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110" name="AutoShape 11"/>
              <p:cNvSpPr/>
              <p:nvPr/>
            </p:nvSpPr>
            <p:spPr>
              <a:xfrm>
                <a:off x="1520" y="2600"/>
                <a:ext cx="3600" cy="10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4200" b="1" i="0" u="none" strike="noStrike">
                    <a:solidFill>
                      <a:srgbClr val="00F0FF">
                        <a:alpha val="27843"/>
                      </a:srgb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2.5</a:t>
                </a:r>
                <a:endParaRPr lang="en-US" sz="1100"/>
              </a:p>
            </p:txBody>
          </p:sp>
          <p:sp>
            <p:nvSpPr>
              <p:cNvPr id="111" name="AutoShape 12"/>
              <p:cNvSpPr/>
              <p:nvPr/>
            </p:nvSpPr>
            <p:spPr>
              <a:xfrm>
                <a:off x="2610" y="2601"/>
                <a:ext cx="2791" cy="189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00000"/>
                  </a:lnSpc>
                  <a:defRPr/>
                </a:pPr>
                <a:r>
                  <a:rPr lang="zh-CN" altLang="en-US" sz="2000" b="1" i="0" u="none" strike="noStrike">
                    <a:solidFill>
                      <a:srgbClr val="FFFFFF"/>
                    </a:solidFill>
                    <a:latin typeface="Noto Sans SC"/>
                    <a:ea typeface="SimSun" charset="0"/>
                    <a:cs typeface="Noto Sans SC"/>
                    <a:sym typeface="Noto Sans SC"/>
                  </a:rPr>
                  <a:t>人工校对</a:t>
                </a:r>
                <a:endParaRPr lang="zh-CN" altLang="en-US" sz="2000" b="1" i="0" u="none" strike="noStrike">
                  <a:solidFill>
                    <a:srgbClr val="FFFFFF"/>
                  </a:solidFill>
                  <a:latin typeface="Noto Sans SC"/>
                  <a:ea typeface="SimSun" charset="0"/>
                  <a:cs typeface="Noto Sans SC"/>
                  <a:sym typeface="Noto Sans SC"/>
                </a:endParaRPr>
              </a:p>
            </p:txBody>
          </p:sp>
        </p:grpSp>
        <p:pic>
          <p:nvPicPr>
            <p:cNvPr id="112" name="图片 111" descr="用户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00" y="8445"/>
              <a:ext cx="850" cy="850"/>
            </a:xfrm>
            <a:prstGeom prst="rect">
              <a:avLst/>
            </a:prstGeom>
          </p:spPr>
        </p:pic>
        <p:sp>
          <p:nvSpPr>
            <p:cNvPr id="113" name="矩形 112"/>
            <p:cNvSpPr/>
            <p:nvPr/>
          </p:nvSpPr>
          <p:spPr>
            <a:xfrm>
              <a:off x="11146" y="9180"/>
              <a:ext cx="287" cy="12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14" name="图片 113" descr="箭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523730" y="3424555"/>
            <a:ext cx="539750" cy="540000"/>
          </a:xfrm>
          <a:prstGeom prst="rect">
            <a:avLst/>
          </a:prstGeom>
        </p:spPr>
      </p:pic>
      <p:pic>
        <p:nvPicPr>
          <p:cNvPr id="115" name="图片 114" descr="箭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531350" y="4180840"/>
            <a:ext cx="539750" cy="540000"/>
          </a:xfrm>
          <a:prstGeom prst="rect">
            <a:avLst/>
          </a:prstGeom>
        </p:spPr>
      </p:pic>
      <p:sp useBgFill="1">
        <p:nvSpPr>
          <p:cNvPr id="116" name="矩形 115"/>
          <p:cNvSpPr/>
          <p:nvPr/>
        </p:nvSpPr>
        <p:spPr>
          <a:xfrm rot="5400000">
            <a:off x="7962265" y="339090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117" name="矩形 116"/>
          <p:cNvSpPr/>
          <p:nvPr/>
        </p:nvSpPr>
        <p:spPr>
          <a:xfrm rot="5400000">
            <a:off x="7470140" y="4625340"/>
            <a:ext cx="18224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AutoShape 29"/>
          <p:cNvSpPr/>
          <p:nvPr/>
        </p:nvSpPr>
        <p:spPr>
          <a:xfrm>
            <a:off x="4061460" y="5018405"/>
            <a:ext cx="2311400" cy="721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1755" tIns="0" rIns="71755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chemeClr val="bg1"/>
                </a:solidFill>
                <a:latin typeface="Noto Sans SC"/>
                <a:ea typeface="SimSun" charset="0"/>
                <a:cs typeface="Noto Sans SC"/>
                <a:sym typeface="Noto Sans SC"/>
              </a:rPr>
              <a:t>人工审核自动扩充的提示词，进行必要的调整</a:t>
            </a:r>
            <a:endParaRPr lang="zh-CN" altLang="en-US" sz="1400" b="0" i="0" u="none" strike="noStrike">
              <a:solidFill>
                <a:schemeClr val="bg1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31" grpId="0"/>
      <p:bldP spid="31" grpId="1"/>
      <p:bldP spid="93" grpId="0"/>
      <p:bldP spid="93" grpId="1"/>
      <p:bldP spid="119" grpId="0"/>
      <p:bldP spid="11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800" b="1">
                <a:solidFill>
                  <a:srgbClr val="00E5FA"/>
                </a:solidFill>
              </a:rPr>
              <a:t>样例提示</a:t>
            </a:r>
            <a:r>
              <a:rPr lang="zh-CN" altLang="en-US" sz="2800"/>
              <a:t>、</a:t>
            </a:r>
            <a:r>
              <a:rPr lang="zh-CN" altLang="en-US" sz="2800" b="1">
                <a:solidFill>
                  <a:srgbClr val="00E5FA"/>
                </a:solidFill>
              </a:rPr>
              <a:t>分步说明</a:t>
            </a:r>
            <a:r>
              <a:rPr lang="zh-CN" altLang="en-US" sz="2800"/>
              <a:t>、</a:t>
            </a:r>
            <a:r>
              <a:rPr lang="zh-CN" altLang="en-US" sz="2800" b="1">
                <a:solidFill>
                  <a:srgbClr val="00E5FA"/>
                </a:solidFill>
              </a:rPr>
              <a:t>结构化输入/输出</a:t>
            </a:r>
            <a:r>
              <a:rPr lang="zh-CN" altLang="en-US" sz="2800"/>
              <a:t>、</a:t>
            </a:r>
            <a:r>
              <a:rPr lang="zh-CN" altLang="en-US" sz="2800" b="1">
                <a:solidFill>
                  <a:srgbClr val="00E5FA"/>
                </a:solidFill>
              </a:rPr>
              <a:t>角色扮演</a:t>
            </a:r>
            <a:r>
              <a:rPr lang="zh-CN" altLang="en-US" sz="2800"/>
              <a:t>都可以提升大模型输出的效果，</a:t>
            </a:r>
            <a:r>
              <a:rPr lang="zh-CN" altLang="en-US" sz="2800" b="1">
                <a:solidFill>
                  <a:srgbClr val="00E5FA"/>
                </a:solidFill>
              </a:rPr>
              <a:t>上下文</a:t>
            </a:r>
            <a:r>
              <a:rPr lang="zh-CN" altLang="en-US" sz="2800"/>
              <a:t>对结果的影响也不能忽略</a:t>
            </a:r>
            <a:endParaRPr lang="zh-CN" altLang="en-US" sz="2800"/>
          </a:p>
          <a:p>
            <a:r>
              <a:rPr lang="zh-CN" altLang="en-US" sz="2800"/>
              <a:t>提示词需要经过不断</a:t>
            </a:r>
            <a:r>
              <a:rPr lang="zh-CN" altLang="en-US" sz="2800" b="1">
                <a:solidFill>
                  <a:srgbClr val="00E5FA"/>
                </a:solidFill>
              </a:rPr>
              <a:t>迭代和修改</a:t>
            </a:r>
            <a:r>
              <a:rPr lang="zh-CN" altLang="en-US" sz="2800"/>
              <a:t>才能逐渐完善</a:t>
            </a:r>
            <a:endParaRPr lang="zh-CN" altLang="en-US" sz="2800"/>
          </a:p>
          <a:p>
            <a:r>
              <a:rPr lang="zh-CN" altLang="en-US" sz="2800"/>
              <a:t>可以通过</a:t>
            </a:r>
            <a:r>
              <a:rPr lang="zh-CN" altLang="en-US" sz="2800" b="1">
                <a:solidFill>
                  <a:srgbClr val="00E5FA"/>
                </a:solidFill>
              </a:rPr>
              <a:t>大模型生成提示词</a:t>
            </a:r>
            <a:r>
              <a:rPr lang="zh-CN" altLang="en-US" sz="2800"/>
              <a:t>来提高提示词的撰写效率</a:t>
            </a:r>
            <a:endParaRPr lang="zh-CN" altLang="en-US" sz="2800"/>
          </a:p>
          <a:p>
            <a:r>
              <a:rPr lang="zh-CN" altLang="en-US" sz="2800"/>
              <a:t>下一节课：</a:t>
            </a:r>
            <a:endParaRPr lang="zh-CN" altLang="en-US" sz="2800"/>
          </a:p>
          <a:p>
            <a:pPr lvl="1"/>
            <a:r>
              <a:rPr lang="zh-CN" altLang="en-US" sz="2400"/>
              <a:t>如何让大模型完成复杂的、非文本化的任务？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2014</Words>
  <Application>WPS 演示</Application>
  <PresentationFormat>宽屏</PresentationFormat>
  <Paragraphs>173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SimSun</vt:lpstr>
      <vt:lpstr>Wingdings</vt:lpstr>
      <vt:lpstr>DejaVu Sans</vt:lpstr>
      <vt:lpstr>Arial</vt:lpstr>
      <vt:lpstr>Noto Sans SC</vt:lpstr>
      <vt:lpstr>C059</vt:lpstr>
      <vt:lpstr>SimSun</vt:lpstr>
      <vt:lpstr>Poppins</vt:lpstr>
      <vt:lpstr>Calibri</vt:lpstr>
      <vt:lpstr>Noto Serif CJK SC</vt:lpstr>
      <vt:lpstr>Calibri Light</vt:lpstr>
      <vt:lpstr>Microsoft YaHei</vt:lpstr>
      <vt:lpstr>Droid Sans Fallback</vt:lpstr>
      <vt:lpstr>Arial Unicode MS</vt:lpstr>
      <vt:lpstr>SimSun</vt:lpstr>
      <vt:lpstr>OpenSymbol</vt:lpstr>
      <vt:lpstr>WPS</vt:lpstr>
      <vt:lpstr>第六课 怎样让 AI 听你的</vt:lpstr>
      <vt:lpstr>回顾</vt:lpstr>
      <vt:lpstr>提示词的基本技巧（第2课）</vt:lpstr>
      <vt:lpstr>体验一下 DeepSeek V4</vt:lpstr>
      <vt:lpstr>提示词进阶技巧#1：样例提示</vt:lpstr>
      <vt:lpstr>提示词进阶技巧#2：分步提示</vt:lpstr>
      <vt:lpstr>提示词进阶技巧#3：结构化输出</vt:lpstr>
      <vt:lpstr>提示词进阶技巧#4：角色扮演</vt:lpstr>
      <vt:lpstr>提示词进阶技巧#5：选择对话上下文</vt:lpstr>
      <vt:lpstr>提示词进阶技巧#5：选择对话上下文 </vt:lpstr>
      <vt:lpstr>不断更新和迭代</vt:lpstr>
      <vt:lpstr>【思考】</vt:lpstr>
      <vt:lpstr>“偷懒”妙招：提示词生成提示词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ruoyu</cp:lastModifiedBy>
  <cp:revision>130</cp:revision>
  <dcterms:created xsi:type="dcterms:W3CDTF">2026-08-04T01:01:03Z</dcterms:created>
  <dcterms:modified xsi:type="dcterms:W3CDTF">2026-08-04T01:01:03Z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2052-12.1.2.26885</vt:lpwstr>
  </property>
  <property fmtid="{D5CDD505-2E9C-101B-9397-08002B2CF9AE}" pid="3" name="ICV">
    <vt:lpwstr>AF1A490D30A00710C6B26D6AE3DED764_43</vt:lpwstr>
  </property>
</Properties>
</file>