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4" r:id="rId10"/>
    <p:sldId id="266" r:id="rId11"/>
    <p:sldId id="267" r:id="rId12"/>
    <p:sldId id="269" r:id="rId13"/>
    <p:sldId id="270" r:id="rId14"/>
    <p:sldId id="271" r:id="rId15"/>
    <p:sldId id="272" r:id="rId16"/>
    <p:sldId id="273" r:id="rId17"/>
    <p:sldId id="265" r:id="rId18"/>
    <p:sldId id="268" r:id="rId19"/>
    <p:sldId id="278" r:id="rId20"/>
    <p:sldId id="263" r:id="rId21"/>
    <p:sldId id="262" r:id="rId22"/>
    <p:sldId id="279" r:id="rId23"/>
    <p:sldId id="280" r:id="rId24"/>
    <p:sldId id="281" r:id="rId25"/>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【开场白】</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en-US"/>
              <a:t>最近10年，AI技术飞跃，大家每天都在用各种AI，都有哪些呢？</a:t>
            </a:r>
            <a:endParaRPr lang="en-US" altLang="zh-CN"/>
          </a:p>
          <a:p>
            <a:endParaRPr lang="en-US" altLang="zh-CN"/>
          </a:p>
          <a:p>
            <a:r>
              <a:rPr lang="en-US" altLang="zh-CN"/>
              <a:t>- 最常用聊天 AI：豆包，DeepSeek</a:t>
            </a:r>
            <a:endParaRPr lang="en-US" altLang="zh-CN"/>
          </a:p>
          <a:p>
            <a:r>
              <a:rPr lang="en-US" altLang="zh-CN"/>
              <a:t>- </a:t>
            </a:r>
            <a:r>
              <a:rPr lang="en-US" altLang="en-US"/>
              <a:t>学习中也经常会用到作业答疑功能</a:t>
            </a:r>
            <a:endParaRPr lang="en-US" altLang="en-US"/>
          </a:p>
          <a:p>
            <a:r>
              <a:rPr lang="en-US" altLang="en-US"/>
              <a:t>- 在做小组汇报的时候也会使用PPT生成</a:t>
            </a:r>
            <a:endParaRPr lang="en-US" altLang="zh-CN"/>
          </a:p>
          <a:p>
            <a:endParaRPr lang="en-US" altLang="zh-CN"/>
          </a:p>
          <a:p>
            <a:r>
              <a:rPr lang="en-US" altLang="en-US"/>
              <a:t>大家有没有想过为什么这些产品能够这么智能？我们又应该如何使用它们才能更好地发挥他们的能力呢？</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从技术的整体图景来看，我们日常使用的AI 技术都属于人工智能领域，但这是个很大的范围，包含了：机器学习、符号智能等多个领域</a:t>
            </a:r>
            <a:endParaRPr lang="en-US" altLang="zh-CN"/>
          </a:p>
          <a:p>
            <a:endParaRPr lang="en-US" altLang="zh-CN"/>
          </a:p>
          <a:p>
            <a:r>
              <a:rPr lang="en-US" altLang="zh-CN"/>
              <a:t>大语言模型所属的深度学习就是机器学习领域的其中一部分，与它平行的还有多模态模型、视觉模型等等其他的网络模型</a:t>
            </a:r>
            <a:endParaRPr lang="en-US" altLang="zh-CN"/>
          </a:p>
          <a:p>
            <a:endParaRPr lang="en-US" altLang="zh-CN"/>
          </a:p>
          <a:p>
            <a:r>
              <a:rPr lang="en-US" altLang="zh-CN"/>
              <a:t>在大语言模型领域内，还能进一步划分智能体、提示词工程等等更细的领域和主题</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我们这套课程主要着眼于大模型这个领域，系统性地梳理各个概念，帮助大家认识和更好地使用大模型产品及相关的工具和系统。</a:t>
            </a:r>
            <a:endParaRPr lang="en-US" altLang="zh-CN"/>
          </a:p>
          <a:p>
            <a:endParaRPr lang="en-US" altLang="zh-CN"/>
          </a:p>
          <a:p>
            <a:r>
              <a:rPr lang="en-US" altLang="zh-CN"/>
              <a:t>我们将用8节课主要了解大模型的原理、应用以及建立在它之上的智能体。</a:t>
            </a:r>
            <a:endParaRPr lang="en-US" altLang="zh-CN"/>
          </a:p>
          <a:p>
            <a:endParaRPr lang="en-US" altLang="zh-CN"/>
          </a:p>
          <a:p>
            <a:r>
              <a:rPr lang="en-US" altLang="zh-CN"/>
              <a:t>- 本节课我们主要系统性介绍……</a:t>
            </a:r>
            <a:endParaRPr lang="en-US" altLang="zh-CN"/>
          </a:p>
          <a:p>
            <a:r>
              <a:rPr lang="en-US" altLang="zh-CN"/>
              <a:t>- 第二、第三节讲解大模型的生成原理以及我们常听到的 token 、 embedding、上下文窗口都是什么</a:t>
            </a:r>
            <a:endParaRPr lang="en-US" altLang="zh-CN"/>
          </a:p>
          <a:p>
            <a:r>
              <a:rPr lang="en-US" altLang="zh-CN"/>
              <a:t>- 后续的课程会介绍底层的注意力机制以及模型的训练过程，让大家明白为什么有时候 AI 会很蠢、为什么不同的 AI 表现千差万别</a:t>
            </a:r>
            <a:endParaRPr lang="en-US" altLang="zh-CN"/>
          </a:p>
          <a:p>
            <a:r>
              <a:rPr lang="en-US" altLang="zh-CN"/>
              <a:t>- 了解了这些概念，我们会进一步升级到实用的提示词技术、智能体的结构，让大家知道如何能够更好地让 AI 为你所用</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回顾我们使用最多的场景：作业辅导，都有哪些 AI 能力</a:t>
            </a:r>
            <a:endParaRPr lang="en-US" altLang="zh-CN"/>
          </a:p>
          <a:p>
            <a:endParaRPr lang="en-US" altLang="zh-CN"/>
          </a:p>
          <a:p>
            <a:r>
              <a:rPr lang="en-US" altLang="zh-CN"/>
              <a:t>- 最基础的：自然语言对话</a:t>
            </a:r>
            <a:br>
              <a:rPr lang="en-US" altLang="zh-CN"/>
            </a:br>
            <a:r>
              <a:rPr lang="en-US" altLang="zh-CN"/>
              <a:t>- 还要具备记忆的能力才能进行多轮对话，记住你的学习进展、强项和弱点</a:t>
            </a:r>
            <a:endParaRPr lang="en-US" altLang="zh-CN"/>
          </a:p>
          <a:p>
            <a:r>
              <a:rPr lang="en-US" altLang="zh-CN"/>
              <a:t>- 有时候，你给他的输入未必是已经编辑好的纯文字，还会跟它说话、拍手写作业的图片，这就需要让它具有多模态识别的功能</a:t>
            </a:r>
            <a:endParaRPr lang="en-US" altLang="zh-CN"/>
          </a:p>
          <a:p>
            <a:r>
              <a:rPr lang="en-US" altLang="zh-CN"/>
              <a:t>- 它自己还需要知识储备：知识图谱</a:t>
            </a:r>
            <a:endParaRPr lang="en-US" altLang="zh-CN"/>
          </a:p>
          <a:p>
            <a:r>
              <a:rPr lang="en-US" altLang="zh-CN"/>
              <a:t>- 基于储备的知识进行推理：逻辑推理</a:t>
            </a:r>
            <a:endParaRPr lang="en-US" altLang="zh-CN"/>
          </a:p>
          <a:p>
            <a:r>
              <a:rPr lang="en-US" altLang="zh-CN"/>
              <a:t>- 但未必所有内容它都会，还需要从外部进行检索、参考回答：检索增强问答</a:t>
            </a:r>
            <a:endParaRPr lang="en-US" altLang="zh-CN"/>
          </a:p>
          <a:p>
            <a:r>
              <a:rPr lang="en-US" altLang="zh-CN"/>
              <a:t>- 或者使用外部工具辅助：工具调用</a:t>
            </a:r>
            <a:endParaRPr lang="en-US" altLang="zh-CN"/>
          </a:p>
          <a:p>
            <a:r>
              <a:rPr lang="en-US" altLang="zh-CN"/>
              <a:t>- 另外，如果要进行定制化的内容生成和演示，还需要具备生成代码的能力</a:t>
            </a:r>
            <a:endParaRPr lang="en-US" altLang="zh-CN"/>
          </a:p>
          <a:p>
            <a:endParaRPr lang="en-US" altLang="zh-CN"/>
          </a:p>
          <a:p>
            <a:r>
              <a:rPr lang="en-US" altLang="zh-CN"/>
              <a:t>上面这些能力不都是由同一个模型提供的，有的甚至单靠大模型本身是很难实现的。</a:t>
            </a:r>
            <a:endParaRPr lang="en-US" altLang="zh-CN"/>
          </a:p>
          <a:p>
            <a:endParaRPr lang="en-US" altLang="zh-CN"/>
          </a:p>
          <a:p>
            <a:r>
              <a:rPr lang="en-US" altLang="zh-CN"/>
              <a:t>所以，大家首先要意识到：大模型和大模型产品是不同层面上的概念。大家一般直接接触到或者使用到的都是大模型的衍生产品，而不是大模型本身。</a:t>
            </a:r>
            <a:endParaRPr lang="en-US" altLang="zh-CN"/>
          </a:p>
          <a:p>
            <a:endParaRPr lang="en-US" altLang="zh-CN"/>
          </a:p>
          <a:p>
            <a:r>
              <a:rPr lang="en-US" altLang="zh-CN"/>
              <a:t>大家每天都在说大模型如何如何，科学家说大模型又取得了xxx进展，本质上大家说的可能不是同一个事物。</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那么，我们平时说的“大模型”都包含哪些概念呢？</a:t>
            </a:r>
            <a:endParaRPr lang="en-US" altLang="zh-CN"/>
          </a:p>
          <a:p>
            <a:endParaRPr lang="en-US" altLang="zh-CN"/>
          </a:p>
          <a:p>
            <a:r>
              <a:rPr lang="en-US" altLang="zh-CN"/>
              <a:t>我们可以从这张产品谱系图来总体看一下。</a:t>
            </a:r>
            <a:endParaRPr lang="en-US" altLang="zh-CN"/>
          </a:p>
          <a:p>
            <a:endParaRPr lang="en-US" altLang="zh-CN"/>
          </a:p>
          <a:p>
            <a:r>
              <a:rPr lang="en-US" altLang="zh-CN"/>
              <a:t>可以大致把大模型相关产品分为三个层次，【分别解释概念】</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en-US"/>
              <a:t>在模型层，我们主要会用到哪些产品呢？</a:t>
            </a:r>
            <a:endParaRPr lang="en-US" altLang="en-US"/>
          </a:p>
          <a:p>
            <a:endParaRPr lang="en-US" altLang="en-US"/>
          </a:p>
          <a:p>
            <a:r>
              <a:rPr lang="en-US" altLang="en-US"/>
              <a:t>主要是文本模型和多模态模型两大类。（主要以模型输出内容区分）</a:t>
            </a:r>
            <a:endParaRPr lang="en-US" altLang="en-US"/>
          </a:p>
          <a:p>
            <a:endParaRPr lang="en-US" altLang="en-US"/>
          </a:p>
          <a:p>
            <a:r>
              <a:rPr lang="en-US" altLang="en-US"/>
              <a:t>- 文本模型：专精于自然语言的序列建模，输出为纯文本，通过统计语言模式完成理解、生成与推理。输入可以是文本也可以是其他模态的内容，比如图片（在图片理解的时候使用）</a:t>
            </a:r>
            <a:endParaRPr lang="en-US" altLang="en-US"/>
          </a:p>
          <a:p>
            <a:r>
              <a:rPr lang="en-US" altLang="en-US"/>
              <a:t>    - 【说明例子】</a:t>
            </a:r>
            <a:endParaRPr lang="en-US" altLang="en-US"/>
          </a:p>
          <a:p>
            <a:r>
              <a:rPr lang="en-US" altLang="en-US"/>
              <a:t>    - 视觉语言模型在处理数据的时候也是把图像先转换为了一种类似文本的表示和组织方式，这种方式可以直接和文本内容在一起处理，输出文本</a:t>
            </a:r>
            <a:endParaRPr lang="en-US" altLang="en-US"/>
          </a:p>
          <a:p>
            <a:endParaRPr lang="en-US" altLang="en-US"/>
          </a:p>
          <a:p>
            <a:r>
              <a:rPr lang="en-US" altLang="en-US"/>
              <a:t>- 多模态模型：能够同时处理并关联文本、图像、音频、视频等多种异构数据，在跨模态对齐与融合的基础上执行联合理解与生成任务。</a:t>
            </a:r>
            <a:endParaRPr lang="en-US" altLang="en-US"/>
          </a:p>
          <a:p>
            <a:r>
              <a:rPr lang="en-US" altLang="en-US"/>
              <a:t>    - 【说明例子】</a:t>
            </a:r>
            <a:endParaRPr lang="en-US" altLang="en-US"/>
          </a:p>
          <a:p>
            <a:endParaRPr lang="en-US" altLang="en-US"/>
          </a:p>
          <a:p>
            <a:r>
              <a:rPr lang="en-US" altLang="en-US"/>
              <a:t>- 这里每一个小类别我列举了一个比较典型的例子，实际的产品要丰富得多，大家可以从网上搜索相关内容</a:t>
            </a:r>
            <a:endParaRPr lang="en-US" altLang="en-US"/>
          </a:p>
          <a:p>
            <a:endParaRPr lang="en-US" altLang="en-US"/>
          </a:p>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在什么情况下我们直接使用的是这些模型产品呢？</a:t>
            </a:r>
            <a:endParaRPr lang="en-US" altLang="zh-CN"/>
          </a:p>
          <a:p>
            <a:endParaRPr lang="en-US" altLang="zh-CN"/>
          </a:p>
          <a:p>
            <a:r>
              <a:rPr lang="en-US" altLang="zh-CN"/>
              <a:t>假设我们现在有这样的一个使用需求：【案例内容】</a:t>
            </a:r>
            <a:endParaRPr lang="en-US" altLang="zh-CN"/>
          </a:p>
          <a:p>
            <a:endParaRPr lang="en-US" altLang="zh-CN"/>
          </a:p>
          <a:p>
            <a:r>
              <a:rPr lang="en-US" altLang="zh-CN"/>
              <a:t>让我们看看在做什么任务的时候会用到这些模型产品</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如果是这样的一个简单的问答场景，基本使用通用文本模型就足够了</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如果我们继续要求【</a:t>
            </a:r>
            <a:r>
              <a:rPr lang="en-US" altLang="en-US"/>
              <a:t>例子</a:t>
            </a:r>
            <a:r>
              <a:rPr lang="en-US" altLang="zh-CN"/>
              <a:t>】，大模型需要进行逻辑推理和分析时，就会用到推理模型。</a:t>
            </a:r>
            <a:endParaRPr lang="en-US" altLang="zh-CN"/>
          </a:p>
          <a:p>
            <a:endParaRPr lang="en-US" altLang="zh-CN"/>
          </a:p>
          <a:p>
            <a:r>
              <a:rPr lang="en-US" altLang="zh-CN"/>
              <a:t>这个时候，我们可以手动开启 DeepSeek 的“深度思考”或者选择豆包的“专家”模式就可以让大模型主动“思考”</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我们再进一步，如果【</a:t>
            </a:r>
            <a:r>
              <a:rPr lang="en-US" altLang="en-US">
                <a:sym typeface="+mn-ea"/>
              </a:rPr>
              <a:t>例子</a:t>
            </a:r>
            <a:r>
              <a:rPr lang="en-US" altLang="zh-CN"/>
              <a:t>】，这时候就要用到编程模型了。</a:t>
            </a:r>
            <a:endParaRPr lang="en-US" altLang="zh-CN"/>
          </a:p>
          <a:p>
            <a:endParaRPr lang="en-US" altLang="zh-CN"/>
          </a:p>
          <a:p>
            <a:r>
              <a:rPr lang="en-US" altLang="zh-CN"/>
              <a:t>像 DeepSeek Coder、GPT 5.5/5.6 这样的模型针对写代码的需求进行过专门的训练，它们对编程需求的理解、代码结构的设计和具体代码语句的编写都有更好的效果。</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如果你觉得打字太麻烦，想用语音输入这些内容，或者让大模型返回回答的时候以拟人的声音把回答朗读出来，那么语音模型就会发挥作用。</a:t>
            </a:r>
            <a:endParaRPr lang="en-US" altLang="zh-CN"/>
          </a:p>
          <a:p>
            <a:endParaRPr lang="en-US" altLang="zh-CN"/>
          </a:p>
          <a:p>
            <a:r>
              <a:rPr lang="en-US" altLang="zh-CN"/>
              <a:t>比如豆包的语音输入模式和朗读模式。</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回到刚才大模型出题的那个状态，</a:t>
            </a:r>
            <a:endParaRPr lang="en-US" altLang="zh-CN"/>
          </a:p>
          <a:p>
            <a:endParaRPr lang="en-US" altLang="zh-CN"/>
          </a:p>
          <a:p>
            <a:r>
              <a:rPr lang="en-US" altLang="zh-CN"/>
              <a:t>假如我根据大模型出的题自己进行了计算求解，然后拍照发给它，【</a:t>
            </a:r>
            <a:r>
              <a:rPr lang="en-US" altLang="en-US">
                <a:sym typeface="+mn-ea"/>
              </a:rPr>
              <a:t>例子</a:t>
            </a:r>
            <a:r>
              <a:rPr lang="en-US" altLang="zh-CN"/>
              <a:t>】，这个时候它就会用到视觉语言模型去识别照片中的文字/图示等内容，理解解题过程和结果，然后再使用推理模型分析我的答案。</a:t>
            </a:r>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en-US"/>
              <a:t>大家可以看到，单纯使用原生的模型本身已经能够满足日常的很多需求了，但是在一些特定的场景下，大模型需要一些工具的辅助才能更好地完成任务。比如对模型外部信息的搜索、管理和匹配。</a:t>
            </a:r>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en-US"/>
              <a:t>目前大模型常用的工具有这样几类：</a:t>
            </a:r>
            <a:endParaRPr lang="en-US" altLang="en-US"/>
          </a:p>
          <a:p>
            <a:endParaRPr lang="en-US" altLang="en-US"/>
          </a:p>
          <a:p>
            <a:r>
              <a:rPr lang="en-US" altLang="en-US"/>
              <a:t>- 向量嵌入模型：把文本、图片等信息转换为一种数字的表示，可以帮助大模型快速检索到所需的数据</a:t>
            </a:r>
            <a:endParaRPr lang="en-US" altLang="en-US"/>
          </a:p>
          <a:p>
            <a:r>
              <a:rPr lang="en-US" altLang="en-US"/>
              <a:t>    - 【例子】</a:t>
            </a:r>
            <a:endParaRPr lang="en-US" altLang="en-US"/>
          </a:p>
          <a:p>
            <a:r>
              <a:rPr lang="en-US" altLang="en-US"/>
              <a:t>- 向量数据库：则是把“向量嵌入模型”生成的向量数据进行存储和统一管理</a:t>
            </a:r>
            <a:endParaRPr lang="en-US" altLang="en-US"/>
          </a:p>
          <a:p>
            <a:r>
              <a:rPr lang="en-US" altLang="en-US">
                <a:sym typeface="+mn-ea"/>
              </a:rPr>
              <a:t>    - 【例子】</a:t>
            </a:r>
            <a:endParaRPr lang="en-US" altLang="en-US"/>
          </a:p>
          <a:p>
            <a:r>
              <a:rPr lang="en-US" altLang="en-US"/>
              <a:t>- 文档识别模型：可以把拍照记录的文档内容进行精准的识别，转换成文字内容共普通文本模型阅读</a:t>
            </a:r>
            <a:endParaRPr lang="en-US" altLang="en-US"/>
          </a:p>
          <a:p>
            <a:r>
              <a:rPr lang="en-US" altLang="en-US">
                <a:sym typeface="+mn-ea"/>
              </a:rPr>
              <a:t>    - 【例子】</a:t>
            </a:r>
            <a:endParaRPr lang="en-US" altLang="en-US">
              <a:sym typeface="+mn-ea"/>
            </a:endParaRPr>
          </a:p>
          <a:p>
            <a:r>
              <a:rPr lang="en-US" altLang="en-US"/>
              <a:t>    - 它的功能和刚才提到的“视觉语言模型”有点像，但是这些模型的成本更低，使用更方便</a:t>
            </a:r>
            <a:endParaRPr lang="en-US" altLang="en-US"/>
          </a:p>
          <a:p>
            <a:r>
              <a:rPr lang="en-US" altLang="en-US"/>
              <a:t>- 工具调用服务：给大模型使用这些工具提供一套标准的方案，让这套方法论可以更好地扩展、被更多模型使用</a:t>
            </a:r>
            <a:endParaRPr lang="en-US" altLang="en-US"/>
          </a:p>
          <a:p>
            <a:r>
              <a:rPr lang="en-US" altLang="en-US">
                <a:sym typeface="+mn-ea"/>
              </a:rPr>
              <a:t>    - 【例子】</a:t>
            </a:r>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我们再来看这样一个例子：【</a:t>
            </a:r>
            <a:r>
              <a:rPr lang="en-US" altLang="en-US">
                <a:sym typeface="+mn-ea"/>
              </a:rPr>
              <a:t>例子</a:t>
            </a:r>
            <a:r>
              <a:rPr lang="en-US" altLang="zh-CN"/>
              <a:t>】</a:t>
            </a:r>
            <a:endParaRPr lang="en-US" altLang="zh-CN"/>
          </a:p>
          <a:p>
            <a:endParaRPr lang="en-US" altLang="zh-CN"/>
          </a:p>
          <a:p>
            <a:r>
              <a:rPr lang="en-US" altLang="zh-CN"/>
              <a:t>- 我们的物理课本，考试试卷，课纲编排的文件会经过飞桨模型的识别转换为数字文档并提取文字内容</a:t>
            </a:r>
            <a:endParaRPr lang="en-US" altLang="zh-CN"/>
          </a:p>
          <a:p>
            <a:r>
              <a:rPr lang="en-US" altLang="zh-CN"/>
              <a:t>- 这些文字会经过 BGE 这样的模型贴上向量数据标签存入 Milvus 这样的数据库</a:t>
            </a:r>
            <a:endParaRPr lang="en-US" altLang="zh-CN"/>
          </a:p>
          <a:p>
            <a:r>
              <a:rPr lang="en-US" altLang="zh-CN"/>
              <a:t>- 然后，我们提问的文本内容会被输入数据库进行语义查询，得到我们真正需要的过往考试题和考纲内容</a:t>
            </a:r>
            <a:endParaRPr lang="en-US" altLang="zh-CN"/>
          </a:p>
          <a:p>
            <a:r>
              <a:rPr lang="en-US" altLang="zh-CN"/>
              <a:t>- 这些查询得到的结果最终会和问题一起交给大模型进行总结回答</a:t>
            </a:r>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en-US"/>
              <a:t>有了这么多不同的模型和工具，如果在完成一个任务的时候每次都要我们手动指定，那肯定是很麻烦的。</a:t>
            </a:r>
            <a:endParaRPr lang="en-US" altLang="en-US"/>
          </a:p>
          <a:p>
            <a:endParaRPr lang="en-US" altLang="en-US"/>
          </a:p>
          <a:p>
            <a:r>
              <a:rPr lang="en-US" altLang="en-US"/>
              <a:t>所以人们开发了一些智能的系统来自主选择这些模型和工具、自动编排完成任务的流程。这就是编排层</a:t>
            </a:r>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en-US"/>
              <a:t>编排层以智能体系统为代表，比如【例子】。</a:t>
            </a:r>
            <a:endParaRPr lang="en-US" altLang="en-US"/>
          </a:p>
          <a:p>
            <a:endParaRPr lang="en-US" altLang="en-US"/>
          </a:p>
          <a:p>
            <a:r>
              <a:rPr lang="en-US" altLang="en-US"/>
              <a:t>大家以为是直接在和模型交流，其实这些产品已经封装了好几层，只不过对外只</a:t>
            </a:r>
            <a:r>
              <a:rPr lang="en-US" altLang="en-US"/>
              <a:t>用对话的形式来</a:t>
            </a:r>
            <a:r>
              <a:rPr lang="en-US" altLang="en-US"/>
              <a:t>展示</a:t>
            </a:r>
            <a:r>
              <a:rPr lang="en-US" altLang="en-US"/>
              <a:t>而已</a:t>
            </a:r>
            <a:r>
              <a:rPr lang="en-US" altLang="en-US"/>
              <a:t>。</a:t>
            </a:r>
            <a:endParaRPr lang="en-US" altLang="en-US"/>
          </a:p>
          <a:p>
            <a:endParaRPr lang="en-US" altLang="en-US"/>
          </a:p>
          <a:p>
            <a:r>
              <a:rPr lang="en-US" altLang="en-US"/>
              <a:t>所以这里需要额外说明的是，大家日常使用的大模型其实基本都是“基于大模型的智能体系统”。不论是国内的豆包、还是国外的GPT，原先的网页</a:t>
            </a:r>
            <a:r>
              <a:rPr lang="en-US" altLang="en-US"/>
              <a:t>或者App</a:t>
            </a:r>
            <a:r>
              <a:rPr lang="en-US" altLang="en-US"/>
              <a:t>对话界面都悄悄从单纯的大模型变成了一个功能比较全面的智能体。</a:t>
            </a:r>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比如我给豆包传了一</a:t>
            </a:r>
            <a:r>
              <a:rPr lang="en-US" altLang="en-US"/>
              <a:t>章</a:t>
            </a:r>
            <a:r>
              <a:rPr lang="en-US" altLang="zh-CN"/>
              <a:t>我的物理试卷照片，</a:t>
            </a:r>
            <a:r>
              <a:rPr lang="en-US" altLang="en-US"/>
              <a:t>我让它</a:t>
            </a:r>
            <a:r>
              <a:rPr lang="en-US" altLang="zh-CN"/>
              <a:t>【</a:t>
            </a:r>
            <a:r>
              <a:rPr lang="en-US" altLang="en-US">
                <a:sym typeface="+mn-ea"/>
              </a:rPr>
              <a:t>例子</a:t>
            </a:r>
            <a:r>
              <a:rPr lang="en-US" altLang="zh-CN"/>
              <a:t>】</a:t>
            </a:r>
            <a:endParaRPr lang="en-US" altLang="zh-CN"/>
          </a:p>
          <a:p>
            <a:endParaRPr lang="en-US" altLang="zh-CN"/>
          </a:p>
          <a:p>
            <a:r>
              <a:rPr lang="en-US" altLang="zh-CN"/>
              <a:t>豆包智能体就会把这个大任务拆解成多个小任务，每个任务都使用【例子】</a:t>
            </a:r>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所以，大家现在能够了解，AI 产品的能力差异不仅仅来自于底层模型的不同，还来源于使用的工具的不同，对任务拆解、编排的思路和侧重点不同。</a:t>
            </a:r>
            <a:endParaRPr lang="en-US" altLang="zh-CN"/>
          </a:p>
          <a:p>
            <a:endParaRPr lang="en-US" altLang="zh-CN"/>
          </a:p>
          <a:p>
            <a:r>
              <a:rPr lang="en-US" altLang="en-US"/>
              <a:t>【页面内容】</a:t>
            </a:r>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【页面内容】</a:t>
            </a:r>
            <a:endParaRPr lang="en-US" altLang="zh-CN"/>
          </a:p>
          <a:p>
            <a:endParaRPr lang="en-US" altLang="zh-CN"/>
          </a:p>
          <a:p>
            <a:r>
              <a:rPr lang="en-US" altLang="zh-CN"/>
              <a:t>我们会在后续的课程中为大家</a:t>
            </a:r>
            <a:r>
              <a:rPr lang="en-US" altLang="zh-CN">
                <a:sym typeface="+mn-ea"/>
              </a:rPr>
              <a:t>详细</a:t>
            </a:r>
            <a:r>
              <a:rPr lang="en-US" altLang="en-US">
                <a:sym typeface="+mn-ea"/>
              </a:rPr>
              <a:t>讲解</a:t>
            </a:r>
            <a:endParaRPr lang="en-US" altLang="en-US">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9" Type="http://schemas.openxmlformats.org/officeDocument/2006/relationships/notesSlide" Target="../notesSlides/notesSlide6.xml"/><Relationship Id="rId18" Type="http://schemas.openxmlformats.org/officeDocument/2006/relationships/slideLayout" Target="../slideLayouts/slideLayout2.xml"/><Relationship Id="rId17" Type="http://schemas.openxmlformats.org/officeDocument/2006/relationships/image" Target="../media/image20.png"/><Relationship Id="rId16" Type="http://schemas.openxmlformats.org/officeDocument/2006/relationships/image" Target="../media/image19.png"/><Relationship Id="rId15" Type="http://schemas.openxmlformats.org/officeDocument/2006/relationships/image" Target="../media/image18.png"/><Relationship Id="rId14" Type="http://schemas.openxmlformats.org/officeDocument/2006/relationships/image" Target="../media/image17.png"/><Relationship Id="rId13" Type="http://schemas.openxmlformats.org/officeDocument/2006/relationships/image" Target="../media/image16.png"/><Relationship Id="rId12" Type="http://schemas.openxmlformats.org/officeDocument/2006/relationships/image" Target="../media/image15.png"/><Relationship Id="rId11" Type="http://schemas.openxmlformats.org/officeDocument/2006/relationships/image" Target="../media/image14.png"/><Relationship Id="rId10" Type="http://schemas.openxmlformats.org/officeDocument/2006/relationships/image" Target="../media/image13.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9" Type="http://schemas.openxmlformats.org/officeDocument/2006/relationships/notesSlide" Target="../notesSlides/notesSlide7.xml"/><Relationship Id="rId18" Type="http://schemas.openxmlformats.org/officeDocument/2006/relationships/slideLayout" Target="../slideLayouts/slideLayout2.xml"/><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10.png"/><Relationship Id="rId13" Type="http://schemas.openxmlformats.org/officeDocument/2006/relationships/image" Target="../media/image9.png"/><Relationship Id="rId12" Type="http://schemas.openxmlformats.org/officeDocument/2006/relationships/image" Target="../media/image8.png"/><Relationship Id="rId11" Type="http://schemas.openxmlformats.org/officeDocument/2006/relationships/image" Target="../media/image7.png"/><Relationship Id="rId10" Type="http://schemas.openxmlformats.org/officeDocument/2006/relationships/image" Target="../media/image20.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9" Type="http://schemas.openxmlformats.org/officeDocument/2006/relationships/notesSlide" Target="../notesSlides/notesSlide14.xml"/><Relationship Id="rId18" Type="http://schemas.openxmlformats.org/officeDocument/2006/relationships/slideLayout" Target="../slideLayouts/slideLayout2.xml"/><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10.png"/><Relationship Id="rId13" Type="http://schemas.openxmlformats.org/officeDocument/2006/relationships/image" Target="../media/image9.png"/><Relationship Id="rId12" Type="http://schemas.openxmlformats.org/officeDocument/2006/relationships/image" Target="../media/image8.png"/><Relationship Id="rId11" Type="http://schemas.openxmlformats.org/officeDocument/2006/relationships/image" Target="../media/image7.png"/><Relationship Id="rId10" Type="http://schemas.openxmlformats.org/officeDocument/2006/relationships/image" Target="../media/image20.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9" Type="http://schemas.openxmlformats.org/officeDocument/2006/relationships/notesSlide" Target="../notesSlides/notesSlide15.xml"/><Relationship Id="rId18" Type="http://schemas.openxmlformats.org/officeDocument/2006/relationships/slideLayout" Target="../slideLayouts/slideLayout2.xml"/><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10.png"/><Relationship Id="rId13" Type="http://schemas.openxmlformats.org/officeDocument/2006/relationships/image" Target="../media/image9.png"/><Relationship Id="rId12" Type="http://schemas.openxmlformats.org/officeDocument/2006/relationships/image" Target="../media/image8.png"/><Relationship Id="rId11" Type="http://schemas.openxmlformats.org/officeDocument/2006/relationships/image" Target="../media/image7.png"/><Relationship Id="rId10" Type="http://schemas.openxmlformats.org/officeDocument/2006/relationships/image" Target="../media/image14.png"/><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12.png"/><Relationship Id="rId3"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9" Type="http://schemas.openxmlformats.org/officeDocument/2006/relationships/notesSlide" Target="../notesSlides/notesSlide17.xml"/><Relationship Id="rId18" Type="http://schemas.openxmlformats.org/officeDocument/2006/relationships/slideLayout" Target="../slideLayouts/slideLayout2.xml"/><Relationship Id="rId17" Type="http://schemas.openxmlformats.org/officeDocument/2006/relationships/image" Target="../media/image6.png"/><Relationship Id="rId16" Type="http://schemas.openxmlformats.org/officeDocument/2006/relationships/image" Target="../media/image5.png"/><Relationship Id="rId15" Type="http://schemas.openxmlformats.org/officeDocument/2006/relationships/image" Target="../media/image4.png"/><Relationship Id="rId14" Type="http://schemas.openxmlformats.org/officeDocument/2006/relationships/image" Target="../media/image10.png"/><Relationship Id="rId13" Type="http://schemas.openxmlformats.org/officeDocument/2006/relationships/image" Target="../media/image9.png"/><Relationship Id="rId12" Type="http://schemas.openxmlformats.org/officeDocument/2006/relationships/image" Target="../media/image8.png"/><Relationship Id="rId11" Type="http://schemas.openxmlformats.org/officeDocument/2006/relationships/image" Target="../media/image7.png"/><Relationship Id="rId10" Type="http://schemas.openxmlformats.org/officeDocument/2006/relationships/image" Target="../media/image14.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9" Type="http://schemas.openxmlformats.org/officeDocument/2006/relationships/notesSlide" Target="../notesSlides/notesSlide18.xml"/><Relationship Id="rId18" Type="http://schemas.openxmlformats.org/officeDocument/2006/relationships/slideLayout" Target="../slideLayouts/slideLayout2.xml"/><Relationship Id="rId17" Type="http://schemas.openxmlformats.org/officeDocument/2006/relationships/image" Target="../media/image20.png"/><Relationship Id="rId16" Type="http://schemas.openxmlformats.org/officeDocument/2006/relationships/image" Target="../media/image19.png"/><Relationship Id="rId15" Type="http://schemas.openxmlformats.org/officeDocument/2006/relationships/image" Target="../media/image18.png"/><Relationship Id="rId14" Type="http://schemas.openxmlformats.org/officeDocument/2006/relationships/image" Target="../media/image17.png"/><Relationship Id="rId13" Type="http://schemas.openxmlformats.org/officeDocument/2006/relationships/image" Target="../media/image16.png"/><Relationship Id="rId12" Type="http://schemas.openxmlformats.org/officeDocument/2006/relationships/image" Target="../media/image15.png"/><Relationship Id="rId11" Type="http://schemas.openxmlformats.org/officeDocument/2006/relationships/image" Target="../media/image14.png"/><Relationship Id="rId10" Type="http://schemas.openxmlformats.org/officeDocument/2006/relationships/image" Target="../media/image13.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818515" y="1122680"/>
            <a:ext cx="10554970" cy="2387600"/>
          </a:xfrm>
        </p:spPr>
        <p:txBody>
          <a:bodyPr>
            <a:normAutofit/>
          </a:bodyPr>
          <a:p>
            <a:r>
              <a:rPr lang="zh-CN" altLang="en-US"/>
              <a:t>第一课</a:t>
            </a:r>
            <a:br>
              <a:rPr lang="zh-CN" altLang="en-US"/>
            </a:br>
            <a:r>
              <a:rPr lang="zh-CN" altLang="en-US"/>
              <a:t>你每天在用的 AI 到底是什么</a:t>
            </a:r>
            <a:endParaRPr lang="zh-CN" altLang="en-US"/>
          </a:p>
        </p:txBody>
      </p:sp>
      <p:sp>
        <p:nvSpPr>
          <p:cNvPr id="3" name="副标题 2"/>
          <p:cNvSpPr>
            <a:spLocks noGrp="1"/>
          </p:cNvSpPr>
          <p:nvPr>
            <p:ph type="subTitle" idx="1"/>
          </p:nvPr>
        </p:nvSpPr>
        <p:spPr/>
        <p:txBody>
          <a:bodyPr/>
          <a:p>
            <a:r>
              <a:rPr lang="en-US" altLang="zh-CN"/>
              <a:t>港科大人工智能前沿系列课程——大模型基础通识</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我们每天在用哪些 AI？</a:t>
            </a:r>
            <a:endParaRPr lang="en-US" altLang="zh-CN"/>
          </a:p>
        </p:txBody>
      </p:sp>
      <p:sp>
        <p:nvSpPr>
          <p:cNvPr id="4" name="文本框 3"/>
          <p:cNvSpPr txBox="1"/>
          <p:nvPr/>
        </p:nvSpPr>
        <p:spPr>
          <a:xfrm>
            <a:off x="2025650" y="5838825"/>
            <a:ext cx="746125" cy="368300"/>
          </a:xfrm>
          <a:prstGeom prst="rect">
            <a:avLst/>
          </a:prstGeom>
          <a:noFill/>
        </p:spPr>
        <p:txBody>
          <a:bodyPr wrap="square" rtlCol="0">
            <a:spAutoFit/>
          </a:bodyPr>
          <a:p>
            <a:pPr algn="ctr"/>
            <a:r>
              <a:rPr lang="en-US" altLang="zh-CN"/>
              <a:t>聊天</a:t>
            </a:r>
            <a:endParaRPr lang="en-US" altLang="zh-CN"/>
          </a:p>
        </p:txBody>
      </p:sp>
      <p:sp>
        <p:nvSpPr>
          <p:cNvPr id="5" name="文本框 4"/>
          <p:cNvSpPr txBox="1"/>
          <p:nvPr/>
        </p:nvSpPr>
        <p:spPr>
          <a:xfrm>
            <a:off x="5433695" y="5838825"/>
            <a:ext cx="1325245" cy="368300"/>
          </a:xfrm>
          <a:prstGeom prst="rect">
            <a:avLst/>
          </a:prstGeom>
          <a:noFill/>
        </p:spPr>
        <p:txBody>
          <a:bodyPr wrap="square" rtlCol="0">
            <a:spAutoFit/>
          </a:bodyPr>
          <a:p>
            <a:pPr algn="ctr"/>
            <a:r>
              <a:rPr lang="en-US" altLang="en-US"/>
              <a:t>作业答疑</a:t>
            </a:r>
            <a:endParaRPr lang="en-US" altLang="en-US"/>
          </a:p>
        </p:txBody>
      </p:sp>
      <p:sp>
        <p:nvSpPr>
          <p:cNvPr id="6" name="文本框 5"/>
          <p:cNvSpPr txBox="1"/>
          <p:nvPr/>
        </p:nvSpPr>
        <p:spPr>
          <a:xfrm>
            <a:off x="9029700" y="5838825"/>
            <a:ext cx="1325245" cy="368300"/>
          </a:xfrm>
          <a:prstGeom prst="rect">
            <a:avLst/>
          </a:prstGeom>
          <a:noFill/>
        </p:spPr>
        <p:txBody>
          <a:bodyPr wrap="square" rtlCol="0">
            <a:spAutoFit/>
          </a:bodyPr>
          <a:p>
            <a:pPr algn="ctr"/>
            <a:r>
              <a:rPr lang="en-US" altLang="en-US"/>
              <a:t>PPT生成</a:t>
            </a:r>
            <a:endParaRPr lang="en-US" altLang="en-US"/>
          </a:p>
        </p:txBody>
      </p:sp>
      <p:pic>
        <p:nvPicPr>
          <p:cNvPr id="3" name="图片 2" descr="AI聊天"/>
          <p:cNvPicPr>
            <a:picLocks noChangeAspect="1"/>
          </p:cNvPicPr>
          <p:nvPr/>
        </p:nvPicPr>
        <p:blipFill>
          <a:blip r:embed="rId1"/>
          <a:stretch>
            <a:fillRect/>
          </a:stretch>
        </p:blipFill>
        <p:spPr>
          <a:xfrm>
            <a:off x="1243965" y="1554480"/>
            <a:ext cx="2310359" cy="4114800"/>
          </a:xfrm>
          <a:prstGeom prst="rect">
            <a:avLst/>
          </a:prstGeom>
        </p:spPr>
      </p:pic>
      <p:pic>
        <p:nvPicPr>
          <p:cNvPr id="7" name="图片 6" descr="AI解题"/>
          <p:cNvPicPr>
            <a:picLocks noChangeAspect="1"/>
          </p:cNvPicPr>
          <p:nvPr/>
        </p:nvPicPr>
        <p:blipFill>
          <a:blip r:embed="rId2"/>
          <a:stretch>
            <a:fillRect/>
          </a:stretch>
        </p:blipFill>
        <p:spPr>
          <a:xfrm>
            <a:off x="4866005" y="1554480"/>
            <a:ext cx="2310817" cy="4114800"/>
          </a:xfrm>
          <a:prstGeom prst="rect">
            <a:avLst/>
          </a:prstGeom>
        </p:spPr>
      </p:pic>
      <p:pic>
        <p:nvPicPr>
          <p:cNvPr id="8" name="图片 7" descr="AI辅助PPT制作"/>
          <p:cNvPicPr>
            <a:picLocks noChangeAspect="1"/>
          </p:cNvPicPr>
          <p:nvPr/>
        </p:nvPicPr>
        <p:blipFill>
          <a:blip r:embed="rId3"/>
          <a:stretch>
            <a:fillRect/>
          </a:stretch>
        </p:blipFill>
        <p:spPr>
          <a:xfrm>
            <a:off x="8536940" y="1554480"/>
            <a:ext cx="2310828" cy="4114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大模型技术全景图</a:t>
            </a:r>
            <a:endParaRPr lang="zh-CN" altLang="en-US"/>
          </a:p>
        </p:txBody>
      </p:sp>
      <p:sp>
        <p:nvSpPr>
          <p:cNvPr id="4" name="椭圆 3"/>
          <p:cNvSpPr/>
          <p:nvPr/>
        </p:nvSpPr>
        <p:spPr>
          <a:xfrm>
            <a:off x="2108200" y="1779270"/>
            <a:ext cx="8153400" cy="4578985"/>
          </a:xfrm>
          <a:prstGeom prst="ellipse">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5" name="椭圆 4"/>
          <p:cNvSpPr/>
          <p:nvPr/>
        </p:nvSpPr>
        <p:spPr>
          <a:xfrm>
            <a:off x="3006090" y="2672080"/>
            <a:ext cx="6492240" cy="3603625"/>
          </a:xfrm>
          <a:prstGeom prst="ellipse">
            <a:avLst/>
          </a:prstGeom>
        </p:spPr>
        <p:style>
          <a:lnRef idx="3">
            <a:schemeClr val="lt1"/>
          </a:lnRef>
          <a:fillRef idx="1">
            <a:schemeClr val="accent6"/>
          </a:fillRef>
          <a:effectRef idx="1">
            <a:schemeClr val="accent6"/>
          </a:effectRef>
          <a:fontRef idx="minor">
            <a:schemeClr val="lt1"/>
          </a:fontRef>
        </p:style>
        <p:txBody>
          <a:bodyPr rtlCol="0" anchor="ctr"/>
          <a:p>
            <a:pPr algn="ctr"/>
            <a:endParaRPr lang="zh-CN" altLang="en-US"/>
          </a:p>
        </p:txBody>
      </p:sp>
      <p:sp>
        <p:nvSpPr>
          <p:cNvPr id="6" name="椭圆 5"/>
          <p:cNvSpPr/>
          <p:nvPr/>
        </p:nvSpPr>
        <p:spPr>
          <a:xfrm>
            <a:off x="3796665" y="3574415"/>
            <a:ext cx="4853305" cy="2634615"/>
          </a:xfrm>
          <a:prstGeom prst="ellipse">
            <a:avLst/>
          </a:prstGeom>
        </p:spPr>
        <p:style>
          <a:lnRef idx="3">
            <a:schemeClr val="lt1"/>
          </a:lnRef>
          <a:fillRef idx="1">
            <a:schemeClr val="accent2"/>
          </a:fillRef>
          <a:effectRef idx="1">
            <a:schemeClr val="accent2"/>
          </a:effectRef>
          <a:fontRef idx="minor">
            <a:schemeClr val="lt1"/>
          </a:fontRef>
        </p:style>
        <p:txBody>
          <a:bodyPr rtlCol="0" anchor="ctr"/>
          <a:p>
            <a:pPr algn="ctr"/>
            <a:endParaRPr lang="zh-CN" altLang="en-US"/>
          </a:p>
        </p:txBody>
      </p:sp>
      <p:sp>
        <p:nvSpPr>
          <p:cNvPr id="7" name="椭圆 6"/>
          <p:cNvSpPr/>
          <p:nvPr/>
        </p:nvSpPr>
        <p:spPr>
          <a:xfrm>
            <a:off x="4116705" y="4392295"/>
            <a:ext cx="2188210" cy="1502410"/>
          </a:xfrm>
          <a:prstGeom prst="ellipse">
            <a:avLst/>
          </a:prstGeom>
        </p:spPr>
        <p:style>
          <a:lnRef idx="3">
            <a:schemeClr val="lt1"/>
          </a:lnRef>
          <a:fillRef idx="1">
            <a:schemeClr val="accent4"/>
          </a:fillRef>
          <a:effectRef idx="1">
            <a:schemeClr val="accent4"/>
          </a:effectRef>
          <a:fontRef idx="minor">
            <a:schemeClr val="lt1"/>
          </a:fontRef>
        </p:style>
        <p:txBody>
          <a:bodyPr rtlCol="0" anchor="ctr"/>
          <a:p>
            <a:pPr algn="ctr"/>
            <a:endParaRPr lang="zh-CN" altLang="en-US"/>
          </a:p>
        </p:txBody>
      </p:sp>
      <p:sp>
        <p:nvSpPr>
          <p:cNvPr id="8" name="椭圆 7"/>
          <p:cNvSpPr/>
          <p:nvPr/>
        </p:nvSpPr>
        <p:spPr>
          <a:xfrm>
            <a:off x="6729730" y="4392295"/>
            <a:ext cx="1541145" cy="735965"/>
          </a:xfrm>
          <a:prstGeom prst="ellipse">
            <a:avLst/>
          </a:prstGeom>
        </p:spPr>
        <p:style>
          <a:lnRef idx="3">
            <a:schemeClr val="lt1"/>
          </a:lnRef>
          <a:fillRef idx="1">
            <a:schemeClr val="accent4"/>
          </a:fillRef>
          <a:effectRef idx="1">
            <a:schemeClr val="accent4"/>
          </a:effectRef>
          <a:fontRef idx="minor">
            <a:schemeClr val="lt1"/>
          </a:fontRef>
        </p:style>
        <p:txBody>
          <a:bodyPr rtlCol="0" anchor="ctr"/>
          <a:p>
            <a:pPr algn="ctr"/>
            <a:endParaRPr lang="zh-CN" altLang="en-US"/>
          </a:p>
        </p:txBody>
      </p:sp>
      <p:sp>
        <p:nvSpPr>
          <p:cNvPr id="9" name="椭圆 8"/>
          <p:cNvSpPr/>
          <p:nvPr/>
        </p:nvSpPr>
        <p:spPr>
          <a:xfrm>
            <a:off x="6304915" y="5285105"/>
            <a:ext cx="1541145" cy="735965"/>
          </a:xfrm>
          <a:prstGeom prst="ellipse">
            <a:avLst/>
          </a:prstGeom>
        </p:spPr>
        <p:style>
          <a:lnRef idx="3">
            <a:schemeClr val="lt1"/>
          </a:lnRef>
          <a:fillRef idx="1">
            <a:schemeClr val="accent4"/>
          </a:fillRef>
          <a:effectRef idx="1">
            <a:schemeClr val="accent4"/>
          </a:effectRef>
          <a:fontRef idx="minor">
            <a:schemeClr val="lt1"/>
          </a:fontRef>
        </p:style>
        <p:txBody>
          <a:bodyPr rtlCol="0" anchor="ctr"/>
          <a:p>
            <a:pPr algn="ctr"/>
            <a:endParaRPr lang="zh-CN" altLang="en-US"/>
          </a:p>
        </p:txBody>
      </p:sp>
      <p:sp>
        <p:nvSpPr>
          <p:cNvPr id="10" name="椭圆 9"/>
          <p:cNvSpPr/>
          <p:nvPr/>
        </p:nvSpPr>
        <p:spPr>
          <a:xfrm>
            <a:off x="4439920" y="5071745"/>
            <a:ext cx="1541145" cy="735965"/>
          </a:xfrm>
          <a:prstGeom prst="ellipse">
            <a:avLst/>
          </a:prstGeom>
          <a:solidFill>
            <a:srgbClr val="7030A0"/>
          </a:solidFill>
        </p:spPr>
        <p:style>
          <a:lnRef idx="3">
            <a:schemeClr val="lt1"/>
          </a:lnRef>
          <a:fillRef idx="1">
            <a:schemeClr val="accent2"/>
          </a:fillRef>
          <a:effectRef idx="1">
            <a:schemeClr val="accent2"/>
          </a:effectRef>
          <a:fontRef idx="minor">
            <a:schemeClr val="lt1"/>
          </a:fontRef>
        </p:style>
        <p:txBody>
          <a:bodyPr rtlCol="0" anchor="ctr"/>
          <a:p>
            <a:pPr algn="ctr"/>
            <a:endParaRPr lang="zh-CN" altLang="en-US"/>
          </a:p>
        </p:txBody>
      </p:sp>
      <p:sp>
        <p:nvSpPr>
          <p:cNvPr id="11" name="文本框 10"/>
          <p:cNvSpPr txBox="1"/>
          <p:nvPr/>
        </p:nvSpPr>
        <p:spPr>
          <a:xfrm>
            <a:off x="5483860" y="1951355"/>
            <a:ext cx="1402080" cy="460375"/>
          </a:xfrm>
          <a:prstGeom prst="rect">
            <a:avLst/>
          </a:prstGeom>
          <a:noFill/>
        </p:spPr>
        <p:txBody>
          <a:bodyPr wrap="none" rtlCol="0">
            <a:spAutoFit/>
          </a:bodyPr>
          <a:p>
            <a:r>
              <a:rPr lang="en-US" altLang="zh-CN" sz="2400"/>
              <a:t>人工智能</a:t>
            </a:r>
            <a:endParaRPr lang="en-US" altLang="zh-CN" sz="2400"/>
          </a:p>
        </p:txBody>
      </p:sp>
      <p:sp>
        <p:nvSpPr>
          <p:cNvPr id="12" name="文本框 11"/>
          <p:cNvSpPr txBox="1"/>
          <p:nvPr/>
        </p:nvSpPr>
        <p:spPr>
          <a:xfrm>
            <a:off x="5551170" y="2925445"/>
            <a:ext cx="1402080" cy="460375"/>
          </a:xfrm>
          <a:prstGeom prst="rect">
            <a:avLst/>
          </a:prstGeom>
          <a:noFill/>
        </p:spPr>
        <p:txBody>
          <a:bodyPr wrap="none" rtlCol="0">
            <a:spAutoFit/>
          </a:bodyPr>
          <a:p>
            <a:r>
              <a:rPr lang="en-US" altLang="en-US" sz="2400"/>
              <a:t>机器学习</a:t>
            </a:r>
            <a:endParaRPr lang="en-US" altLang="en-US" sz="2400"/>
          </a:p>
        </p:txBody>
      </p:sp>
      <p:sp>
        <p:nvSpPr>
          <p:cNvPr id="13" name="文本框 12"/>
          <p:cNvSpPr txBox="1"/>
          <p:nvPr/>
        </p:nvSpPr>
        <p:spPr>
          <a:xfrm>
            <a:off x="5607685" y="3752215"/>
            <a:ext cx="1402080" cy="460375"/>
          </a:xfrm>
          <a:prstGeom prst="rect">
            <a:avLst/>
          </a:prstGeom>
          <a:noFill/>
        </p:spPr>
        <p:txBody>
          <a:bodyPr wrap="none" rtlCol="0">
            <a:spAutoFit/>
          </a:bodyPr>
          <a:p>
            <a:r>
              <a:rPr lang="en-US" altLang="en-US" sz="2400"/>
              <a:t>深度学习</a:t>
            </a:r>
            <a:endParaRPr lang="en-US" altLang="en-US" sz="2400"/>
          </a:p>
        </p:txBody>
      </p:sp>
      <p:sp>
        <p:nvSpPr>
          <p:cNvPr id="14" name="文本框 13"/>
          <p:cNvSpPr txBox="1"/>
          <p:nvPr/>
        </p:nvSpPr>
        <p:spPr>
          <a:xfrm>
            <a:off x="4439920" y="4561205"/>
            <a:ext cx="1452880" cy="398780"/>
          </a:xfrm>
          <a:prstGeom prst="rect">
            <a:avLst/>
          </a:prstGeom>
          <a:noFill/>
        </p:spPr>
        <p:txBody>
          <a:bodyPr wrap="none" rtlCol="0">
            <a:spAutoFit/>
          </a:bodyPr>
          <a:p>
            <a:r>
              <a:rPr lang="en-US" altLang="en-US" sz="2000"/>
              <a:t>大语言模型</a:t>
            </a:r>
            <a:endParaRPr lang="en-US" altLang="en-US" sz="2000"/>
          </a:p>
        </p:txBody>
      </p:sp>
      <p:sp>
        <p:nvSpPr>
          <p:cNvPr id="15" name="文本框 14"/>
          <p:cNvSpPr txBox="1"/>
          <p:nvPr/>
        </p:nvSpPr>
        <p:spPr>
          <a:xfrm>
            <a:off x="6773545" y="4560570"/>
            <a:ext cx="1452880" cy="398780"/>
          </a:xfrm>
          <a:prstGeom prst="rect">
            <a:avLst/>
          </a:prstGeom>
          <a:noFill/>
        </p:spPr>
        <p:txBody>
          <a:bodyPr wrap="none" rtlCol="0">
            <a:spAutoFit/>
          </a:bodyPr>
          <a:p>
            <a:r>
              <a:rPr lang="en-US" altLang="en-US" sz="2000"/>
              <a:t>多模态模型</a:t>
            </a:r>
            <a:endParaRPr lang="en-US" altLang="en-US" sz="2000"/>
          </a:p>
        </p:txBody>
      </p:sp>
      <p:sp>
        <p:nvSpPr>
          <p:cNvPr id="16" name="文本框 15"/>
          <p:cNvSpPr txBox="1"/>
          <p:nvPr/>
        </p:nvSpPr>
        <p:spPr>
          <a:xfrm>
            <a:off x="6374130" y="5484495"/>
            <a:ext cx="1402080" cy="337185"/>
          </a:xfrm>
          <a:prstGeom prst="rect">
            <a:avLst/>
          </a:prstGeom>
          <a:noFill/>
        </p:spPr>
        <p:txBody>
          <a:bodyPr wrap="none" rtlCol="0">
            <a:spAutoFit/>
          </a:bodyPr>
          <a:p>
            <a:r>
              <a:rPr lang="en-US" altLang="en-US" sz="1600"/>
              <a:t>其他网络模型</a:t>
            </a:r>
            <a:endParaRPr lang="en-US" altLang="en-US" sz="1600"/>
          </a:p>
        </p:txBody>
      </p:sp>
      <p:sp>
        <p:nvSpPr>
          <p:cNvPr id="17" name="文本框 16"/>
          <p:cNvSpPr txBox="1"/>
          <p:nvPr/>
        </p:nvSpPr>
        <p:spPr>
          <a:xfrm>
            <a:off x="4693920" y="5240020"/>
            <a:ext cx="944880" cy="398780"/>
          </a:xfrm>
          <a:prstGeom prst="rect">
            <a:avLst/>
          </a:prstGeom>
          <a:noFill/>
        </p:spPr>
        <p:txBody>
          <a:bodyPr wrap="none" rtlCol="0">
            <a:spAutoFit/>
          </a:bodyPr>
          <a:p>
            <a:r>
              <a:rPr lang="en-US" altLang="en-US" sz="2000">
                <a:solidFill>
                  <a:schemeClr val="bg1"/>
                </a:solidFill>
              </a:rPr>
              <a:t>智能体</a:t>
            </a:r>
            <a:endParaRPr lang="en-US" altLang="en-US" sz="200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课程路线图</a:t>
            </a:r>
            <a:endParaRPr lang="en-US" altLang="zh-CN"/>
          </a:p>
        </p:txBody>
      </p:sp>
      <p:sp>
        <p:nvSpPr>
          <p:cNvPr id="4" name="矩形 3"/>
          <p:cNvSpPr/>
          <p:nvPr/>
        </p:nvSpPr>
        <p:spPr>
          <a:xfrm>
            <a:off x="1718945" y="1652905"/>
            <a:ext cx="915670" cy="46469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3200"/>
              <a:t>大</a:t>
            </a:r>
            <a:endParaRPr lang="en-US" altLang="zh-CN" sz="3200"/>
          </a:p>
          <a:p>
            <a:pPr algn="ctr"/>
            <a:r>
              <a:rPr lang="en-US" altLang="zh-CN" sz="3200"/>
              <a:t>模</a:t>
            </a:r>
            <a:endParaRPr lang="en-US" altLang="zh-CN" sz="3200"/>
          </a:p>
          <a:p>
            <a:pPr algn="ctr"/>
            <a:r>
              <a:rPr lang="en-US" altLang="zh-CN" sz="3200"/>
              <a:t>型</a:t>
            </a:r>
            <a:endParaRPr lang="en-US" altLang="zh-CN" sz="3200"/>
          </a:p>
          <a:p>
            <a:pPr algn="ctr"/>
            <a:r>
              <a:rPr lang="en-US" altLang="zh-CN" sz="3200"/>
              <a:t>产</a:t>
            </a:r>
            <a:endParaRPr lang="en-US" altLang="zh-CN" sz="3200"/>
          </a:p>
          <a:p>
            <a:pPr algn="ctr"/>
            <a:r>
              <a:rPr lang="en-US" altLang="zh-CN" sz="3200"/>
              <a:t>品</a:t>
            </a:r>
            <a:endParaRPr lang="en-US" altLang="zh-CN" sz="3200"/>
          </a:p>
        </p:txBody>
      </p:sp>
      <p:sp>
        <p:nvSpPr>
          <p:cNvPr id="5" name="矩形 4"/>
          <p:cNvSpPr/>
          <p:nvPr/>
        </p:nvSpPr>
        <p:spPr>
          <a:xfrm>
            <a:off x="2828925" y="1652905"/>
            <a:ext cx="834390" cy="1668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2400"/>
              <a:t>模型</a:t>
            </a:r>
            <a:endParaRPr lang="en-US" altLang="en-US" sz="2400"/>
          </a:p>
          <a:p>
            <a:pPr algn="ctr"/>
            <a:r>
              <a:rPr lang="en-US" altLang="en-US" sz="2400"/>
              <a:t>原理</a:t>
            </a:r>
            <a:endParaRPr lang="en-US" altLang="en-US" sz="2400"/>
          </a:p>
        </p:txBody>
      </p:sp>
      <p:sp>
        <p:nvSpPr>
          <p:cNvPr id="6" name="矩形 5"/>
          <p:cNvSpPr/>
          <p:nvPr/>
        </p:nvSpPr>
        <p:spPr>
          <a:xfrm>
            <a:off x="3783330" y="1652905"/>
            <a:ext cx="7125970" cy="478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2000"/>
              <a:t>模型定位和介绍</a:t>
            </a:r>
            <a:endParaRPr lang="en-US" altLang="en-US" sz="2000"/>
          </a:p>
        </p:txBody>
      </p:sp>
      <p:sp>
        <p:nvSpPr>
          <p:cNvPr id="7" name="矩形 6"/>
          <p:cNvSpPr/>
          <p:nvPr/>
        </p:nvSpPr>
        <p:spPr>
          <a:xfrm>
            <a:off x="3783330" y="2248535"/>
            <a:ext cx="7125970" cy="478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2000"/>
              <a:t>生成机制</a:t>
            </a:r>
            <a:endParaRPr lang="en-US" altLang="en-US" sz="2000"/>
          </a:p>
        </p:txBody>
      </p:sp>
      <p:sp>
        <p:nvSpPr>
          <p:cNvPr id="8" name="矩形 7"/>
          <p:cNvSpPr/>
          <p:nvPr/>
        </p:nvSpPr>
        <p:spPr>
          <a:xfrm>
            <a:off x="3783330" y="2844165"/>
            <a:ext cx="7125970" cy="478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2000"/>
              <a:t>token、embedding 和上下文窗口</a:t>
            </a:r>
            <a:endParaRPr lang="en-US" altLang="en-US" sz="2000"/>
          </a:p>
        </p:txBody>
      </p:sp>
      <p:sp>
        <p:nvSpPr>
          <p:cNvPr id="10" name="矩形 9"/>
          <p:cNvSpPr/>
          <p:nvPr/>
        </p:nvSpPr>
        <p:spPr>
          <a:xfrm>
            <a:off x="3783330" y="3439795"/>
            <a:ext cx="7125970" cy="478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2000"/>
              <a:t>注意力、算力和模型大小</a:t>
            </a:r>
            <a:endParaRPr lang="en-US" altLang="en-US" sz="2000"/>
          </a:p>
        </p:txBody>
      </p:sp>
      <p:sp>
        <p:nvSpPr>
          <p:cNvPr id="11" name="矩形 10"/>
          <p:cNvSpPr/>
          <p:nvPr/>
        </p:nvSpPr>
        <p:spPr>
          <a:xfrm>
            <a:off x="3783330" y="4035425"/>
            <a:ext cx="7125970" cy="478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2000"/>
              <a:t>模型训练、选型与评估</a:t>
            </a:r>
            <a:endParaRPr lang="en-US" altLang="en-US" sz="2000"/>
          </a:p>
        </p:txBody>
      </p:sp>
      <p:sp>
        <p:nvSpPr>
          <p:cNvPr id="12" name="矩形 11"/>
          <p:cNvSpPr/>
          <p:nvPr/>
        </p:nvSpPr>
        <p:spPr>
          <a:xfrm>
            <a:off x="2828925" y="3439160"/>
            <a:ext cx="834390" cy="1075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2400"/>
              <a:t>模型</a:t>
            </a:r>
            <a:endParaRPr lang="en-US" altLang="en-US" sz="2400"/>
          </a:p>
          <a:p>
            <a:pPr algn="ctr"/>
            <a:r>
              <a:rPr lang="en-US" altLang="en-US" sz="2400"/>
              <a:t>应用</a:t>
            </a:r>
            <a:endParaRPr lang="en-US" altLang="en-US" sz="2400"/>
          </a:p>
        </p:txBody>
      </p:sp>
      <p:sp>
        <p:nvSpPr>
          <p:cNvPr id="13" name="矩形 12"/>
          <p:cNvSpPr/>
          <p:nvPr/>
        </p:nvSpPr>
        <p:spPr>
          <a:xfrm>
            <a:off x="2828925" y="4631055"/>
            <a:ext cx="834390" cy="1668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2400"/>
              <a:t>大模型智能体</a:t>
            </a:r>
            <a:endParaRPr lang="en-US" altLang="en-US" sz="2400"/>
          </a:p>
        </p:txBody>
      </p:sp>
      <p:sp>
        <p:nvSpPr>
          <p:cNvPr id="14" name="矩形 13"/>
          <p:cNvSpPr/>
          <p:nvPr/>
        </p:nvSpPr>
        <p:spPr>
          <a:xfrm>
            <a:off x="3783330" y="4631055"/>
            <a:ext cx="7125970" cy="478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2000"/>
              <a:t>提示词技术</a:t>
            </a:r>
            <a:endParaRPr lang="en-US" altLang="en-US" sz="2000"/>
          </a:p>
        </p:txBody>
      </p:sp>
      <p:sp>
        <p:nvSpPr>
          <p:cNvPr id="15" name="矩形 14"/>
          <p:cNvSpPr/>
          <p:nvPr/>
        </p:nvSpPr>
        <p:spPr>
          <a:xfrm>
            <a:off x="3783330" y="5226685"/>
            <a:ext cx="7125970" cy="478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2000"/>
              <a:t>智能体框架与工具使用</a:t>
            </a:r>
            <a:endParaRPr lang="en-US" altLang="en-US" sz="2000"/>
          </a:p>
        </p:txBody>
      </p:sp>
      <p:sp>
        <p:nvSpPr>
          <p:cNvPr id="16" name="矩形 15"/>
          <p:cNvSpPr/>
          <p:nvPr/>
        </p:nvSpPr>
        <p:spPr>
          <a:xfrm>
            <a:off x="3783330" y="5822315"/>
            <a:ext cx="7125970" cy="478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2000"/>
              <a:t>智能体记忆与案例剖析</a:t>
            </a:r>
            <a:endParaRPr lang="en-US" altLang="en-US" sz="2000"/>
          </a:p>
        </p:txBody>
      </p:sp>
      <p:grpSp>
        <p:nvGrpSpPr>
          <p:cNvPr id="19" name="组合 18"/>
          <p:cNvGrpSpPr/>
          <p:nvPr/>
        </p:nvGrpSpPr>
        <p:grpSpPr>
          <a:xfrm>
            <a:off x="3783330" y="1652905"/>
            <a:ext cx="474980" cy="477520"/>
            <a:chOff x="4648" y="2602"/>
            <a:chExt cx="748" cy="752"/>
          </a:xfrm>
        </p:grpSpPr>
        <p:sp>
          <p:nvSpPr>
            <p:cNvPr id="17" name="直角三角形 16"/>
            <p:cNvSpPr/>
            <p:nvPr/>
          </p:nvSpPr>
          <p:spPr>
            <a:xfrm rot="5400000">
              <a:off x="4646" y="2604"/>
              <a:ext cx="753" cy="749"/>
            </a:xfrm>
            <a:prstGeom prst="rtTriangle">
              <a:avLst/>
            </a:prstGeom>
          </p:spPr>
          <p:style>
            <a:lnRef idx="3">
              <a:schemeClr val="lt1"/>
            </a:lnRef>
            <a:fillRef idx="1">
              <a:schemeClr val="accent6"/>
            </a:fillRef>
            <a:effectRef idx="1">
              <a:schemeClr val="accent6"/>
            </a:effectRef>
            <a:fontRef idx="minor">
              <a:schemeClr val="lt1"/>
            </a:fontRef>
          </p:style>
          <p:txBody>
            <a:bodyPr rtlCol="0" anchor="ctr"/>
            <a:p>
              <a:pPr algn="ctr"/>
              <a:endParaRPr lang="zh-CN" altLang="en-US"/>
            </a:p>
          </p:txBody>
        </p:sp>
        <p:sp>
          <p:nvSpPr>
            <p:cNvPr id="18" name="文本框 17"/>
            <p:cNvSpPr txBox="1"/>
            <p:nvPr/>
          </p:nvSpPr>
          <p:spPr>
            <a:xfrm>
              <a:off x="4648" y="2602"/>
              <a:ext cx="466" cy="483"/>
            </a:xfrm>
            <a:prstGeom prst="rect">
              <a:avLst/>
            </a:prstGeom>
            <a:noFill/>
          </p:spPr>
          <p:txBody>
            <a:bodyPr wrap="none" rtlCol="0">
              <a:spAutoFit/>
            </a:bodyPr>
            <a:p>
              <a:r>
                <a:rPr lang="en-US" altLang="zh-CN" sz="1400"/>
                <a:t>1</a:t>
              </a:r>
              <a:endParaRPr lang="en-US" altLang="zh-CN" sz="1400"/>
            </a:p>
          </p:txBody>
        </p:sp>
      </p:grpSp>
      <p:grpSp>
        <p:nvGrpSpPr>
          <p:cNvPr id="20" name="组合 19"/>
          <p:cNvGrpSpPr/>
          <p:nvPr/>
        </p:nvGrpSpPr>
        <p:grpSpPr>
          <a:xfrm>
            <a:off x="3783965" y="2249170"/>
            <a:ext cx="475615" cy="478155"/>
            <a:chOff x="4648" y="2602"/>
            <a:chExt cx="749" cy="753"/>
          </a:xfrm>
        </p:grpSpPr>
        <p:sp>
          <p:nvSpPr>
            <p:cNvPr id="21" name="直角三角形 20"/>
            <p:cNvSpPr/>
            <p:nvPr/>
          </p:nvSpPr>
          <p:spPr>
            <a:xfrm rot="5400000">
              <a:off x="4646" y="2604"/>
              <a:ext cx="753" cy="749"/>
            </a:xfrm>
            <a:prstGeom prst="rtTriangle">
              <a:avLst/>
            </a:prstGeom>
          </p:spPr>
          <p:style>
            <a:lnRef idx="3">
              <a:schemeClr val="lt1"/>
            </a:lnRef>
            <a:fillRef idx="1">
              <a:schemeClr val="accent6"/>
            </a:fillRef>
            <a:effectRef idx="1">
              <a:schemeClr val="accent6"/>
            </a:effectRef>
            <a:fontRef idx="minor">
              <a:schemeClr val="lt1"/>
            </a:fontRef>
          </p:style>
          <p:txBody>
            <a:bodyPr rtlCol="0" anchor="ctr"/>
            <a:p>
              <a:pPr algn="ctr"/>
              <a:endParaRPr lang="zh-CN" altLang="en-US"/>
            </a:p>
          </p:txBody>
        </p:sp>
        <p:sp>
          <p:nvSpPr>
            <p:cNvPr id="22" name="文本框 21"/>
            <p:cNvSpPr txBox="1"/>
            <p:nvPr/>
          </p:nvSpPr>
          <p:spPr>
            <a:xfrm>
              <a:off x="4648" y="2602"/>
              <a:ext cx="466" cy="483"/>
            </a:xfrm>
            <a:prstGeom prst="rect">
              <a:avLst/>
            </a:prstGeom>
            <a:noFill/>
          </p:spPr>
          <p:txBody>
            <a:bodyPr wrap="none" rtlCol="0">
              <a:spAutoFit/>
            </a:bodyPr>
            <a:p>
              <a:r>
                <a:rPr lang="en-US" altLang="en-US" sz="1400"/>
                <a:t>2</a:t>
              </a:r>
              <a:endParaRPr lang="en-US" altLang="en-US" sz="1400"/>
            </a:p>
          </p:txBody>
        </p:sp>
      </p:grpSp>
      <p:grpSp>
        <p:nvGrpSpPr>
          <p:cNvPr id="23" name="组合 22"/>
          <p:cNvGrpSpPr/>
          <p:nvPr/>
        </p:nvGrpSpPr>
        <p:grpSpPr>
          <a:xfrm>
            <a:off x="3784600" y="2844800"/>
            <a:ext cx="475615" cy="478155"/>
            <a:chOff x="4648" y="2602"/>
            <a:chExt cx="749" cy="753"/>
          </a:xfrm>
        </p:grpSpPr>
        <p:sp>
          <p:nvSpPr>
            <p:cNvPr id="24" name="直角三角形 23"/>
            <p:cNvSpPr/>
            <p:nvPr/>
          </p:nvSpPr>
          <p:spPr>
            <a:xfrm rot="5400000">
              <a:off x="4646" y="2604"/>
              <a:ext cx="753" cy="749"/>
            </a:xfrm>
            <a:prstGeom prst="rtTriangle">
              <a:avLst/>
            </a:prstGeom>
          </p:spPr>
          <p:style>
            <a:lnRef idx="3">
              <a:schemeClr val="lt1"/>
            </a:lnRef>
            <a:fillRef idx="1">
              <a:schemeClr val="accent6"/>
            </a:fillRef>
            <a:effectRef idx="1">
              <a:schemeClr val="accent6"/>
            </a:effectRef>
            <a:fontRef idx="minor">
              <a:schemeClr val="lt1"/>
            </a:fontRef>
          </p:style>
          <p:txBody>
            <a:bodyPr rtlCol="0" anchor="ctr"/>
            <a:p>
              <a:pPr algn="ctr"/>
              <a:endParaRPr lang="zh-CN" altLang="en-US"/>
            </a:p>
          </p:txBody>
        </p:sp>
        <p:sp>
          <p:nvSpPr>
            <p:cNvPr id="25" name="文本框 24"/>
            <p:cNvSpPr txBox="1"/>
            <p:nvPr/>
          </p:nvSpPr>
          <p:spPr>
            <a:xfrm>
              <a:off x="4648" y="2602"/>
              <a:ext cx="466" cy="483"/>
            </a:xfrm>
            <a:prstGeom prst="rect">
              <a:avLst/>
            </a:prstGeom>
            <a:noFill/>
          </p:spPr>
          <p:txBody>
            <a:bodyPr wrap="none" rtlCol="0">
              <a:spAutoFit/>
            </a:bodyPr>
            <a:p>
              <a:r>
                <a:rPr lang="en-US" altLang="en-US" sz="1400"/>
                <a:t>3</a:t>
              </a:r>
              <a:endParaRPr lang="en-US" altLang="en-US" sz="1400"/>
            </a:p>
          </p:txBody>
        </p:sp>
      </p:grpSp>
      <p:grpSp>
        <p:nvGrpSpPr>
          <p:cNvPr id="26" name="组合 25"/>
          <p:cNvGrpSpPr/>
          <p:nvPr/>
        </p:nvGrpSpPr>
        <p:grpSpPr>
          <a:xfrm>
            <a:off x="3784600" y="5226685"/>
            <a:ext cx="475615" cy="478155"/>
            <a:chOff x="4648" y="2602"/>
            <a:chExt cx="749" cy="753"/>
          </a:xfrm>
        </p:grpSpPr>
        <p:sp>
          <p:nvSpPr>
            <p:cNvPr id="27" name="直角三角形 26"/>
            <p:cNvSpPr/>
            <p:nvPr/>
          </p:nvSpPr>
          <p:spPr>
            <a:xfrm rot="5400000">
              <a:off x="4646" y="2604"/>
              <a:ext cx="753" cy="749"/>
            </a:xfrm>
            <a:prstGeom prst="rtTriangle">
              <a:avLst/>
            </a:prstGeom>
          </p:spPr>
          <p:style>
            <a:lnRef idx="3">
              <a:schemeClr val="lt1"/>
            </a:lnRef>
            <a:fillRef idx="1">
              <a:schemeClr val="accent6"/>
            </a:fillRef>
            <a:effectRef idx="1">
              <a:schemeClr val="accent6"/>
            </a:effectRef>
            <a:fontRef idx="minor">
              <a:schemeClr val="lt1"/>
            </a:fontRef>
          </p:style>
          <p:txBody>
            <a:bodyPr rtlCol="0" anchor="ctr"/>
            <a:p>
              <a:pPr algn="ctr"/>
              <a:endParaRPr lang="zh-CN" altLang="en-US"/>
            </a:p>
          </p:txBody>
        </p:sp>
        <p:sp>
          <p:nvSpPr>
            <p:cNvPr id="28" name="文本框 27"/>
            <p:cNvSpPr txBox="1"/>
            <p:nvPr/>
          </p:nvSpPr>
          <p:spPr>
            <a:xfrm>
              <a:off x="4648" y="2602"/>
              <a:ext cx="466" cy="483"/>
            </a:xfrm>
            <a:prstGeom prst="rect">
              <a:avLst/>
            </a:prstGeom>
            <a:noFill/>
          </p:spPr>
          <p:txBody>
            <a:bodyPr wrap="none" rtlCol="0">
              <a:spAutoFit/>
            </a:bodyPr>
            <a:p>
              <a:r>
                <a:rPr lang="en-US" altLang="en-US" sz="1400"/>
                <a:t>7</a:t>
              </a:r>
              <a:endParaRPr lang="en-US" altLang="en-US" sz="1400"/>
            </a:p>
          </p:txBody>
        </p:sp>
      </p:grpSp>
      <p:grpSp>
        <p:nvGrpSpPr>
          <p:cNvPr id="29" name="组合 28"/>
          <p:cNvGrpSpPr/>
          <p:nvPr/>
        </p:nvGrpSpPr>
        <p:grpSpPr>
          <a:xfrm>
            <a:off x="3784600" y="4035425"/>
            <a:ext cx="475615" cy="478155"/>
            <a:chOff x="4648" y="2602"/>
            <a:chExt cx="749" cy="753"/>
          </a:xfrm>
        </p:grpSpPr>
        <p:sp>
          <p:nvSpPr>
            <p:cNvPr id="30" name="直角三角形 29"/>
            <p:cNvSpPr/>
            <p:nvPr/>
          </p:nvSpPr>
          <p:spPr>
            <a:xfrm rot="5400000">
              <a:off x="4646" y="2604"/>
              <a:ext cx="753" cy="749"/>
            </a:xfrm>
            <a:prstGeom prst="rtTriangle">
              <a:avLst/>
            </a:prstGeom>
          </p:spPr>
          <p:style>
            <a:lnRef idx="3">
              <a:schemeClr val="lt1"/>
            </a:lnRef>
            <a:fillRef idx="1">
              <a:schemeClr val="accent6"/>
            </a:fillRef>
            <a:effectRef idx="1">
              <a:schemeClr val="accent6"/>
            </a:effectRef>
            <a:fontRef idx="minor">
              <a:schemeClr val="lt1"/>
            </a:fontRef>
          </p:style>
          <p:txBody>
            <a:bodyPr rtlCol="0" anchor="ctr"/>
            <a:p>
              <a:pPr algn="ctr"/>
              <a:endParaRPr lang="zh-CN" altLang="en-US"/>
            </a:p>
          </p:txBody>
        </p:sp>
        <p:sp>
          <p:nvSpPr>
            <p:cNvPr id="31" name="文本框 30"/>
            <p:cNvSpPr txBox="1"/>
            <p:nvPr/>
          </p:nvSpPr>
          <p:spPr>
            <a:xfrm>
              <a:off x="4648" y="2602"/>
              <a:ext cx="466" cy="483"/>
            </a:xfrm>
            <a:prstGeom prst="rect">
              <a:avLst/>
            </a:prstGeom>
            <a:noFill/>
          </p:spPr>
          <p:txBody>
            <a:bodyPr wrap="none" rtlCol="0">
              <a:spAutoFit/>
            </a:bodyPr>
            <a:p>
              <a:r>
                <a:rPr lang="en-US" altLang="en-US" sz="1400"/>
                <a:t>5</a:t>
              </a:r>
              <a:endParaRPr lang="en-US" altLang="en-US" sz="1400"/>
            </a:p>
          </p:txBody>
        </p:sp>
      </p:grpSp>
      <p:grpSp>
        <p:nvGrpSpPr>
          <p:cNvPr id="32" name="组合 31"/>
          <p:cNvGrpSpPr/>
          <p:nvPr/>
        </p:nvGrpSpPr>
        <p:grpSpPr>
          <a:xfrm>
            <a:off x="3784600" y="4631055"/>
            <a:ext cx="475615" cy="478155"/>
            <a:chOff x="4648" y="2602"/>
            <a:chExt cx="749" cy="753"/>
          </a:xfrm>
        </p:grpSpPr>
        <p:sp>
          <p:nvSpPr>
            <p:cNvPr id="33" name="直角三角形 32"/>
            <p:cNvSpPr/>
            <p:nvPr/>
          </p:nvSpPr>
          <p:spPr>
            <a:xfrm rot="5400000">
              <a:off x="4646" y="2604"/>
              <a:ext cx="753" cy="749"/>
            </a:xfrm>
            <a:prstGeom prst="rtTriangle">
              <a:avLst/>
            </a:prstGeom>
          </p:spPr>
          <p:style>
            <a:lnRef idx="3">
              <a:schemeClr val="lt1"/>
            </a:lnRef>
            <a:fillRef idx="1">
              <a:schemeClr val="accent6"/>
            </a:fillRef>
            <a:effectRef idx="1">
              <a:schemeClr val="accent6"/>
            </a:effectRef>
            <a:fontRef idx="minor">
              <a:schemeClr val="lt1"/>
            </a:fontRef>
          </p:style>
          <p:txBody>
            <a:bodyPr rtlCol="0" anchor="ctr"/>
            <a:p>
              <a:pPr algn="ctr"/>
              <a:endParaRPr lang="zh-CN" altLang="en-US"/>
            </a:p>
          </p:txBody>
        </p:sp>
        <p:sp>
          <p:nvSpPr>
            <p:cNvPr id="34" name="文本框 33"/>
            <p:cNvSpPr txBox="1"/>
            <p:nvPr/>
          </p:nvSpPr>
          <p:spPr>
            <a:xfrm>
              <a:off x="4648" y="2602"/>
              <a:ext cx="466" cy="483"/>
            </a:xfrm>
            <a:prstGeom prst="rect">
              <a:avLst/>
            </a:prstGeom>
            <a:noFill/>
          </p:spPr>
          <p:txBody>
            <a:bodyPr wrap="none" rtlCol="0">
              <a:spAutoFit/>
            </a:bodyPr>
            <a:p>
              <a:r>
                <a:rPr lang="en-US" altLang="en-US" sz="1400"/>
                <a:t>6</a:t>
              </a:r>
              <a:endParaRPr lang="en-US" altLang="en-US" sz="1400"/>
            </a:p>
          </p:txBody>
        </p:sp>
      </p:grpSp>
      <p:grpSp>
        <p:nvGrpSpPr>
          <p:cNvPr id="35" name="组合 34"/>
          <p:cNvGrpSpPr/>
          <p:nvPr/>
        </p:nvGrpSpPr>
        <p:grpSpPr>
          <a:xfrm>
            <a:off x="3784600" y="3439795"/>
            <a:ext cx="475615" cy="478155"/>
            <a:chOff x="4648" y="2602"/>
            <a:chExt cx="749" cy="753"/>
          </a:xfrm>
        </p:grpSpPr>
        <p:sp>
          <p:nvSpPr>
            <p:cNvPr id="36" name="直角三角形 35"/>
            <p:cNvSpPr/>
            <p:nvPr/>
          </p:nvSpPr>
          <p:spPr>
            <a:xfrm rot="5400000">
              <a:off x="4646" y="2604"/>
              <a:ext cx="753" cy="749"/>
            </a:xfrm>
            <a:prstGeom prst="rtTriangle">
              <a:avLst/>
            </a:prstGeom>
          </p:spPr>
          <p:style>
            <a:lnRef idx="3">
              <a:schemeClr val="lt1"/>
            </a:lnRef>
            <a:fillRef idx="1">
              <a:schemeClr val="accent6"/>
            </a:fillRef>
            <a:effectRef idx="1">
              <a:schemeClr val="accent6"/>
            </a:effectRef>
            <a:fontRef idx="minor">
              <a:schemeClr val="lt1"/>
            </a:fontRef>
          </p:style>
          <p:txBody>
            <a:bodyPr rtlCol="0" anchor="ctr"/>
            <a:p>
              <a:pPr algn="ctr"/>
              <a:endParaRPr lang="zh-CN" altLang="en-US"/>
            </a:p>
          </p:txBody>
        </p:sp>
        <p:sp>
          <p:nvSpPr>
            <p:cNvPr id="37" name="文本框 36"/>
            <p:cNvSpPr txBox="1"/>
            <p:nvPr/>
          </p:nvSpPr>
          <p:spPr>
            <a:xfrm>
              <a:off x="4648" y="2602"/>
              <a:ext cx="466" cy="483"/>
            </a:xfrm>
            <a:prstGeom prst="rect">
              <a:avLst/>
            </a:prstGeom>
            <a:noFill/>
          </p:spPr>
          <p:txBody>
            <a:bodyPr wrap="none" rtlCol="0">
              <a:spAutoFit/>
            </a:bodyPr>
            <a:p>
              <a:r>
                <a:rPr lang="en-US" altLang="en-US" sz="1400"/>
                <a:t>4</a:t>
              </a:r>
              <a:endParaRPr lang="en-US" altLang="en-US" sz="1400"/>
            </a:p>
          </p:txBody>
        </p:sp>
      </p:grpSp>
      <p:grpSp>
        <p:nvGrpSpPr>
          <p:cNvPr id="38" name="组合 37"/>
          <p:cNvGrpSpPr/>
          <p:nvPr/>
        </p:nvGrpSpPr>
        <p:grpSpPr>
          <a:xfrm>
            <a:off x="3783330" y="5821680"/>
            <a:ext cx="475615" cy="478155"/>
            <a:chOff x="4648" y="2602"/>
            <a:chExt cx="749" cy="753"/>
          </a:xfrm>
        </p:grpSpPr>
        <p:sp>
          <p:nvSpPr>
            <p:cNvPr id="39" name="直角三角形 38"/>
            <p:cNvSpPr/>
            <p:nvPr/>
          </p:nvSpPr>
          <p:spPr>
            <a:xfrm rot="5400000">
              <a:off x="4646" y="2604"/>
              <a:ext cx="753" cy="749"/>
            </a:xfrm>
            <a:prstGeom prst="rtTriangle">
              <a:avLst/>
            </a:prstGeom>
          </p:spPr>
          <p:style>
            <a:lnRef idx="3">
              <a:schemeClr val="lt1"/>
            </a:lnRef>
            <a:fillRef idx="1">
              <a:schemeClr val="accent6"/>
            </a:fillRef>
            <a:effectRef idx="1">
              <a:schemeClr val="accent6"/>
            </a:effectRef>
            <a:fontRef idx="minor">
              <a:schemeClr val="lt1"/>
            </a:fontRef>
          </p:style>
          <p:txBody>
            <a:bodyPr rtlCol="0" anchor="ctr"/>
            <a:p>
              <a:pPr algn="ctr"/>
              <a:endParaRPr lang="zh-CN" altLang="en-US"/>
            </a:p>
          </p:txBody>
        </p:sp>
        <p:sp>
          <p:nvSpPr>
            <p:cNvPr id="40" name="文本框 39"/>
            <p:cNvSpPr txBox="1"/>
            <p:nvPr/>
          </p:nvSpPr>
          <p:spPr>
            <a:xfrm>
              <a:off x="4648" y="2602"/>
              <a:ext cx="466" cy="483"/>
            </a:xfrm>
            <a:prstGeom prst="rect">
              <a:avLst/>
            </a:prstGeom>
            <a:noFill/>
          </p:spPr>
          <p:txBody>
            <a:bodyPr wrap="none" rtlCol="0">
              <a:spAutoFit/>
            </a:bodyPr>
            <a:p>
              <a:r>
                <a:rPr lang="en-US" altLang="en-US" sz="1400"/>
                <a:t>8</a:t>
              </a:r>
              <a:endParaRPr lang="en-US" altLang="en-US" sz="140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一个产品中包含的技术</a:t>
            </a:r>
            <a:endParaRPr lang="en-US" altLang="zh-CN"/>
          </a:p>
        </p:txBody>
      </p:sp>
      <p:pic>
        <p:nvPicPr>
          <p:cNvPr id="7" name="图片 6" descr="AI解题"/>
          <p:cNvPicPr>
            <a:picLocks noChangeAspect="1"/>
          </p:cNvPicPr>
          <p:nvPr/>
        </p:nvPicPr>
        <p:blipFill>
          <a:blip r:embed="rId1"/>
          <a:srcRect t="21922" b="21922"/>
          <a:stretch>
            <a:fillRect/>
          </a:stretch>
        </p:blipFill>
        <p:spPr>
          <a:xfrm>
            <a:off x="4200525" y="1533525"/>
            <a:ext cx="3791585" cy="3791585"/>
          </a:xfrm>
          <a:prstGeom prst="rect">
            <a:avLst/>
          </a:prstGeom>
        </p:spPr>
      </p:pic>
      <p:sp>
        <p:nvSpPr>
          <p:cNvPr id="4" name="文本框 3"/>
          <p:cNvSpPr txBox="1"/>
          <p:nvPr/>
        </p:nvSpPr>
        <p:spPr>
          <a:xfrm>
            <a:off x="1038225" y="3673475"/>
            <a:ext cx="1554480" cy="368300"/>
          </a:xfrm>
          <a:prstGeom prst="rect">
            <a:avLst/>
          </a:prstGeom>
          <a:noFill/>
        </p:spPr>
        <p:txBody>
          <a:bodyPr wrap="none" rtlCol="0">
            <a:spAutoFit/>
          </a:bodyPr>
          <a:p>
            <a:r>
              <a:rPr lang="en-US" altLang="zh-CN"/>
              <a:t>检索增强问答</a:t>
            </a:r>
            <a:endParaRPr lang="en-US" altLang="zh-CN"/>
          </a:p>
        </p:txBody>
      </p:sp>
      <p:sp>
        <p:nvSpPr>
          <p:cNvPr id="5" name="文本框 4"/>
          <p:cNvSpPr txBox="1"/>
          <p:nvPr/>
        </p:nvSpPr>
        <p:spPr>
          <a:xfrm>
            <a:off x="2338705" y="1691005"/>
            <a:ext cx="1097280" cy="368300"/>
          </a:xfrm>
          <a:prstGeom prst="rect">
            <a:avLst/>
          </a:prstGeom>
          <a:noFill/>
        </p:spPr>
        <p:txBody>
          <a:bodyPr wrap="none" rtlCol="0">
            <a:spAutoFit/>
          </a:bodyPr>
          <a:p>
            <a:r>
              <a:rPr lang="en-US" altLang="en-US"/>
              <a:t>知识图谱</a:t>
            </a:r>
            <a:endParaRPr lang="en-US" altLang="en-US"/>
          </a:p>
        </p:txBody>
      </p:sp>
      <p:sp>
        <p:nvSpPr>
          <p:cNvPr id="6" name="文本框 5"/>
          <p:cNvSpPr txBox="1"/>
          <p:nvPr/>
        </p:nvSpPr>
        <p:spPr>
          <a:xfrm>
            <a:off x="2084070" y="4755515"/>
            <a:ext cx="1097280" cy="368300"/>
          </a:xfrm>
          <a:prstGeom prst="rect">
            <a:avLst/>
          </a:prstGeom>
          <a:noFill/>
        </p:spPr>
        <p:txBody>
          <a:bodyPr wrap="none" rtlCol="0">
            <a:spAutoFit/>
          </a:bodyPr>
          <a:p>
            <a:r>
              <a:rPr lang="en-US" altLang="en-US"/>
              <a:t>代码生成</a:t>
            </a:r>
            <a:endParaRPr lang="en-US" altLang="en-US"/>
          </a:p>
        </p:txBody>
      </p:sp>
      <p:sp>
        <p:nvSpPr>
          <p:cNvPr id="8" name="文本框 7"/>
          <p:cNvSpPr txBox="1"/>
          <p:nvPr/>
        </p:nvSpPr>
        <p:spPr>
          <a:xfrm>
            <a:off x="9116060" y="2452370"/>
            <a:ext cx="1554480" cy="368300"/>
          </a:xfrm>
          <a:prstGeom prst="rect">
            <a:avLst/>
          </a:prstGeom>
          <a:noFill/>
        </p:spPr>
        <p:txBody>
          <a:bodyPr wrap="none" rtlCol="0">
            <a:spAutoFit/>
          </a:bodyPr>
          <a:p>
            <a:r>
              <a:rPr lang="en-US" altLang="en-US"/>
              <a:t>自然语言对话</a:t>
            </a:r>
            <a:endParaRPr lang="en-US" altLang="en-US"/>
          </a:p>
        </p:txBody>
      </p:sp>
      <p:sp>
        <p:nvSpPr>
          <p:cNvPr id="9" name="文本框 8"/>
          <p:cNvSpPr txBox="1"/>
          <p:nvPr/>
        </p:nvSpPr>
        <p:spPr>
          <a:xfrm>
            <a:off x="803910" y="2404110"/>
            <a:ext cx="2088515" cy="368300"/>
          </a:xfrm>
          <a:prstGeom prst="rect">
            <a:avLst/>
          </a:prstGeom>
          <a:noFill/>
        </p:spPr>
        <p:txBody>
          <a:bodyPr wrap="none" rtlCol="0">
            <a:spAutoFit/>
          </a:bodyPr>
          <a:p>
            <a:r>
              <a:rPr lang="en-US" altLang="en-US"/>
              <a:t>逻辑推理/深度思考</a:t>
            </a:r>
            <a:endParaRPr lang="en-US" altLang="en-US"/>
          </a:p>
        </p:txBody>
      </p:sp>
      <p:sp>
        <p:nvSpPr>
          <p:cNvPr id="10" name="文本框 9"/>
          <p:cNvSpPr txBox="1"/>
          <p:nvPr/>
        </p:nvSpPr>
        <p:spPr>
          <a:xfrm>
            <a:off x="9379585" y="3789045"/>
            <a:ext cx="1325880" cy="368300"/>
          </a:xfrm>
          <a:prstGeom prst="rect">
            <a:avLst/>
          </a:prstGeom>
          <a:noFill/>
        </p:spPr>
        <p:txBody>
          <a:bodyPr wrap="none" rtlCol="0">
            <a:spAutoFit/>
          </a:bodyPr>
          <a:p>
            <a:r>
              <a:rPr lang="en-US" altLang="en-US"/>
              <a:t>上下文记忆</a:t>
            </a:r>
            <a:endParaRPr lang="en-US" altLang="en-US"/>
          </a:p>
        </p:txBody>
      </p:sp>
      <p:sp>
        <p:nvSpPr>
          <p:cNvPr id="11" name="文本框 10"/>
          <p:cNvSpPr txBox="1"/>
          <p:nvPr/>
        </p:nvSpPr>
        <p:spPr>
          <a:xfrm>
            <a:off x="8201660" y="1620520"/>
            <a:ext cx="3383280" cy="368300"/>
          </a:xfrm>
          <a:prstGeom prst="rect">
            <a:avLst/>
          </a:prstGeom>
          <a:noFill/>
        </p:spPr>
        <p:txBody>
          <a:bodyPr wrap="none" rtlCol="0">
            <a:spAutoFit/>
          </a:bodyPr>
          <a:p>
            <a:r>
              <a:rPr lang="en-US" altLang="en-US"/>
              <a:t>多模态识别（音频、图像……）</a:t>
            </a:r>
            <a:endParaRPr lang="en-US" altLang="en-US"/>
          </a:p>
        </p:txBody>
      </p:sp>
      <p:sp>
        <p:nvSpPr>
          <p:cNvPr id="12" name="文本框 11"/>
          <p:cNvSpPr txBox="1"/>
          <p:nvPr/>
        </p:nvSpPr>
        <p:spPr>
          <a:xfrm>
            <a:off x="8555355" y="4755515"/>
            <a:ext cx="1097280" cy="368300"/>
          </a:xfrm>
          <a:prstGeom prst="rect">
            <a:avLst/>
          </a:prstGeom>
          <a:noFill/>
        </p:spPr>
        <p:txBody>
          <a:bodyPr wrap="none" rtlCol="0">
            <a:spAutoFit/>
          </a:bodyPr>
          <a:p>
            <a:r>
              <a:rPr lang="en-US" altLang="en-US"/>
              <a:t>工具调用</a:t>
            </a:r>
            <a:endParaRPr lang="en-US" altLang="en-US"/>
          </a:p>
        </p:txBody>
      </p:sp>
      <p:sp>
        <p:nvSpPr>
          <p:cNvPr id="13" name="文本框 12"/>
          <p:cNvSpPr txBox="1"/>
          <p:nvPr/>
        </p:nvSpPr>
        <p:spPr>
          <a:xfrm>
            <a:off x="4541520" y="5890895"/>
            <a:ext cx="1255395" cy="521970"/>
          </a:xfrm>
          <a:prstGeom prst="rect">
            <a:avLst/>
          </a:prstGeom>
          <a:noFill/>
        </p:spPr>
        <p:txBody>
          <a:bodyPr wrap="none" rtlCol="0">
            <a:spAutoFit/>
          </a:bodyPr>
          <a:p>
            <a:r>
              <a:rPr lang="en-US" altLang="en-US" sz="2800" b="1"/>
              <a:t>大模型</a:t>
            </a:r>
            <a:endParaRPr lang="en-US" altLang="en-US" sz="2800" b="1"/>
          </a:p>
        </p:txBody>
      </p:sp>
      <p:sp>
        <p:nvSpPr>
          <p:cNvPr id="14" name="文本框 13"/>
          <p:cNvSpPr txBox="1"/>
          <p:nvPr/>
        </p:nvSpPr>
        <p:spPr>
          <a:xfrm>
            <a:off x="6447155" y="5890895"/>
            <a:ext cx="1970405" cy="521970"/>
          </a:xfrm>
          <a:prstGeom prst="rect">
            <a:avLst/>
          </a:prstGeom>
          <a:noFill/>
        </p:spPr>
        <p:txBody>
          <a:bodyPr wrap="none" rtlCol="0">
            <a:spAutoFit/>
          </a:bodyPr>
          <a:p>
            <a:r>
              <a:rPr lang="en-US" altLang="en-US" sz="2800" b="1"/>
              <a:t>大模型产品</a:t>
            </a:r>
            <a:endParaRPr lang="en-US" altLang="en-US" sz="2800" b="1"/>
          </a:p>
        </p:txBody>
      </p:sp>
      <p:sp>
        <p:nvSpPr>
          <p:cNvPr id="16" name="文本框 15"/>
          <p:cNvSpPr txBox="1"/>
          <p:nvPr/>
        </p:nvSpPr>
        <p:spPr>
          <a:xfrm>
            <a:off x="5963285" y="5890895"/>
            <a:ext cx="384175" cy="521970"/>
          </a:xfrm>
          <a:prstGeom prst="rect">
            <a:avLst/>
          </a:prstGeom>
          <a:noFill/>
        </p:spPr>
        <p:txBody>
          <a:bodyPr wrap="none" rtlCol="0">
            <a:spAutoFit/>
          </a:bodyPr>
          <a:p>
            <a:r>
              <a:rPr lang="zh-CN" altLang="en-US" sz="2800" b="1">
                <a:latin typeface="Ubuntu Sans" charset="0"/>
                <a:cs typeface="Ubuntu Sans" charset="0"/>
              </a:rPr>
              <a:t>≠</a:t>
            </a:r>
            <a:endParaRPr lang="zh-CN" altLang="en-US" sz="2800" b="1">
              <a:latin typeface="Ubuntu Sans" charset="0"/>
              <a:cs typeface="Ubuntu Sans" charset="0"/>
            </a:endParaRPr>
          </a:p>
        </p:txBody>
      </p:sp>
      <p:sp>
        <p:nvSpPr>
          <p:cNvPr id="17" name="任意多边形: 形状 11"/>
          <p:cNvSpPr/>
          <p:nvPr/>
        </p:nvSpPr>
        <p:spPr>
          <a:xfrm flipV="1">
            <a:off x="7388860" y="2635885"/>
            <a:ext cx="1727200" cy="679450"/>
          </a:xfrm>
          <a:custGeom>
            <a:avLst/>
            <a:gdLst>
              <a:gd name="connsiteX0" fmla="*/ 0 w 1430931"/>
              <a:gd name="connsiteY0" fmla="*/ 0 h 600293"/>
              <a:gd name="connsiteX1" fmla="*/ 830638 w 1430931"/>
              <a:gd name="connsiteY1" fmla="*/ 0 h 600293"/>
              <a:gd name="connsiteX2" fmla="*/ 1430931 w 1430931"/>
              <a:gd name="connsiteY2" fmla="*/ 600293 h 600293"/>
            </a:gdLst>
            <a:ahLst/>
            <a:cxnLst>
              <a:cxn ang="0">
                <a:pos x="connsiteX0" y="connsiteY0"/>
              </a:cxn>
              <a:cxn ang="0">
                <a:pos x="connsiteX1" y="connsiteY1"/>
              </a:cxn>
              <a:cxn ang="0">
                <a:pos x="connsiteX2" y="connsiteY2"/>
              </a:cxn>
            </a:cxnLst>
            <a:rect l="l" t="t" r="r" b="b"/>
            <a:pathLst>
              <a:path w="1430931" h="600293">
                <a:moveTo>
                  <a:pt x="0" y="0"/>
                </a:moveTo>
                <a:lnTo>
                  <a:pt x="830638" y="0"/>
                </a:lnTo>
                <a:lnTo>
                  <a:pt x="1430931" y="600293"/>
                </a:lnTo>
              </a:path>
            </a:pathLst>
          </a:custGeom>
          <a:noFill/>
          <a:ln w="38100">
            <a:solidFill>
              <a:srgbClr val="00B050"/>
            </a:solidFill>
            <a:prstDash val="sys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任意多边形: 形状 11"/>
          <p:cNvSpPr/>
          <p:nvPr/>
        </p:nvSpPr>
        <p:spPr>
          <a:xfrm>
            <a:off x="7388860" y="3673475"/>
            <a:ext cx="1990725" cy="295910"/>
          </a:xfrm>
          <a:custGeom>
            <a:avLst/>
            <a:gdLst>
              <a:gd name="connsiteX0" fmla="*/ 0 w 1430931"/>
              <a:gd name="connsiteY0" fmla="*/ 0 h 600293"/>
              <a:gd name="connsiteX1" fmla="*/ 830638 w 1430931"/>
              <a:gd name="connsiteY1" fmla="*/ 0 h 600293"/>
              <a:gd name="connsiteX2" fmla="*/ 1430931 w 1430931"/>
              <a:gd name="connsiteY2" fmla="*/ 600293 h 600293"/>
            </a:gdLst>
            <a:ahLst/>
            <a:cxnLst>
              <a:cxn ang="0">
                <a:pos x="connsiteX0" y="connsiteY0"/>
              </a:cxn>
              <a:cxn ang="0">
                <a:pos x="connsiteX1" y="connsiteY1"/>
              </a:cxn>
              <a:cxn ang="0">
                <a:pos x="connsiteX2" y="connsiteY2"/>
              </a:cxn>
            </a:cxnLst>
            <a:rect l="l" t="t" r="r" b="b"/>
            <a:pathLst>
              <a:path w="1430931" h="600293">
                <a:moveTo>
                  <a:pt x="0" y="0"/>
                </a:moveTo>
                <a:lnTo>
                  <a:pt x="830638" y="0"/>
                </a:lnTo>
                <a:lnTo>
                  <a:pt x="1430931" y="600293"/>
                </a:lnTo>
              </a:path>
            </a:pathLst>
          </a:custGeom>
          <a:noFill/>
          <a:ln w="38100">
            <a:solidFill>
              <a:srgbClr val="00B050"/>
            </a:solidFill>
            <a:prstDash val="sys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任意多边形: 形状 11"/>
          <p:cNvSpPr/>
          <p:nvPr/>
        </p:nvSpPr>
        <p:spPr>
          <a:xfrm flipH="1" flipV="1">
            <a:off x="3435985" y="1887220"/>
            <a:ext cx="1198880" cy="1602740"/>
          </a:xfrm>
          <a:custGeom>
            <a:avLst/>
            <a:gdLst>
              <a:gd name="connsiteX0" fmla="*/ 0 w 1430931"/>
              <a:gd name="connsiteY0" fmla="*/ 0 h 600293"/>
              <a:gd name="connsiteX1" fmla="*/ 830638 w 1430931"/>
              <a:gd name="connsiteY1" fmla="*/ 0 h 600293"/>
              <a:gd name="connsiteX2" fmla="*/ 1430931 w 1430931"/>
              <a:gd name="connsiteY2" fmla="*/ 600293 h 600293"/>
            </a:gdLst>
            <a:ahLst/>
            <a:cxnLst>
              <a:cxn ang="0">
                <a:pos x="connsiteX0" y="connsiteY0"/>
              </a:cxn>
              <a:cxn ang="0">
                <a:pos x="connsiteX1" y="connsiteY1"/>
              </a:cxn>
              <a:cxn ang="0">
                <a:pos x="connsiteX2" y="connsiteY2"/>
              </a:cxn>
            </a:cxnLst>
            <a:rect l="l" t="t" r="r" b="b"/>
            <a:pathLst>
              <a:path w="1430931" h="600293">
                <a:moveTo>
                  <a:pt x="0" y="0"/>
                </a:moveTo>
                <a:lnTo>
                  <a:pt x="830638" y="0"/>
                </a:lnTo>
                <a:lnTo>
                  <a:pt x="1430931" y="600293"/>
                </a:lnTo>
              </a:path>
            </a:pathLst>
          </a:custGeom>
          <a:noFill/>
          <a:ln w="38100">
            <a:solidFill>
              <a:srgbClr val="00B050"/>
            </a:solidFill>
            <a:prstDash val="sys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任意多边形: 形状 11"/>
          <p:cNvSpPr/>
          <p:nvPr/>
        </p:nvSpPr>
        <p:spPr>
          <a:xfrm flipH="1" flipV="1">
            <a:off x="2892425" y="2584450"/>
            <a:ext cx="2532380" cy="1204595"/>
          </a:xfrm>
          <a:custGeom>
            <a:avLst/>
            <a:gdLst>
              <a:gd name="connsiteX0" fmla="*/ 0 w 1430931"/>
              <a:gd name="connsiteY0" fmla="*/ 0 h 600293"/>
              <a:gd name="connsiteX1" fmla="*/ 830638 w 1430931"/>
              <a:gd name="connsiteY1" fmla="*/ 0 h 600293"/>
              <a:gd name="connsiteX2" fmla="*/ 1430931 w 1430931"/>
              <a:gd name="connsiteY2" fmla="*/ 600293 h 600293"/>
            </a:gdLst>
            <a:ahLst/>
            <a:cxnLst>
              <a:cxn ang="0">
                <a:pos x="connsiteX0" y="connsiteY0"/>
              </a:cxn>
              <a:cxn ang="0">
                <a:pos x="connsiteX1" y="connsiteY1"/>
              </a:cxn>
              <a:cxn ang="0">
                <a:pos x="connsiteX2" y="connsiteY2"/>
              </a:cxn>
            </a:cxnLst>
            <a:rect l="l" t="t" r="r" b="b"/>
            <a:pathLst>
              <a:path w="1430931" h="600293">
                <a:moveTo>
                  <a:pt x="0" y="0"/>
                </a:moveTo>
                <a:lnTo>
                  <a:pt x="830638" y="0"/>
                </a:lnTo>
                <a:lnTo>
                  <a:pt x="1430931" y="600293"/>
                </a:lnTo>
              </a:path>
            </a:pathLst>
          </a:custGeom>
          <a:noFill/>
          <a:ln w="38100">
            <a:solidFill>
              <a:srgbClr val="00B050"/>
            </a:solidFill>
            <a:prstDash val="sys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任意多边形: 形状 11"/>
          <p:cNvSpPr/>
          <p:nvPr/>
        </p:nvSpPr>
        <p:spPr>
          <a:xfrm flipV="1">
            <a:off x="6614795" y="1790700"/>
            <a:ext cx="1587500" cy="1029970"/>
          </a:xfrm>
          <a:custGeom>
            <a:avLst/>
            <a:gdLst>
              <a:gd name="connsiteX0" fmla="*/ 0 w 1430931"/>
              <a:gd name="connsiteY0" fmla="*/ 0 h 600293"/>
              <a:gd name="connsiteX1" fmla="*/ 830638 w 1430931"/>
              <a:gd name="connsiteY1" fmla="*/ 0 h 600293"/>
              <a:gd name="connsiteX2" fmla="*/ 1430931 w 1430931"/>
              <a:gd name="connsiteY2" fmla="*/ 600293 h 600293"/>
            </a:gdLst>
            <a:ahLst/>
            <a:cxnLst>
              <a:cxn ang="0">
                <a:pos x="connsiteX0" y="connsiteY0"/>
              </a:cxn>
              <a:cxn ang="0">
                <a:pos x="connsiteX1" y="connsiteY1"/>
              </a:cxn>
              <a:cxn ang="0">
                <a:pos x="connsiteX2" y="connsiteY2"/>
              </a:cxn>
            </a:cxnLst>
            <a:rect l="l" t="t" r="r" b="b"/>
            <a:pathLst>
              <a:path w="1430931" h="600293">
                <a:moveTo>
                  <a:pt x="0" y="0"/>
                </a:moveTo>
                <a:lnTo>
                  <a:pt x="830638" y="0"/>
                </a:lnTo>
                <a:lnTo>
                  <a:pt x="1430931" y="600293"/>
                </a:lnTo>
              </a:path>
            </a:pathLst>
          </a:custGeom>
          <a:noFill/>
          <a:ln w="38100">
            <a:solidFill>
              <a:srgbClr val="00B050"/>
            </a:solidFill>
            <a:prstDash val="sys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 name="任意多边形: 形状 11"/>
          <p:cNvSpPr/>
          <p:nvPr/>
        </p:nvSpPr>
        <p:spPr>
          <a:xfrm flipH="1" flipV="1">
            <a:off x="2592705" y="3888105"/>
            <a:ext cx="2221230" cy="268605"/>
          </a:xfrm>
          <a:custGeom>
            <a:avLst/>
            <a:gdLst>
              <a:gd name="connsiteX0" fmla="*/ 0 w 1430931"/>
              <a:gd name="connsiteY0" fmla="*/ 0 h 600293"/>
              <a:gd name="connsiteX1" fmla="*/ 830638 w 1430931"/>
              <a:gd name="connsiteY1" fmla="*/ 0 h 600293"/>
              <a:gd name="connsiteX2" fmla="*/ 1430931 w 1430931"/>
              <a:gd name="connsiteY2" fmla="*/ 600293 h 600293"/>
            </a:gdLst>
            <a:ahLst/>
            <a:cxnLst>
              <a:cxn ang="0">
                <a:pos x="connsiteX0" y="connsiteY0"/>
              </a:cxn>
              <a:cxn ang="0">
                <a:pos x="connsiteX1" y="connsiteY1"/>
              </a:cxn>
              <a:cxn ang="0">
                <a:pos x="connsiteX2" y="connsiteY2"/>
              </a:cxn>
            </a:cxnLst>
            <a:rect l="l" t="t" r="r" b="b"/>
            <a:pathLst>
              <a:path w="1430931" h="600293">
                <a:moveTo>
                  <a:pt x="0" y="0"/>
                </a:moveTo>
                <a:lnTo>
                  <a:pt x="830638" y="0"/>
                </a:lnTo>
                <a:lnTo>
                  <a:pt x="1430931" y="600293"/>
                </a:lnTo>
              </a:path>
            </a:pathLst>
          </a:custGeom>
          <a:noFill/>
          <a:ln w="38100">
            <a:solidFill>
              <a:srgbClr val="00B050"/>
            </a:solidFill>
            <a:prstDash val="sys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任意多边形: 形状 11"/>
          <p:cNvSpPr/>
          <p:nvPr/>
        </p:nvSpPr>
        <p:spPr>
          <a:xfrm>
            <a:off x="5796915" y="4336415"/>
            <a:ext cx="2757805" cy="586105"/>
          </a:xfrm>
          <a:custGeom>
            <a:avLst/>
            <a:gdLst>
              <a:gd name="connsiteX0" fmla="*/ 0 w 1430931"/>
              <a:gd name="connsiteY0" fmla="*/ 0 h 600293"/>
              <a:gd name="connsiteX1" fmla="*/ 830638 w 1430931"/>
              <a:gd name="connsiteY1" fmla="*/ 0 h 600293"/>
              <a:gd name="connsiteX2" fmla="*/ 1430931 w 1430931"/>
              <a:gd name="connsiteY2" fmla="*/ 600293 h 600293"/>
            </a:gdLst>
            <a:ahLst/>
            <a:cxnLst>
              <a:cxn ang="0">
                <a:pos x="connsiteX0" y="connsiteY0"/>
              </a:cxn>
              <a:cxn ang="0">
                <a:pos x="connsiteX1" y="connsiteY1"/>
              </a:cxn>
              <a:cxn ang="0">
                <a:pos x="connsiteX2" y="connsiteY2"/>
              </a:cxn>
            </a:cxnLst>
            <a:rect l="l" t="t" r="r" b="b"/>
            <a:pathLst>
              <a:path w="1430931" h="600293">
                <a:moveTo>
                  <a:pt x="0" y="0"/>
                </a:moveTo>
                <a:lnTo>
                  <a:pt x="830638" y="0"/>
                </a:lnTo>
                <a:lnTo>
                  <a:pt x="1430931" y="600293"/>
                </a:lnTo>
              </a:path>
            </a:pathLst>
          </a:custGeom>
          <a:noFill/>
          <a:ln w="38100">
            <a:solidFill>
              <a:srgbClr val="00B050"/>
            </a:solidFill>
            <a:prstDash val="sys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任意多边形: 形状 11"/>
          <p:cNvSpPr/>
          <p:nvPr/>
        </p:nvSpPr>
        <p:spPr>
          <a:xfrm flipH="1">
            <a:off x="3181350" y="4605020"/>
            <a:ext cx="2044065" cy="317500"/>
          </a:xfrm>
          <a:custGeom>
            <a:avLst/>
            <a:gdLst>
              <a:gd name="connsiteX0" fmla="*/ 0 w 1430931"/>
              <a:gd name="connsiteY0" fmla="*/ 0 h 600293"/>
              <a:gd name="connsiteX1" fmla="*/ 830638 w 1430931"/>
              <a:gd name="connsiteY1" fmla="*/ 0 h 600293"/>
              <a:gd name="connsiteX2" fmla="*/ 1430931 w 1430931"/>
              <a:gd name="connsiteY2" fmla="*/ 600293 h 600293"/>
            </a:gdLst>
            <a:ahLst/>
            <a:cxnLst>
              <a:cxn ang="0">
                <a:pos x="connsiteX0" y="connsiteY0"/>
              </a:cxn>
              <a:cxn ang="0">
                <a:pos x="connsiteX1" y="connsiteY1"/>
              </a:cxn>
              <a:cxn ang="0">
                <a:pos x="connsiteX2" y="connsiteY2"/>
              </a:cxn>
            </a:cxnLst>
            <a:rect l="l" t="t" r="r" b="b"/>
            <a:pathLst>
              <a:path w="1430931" h="600293">
                <a:moveTo>
                  <a:pt x="0" y="0"/>
                </a:moveTo>
                <a:lnTo>
                  <a:pt x="830638" y="0"/>
                </a:lnTo>
                <a:lnTo>
                  <a:pt x="1430931" y="600293"/>
                </a:lnTo>
              </a:path>
            </a:pathLst>
          </a:custGeom>
          <a:noFill/>
          <a:ln w="38100">
            <a:solidFill>
              <a:srgbClr val="00B050"/>
            </a:solidFill>
            <a:prstDash val="sys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大模型产品谱系图</a:t>
            </a:r>
            <a:endParaRPr lang="en-US" altLang="zh-CN"/>
          </a:p>
        </p:txBody>
      </p:sp>
      <p:sp>
        <p:nvSpPr>
          <p:cNvPr id="4" name="矩形 3"/>
          <p:cNvSpPr/>
          <p:nvPr/>
        </p:nvSpPr>
        <p:spPr>
          <a:xfrm>
            <a:off x="979805" y="3282950"/>
            <a:ext cx="685800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5" name="矩形 4"/>
          <p:cNvSpPr/>
          <p:nvPr/>
        </p:nvSpPr>
        <p:spPr>
          <a:xfrm>
            <a:off x="8113395" y="3282950"/>
            <a:ext cx="314325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6" name="矩形 5"/>
          <p:cNvSpPr/>
          <p:nvPr/>
        </p:nvSpPr>
        <p:spPr>
          <a:xfrm>
            <a:off x="979805" y="1691005"/>
            <a:ext cx="10276840" cy="141541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7" name="文本框 6"/>
          <p:cNvSpPr txBox="1"/>
          <p:nvPr/>
        </p:nvSpPr>
        <p:spPr>
          <a:xfrm>
            <a:off x="986790" y="4421505"/>
            <a:ext cx="551815" cy="1005840"/>
          </a:xfrm>
          <a:prstGeom prst="rect">
            <a:avLst/>
          </a:prstGeom>
          <a:noFill/>
        </p:spPr>
        <p:txBody>
          <a:bodyPr vert="eaVert" wrap="none" rtlCol="0">
            <a:spAutoFit/>
          </a:bodyPr>
          <a:p>
            <a:r>
              <a:rPr lang="en-US" altLang="zh-CN" sz="2400"/>
              <a:t>模型层</a:t>
            </a:r>
            <a:endParaRPr lang="en-US" altLang="zh-CN" sz="2400"/>
          </a:p>
        </p:txBody>
      </p:sp>
      <p:sp>
        <p:nvSpPr>
          <p:cNvPr id="8" name="文本框 7"/>
          <p:cNvSpPr txBox="1"/>
          <p:nvPr/>
        </p:nvSpPr>
        <p:spPr>
          <a:xfrm>
            <a:off x="8120380" y="4328795"/>
            <a:ext cx="551815" cy="1005840"/>
          </a:xfrm>
          <a:prstGeom prst="rect">
            <a:avLst/>
          </a:prstGeom>
          <a:noFill/>
        </p:spPr>
        <p:txBody>
          <a:bodyPr vert="eaVert" wrap="none" rtlCol="0">
            <a:spAutoFit/>
          </a:bodyPr>
          <a:p>
            <a:r>
              <a:rPr lang="en-US" altLang="en-US" sz="2400"/>
              <a:t>工具层</a:t>
            </a:r>
            <a:endParaRPr lang="en-US" altLang="en-US" sz="2400"/>
          </a:p>
        </p:txBody>
      </p:sp>
      <p:sp>
        <p:nvSpPr>
          <p:cNvPr id="9" name="文本框 8"/>
          <p:cNvSpPr txBox="1"/>
          <p:nvPr/>
        </p:nvSpPr>
        <p:spPr>
          <a:xfrm>
            <a:off x="986790" y="1896110"/>
            <a:ext cx="551815" cy="1005840"/>
          </a:xfrm>
          <a:prstGeom prst="rect">
            <a:avLst/>
          </a:prstGeom>
          <a:noFill/>
        </p:spPr>
        <p:txBody>
          <a:bodyPr vert="eaVert" wrap="none" rtlCol="0">
            <a:spAutoFit/>
          </a:bodyPr>
          <a:p>
            <a:r>
              <a:rPr lang="en-US" altLang="en-US" sz="2400"/>
              <a:t>编排层</a:t>
            </a:r>
            <a:endParaRPr lang="en-US" altLang="en-US" sz="2400"/>
          </a:p>
        </p:txBody>
      </p:sp>
      <p:pic>
        <p:nvPicPr>
          <p:cNvPr id="25" name="图片 24"/>
          <p:cNvPicPr>
            <a:picLocks noChangeAspect="1"/>
          </p:cNvPicPr>
          <p:nvPr/>
        </p:nvPicPr>
        <p:blipFill>
          <a:blip r:embed="rId1"/>
          <a:stretch>
            <a:fillRect/>
          </a:stretch>
        </p:blipFill>
        <p:spPr>
          <a:xfrm>
            <a:off x="4955976" y="3611880"/>
            <a:ext cx="457200" cy="457200"/>
          </a:xfrm>
          <a:prstGeom prst="rect">
            <a:avLst/>
          </a:prstGeom>
        </p:spPr>
      </p:pic>
      <p:pic>
        <p:nvPicPr>
          <p:cNvPr id="26" name="图片 25"/>
          <p:cNvPicPr>
            <a:picLocks noChangeAspect="1"/>
          </p:cNvPicPr>
          <p:nvPr/>
        </p:nvPicPr>
        <p:blipFill>
          <a:blip r:embed="rId2"/>
          <a:stretch>
            <a:fillRect/>
          </a:stretch>
        </p:blipFill>
        <p:spPr>
          <a:xfrm>
            <a:off x="6450766" y="3611880"/>
            <a:ext cx="457200" cy="457200"/>
          </a:xfrm>
          <a:prstGeom prst="rect">
            <a:avLst/>
          </a:prstGeom>
        </p:spPr>
      </p:pic>
      <p:pic>
        <p:nvPicPr>
          <p:cNvPr id="27" name="图片 26"/>
          <p:cNvPicPr>
            <a:picLocks noChangeAspect="1"/>
          </p:cNvPicPr>
          <p:nvPr/>
        </p:nvPicPr>
        <p:blipFill>
          <a:blip r:embed="rId3"/>
          <a:stretch>
            <a:fillRect/>
          </a:stretch>
        </p:blipFill>
        <p:spPr>
          <a:xfrm>
            <a:off x="5657651" y="3611880"/>
            <a:ext cx="548640" cy="457200"/>
          </a:xfrm>
          <a:prstGeom prst="rect">
            <a:avLst/>
          </a:prstGeom>
        </p:spPr>
      </p:pic>
      <p:pic>
        <p:nvPicPr>
          <p:cNvPr id="28" name="图片 27"/>
          <p:cNvPicPr>
            <a:picLocks noChangeAspect="1"/>
          </p:cNvPicPr>
          <p:nvPr/>
        </p:nvPicPr>
        <p:blipFill>
          <a:blip r:embed="rId4"/>
          <a:stretch>
            <a:fillRect/>
          </a:stretch>
        </p:blipFill>
        <p:spPr>
          <a:xfrm>
            <a:off x="2850951" y="3611880"/>
            <a:ext cx="457200" cy="457200"/>
          </a:xfrm>
          <a:prstGeom prst="rect">
            <a:avLst/>
          </a:prstGeom>
        </p:spPr>
      </p:pic>
      <p:pic>
        <p:nvPicPr>
          <p:cNvPr id="29" name="图片 28"/>
          <p:cNvPicPr>
            <a:picLocks noChangeAspect="1"/>
          </p:cNvPicPr>
          <p:nvPr/>
        </p:nvPicPr>
        <p:blipFill>
          <a:blip r:embed="rId5"/>
          <a:stretch>
            <a:fillRect/>
          </a:stretch>
        </p:blipFill>
        <p:spPr>
          <a:xfrm>
            <a:off x="2143125" y="3611880"/>
            <a:ext cx="463351" cy="457200"/>
          </a:xfrm>
          <a:prstGeom prst="rect">
            <a:avLst/>
          </a:prstGeom>
        </p:spPr>
      </p:pic>
      <p:pic>
        <p:nvPicPr>
          <p:cNvPr id="30" name="图片 29"/>
          <p:cNvPicPr>
            <a:picLocks noChangeAspect="1"/>
          </p:cNvPicPr>
          <p:nvPr/>
        </p:nvPicPr>
        <p:blipFill>
          <a:blip r:embed="rId6"/>
          <a:stretch>
            <a:fillRect/>
          </a:stretch>
        </p:blipFill>
        <p:spPr>
          <a:xfrm>
            <a:off x="3552626" y="3611880"/>
            <a:ext cx="457200" cy="457200"/>
          </a:xfrm>
          <a:prstGeom prst="rect">
            <a:avLst/>
          </a:prstGeom>
        </p:spPr>
      </p:pic>
      <p:pic>
        <p:nvPicPr>
          <p:cNvPr id="31" name="图片 30"/>
          <p:cNvPicPr>
            <a:picLocks noChangeAspect="1"/>
          </p:cNvPicPr>
          <p:nvPr/>
        </p:nvPicPr>
        <p:blipFill>
          <a:blip r:embed="rId7"/>
          <a:stretch>
            <a:fillRect/>
          </a:stretch>
        </p:blipFill>
        <p:spPr>
          <a:xfrm>
            <a:off x="4254301" y="3611880"/>
            <a:ext cx="457200" cy="457200"/>
          </a:xfrm>
          <a:prstGeom prst="rect">
            <a:avLst/>
          </a:prstGeom>
        </p:spPr>
      </p:pic>
      <p:sp>
        <p:nvSpPr>
          <p:cNvPr id="32" name="文本框 31"/>
          <p:cNvSpPr txBox="1"/>
          <p:nvPr/>
        </p:nvSpPr>
        <p:spPr>
          <a:xfrm>
            <a:off x="1889125" y="4265930"/>
            <a:ext cx="5634355" cy="1753235"/>
          </a:xfrm>
          <a:prstGeom prst="rect">
            <a:avLst/>
          </a:prstGeom>
          <a:noFill/>
        </p:spPr>
        <p:txBody>
          <a:bodyPr wrap="square" rtlCol="0" anchor="t">
            <a:spAutoFit/>
          </a:bodyPr>
          <a:p>
            <a:pPr>
              <a:lnSpc>
                <a:spcPct val="150000"/>
              </a:lnSpc>
            </a:pPr>
            <a:r>
              <a:rPr lang="en-US" altLang="zh-CN">
                <a:sym typeface="+mn-ea"/>
              </a:rPr>
              <a:t>提供文字、图片、语音、代码等内容的基础理解、生成与推理能力，是 AI“会思考和表达”的核心。它们直接运行在底层的硬件上，根据输入的文本（或多媒体）内容生成输出的文字（或多媒体数据）</a:t>
            </a:r>
            <a:endParaRPr lang="zh-CN" altLang="en-US"/>
          </a:p>
        </p:txBody>
      </p:sp>
      <p:pic>
        <p:nvPicPr>
          <p:cNvPr id="33" name="图片 32"/>
          <p:cNvPicPr>
            <a:picLocks noChangeAspect="1"/>
          </p:cNvPicPr>
          <p:nvPr/>
        </p:nvPicPr>
        <p:blipFill>
          <a:blip r:embed="rId8"/>
          <a:stretch>
            <a:fillRect/>
          </a:stretch>
        </p:blipFill>
        <p:spPr>
          <a:xfrm>
            <a:off x="8672195" y="3430905"/>
            <a:ext cx="457200" cy="457200"/>
          </a:xfrm>
          <a:prstGeom prst="rect">
            <a:avLst/>
          </a:prstGeom>
        </p:spPr>
      </p:pic>
      <p:pic>
        <p:nvPicPr>
          <p:cNvPr id="35" name="图片 34"/>
          <p:cNvPicPr>
            <a:picLocks noChangeAspect="1"/>
          </p:cNvPicPr>
          <p:nvPr/>
        </p:nvPicPr>
        <p:blipFill>
          <a:blip r:embed="rId9"/>
          <a:stretch>
            <a:fillRect/>
          </a:stretch>
        </p:blipFill>
        <p:spPr>
          <a:xfrm>
            <a:off x="9286240" y="3430905"/>
            <a:ext cx="450850" cy="457200"/>
          </a:xfrm>
          <a:prstGeom prst="rect">
            <a:avLst/>
          </a:prstGeom>
        </p:spPr>
      </p:pic>
      <p:pic>
        <p:nvPicPr>
          <p:cNvPr id="36" name="图片 35"/>
          <p:cNvPicPr>
            <a:picLocks noChangeAspect="1"/>
          </p:cNvPicPr>
          <p:nvPr/>
        </p:nvPicPr>
        <p:blipFill>
          <a:blip r:embed="rId10"/>
          <a:stretch>
            <a:fillRect/>
          </a:stretch>
        </p:blipFill>
        <p:spPr>
          <a:xfrm>
            <a:off x="9893935" y="3430905"/>
            <a:ext cx="457200" cy="457200"/>
          </a:xfrm>
          <a:prstGeom prst="rect">
            <a:avLst/>
          </a:prstGeom>
        </p:spPr>
      </p:pic>
      <p:pic>
        <p:nvPicPr>
          <p:cNvPr id="38" name="图片 37"/>
          <p:cNvPicPr>
            <a:picLocks noChangeAspect="1"/>
          </p:cNvPicPr>
          <p:nvPr/>
        </p:nvPicPr>
        <p:blipFill>
          <a:blip r:embed="rId11"/>
          <a:stretch>
            <a:fillRect/>
          </a:stretch>
        </p:blipFill>
        <p:spPr>
          <a:xfrm>
            <a:off x="10507980" y="3430905"/>
            <a:ext cx="457200" cy="457200"/>
          </a:xfrm>
          <a:prstGeom prst="rect">
            <a:avLst/>
          </a:prstGeom>
        </p:spPr>
      </p:pic>
      <p:sp>
        <p:nvSpPr>
          <p:cNvPr id="34" name="文本框 33"/>
          <p:cNvSpPr txBox="1"/>
          <p:nvPr/>
        </p:nvSpPr>
        <p:spPr>
          <a:xfrm>
            <a:off x="8672195" y="3944620"/>
            <a:ext cx="2475865" cy="2306955"/>
          </a:xfrm>
          <a:prstGeom prst="rect">
            <a:avLst/>
          </a:prstGeom>
          <a:noFill/>
        </p:spPr>
        <p:txBody>
          <a:bodyPr wrap="square" rtlCol="0" anchor="t">
            <a:spAutoFit/>
          </a:bodyPr>
          <a:p>
            <a:pPr>
              <a:lnSpc>
                <a:spcPct val="150000"/>
              </a:lnSpc>
            </a:pPr>
            <a:r>
              <a:rPr lang="en-US" altLang="zh-CN" sz="1600">
                <a:sym typeface="+mn-ea"/>
              </a:rPr>
              <a:t>为模型补充检索资料、解析文档、运行代码、访问日历等单一环节能力的后台组件。它们一般不能独立完成面向用户的任务，而是被上层产品按需调用。</a:t>
            </a:r>
            <a:endParaRPr lang="en-US" altLang="zh-CN" sz="1600">
              <a:sym typeface="+mn-ea"/>
            </a:endParaRPr>
          </a:p>
        </p:txBody>
      </p:sp>
      <p:pic>
        <p:nvPicPr>
          <p:cNvPr id="43" name="图片 42"/>
          <p:cNvPicPr>
            <a:picLocks noChangeAspect="1"/>
          </p:cNvPicPr>
          <p:nvPr/>
        </p:nvPicPr>
        <p:blipFill>
          <a:blip r:embed="rId12"/>
          <a:stretch>
            <a:fillRect/>
          </a:stretch>
        </p:blipFill>
        <p:spPr>
          <a:xfrm>
            <a:off x="2284730" y="2444750"/>
            <a:ext cx="457200" cy="457200"/>
          </a:xfrm>
          <a:prstGeom prst="rect">
            <a:avLst/>
          </a:prstGeom>
        </p:spPr>
      </p:pic>
      <p:pic>
        <p:nvPicPr>
          <p:cNvPr id="45" name="图片 44"/>
          <p:cNvPicPr>
            <a:picLocks noChangeAspect="1"/>
          </p:cNvPicPr>
          <p:nvPr/>
        </p:nvPicPr>
        <p:blipFill>
          <a:blip r:embed="rId13"/>
          <a:stretch>
            <a:fillRect/>
          </a:stretch>
        </p:blipFill>
        <p:spPr>
          <a:xfrm>
            <a:off x="2852420" y="2444750"/>
            <a:ext cx="455839" cy="457200"/>
          </a:xfrm>
          <a:prstGeom prst="rect">
            <a:avLst/>
          </a:prstGeom>
        </p:spPr>
      </p:pic>
      <p:pic>
        <p:nvPicPr>
          <p:cNvPr id="47" name="图片 46"/>
          <p:cNvPicPr>
            <a:picLocks noChangeAspect="1"/>
          </p:cNvPicPr>
          <p:nvPr/>
        </p:nvPicPr>
        <p:blipFill>
          <a:blip r:embed="rId14"/>
          <a:stretch>
            <a:fillRect/>
          </a:stretch>
        </p:blipFill>
        <p:spPr>
          <a:xfrm>
            <a:off x="2851150" y="1816735"/>
            <a:ext cx="457200" cy="457200"/>
          </a:xfrm>
          <a:prstGeom prst="rect">
            <a:avLst/>
          </a:prstGeom>
        </p:spPr>
      </p:pic>
      <p:pic>
        <p:nvPicPr>
          <p:cNvPr id="49" name="图片 48"/>
          <p:cNvPicPr>
            <a:picLocks noChangeAspect="1"/>
          </p:cNvPicPr>
          <p:nvPr/>
        </p:nvPicPr>
        <p:blipFill>
          <a:blip r:embed="rId15"/>
          <a:stretch>
            <a:fillRect/>
          </a:stretch>
        </p:blipFill>
        <p:spPr>
          <a:xfrm>
            <a:off x="1740535" y="2444750"/>
            <a:ext cx="457200" cy="457200"/>
          </a:xfrm>
          <a:prstGeom prst="rect">
            <a:avLst/>
          </a:prstGeom>
        </p:spPr>
      </p:pic>
      <p:pic>
        <p:nvPicPr>
          <p:cNvPr id="51" name="图片 50"/>
          <p:cNvPicPr>
            <a:picLocks noChangeAspect="1"/>
          </p:cNvPicPr>
          <p:nvPr/>
        </p:nvPicPr>
        <p:blipFill>
          <a:blip r:embed="rId16"/>
          <a:stretch>
            <a:fillRect/>
          </a:stretch>
        </p:blipFill>
        <p:spPr>
          <a:xfrm>
            <a:off x="2284730" y="1816735"/>
            <a:ext cx="457200" cy="457200"/>
          </a:xfrm>
          <a:prstGeom prst="rect">
            <a:avLst/>
          </a:prstGeom>
        </p:spPr>
      </p:pic>
      <p:pic>
        <p:nvPicPr>
          <p:cNvPr id="53" name="图片 52"/>
          <p:cNvPicPr>
            <a:picLocks noChangeAspect="1"/>
          </p:cNvPicPr>
          <p:nvPr/>
        </p:nvPicPr>
        <p:blipFill>
          <a:blip r:embed="rId17"/>
          <a:stretch>
            <a:fillRect/>
          </a:stretch>
        </p:blipFill>
        <p:spPr>
          <a:xfrm>
            <a:off x="1740535" y="1816735"/>
            <a:ext cx="457200" cy="457200"/>
          </a:xfrm>
          <a:prstGeom prst="rect">
            <a:avLst/>
          </a:prstGeom>
        </p:spPr>
      </p:pic>
      <p:sp>
        <p:nvSpPr>
          <p:cNvPr id="37" name="文本框 36"/>
          <p:cNvSpPr txBox="1"/>
          <p:nvPr/>
        </p:nvSpPr>
        <p:spPr>
          <a:xfrm>
            <a:off x="3412490" y="1730375"/>
            <a:ext cx="7552690" cy="1337945"/>
          </a:xfrm>
          <a:prstGeom prst="rect">
            <a:avLst/>
          </a:prstGeom>
          <a:noFill/>
        </p:spPr>
        <p:txBody>
          <a:bodyPr wrap="square" rtlCol="0" anchor="t">
            <a:spAutoFit/>
          </a:bodyPr>
          <a:p>
            <a:pPr>
              <a:lnSpc>
                <a:spcPct val="150000"/>
              </a:lnSpc>
            </a:pPr>
            <a:r>
              <a:rPr lang="en-US" altLang="zh-CN">
                <a:sym typeface="+mn-ea"/>
              </a:rPr>
              <a:t>把模型、工具、资料和流程组织成可直接使用的产品或系统，例如知识库、智能体和工作流平台。它决定 AI 如何完成多步骤任务、何时调用工具，以及如何控制权限与流程。</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大模型产品谱系图</a:t>
            </a:r>
            <a:endParaRPr lang="en-US" altLang="zh-CN"/>
          </a:p>
        </p:txBody>
      </p:sp>
      <p:sp>
        <p:nvSpPr>
          <p:cNvPr id="5" name="矩形 4"/>
          <p:cNvSpPr/>
          <p:nvPr/>
        </p:nvSpPr>
        <p:spPr>
          <a:xfrm>
            <a:off x="8113395" y="3282950"/>
            <a:ext cx="314325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6" name="矩形 5"/>
          <p:cNvSpPr/>
          <p:nvPr/>
        </p:nvSpPr>
        <p:spPr>
          <a:xfrm>
            <a:off x="979805" y="1691005"/>
            <a:ext cx="10276840" cy="141541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8" name="文本框 7"/>
          <p:cNvSpPr txBox="1"/>
          <p:nvPr/>
        </p:nvSpPr>
        <p:spPr>
          <a:xfrm>
            <a:off x="8120380" y="4328795"/>
            <a:ext cx="551815" cy="1005840"/>
          </a:xfrm>
          <a:prstGeom prst="rect">
            <a:avLst/>
          </a:prstGeom>
          <a:noFill/>
        </p:spPr>
        <p:txBody>
          <a:bodyPr vert="eaVert" wrap="none" rtlCol="0">
            <a:spAutoFit/>
          </a:bodyPr>
          <a:p>
            <a:r>
              <a:rPr lang="en-US" altLang="en-US" sz="2400"/>
              <a:t>工具层</a:t>
            </a:r>
            <a:endParaRPr lang="en-US" altLang="en-US" sz="2400"/>
          </a:p>
        </p:txBody>
      </p:sp>
      <p:sp>
        <p:nvSpPr>
          <p:cNvPr id="9" name="文本框 8"/>
          <p:cNvSpPr txBox="1"/>
          <p:nvPr/>
        </p:nvSpPr>
        <p:spPr>
          <a:xfrm>
            <a:off x="986790" y="1896110"/>
            <a:ext cx="551815" cy="1005840"/>
          </a:xfrm>
          <a:prstGeom prst="rect">
            <a:avLst/>
          </a:prstGeom>
          <a:noFill/>
        </p:spPr>
        <p:txBody>
          <a:bodyPr vert="eaVert" wrap="none" rtlCol="0">
            <a:spAutoFit/>
          </a:bodyPr>
          <a:p>
            <a:r>
              <a:rPr lang="en-US" altLang="en-US" sz="2400"/>
              <a:t>编排层</a:t>
            </a:r>
            <a:endParaRPr lang="en-US" altLang="en-US" sz="2400"/>
          </a:p>
        </p:txBody>
      </p:sp>
      <p:pic>
        <p:nvPicPr>
          <p:cNvPr id="33" name="图片 32"/>
          <p:cNvPicPr>
            <a:picLocks noChangeAspect="1"/>
          </p:cNvPicPr>
          <p:nvPr/>
        </p:nvPicPr>
        <p:blipFill>
          <a:blip r:embed="rId1"/>
          <a:stretch>
            <a:fillRect/>
          </a:stretch>
        </p:blipFill>
        <p:spPr>
          <a:xfrm>
            <a:off x="8672195" y="3430905"/>
            <a:ext cx="457200" cy="457200"/>
          </a:xfrm>
          <a:prstGeom prst="rect">
            <a:avLst/>
          </a:prstGeom>
        </p:spPr>
      </p:pic>
      <p:pic>
        <p:nvPicPr>
          <p:cNvPr id="35" name="图片 34"/>
          <p:cNvPicPr>
            <a:picLocks noChangeAspect="1"/>
          </p:cNvPicPr>
          <p:nvPr/>
        </p:nvPicPr>
        <p:blipFill>
          <a:blip r:embed="rId2"/>
          <a:stretch>
            <a:fillRect/>
          </a:stretch>
        </p:blipFill>
        <p:spPr>
          <a:xfrm>
            <a:off x="9286240" y="3430905"/>
            <a:ext cx="450850" cy="457200"/>
          </a:xfrm>
          <a:prstGeom prst="rect">
            <a:avLst/>
          </a:prstGeom>
        </p:spPr>
      </p:pic>
      <p:pic>
        <p:nvPicPr>
          <p:cNvPr id="36" name="图片 35"/>
          <p:cNvPicPr>
            <a:picLocks noChangeAspect="1"/>
          </p:cNvPicPr>
          <p:nvPr/>
        </p:nvPicPr>
        <p:blipFill>
          <a:blip r:embed="rId3"/>
          <a:stretch>
            <a:fillRect/>
          </a:stretch>
        </p:blipFill>
        <p:spPr>
          <a:xfrm>
            <a:off x="9893935" y="3430905"/>
            <a:ext cx="457200" cy="457200"/>
          </a:xfrm>
          <a:prstGeom prst="rect">
            <a:avLst/>
          </a:prstGeom>
        </p:spPr>
      </p:pic>
      <p:pic>
        <p:nvPicPr>
          <p:cNvPr id="38" name="图片 37"/>
          <p:cNvPicPr>
            <a:picLocks noChangeAspect="1"/>
          </p:cNvPicPr>
          <p:nvPr/>
        </p:nvPicPr>
        <p:blipFill>
          <a:blip r:embed="rId4"/>
          <a:stretch>
            <a:fillRect/>
          </a:stretch>
        </p:blipFill>
        <p:spPr>
          <a:xfrm>
            <a:off x="10507980" y="3430905"/>
            <a:ext cx="457200" cy="457200"/>
          </a:xfrm>
          <a:prstGeom prst="rect">
            <a:avLst/>
          </a:prstGeom>
        </p:spPr>
      </p:pic>
      <p:sp>
        <p:nvSpPr>
          <p:cNvPr id="34" name="文本框 33"/>
          <p:cNvSpPr txBox="1"/>
          <p:nvPr/>
        </p:nvSpPr>
        <p:spPr>
          <a:xfrm>
            <a:off x="8672195" y="3944620"/>
            <a:ext cx="2475865" cy="2306955"/>
          </a:xfrm>
          <a:prstGeom prst="rect">
            <a:avLst/>
          </a:prstGeom>
          <a:noFill/>
        </p:spPr>
        <p:txBody>
          <a:bodyPr wrap="square" rtlCol="0" anchor="t">
            <a:spAutoFit/>
          </a:bodyPr>
          <a:p>
            <a:pPr>
              <a:lnSpc>
                <a:spcPct val="150000"/>
              </a:lnSpc>
            </a:pPr>
            <a:r>
              <a:rPr lang="en-US" altLang="zh-CN" sz="1600">
                <a:sym typeface="+mn-ea"/>
              </a:rPr>
              <a:t>为模型补充检索资料、解析文档、运行代码、访问日历等单一环节能力的后台组件。它们一般不能独立完成面向用户的任务，而是被上层产品按需调用。</a:t>
            </a:r>
            <a:endParaRPr lang="en-US" altLang="zh-CN" sz="1600">
              <a:sym typeface="+mn-ea"/>
            </a:endParaRPr>
          </a:p>
        </p:txBody>
      </p:sp>
      <p:pic>
        <p:nvPicPr>
          <p:cNvPr id="43" name="图片 42"/>
          <p:cNvPicPr>
            <a:picLocks noChangeAspect="1"/>
          </p:cNvPicPr>
          <p:nvPr/>
        </p:nvPicPr>
        <p:blipFill>
          <a:blip r:embed="rId5"/>
          <a:stretch>
            <a:fillRect/>
          </a:stretch>
        </p:blipFill>
        <p:spPr>
          <a:xfrm>
            <a:off x="2284730" y="2444750"/>
            <a:ext cx="457200" cy="457200"/>
          </a:xfrm>
          <a:prstGeom prst="rect">
            <a:avLst/>
          </a:prstGeom>
        </p:spPr>
      </p:pic>
      <p:pic>
        <p:nvPicPr>
          <p:cNvPr id="45" name="图片 44"/>
          <p:cNvPicPr>
            <a:picLocks noChangeAspect="1"/>
          </p:cNvPicPr>
          <p:nvPr/>
        </p:nvPicPr>
        <p:blipFill>
          <a:blip r:embed="rId6"/>
          <a:stretch>
            <a:fillRect/>
          </a:stretch>
        </p:blipFill>
        <p:spPr>
          <a:xfrm>
            <a:off x="2852420" y="2444750"/>
            <a:ext cx="455839" cy="457200"/>
          </a:xfrm>
          <a:prstGeom prst="rect">
            <a:avLst/>
          </a:prstGeom>
        </p:spPr>
      </p:pic>
      <p:pic>
        <p:nvPicPr>
          <p:cNvPr id="47" name="图片 46"/>
          <p:cNvPicPr>
            <a:picLocks noChangeAspect="1"/>
          </p:cNvPicPr>
          <p:nvPr/>
        </p:nvPicPr>
        <p:blipFill>
          <a:blip r:embed="rId7"/>
          <a:stretch>
            <a:fillRect/>
          </a:stretch>
        </p:blipFill>
        <p:spPr>
          <a:xfrm>
            <a:off x="2851150" y="1816735"/>
            <a:ext cx="457200" cy="457200"/>
          </a:xfrm>
          <a:prstGeom prst="rect">
            <a:avLst/>
          </a:prstGeom>
        </p:spPr>
      </p:pic>
      <p:pic>
        <p:nvPicPr>
          <p:cNvPr id="49" name="图片 48"/>
          <p:cNvPicPr>
            <a:picLocks noChangeAspect="1"/>
          </p:cNvPicPr>
          <p:nvPr/>
        </p:nvPicPr>
        <p:blipFill>
          <a:blip r:embed="rId8"/>
          <a:stretch>
            <a:fillRect/>
          </a:stretch>
        </p:blipFill>
        <p:spPr>
          <a:xfrm>
            <a:off x="1740535" y="2444750"/>
            <a:ext cx="457200" cy="457200"/>
          </a:xfrm>
          <a:prstGeom prst="rect">
            <a:avLst/>
          </a:prstGeom>
        </p:spPr>
      </p:pic>
      <p:pic>
        <p:nvPicPr>
          <p:cNvPr id="51" name="图片 50"/>
          <p:cNvPicPr>
            <a:picLocks noChangeAspect="1"/>
          </p:cNvPicPr>
          <p:nvPr/>
        </p:nvPicPr>
        <p:blipFill>
          <a:blip r:embed="rId9"/>
          <a:stretch>
            <a:fillRect/>
          </a:stretch>
        </p:blipFill>
        <p:spPr>
          <a:xfrm>
            <a:off x="2284730" y="1816735"/>
            <a:ext cx="457200" cy="457200"/>
          </a:xfrm>
          <a:prstGeom prst="rect">
            <a:avLst/>
          </a:prstGeom>
        </p:spPr>
      </p:pic>
      <p:pic>
        <p:nvPicPr>
          <p:cNvPr id="53" name="图片 52"/>
          <p:cNvPicPr>
            <a:picLocks noChangeAspect="1"/>
          </p:cNvPicPr>
          <p:nvPr/>
        </p:nvPicPr>
        <p:blipFill>
          <a:blip r:embed="rId10"/>
          <a:stretch>
            <a:fillRect/>
          </a:stretch>
        </p:blipFill>
        <p:spPr>
          <a:xfrm>
            <a:off x="1740535" y="1816735"/>
            <a:ext cx="457200" cy="457200"/>
          </a:xfrm>
          <a:prstGeom prst="rect">
            <a:avLst/>
          </a:prstGeom>
        </p:spPr>
      </p:pic>
      <p:sp>
        <p:nvSpPr>
          <p:cNvPr id="37" name="文本框 36"/>
          <p:cNvSpPr txBox="1"/>
          <p:nvPr/>
        </p:nvSpPr>
        <p:spPr>
          <a:xfrm>
            <a:off x="3412490" y="1730375"/>
            <a:ext cx="7552690" cy="1337945"/>
          </a:xfrm>
          <a:prstGeom prst="rect">
            <a:avLst/>
          </a:prstGeom>
          <a:noFill/>
        </p:spPr>
        <p:txBody>
          <a:bodyPr wrap="square" rtlCol="0" anchor="t">
            <a:spAutoFit/>
          </a:bodyPr>
          <a:p>
            <a:pPr>
              <a:lnSpc>
                <a:spcPct val="150000"/>
              </a:lnSpc>
            </a:pPr>
            <a:r>
              <a:rPr lang="en-US" altLang="zh-CN">
                <a:sym typeface="+mn-ea"/>
              </a:rPr>
              <a:t>把模型、工具、资料和流程组织成可直接使用的产品或系统，例如知识库、智能体和工作流平台。它决定 AI 如何完成多步骤任务、何时调用工具，以及如何控制权限与流程。</a:t>
            </a:r>
            <a:endParaRPr lang="zh-CN" altLang="en-US"/>
          </a:p>
        </p:txBody>
      </p:sp>
      <p:sp>
        <p:nvSpPr>
          <p:cNvPr id="77" name="矩形 76"/>
          <p:cNvSpPr/>
          <p:nvPr/>
        </p:nvSpPr>
        <p:spPr>
          <a:xfrm>
            <a:off x="979805" y="3282950"/>
            <a:ext cx="685800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78" name="文本框 77"/>
          <p:cNvSpPr txBox="1"/>
          <p:nvPr/>
        </p:nvSpPr>
        <p:spPr>
          <a:xfrm>
            <a:off x="986790" y="4421505"/>
            <a:ext cx="551815" cy="1005840"/>
          </a:xfrm>
          <a:prstGeom prst="rect">
            <a:avLst/>
          </a:prstGeom>
          <a:noFill/>
        </p:spPr>
        <p:txBody>
          <a:bodyPr vert="eaVert" wrap="none" rtlCol="0">
            <a:spAutoFit/>
          </a:bodyPr>
          <a:p>
            <a:r>
              <a:rPr lang="en-US" altLang="zh-CN" sz="2400"/>
              <a:t>模型层</a:t>
            </a:r>
            <a:endParaRPr lang="en-US" altLang="zh-CN" sz="2400"/>
          </a:p>
        </p:txBody>
      </p:sp>
      <p:sp>
        <p:nvSpPr>
          <p:cNvPr id="79" name="矩形 78"/>
          <p:cNvSpPr/>
          <p:nvPr/>
        </p:nvSpPr>
        <p:spPr>
          <a:xfrm>
            <a:off x="1539875" y="3514090"/>
            <a:ext cx="3030855" cy="2636520"/>
          </a:xfrm>
          <a:prstGeom prst="rect">
            <a:avLst/>
          </a:prstGeom>
        </p:spPr>
        <p:style>
          <a:lnRef idx="3">
            <a:schemeClr val="lt1"/>
          </a:lnRef>
          <a:fillRef idx="1">
            <a:schemeClr val="accent5"/>
          </a:fillRef>
          <a:effectRef idx="1">
            <a:schemeClr val="accent5"/>
          </a:effectRef>
          <a:fontRef idx="minor">
            <a:schemeClr val="lt1"/>
          </a:fontRef>
        </p:style>
        <p:txBody>
          <a:bodyPr rtlCol="0" anchor="ctr"/>
          <a:p>
            <a:pPr algn="ctr"/>
            <a:endParaRPr lang="zh-CN" altLang="en-US"/>
          </a:p>
        </p:txBody>
      </p:sp>
      <p:sp>
        <p:nvSpPr>
          <p:cNvPr id="80" name="文本框 79"/>
          <p:cNvSpPr txBox="1"/>
          <p:nvPr/>
        </p:nvSpPr>
        <p:spPr>
          <a:xfrm>
            <a:off x="2506345" y="3512820"/>
            <a:ext cx="1097280" cy="368300"/>
          </a:xfrm>
          <a:prstGeom prst="rect">
            <a:avLst/>
          </a:prstGeom>
          <a:noFill/>
        </p:spPr>
        <p:txBody>
          <a:bodyPr wrap="none" rtlCol="0">
            <a:spAutoFit/>
          </a:bodyPr>
          <a:p>
            <a:r>
              <a:rPr lang="en-US" altLang="zh-CN"/>
              <a:t>文本模型</a:t>
            </a:r>
            <a:endParaRPr lang="en-US" altLang="zh-CN"/>
          </a:p>
        </p:txBody>
      </p:sp>
      <p:sp>
        <p:nvSpPr>
          <p:cNvPr id="81" name="文本框 80"/>
          <p:cNvSpPr txBox="1"/>
          <p:nvPr/>
        </p:nvSpPr>
        <p:spPr>
          <a:xfrm>
            <a:off x="1668780" y="4679315"/>
            <a:ext cx="1249680" cy="306705"/>
          </a:xfrm>
          <a:prstGeom prst="rect">
            <a:avLst/>
          </a:prstGeom>
          <a:noFill/>
        </p:spPr>
        <p:txBody>
          <a:bodyPr wrap="none" rtlCol="0">
            <a:spAutoFit/>
          </a:bodyPr>
          <a:p>
            <a:r>
              <a:rPr lang="en-US" altLang="en-US" sz="1400"/>
              <a:t>通用</a:t>
            </a:r>
            <a:r>
              <a:rPr lang="en-US" altLang="zh-CN" sz="1400"/>
              <a:t>文本模型</a:t>
            </a:r>
            <a:endParaRPr lang="en-US" altLang="zh-CN" sz="1400"/>
          </a:p>
        </p:txBody>
      </p:sp>
      <p:sp>
        <p:nvSpPr>
          <p:cNvPr id="82" name="文本框 81"/>
          <p:cNvSpPr txBox="1"/>
          <p:nvPr/>
        </p:nvSpPr>
        <p:spPr>
          <a:xfrm>
            <a:off x="3373755" y="4678680"/>
            <a:ext cx="894080" cy="306705"/>
          </a:xfrm>
          <a:prstGeom prst="rect">
            <a:avLst/>
          </a:prstGeom>
          <a:noFill/>
        </p:spPr>
        <p:txBody>
          <a:bodyPr wrap="none" rtlCol="0">
            <a:spAutoFit/>
          </a:bodyPr>
          <a:p>
            <a:r>
              <a:rPr lang="en-US" altLang="en-US" sz="1400"/>
              <a:t>推理</a:t>
            </a:r>
            <a:r>
              <a:rPr lang="en-US" altLang="zh-CN" sz="1400"/>
              <a:t>模型</a:t>
            </a:r>
            <a:endParaRPr lang="en-US" altLang="zh-CN" sz="1400"/>
          </a:p>
        </p:txBody>
      </p:sp>
      <p:sp>
        <p:nvSpPr>
          <p:cNvPr id="83" name="文本框 82"/>
          <p:cNvSpPr txBox="1"/>
          <p:nvPr/>
        </p:nvSpPr>
        <p:spPr>
          <a:xfrm>
            <a:off x="1801495" y="5720715"/>
            <a:ext cx="894080" cy="306705"/>
          </a:xfrm>
          <a:prstGeom prst="rect">
            <a:avLst/>
          </a:prstGeom>
          <a:noFill/>
        </p:spPr>
        <p:txBody>
          <a:bodyPr wrap="none" rtlCol="0">
            <a:spAutoFit/>
          </a:bodyPr>
          <a:p>
            <a:r>
              <a:rPr lang="en-US" altLang="en-US" sz="1400"/>
              <a:t>代码</a:t>
            </a:r>
            <a:r>
              <a:rPr lang="en-US" altLang="zh-CN" sz="1400"/>
              <a:t>模型</a:t>
            </a:r>
            <a:endParaRPr lang="en-US" altLang="zh-CN" sz="1400"/>
          </a:p>
        </p:txBody>
      </p:sp>
      <p:sp>
        <p:nvSpPr>
          <p:cNvPr id="84" name="文本框 83"/>
          <p:cNvSpPr txBox="1"/>
          <p:nvPr/>
        </p:nvSpPr>
        <p:spPr>
          <a:xfrm>
            <a:off x="3195955" y="5720715"/>
            <a:ext cx="1249680" cy="306705"/>
          </a:xfrm>
          <a:prstGeom prst="rect">
            <a:avLst/>
          </a:prstGeom>
          <a:noFill/>
        </p:spPr>
        <p:txBody>
          <a:bodyPr wrap="none" rtlCol="0">
            <a:spAutoFit/>
          </a:bodyPr>
          <a:p>
            <a:r>
              <a:rPr lang="en-US" altLang="en-US" sz="1400"/>
              <a:t>视觉语言模型</a:t>
            </a:r>
            <a:endParaRPr lang="en-US" altLang="en-US" sz="1400"/>
          </a:p>
        </p:txBody>
      </p:sp>
      <p:sp>
        <p:nvSpPr>
          <p:cNvPr id="85" name="矩形 84"/>
          <p:cNvSpPr/>
          <p:nvPr/>
        </p:nvSpPr>
        <p:spPr>
          <a:xfrm>
            <a:off x="4706620" y="3512820"/>
            <a:ext cx="3030855" cy="2636520"/>
          </a:xfrm>
          <a:prstGeom prst="rect">
            <a:avLst/>
          </a:prstGeom>
        </p:spPr>
        <p:style>
          <a:lnRef idx="3">
            <a:schemeClr val="lt1"/>
          </a:lnRef>
          <a:fillRef idx="1">
            <a:schemeClr val="accent5"/>
          </a:fillRef>
          <a:effectRef idx="1">
            <a:schemeClr val="accent5"/>
          </a:effectRef>
          <a:fontRef idx="minor">
            <a:schemeClr val="lt1"/>
          </a:fontRef>
        </p:style>
        <p:txBody>
          <a:bodyPr rtlCol="0" anchor="ctr"/>
          <a:p>
            <a:pPr algn="ctr"/>
            <a:endParaRPr lang="zh-CN" altLang="en-US"/>
          </a:p>
        </p:txBody>
      </p:sp>
      <p:sp>
        <p:nvSpPr>
          <p:cNvPr id="86" name="文本框 85"/>
          <p:cNvSpPr txBox="1"/>
          <p:nvPr/>
        </p:nvSpPr>
        <p:spPr>
          <a:xfrm>
            <a:off x="5673725" y="3514090"/>
            <a:ext cx="1325880" cy="368300"/>
          </a:xfrm>
          <a:prstGeom prst="rect">
            <a:avLst/>
          </a:prstGeom>
          <a:noFill/>
        </p:spPr>
        <p:txBody>
          <a:bodyPr wrap="none" rtlCol="0">
            <a:spAutoFit/>
          </a:bodyPr>
          <a:p>
            <a:r>
              <a:rPr lang="en-US" altLang="en-US"/>
              <a:t>多模态</a:t>
            </a:r>
            <a:r>
              <a:rPr lang="en-US" altLang="zh-CN"/>
              <a:t>模型</a:t>
            </a:r>
            <a:endParaRPr lang="en-US" altLang="zh-CN"/>
          </a:p>
        </p:txBody>
      </p:sp>
      <p:sp>
        <p:nvSpPr>
          <p:cNvPr id="87" name="文本框 86"/>
          <p:cNvSpPr txBox="1"/>
          <p:nvPr/>
        </p:nvSpPr>
        <p:spPr>
          <a:xfrm>
            <a:off x="4826000" y="4679315"/>
            <a:ext cx="894080" cy="306705"/>
          </a:xfrm>
          <a:prstGeom prst="rect">
            <a:avLst/>
          </a:prstGeom>
          <a:noFill/>
        </p:spPr>
        <p:txBody>
          <a:bodyPr wrap="none" rtlCol="0">
            <a:spAutoFit/>
          </a:bodyPr>
          <a:p>
            <a:r>
              <a:rPr lang="en-US" altLang="en-US" sz="1400"/>
              <a:t>语音模型</a:t>
            </a:r>
            <a:endParaRPr lang="en-US" altLang="en-US" sz="1400"/>
          </a:p>
        </p:txBody>
      </p:sp>
      <p:sp>
        <p:nvSpPr>
          <p:cNvPr id="88" name="文本框 87"/>
          <p:cNvSpPr txBox="1"/>
          <p:nvPr/>
        </p:nvSpPr>
        <p:spPr>
          <a:xfrm>
            <a:off x="5986145" y="4679315"/>
            <a:ext cx="1664970" cy="306705"/>
          </a:xfrm>
          <a:prstGeom prst="rect">
            <a:avLst/>
          </a:prstGeom>
          <a:noFill/>
        </p:spPr>
        <p:txBody>
          <a:bodyPr wrap="none" rtlCol="0">
            <a:spAutoFit/>
          </a:bodyPr>
          <a:p>
            <a:r>
              <a:rPr lang="en-US" altLang="en-US" sz="1400"/>
              <a:t>图像生成/编辑模型</a:t>
            </a:r>
            <a:endParaRPr lang="en-US" altLang="en-US" sz="1400"/>
          </a:p>
        </p:txBody>
      </p:sp>
      <p:sp>
        <p:nvSpPr>
          <p:cNvPr id="89" name="文本框 88"/>
          <p:cNvSpPr txBox="1"/>
          <p:nvPr/>
        </p:nvSpPr>
        <p:spPr>
          <a:xfrm>
            <a:off x="5504180" y="5842635"/>
            <a:ext cx="1664970" cy="306705"/>
          </a:xfrm>
          <a:prstGeom prst="rect">
            <a:avLst/>
          </a:prstGeom>
          <a:noFill/>
        </p:spPr>
        <p:txBody>
          <a:bodyPr wrap="none" rtlCol="0">
            <a:spAutoFit/>
          </a:bodyPr>
          <a:p>
            <a:r>
              <a:rPr lang="en-US" altLang="en-US" sz="1400"/>
              <a:t>视频生成/编辑模型</a:t>
            </a:r>
            <a:endParaRPr lang="en-US" altLang="en-US" sz="1400"/>
          </a:p>
        </p:txBody>
      </p:sp>
      <p:pic>
        <p:nvPicPr>
          <p:cNvPr id="90" name="图片 89"/>
          <p:cNvPicPr>
            <a:picLocks noChangeAspect="1"/>
          </p:cNvPicPr>
          <p:nvPr/>
        </p:nvPicPr>
        <p:blipFill>
          <a:blip r:embed="rId11"/>
          <a:stretch>
            <a:fillRect/>
          </a:stretch>
        </p:blipFill>
        <p:spPr>
          <a:xfrm>
            <a:off x="3592195" y="4051300"/>
            <a:ext cx="457200" cy="457200"/>
          </a:xfrm>
          <a:prstGeom prst="rect">
            <a:avLst/>
          </a:prstGeom>
        </p:spPr>
      </p:pic>
      <p:pic>
        <p:nvPicPr>
          <p:cNvPr id="91" name="图片 90"/>
          <p:cNvPicPr>
            <a:picLocks noChangeAspect="1"/>
          </p:cNvPicPr>
          <p:nvPr/>
        </p:nvPicPr>
        <p:blipFill>
          <a:blip r:embed="rId12"/>
          <a:stretch>
            <a:fillRect/>
          </a:stretch>
        </p:blipFill>
        <p:spPr>
          <a:xfrm>
            <a:off x="2016760" y="4051300"/>
            <a:ext cx="463351" cy="457200"/>
          </a:xfrm>
          <a:prstGeom prst="rect">
            <a:avLst/>
          </a:prstGeom>
        </p:spPr>
      </p:pic>
      <p:pic>
        <p:nvPicPr>
          <p:cNvPr id="92" name="图片 91"/>
          <p:cNvPicPr>
            <a:picLocks noChangeAspect="1"/>
          </p:cNvPicPr>
          <p:nvPr/>
        </p:nvPicPr>
        <p:blipFill>
          <a:blip r:embed="rId13"/>
          <a:stretch>
            <a:fillRect/>
          </a:stretch>
        </p:blipFill>
        <p:spPr>
          <a:xfrm>
            <a:off x="2023110" y="5154930"/>
            <a:ext cx="457200" cy="457200"/>
          </a:xfrm>
          <a:prstGeom prst="rect">
            <a:avLst/>
          </a:prstGeom>
        </p:spPr>
      </p:pic>
      <p:pic>
        <p:nvPicPr>
          <p:cNvPr id="93" name="图片 92"/>
          <p:cNvPicPr>
            <a:picLocks noChangeAspect="1"/>
          </p:cNvPicPr>
          <p:nvPr/>
        </p:nvPicPr>
        <p:blipFill>
          <a:blip r:embed="rId14"/>
          <a:stretch>
            <a:fillRect/>
          </a:stretch>
        </p:blipFill>
        <p:spPr>
          <a:xfrm>
            <a:off x="3592195" y="5154930"/>
            <a:ext cx="457200" cy="457200"/>
          </a:xfrm>
          <a:prstGeom prst="rect">
            <a:avLst/>
          </a:prstGeom>
        </p:spPr>
      </p:pic>
      <p:pic>
        <p:nvPicPr>
          <p:cNvPr id="94" name="图片 93"/>
          <p:cNvPicPr>
            <a:picLocks noChangeAspect="1"/>
          </p:cNvPicPr>
          <p:nvPr/>
        </p:nvPicPr>
        <p:blipFill>
          <a:blip r:embed="rId15"/>
          <a:stretch>
            <a:fillRect/>
          </a:stretch>
        </p:blipFill>
        <p:spPr>
          <a:xfrm>
            <a:off x="5044440" y="4051300"/>
            <a:ext cx="457200" cy="457200"/>
          </a:xfrm>
          <a:prstGeom prst="rect">
            <a:avLst/>
          </a:prstGeom>
        </p:spPr>
      </p:pic>
      <p:pic>
        <p:nvPicPr>
          <p:cNvPr id="95" name="图片 94"/>
          <p:cNvPicPr>
            <a:picLocks noChangeAspect="1"/>
          </p:cNvPicPr>
          <p:nvPr/>
        </p:nvPicPr>
        <p:blipFill>
          <a:blip r:embed="rId16"/>
          <a:stretch>
            <a:fillRect/>
          </a:stretch>
        </p:blipFill>
        <p:spPr>
          <a:xfrm>
            <a:off x="6108065" y="5334635"/>
            <a:ext cx="457200" cy="457200"/>
          </a:xfrm>
          <a:prstGeom prst="rect">
            <a:avLst/>
          </a:prstGeom>
        </p:spPr>
      </p:pic>
      <p:pic>
        <p:nvPicPr>
          <p:cNvPr id="96" name="图片 95"/>
          <p:cNvPicPr>
            <a:picLocks noChangeAspect="1"/>
          </p:cNvPicPr>
          <p:nvPr/>
        </p:nvPicPr>
        <p:blipFill>
          <a:blip r:embed="rId17"/>
          <a:stretch>
            <a:fillRect/>
          </a:stretch>
        </p:blipFill>
        <p:spPr>
          <a:xfrm>
            <a:off x="6544310" y="4051300"/>
            <a:ext cx="548640" cy="457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sym typeface="+mn-ea"/>
              </a:rPr>
              <a:t>使用场景——文本模型</a:t>
            </a:r>
            <a:endParaRPr lang="en-US">
              <a:sym typeface="+mn-ea"/>
            </a:endParaRPr>
          </a:p>
        </p:txBody>
      </p:sp>
      <p:sp>
        <p:nvSpPr>
          <p:cNvPr id="4" name="圆角矩形 3"/>
          <p:cNvSpPr/>
          <p:nvPr/>
        </p:nvSpPr>
        <p:spPr>
          <a:xfrm>
            <a:off x="1024255" y="2084705"/>
            <a:ext cx="10380345" cy="32238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150000"/>
              </a:lnSpc>
            </a:pPr>
            <a:r>
              <a:rPr lang="zh-CN" altLang="en-US" sz="2400">
                <a:cs typeface="+mn-lt"/>
              </a:rPr>
              <a:t>临近物理期末考试，</a:t>
            </a:r>
            <a:r>
              <a:rPr lang="en-US" altLang="zh-CN" sz="2400">
                <a:cs typeface="+mn-lt"/>
              </a:rPr>
              <a:t>你</a:t>
            </a:r>
            <a:r>
              <a:rPr lang="zh-CN" altLang="en-US" sz="2400">
                <a:cs typeface="+mn-lt"/>
              </a:rPr>
              <a:t>只剩下五天的复习时间，每晚最多能抽出45分钟。</a:t>
            </a:r>
            <a:r>
              <a:rPr lang="en-US" altLang="zh-CN" sz="2400">
                <a:cs typeface="+mn-lt"/>
              </a:rPr>
              <a:t>你</a:t>
            </a:r>
            <a:r>
              <a:rPr lang="zh-CN" altLang="en-US" sz="2400">
                <a:cs typeface="+mn-lt"/>
              </a:rPr>
              <a:t>发现电路分析和电磁感应这两块内容总是互相纠缠，概念和公式越看越乱。</a:t>
            </a:r>
            <a:r>
              <a:rPr lang="en-US" altLang="zh-CN" sz="2400">
                <a:cs typeface="+mn-lt"/>
              </a:rPr>
              <a:t>你需要让AI帮你</a:t>
            </a:r>
            <a:r>
              <a:rPr lang="zh-CN" altLang="en-US" sz="2400">
                <a:cs typeface="+mn-lt"/>
              </a:rPr>
              <a:t>对接学习资料、分析历史错题、</a:t>
            </a:r>
            <a:r>
              <a:rPr lang="en-US" altLang="zh-CN" sz="2400">
                <a:cs typeface="+mn-lt"/>
              </a:rPr>
              <a:t>并制定复习</a:t>
            </a:r>
            <a:r>
              <a:rPr lang="zh-CN" altLang="en-US" sz="2400">
                <a:cs typeface="+mn-lt"/>
              </a:rPr>
              <a:t>计划</a:t>
            </a:r>
            <a:r>
              <a:rPr lang="en-US" altLang="zh-CN" sz="2400">
                <a:cs typeface="+mn-lt"/>
              </a:rPr>
              <a:t>。</a:t>
            </a:r>
            <a:endParaRPr lang="en-US" altLang="zh-CN" sz="2400">
              <a:cs typeface="+mn-lt"/>
            </a:endParaRPr>
          </a:p>
        </p:txBody>
      </p:sp>
      <p:sp>
        <p:nvSpPr>
          <p:cNvPr id="5" name="圆角矩形 4"/>
          <p:cNvSpPr/>
          <p:nvPr/>
        </p:nvSpPr>
        <p:spPr>
          <a:xfrm>
            <a:off x="4804410" y="1765935"/>
            <a:ext cx="2583180" cy="573405"/>
          </a:xfrm>
          <a:prstGeom prst="roundRect">
            <a:avLst/>
          </a:prstGeom>
        </p:spPr>
        <p:style>
          <a:lnRef idx="3">
            <a:schemeClr val="lt1"/>
          </a:lnRef>
          <a:fillRef idx="1">
            <a:schemeClr val="accent6"/>
          </a:fillRef>
          <a:effectRef idx="1">
            <a:schemeClr val="accent6"/>
          </a:effectRef>
          <a:fontRef idx="minor">
            <a:schemeClr val="lt1"/>
          </a:fontRef>
        </p:style>
        <p:txBody>
          <a:bodyPr rtlCol="0" anchor="ctr"/>
          <a:p>
            <a:pPr algn="ctr"/>
            <a:r>
              <a:rPr lang="en-US" altLang="zh-CN" sz="2400"/>
              <a:t>场景假设</a:t>
            </a:r>
            <a:endParaRPr lang="en-US" altLang="zh-CN"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sym typeface="+mn-ea"/>
              </a:rPr>
              <a:t>使用场景——文本模型</a:t>
            </a:r>
            <a:endParaRPr lang="zh-CN" altLang="en-US"/>
          </a:p>
        </p:txBody>
      </p:sp>
      <p:sp>
        <p:nvSpPr>
          <p:cNvPr id="4" name="文本框 3"/>
          <p:cNvSpPr txBox="1"/>
          <p:nvPr/>
        </p:nvSpPr>
        <p:spPr>
          <a:xfrm>
            <a:off x="1273810" y="1903730"/>
            <a:ext cx="6121400" cy="1014730"/>
          </a:xfrm>
          <a:prstGeom prst="rect">
            <a:avLst/>
          </a:prstGeom>
          <a:noFill/>
        </p:spPr>
        <p:txBody>
          <a:bodyPr wrap="square" rtlCol="0" anchor="t">
            <a:spAutoFit/>
          </a:bodyPr>
          <a:p>
            <a:pPr>
              <a:lnSpc>
                <a:spcPct val="150000"/>
              </a:lnSpc>
            </a:pPr>
            <a:r>
              <a:rPr lang="zh-CN" altLang="en-US" sz="2000"/>
              <a:t>我总分不清电路分析和电磁感应</a:t>
            </a:r>
            <a:r>
              <a:rPr lang="en-US" altLang="zh-CN" sz="2000"/>
              <a:t>，</a:t>
            </a:r>
            <a:r>
              <a:rPr lang="zh-CN" altLang="en-US" sz="2000"/>
              <a:t>请用高中生能懂的语言解释区别</a:t>
            </a:r>
            <a:r>
              <a:rPr lang="en-US" altLang="zh-CN" sz="2000"/>
              <a:t>。</a:t>
            </a:r>
            <a:endParaRPr lang="en-US" altLang="zh-CN" sz="2000"/>
          </a:p>
        </p:txBody>
      </p:sp>
      <p:sp>
        <p:nvSpPr>
          <p:cNvPr id="5" name="文本框 4"/>
          <p:cNvSpPr txBox="1"/>
          <p:nvPr/>
        </p:nvSpPr>
        <p:spPr>
          <a:xfrm>
            <a:off x="8776335" y="2134235"/>
            <a:ext cx="2480310" cy="553085"/>
          </a:xfrm>
          <a:prstGeom prst="rect">
            <a:avLst/>
          </a:prstGeom>
          <a:noFill/>
        </p:spPr>
        <p:txBody>
          <a:bodyPr wrap="square" rtlCol="0" anchor="t">
            <a:spAutoFit/>
          </a:bodyPr>
          <a:p>
            <a:pPr algn="ctr">
              <a:lnSpc>
                <a:spcPct val="150000"/>
              </a:lnSpc>
            </a:pPr>
            <a:r>
              <a:rPr lang="en-US" sz="2000"/>
              <a:t>通用文本模型</a:t>
            </a:r>
            <a:endParaRPr 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sym typeface="+mn-ea"/>
              </a:rPr>
              <a:t>使用场景——文本模型</a:t>
            </a:r>
            <a:endParaRPr lang="zh-CN" altLang="en-US"/>
          </a:p>
        </p:txBody>
      </p:sp>
      <p:sp>
        <p:nvSpPr>
          <p:cNvPr id="4" name="文本框 3"/>
          <p:cNvSpPr txBox="1"/>
          <p:nvPr/>
        </p:nvSpPr>
        <p:spPr>
          <a:xfrm>
            <a:off x="1273810" y="1903730"/>
            <a:ext cx="6121400" cy="1476375"/>
          </a:xfrm>
          <a:prstGeom prst="rect">
            <a:avLst/>
          </a:prstGeom>
          <a:noFill/>
        </p:spPr>
        <p:txBody>
          <a:bodyPr wrap="square" rtlCol="0" anchor="t">
            <a:spAutoFit/>
          </a:bodyPr>
          <a:p>
            <a:pPr>
              <a:lnSpc>
                <a:spcPct val="150000"/>
              </a:lnSpc>
            </a:pPr>
            <a:r>
              <a:rPr lang="zh-CN" altLang="en-US" sz="2000"/>
              <a:t>我总分不清电路分析和电磁感应</a:t>
            </a:r>
            <a:r>
              <a:rPr lang="en-US" altLang="zh-CN" sz="2000"/>
              <a:t>，</a:t>
            </a:r>
            <a:r>
              <a:rPr lang="zh-CN" altLang="en-US" sz="2000"/>
              <a:t>请用高中生能懂的语言解释区别</a:t>
            </a:r>
            <a:r>
              <a:rPr lang="en-US" altLang="zh-CN" sz="2000"/>
              <a:t>。</a:t>
            </a:r>
            <a:r>
              <a:rPr lang="en-US" altLang="en-US" sz="2000">
                <a:solidFill>
                  <a:schemeClr val="accent6">
                    <a:lumMod val="75000"/>
                  </a:schemeClr>
                </a:solidFill>
              </a:rPr>
              <a:t>然后出一道包含两者概念的计算题，再给出逐步求解的详细步骤和题解分析。</a:t>
            </a:r>
            <a:endParaRPr lang="en-US" altLang="en-US" sz="2000">
              <a:solidFill>
                <a:schemeClr val="accent2">
                  <a:lumMod val="75000"/>
                </a:schemeClr>
              </a:solidFill>
            </a:endParaRPr>
          </a:p>
        </p:txBody>
      </p:sp>
      <p:sp>
        <p:nvSpPr>
          <p:cNvPr id="5" name="文本框 4"/>
          <p:cNvSpPr txBox="1"/>
          <p:nvPr/>
        </p:nvSpPr>
        <p:spPr>
          <a:xfrm>
            <a:off x="8776335" y="2134235"/>
            <a:ext cx="2480310" cy="553085"/>
          </a:xfrm>
          <a:prstGeom prst="rect">
            <a:avLst/>
          </a:prstGeom>
          <a:noFill/>
        </p:spPr>
        <p:txBody>
          <a:bodyPr wrap="square" rtlCol="0" anchor="t">
            <a:spAutoFit/>
          </a:bodyPr>
          <a:p>
            <a:pPr algn="ctr">
              <a:lnSpc>
                <a:spcPct val="150000"/>
              </a:lnSpc>
            </a:pPr>
            <a:r>
              <a:rPr lang="en-US" sz="2000">
                <a:solidFill>
                  <a:schemeClr val="bg1">
                    <a:lumMod val="85000"/>
                  </a:schemeClr>
                </a:solidFill>
              </a:rPr>
              <a:t>通用文本模型</a:t>
            </a:r>
            <a:endParaRPr lang="en-US" sz="2000">
              <a:solidFill>
                <a:schemeClr val="bg1">
                  <a:lumMod val="85000"/>
                </a:schemeClr>
              </a:solidFill>
            </a:endParaRPr>
          </a:p>
        </p:txBody>
      </p:sp>
      <p:sp>
        <p:nvSpPr>
          <p:cNvPr id="3" name="文本框 2"/>
          <p:cNvSpPr txBox="1"/>
          <p:nvPr/>
        </p:nvSpPr>
        <p:spPr>
          <a:xfrm>
            <a:off x="8776335" y="2687320"/>
            <a:ext cx="2480310" cy="553085"/>
          </a:xfrm>
          <a:prstGeom prst="rect">
            <a:avLst/>
          </a:prstGeom>
          <a:noFill/>
        </p:spPr>
        <p:txBody>
          <a:bodyPr wrap="square" rtlCol="0" anchor="t">
            <a:spAutoFit/>
          </a:bodyPr>
          <a:p>
            <a:pPr algn="ctr">
              <a:lnSpc>
                <a:spcPct val="150000"/>
              </a:lnSpc>
            </a:pPr>
            <a:r>
              <a:rPr lang="en-US" sz="2000">
                <a:solidFill>
                  <a:schemeClr val="accent6">
                    <a:lumMod val="75000"/>
                  </a:schemeClr>
                </a:solidFill>
              </a:rPr>
              <a:t>推理模型</a:t>
            </a:r>
            <a:endParaRPr lang="en-US" sz="2000">
              <a:solidFill>
                <a:schemeClr val="accent6">
                  <a:lumMod val="75000"/>
                </a:schemeClr>
              </a:solidFill>
            </a:endParaRPr>
          </a:p>
        </p:txBody>
      </p:sp>
      <p:cxnSp>
        <p:nvCxnSpPr>
          <p:cNvPr id="6" name="直接连接符 5"/>
          <p:cNvCxnSpPr/>
          <p:nvPr/>
        </p:nvCxnSpPr>
        <p:spPr>
          <a:xfrm>
            <a:off x="9021445" y="2449195"/>
            <a:ext cx="1921510" cy="0"/>
          </a:xfrm>
          <a:prstGeom prst="line">
            <a:avLst/>
          </a:prstGeom>
          <a:ln w="19050"/>
        </p:spPr>
        <p:style>
          <a:lnRef idx="1">
            <a:schemeClr val="dk1"/>
          </a:lnRef>
          <a:fillRef idx="0">
            <a:schemeClr val="dk1"/>
          </a:fillRef>
          <a:effectRef idx="0">
            <a:schemeClr val="dk1"/>
          </a:effectRef>
          <a:fontRef idx="minor">
            <a:schemeClr val="tx1"/>
          </a:fontRef>
        </p:style>
      </p:cxnSp>
      <p:pic>
        <p:nvPicPr>
          <p:cNvPr id="10" name="图片 9"/>
          <p:cNvPicPr>
            <a:picLocks noChangeAspect="1"/>
          </p:cNvPicPr>
          <p:nvPr/>
        </p:nvPicPr>
        <p:blipFill>
          <a:blip r:embed="rId1"/>
          <a:stretch>
            <a:fillRect/>
          </a:stretch>
        </p:blipFill>
        <p:spPr>
          <a:xfrm>
            <a:off x="2094865" y="3742055"/>
            <a:ext cx="3376538" cy="2468880"/>
          </a:xfrm>
          <a:prstGeom prst="rect">
            <a:avLst/>
          </a:prstGeom>
        </p:spPr>
      </p:pic>
      <p:pic>
        <p:nvPicPr>
          <p:cNvPr id="11" name="图片 10"/>
          <p:cNvPicPr>
            <a:picLocks noChangeAspect="1"/>
          </p:cNvPicPr>
          <p:nvPr/>
        </p:nvPicPr>
        <p:blipFill>
          <a:blip r:embed="rId2"/>
          <a:stretch>
            <a:fillRect/>
          </a:stretch>
        </p:blipFill>
        <p:spPr>
          <a:xfrm>
            <a:off x="6537325" y="3742055"/>
            <a:ext cx="2821628" cy="2468880"/>
          </a:xfrm>
          <a:prstGeom prst="rect">
            <a:avLst/>
          </a:prstGeom>
        </p:spPr>
      </p:pic>
      <p:sp>
        <p:nvSpPr>
          <p:cNvPr id="12" name="矩形 11"/>
          <p:cNvSpPr/>
          <p:nvPr/>
        </p:nvSpPr>
        <p:spPr>
          <a:xfrm>
            <a:off x="2223770" y="5539105"/>
            <a:ext cx="885825" cy="535940"/>
          </a:xfrm>
          <a:prstGeom prst="rect">
            <a:avLst/>
          </a:prstGeom>
          <a:noFill/>
          <a:ln w="1905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矩形 12"/>
          <p:cNvSpPr/>
          <p:nvPr/>
        </p:nvSpPr>
        <p:spPr>
          <a:xfrm>
            <a:off x="7257415" y="4347845"/>
            <a:ext cx="1132205" cy="455295"/>
          </a:xfrm>
          <a:prstGeom prst="rect">
            <a:avLst/>
          </a:prstGeom>
          <a:noFill/>
          <a:ln w="1905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文本框 13"/>
          <p:cNvSpPr txBox="1"/>
          <p:nvPr/>
        </p:nvSpPr>
        <p:spPr>
          <a:xfrm>
            <a:off x="2614930" y="6313805"/>
            <a:ext cx="2230120" cy="337185"/>
          </a:xfrm>
          <a:prstGeom prst="rect">
            <a:avLst/>
          </a:prstGeom>
          <a:noFill/>
        </p:spPr>
        <p:txBody>
          <a:bodyPr wrap="none" rtlCol="0">
            <a:spAutoFit/>
          </a:bodyPr>
          <a:p>
            <a:r>
              <a:rPr lang="en-US" altLang="zh-CN" sz="1600"/>
              <a:t>DeepSeek - 深度思考</a:t>
            </a:r>
            <a:endParaRPr lang="en-US" altLang="zh-CN" sz="1600"/>
          </a:p>
        </p:txBody>
      </p:sp>
      <p:sp>
        <p:nvSpPr>
          <p:cNvPr id="15" name="文本框 14"/>
          <p:cNvSpPr txBox="1"/>
          <p:nvPr/>
        </p:nvSpPr>
        <p:spPr>
          <a:xfrm>
            <a:off x="7257415" y="6313805"/>
            <a:ext cx="1604645" cy="337185"/>
          </a:xfrm>
          <a:prstGeom prst="rect">
            <a:avLst/>
          </a:prstGeom>
          <a:noFill/>
        </p:spPr>
        <p:txBody>
          <a:bodyPr wrap="none" rtlCol="0">
            <a:spAutoFit/>
          </a:bodyPr>
          <a:p>
            <a:r>
              <a:rPr lang="en-US" altLang="en-US" sz="1600"/>
              <a:t>豆包 - 专家模式</a:t>
            </a:r>
            <a:endParaRPr lang="en-US" altLang="en-US"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sym typeface="+mn-ea"/>
              </a:rPr>
              <a:t>使用场景——文本模型</a:t>
            </a:r>
            <a:endParaRPr lang="zh-CN" altLang="en-US"/>
          </a:p>
        </p:txBody>
      </p:sp>
      <p:sp>
        <p:nvSpPr>
          <p:cNvPr id="4" name="文本框 3"/>
          <p:cNvSpPr txBox="1"/>
          <p:nvPr/>
        </p:nvSpPr>
        <p:spPr>
          <a:xfrm>
            <a:off x="1273810" y="1903730"/>
            <a:ext cx="6121400" cy="2861310"/>
          </a:xfrm>
          <a:prstGeom prst="rect">
            <a:avLst/>
          </a:prstGeom>
          <a:noFill/>
        </p:spPr>
        <p:txBody>
          <a:bodyPr wrap="square" rtlCol="0" anchor="t">
            <a:spAutoFit/>
          </a:bodyPr>
          <a:p>
            <a:pPr>
              <a:lnSpc>
                <a:spcPct val="150000"/>
              </a:lnSpc>
            </a:pPr>
            <a:r>
              <a:rPr lang="zh-CN" altLang="en-US" sz="2000"/>
              <a:t>我总分不清电路分析和电磁感应</a:t>
            </a:r>
            <a:r>
              <a:rPr lang="en-US" altLang="zh-CN" sz="2000"/>
              <a:t>，</a:t>
            </a:r>
            <a:r>
              <a:rPr lang="zh-CN" altLang="en-US" sz="2000"/>
              <a:t>请用高中生能懂的语言解释区别</a:t>
            </a:r>
            <a:r>
              <a:rPr lang="en-US" altLang="zh-CN" sz="2000"/>
              <a:t>。</a:t>
            </a:r>
            <a:r>
              <a:rPr lang="en-US" altLang="en-US" sz="2000">
                <a:solidFill>
                  <a:schemeClr val="accent6">
                    <a:lumMod val="75000"/>
                  </a:schemeClr>
                </a:solidFill>
              </a:rPr>
              <a:t>然后出一道包含两者概念的计算题，再给出逐步求解的详细步骤和题解分析。</a:t>
            </a:r>
            <a:r>
              <a:rPr lang="en-US" altLang="en-US" sz="2000">
                <a:solidFill>
                  <a:schemeClr val="accent2">
                    <a:lumMod val="75000"/>
                  </a:schemeClr>
                </a:solidFill>
              </a:rPr>
              <a:t>最后，生成一个Python脚本进行上述题目的计算，并把题目已知的各项数据设计为可配置参数。注意：脚本运行时需要输出每一步计算使用的公式以及最后的结果。</a:t>
            </a:r>
            <a:endParaRPr lang="en-US" altLang="en-US" sz="2000">
              <a:solidFill>
                <a:schemeClr val="accent2">
                  <a:lumMod val="75000"/>
                </a:schemeClr>
              </a:solidFill>
            </a:endParaRPr>
          </a:p>
        </p:txBody>
      </p:sp>
      <p:sp>
        <p:nvSpPr>
          <p:cNvPr id="5" name="文本框 4"/>
          <p:cNvSpPr txBox="1"/>
          <p:nvPr/>
        </p:nvSpPr>
        <p:spPr>
          <a:xfrm>
            <a:off x="8776335" y="2134235"/>
            <a:ext cx="2480310" cy="553085"/>
          </a:xfrm>
          <a:prstGeom prst="rect">
            <a:avLst/>
          </a:prstGeom>
          <a:noFill/>
        </p:spPr>
        <p:txBody>
          <a:bodyPr wrap="square" rtlCol="0" anchor="t">
            <a:spAutoFit/>
          </a:bodyPr>
          <a:p>
            <a:pPr algn="ctr">
              <a:lnSpc>
                <a:spcPct val="150000"/>
              </a:lnSpc>
            </a:pPr>
            <a:r>
              <a:rPr lang="en-US" sz="2000">
                <a:solidFill>
                  <a:schemeClr val="bg1">
                    <a:lumMod val="85000"/>
                  </a:schemeClr>
                </a:solidFill>
              </a:rPr>
              <a:t>通用文本模型</a:t>
            </a:r>
            <a:endParaRPr lang="en-US" sz="2000">
              <a:solidFill>
                <a:schemeClr val="bg1">
                  <a:lumMod val="85000"/>
                </a:schemeClr>
              </a:solidFill>
            </a:endParaRPr>
          </a:p>
        </p:txBody>
      </p:sp>
      <p:sp>
        <p:nvSpPr>
          <p:cNvPr id="3" name="文本框 2"/>
          <p:cNvSpPr txBox="1"/>
          <p:nvPr/>
        </p:nvSpPr>
        <p:spPr>
          <a:xfrm>
            <a:off x="8776335" y="2687320"/>
            <a:ext cx="2480310" cy="553085"/>
          </a:xfrm>
          <a:prstGeom prst="rect">
            <a:avLst/>
          </a:prstGeom>
          <a:noFill/>
        </p:spPr>
        <p:txBody>
          <a:bodyPr wrap="square" rtlCol="0" anchor="t">
            <a:spAutoFit/>
          </a:bodyPr>
          <a:p>
            <a:pPr algn="ctr">
              <a:lnSpc>
                <a:spcPct val="150000"/>
              </a:lnSpc>
            </a:pPr>
            <a:r>
              <a:rPr lang="en-US" sz="2000">
                <a:solidFill>
                  <a:schemeClr val="accent6">
                    <a:lumMod val="75000"/>
                  </a:schemeClr>
                </a:solidFill>
              </a:rPr>
              <a:t>推理模型</a:t>
            </a:r>
            <a:endParaRPr lang="en-US" sz="2000">
              <a:solidFill>
                <a:schemeClr val="accent6">
                  <a:lumMod val="75000"/>
                </a:schemeClr>
              </a:solidFill>
            </a:endParaRPr>
          </a:p>
        </p:txBody>
      </p:sp>
      <p:cxnSp>
        <p:nvCxnSpPr>
          <p:cNvPr id="6" name="直接连接符 5"/>
          <p:cNvCxnSpPr/>
          <p:nvPr/>
        </p:nvCxnSpPr>
        <p:spPr>
          <a:xfrm>
            <a:off x="9021445" y="2449195"/>
            <a:ext cx="1921510" cy="0"/>
          </a:xfrm>
          <a:prstGeom prst="line">
            <a:avLst/>
          </a:prstGeom>
          <a:ln w="19050"/>
        </p:spPr>
        <p:style>
          <a:lnRef idx="1">
            <a:schemeClr val="dk1"/>
          </a:lnRef>
          <a:fillRef idx="0">
            <a:schemeClr val="dk1"/>
          </a:fillRef>
          <a:effectRef idx="0">
            <a:schemeClr val="dk1"/>
          </a:effectRef>
          <a:fontRef idx="minor">
            <a:schemeClr val="tx1"/>
          </a:fontRef>
        </p:style>
      </p:cxnSp>
      <p:sp>
        <p:nvSpPr>
          <p:cNvPr id="7" name="文本框 6"/>
          <p:cNvSpPr txBox="1"/>
          <p:nvPr/>
        </p:nvSpPr>
        <p:spPr>
          <a:xfrm>
            <a:off x="8776335" y="3856990"/>
            <a:ext cx="2480310" cy="553085"/>
          </a:xfrm>
          <a:prstGeom prst="rect">
            <a:avLst/>
          </a:prstGeom>
          <a:noFill/>
        </p:spPr>
        <p:txBody>
          <a:bodyPr wrap="square" rtlCol="0" anchor="t">
            <a:spAutoFit/>
          </a:bodyPr>
          <a:p>
            <a:pPr algn="ctr">
              <a:lnSpc>
                <a:spcPct val="150000"/>
              </a:lnSpc>
            </a:pPr>
            <a:r>
              <a:rPr lang="en-US" altLang="en-US" sz="2000">
                <a:solidFill>
                  <a:schemeClr val="accent2">
                    <a:lumMod val="75000"/>
                  </a:schemeClr>
                </a:solidFill>
              </a:rPr>
              <a:t>代码</a:t>
            </a:r>
            <a:r>
              <a:rPr lang="en-US" sz="2000">
                <a:solidFill>
                  <a:schemeClr val="accent2">
                    <a:lumMod val="75000"/>
                  </a:schemeClr>
                </a:solidFill>
              </a:rPr>
              <a:t>模型</a:t>
            </a:r>
            <a:endParaRPr lang="en-US" sz="2000">
              <a:solidFill>
                <a:schemeClr val="accent2">
                  <a:lumMod val="75000"/>
                </a:schemeClr>
              </a:solidFill>
            </a:endParaRPr>
          </a:p>
        </p:txBody>
      </p:sp>
      <p:sp>
        <p:nvSpPr>
          <p:cNvPr id="8" name="加号 7"/>
          <p:cNvSpPr/>
          <p:nvPr/>
        </p:nvSpPr>
        <p:spPr>
          <a:xfrm>
            <a:off x="9765665" y="3332480"/>
            <a:ext cx="432435" cy="432435"/>
          </a:xfrm>
          <a:prstGeom prst="mathPlus">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11" name="文本框 10"/>
          <p:cNvSpPr txBox="1"/>
          <p:nvPr/>
        </p:nvSpPr>
        <p:spPr>
          <a:xfrm>
            <a:off x="6961505" y="5561965"/>
            <a:ext cx="1367790" cy="337185"/>
          </a:xfrm>
          <a:prstGeom prst="rect">
            <a:avLst/>
          </a:prstGeom>
        </p:spPr>
        <p:style>
          <a:lnRef idx="3">
            <a:schemeClr val="lt1"/>
          </a:lnRef>
          <a:fillRef idx="1">
            <a:schemeClr val="accent6"/>
          </a:fillRef>
          <a:effectRef idx="1">
            <a:schemeClr val="accent6"/>
          </a:effectRef>
          <a:fontRef idx="minor">
            <a:schemeClr val="lt1"/>
          </a:fontRef>
        </p:style>
        <p:txBody>
          <a:bodyPr wrap="none" rtlCol="0">
            <a:spAutoFit/>
          </a:bodyPr>
          <a:p>
            <a:r>
              <a:rPr lang="en-US" altLang="en-US" sz="1600"/>
              <a:t>GPT 5.5/5.6</a:t>
            </a:r>
            <a:endParaRPr lang="en-US" altLang="en-US" sz="1600"/>
          </a:p>
        </p:txBody>
      </p:sp>
      <p:sp>
        <p:nvSpPr>
          <p:cNvPr id="12" name="文本框 11"/>
          <p:cNvSpPr txBox="1"/>
          <p:nvPr/>
        </p:nvSpPr>
        <p:spPr>
          <a:xfrm>
            <a:off x="3126740" y="5561965"/>
            <a:ext cx="1891665" cy="337185"/>
          </a:xfrm>
          <a:prstGeom prst="rect">
            <a:avLst/>
          </a:prstGeom>
        </p:spPr>
        <p:style>
          <a:lnRef idx="3">
            <a:schemeClr val="lt1"/>
          </a:lnRef>
          <a:fillRef idx="1">
            <a:schemeClr val="accent6"/>
          </a:fillRef>
          <a:effectRef idx="1">
            <a:schemeClr val="accent6"/>
          </a:effectRef>
          <a:fontRef idx="minor">
            <a:schemeClr val="lt1"/>
          </a:fontRef>
        </p:style>
        <p:txBody>
          <a:bodyPr wrap="none" rtlCol="0">
            <a:spAutoFit/>
          </a:bodyPr>
          <a:p>
            <a:r>
              <a:rPr lang="en-US" altLang="en-US" sz="1600"/>
              <a:t>DeepSeek-Coder</a:t>
            </a:r>
            <a:endParaRPr lang="en-US" altLang="en-US"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sym typeface="+mn-ea"/>
              </a:rPr>
              <a:t>使用场景——文本模型</a:t>
            </a:r>
            <a:endParaRPr lang="zh-CN" altLang="en-US"/>
          </a:p>
        </p:txBody>
      </p:sp>
      <p:sp>
        <p:nvSpPr>
          <p:cNvPr id="4" name="文本框 3"/>
          <p:cNvSpPr txBox="1"/>
          <p:nvPr/>
        </p:nvSpPr>
        <p:spPr>
          <a:xfrm>
            <a:off x="1273810" y="1903730"/>
            <a:ext cx="6121400" cy="2861310"/>
          </a:xfrm>
          <a:prstGeom prst="rect">
            <a:avLst/>
          </a:prstGeom>
          <a:noFill/>
        </p:spPr>
        <p:txBody>
          <a:bodyPr wrap="square" rtlCol="0" anchor="t">
            <a:spAutoFit/>
          </a:bodyPr>
          <a:p>
            <a:pPr>
              <a:lnSpc>
                <a:spcPct val="150000"/>
              </a:lnSpc>
            </a:pPr>
            <a:r>
              <a:rPr lang="zh-CN" altLang="en-US" sz="2000"/>
              <a:t>我总分不清电路分析和电磁感应</a:t>
            </a:r>
            <a:r>
              <a:rPr lang="en-US" altLang="zh-CN" sz="2000"/>
              <a:t>，</a:t>
            </a:r>
            <a:r>
              <a:rPr lang="zh-CN" altLang="en-US" sz="2000"/>
              <a:t>请用高中生能懂的语言解释区别</a:t>
            </a:r>
            <a:r>
              <a:rPr lang="en-US" altLang="zh-CN" sz="2000"/>
              <a:t>。</a:t>
            </a:r>
            <a:r>
              <a:rPr lang="en-US" altLang="en-US" sz="2000">
                <a:solidFill>
                  <a:schemeClr val="accent6">
                    <a:lumMod val="75000"/>
                  </a:schemeClr>
                </a:solidFill>
              </a:rPr>
              <a:t>然后出一道包含两者概念的计算题，再给出逐步求解的详细步骤和题解分析。</a:t>
            </a:r>
            <a:r>
              <a:rPr lang="en-US" altLang="en-US" sz="2000">
                <a:solidFill>
                  <a:schemeClr val="accent2">
                    <a:lumMod val="75000"/>
                  </a:schemeClr>
                </a:solidFill>
              </a:rPr>
              <a:t>最后，生成一个Python脚本进行上述题目的计算，并把题目已知的各项数据设计为可配置参数。注意：脚本运行时需要输出每一步计算使用的公式以及最后的结果。</a:t>
            </a:r>
            <a:endParaRPr lang="en-US" altLang="en-US" sz="2000">
              <a:solidFill>
                <a:schemeClr val="accent2">
                  <a:lumMod val="75000"/>
                </a:schemeClr>
              </a:solidFill>
            </a:endParaRPr>
          </a:p>
        </p:txBody>
      </p:sp>
      <p:sp>
        <p:nvSpPr>
          <p:cNvPr id="5" name="文本框 4"/>
          <p:cNvSpPr txBox="1"/>
          <p:nvPr/>
        </p:nvSpPr>
        <p:spPr>
          <a:xfrm>
            <a:off x="8776335" y="2134235"/>
            <a:ext cx="2480310" cy="553085"/>
          </a:xfrm>
          <a:prstGeom prst="rect">
            <a:avLst/>
          </a:prstGeom>
          <a:noFill/>
        </p:spPr>
        <p:txBody>
          <a:bodyPr wrap="square" rtlCol="0" anchor="t">
            <a:spAutoFit/>
          </a:bodyPr>
          <a:p>
            <a:pPr algn="ctr">
              <a:lnSpc>
                <a:spcPct val="150000"/>
              </a:lnSpc>
            </a:pPr>
            <a:r>
              <a:rPr lang="en-US" sz="2000">
                <a:solidFill>
                  <a:schemeClr val="bg1">
                    <a:lumMod val="85000"/>
                  </a:schemeClr>
                </a:solidFill>
              </a:rPr>
              <a:t>通用文本模型</a:t>
            </a:r>
            <a:endParaRPr lang="en-US" sz="2000">
              <a:solidFill>
                <a:schemeClr val="bg1">
                  <a:lumMod val="85000"/>
                </a:schemeClr>
              </a:solidFill>
            </a:endParaRPr>
          </a:p>
        </p:txBody>
      </p:sp>
      <p:sp>
        <p:nvSpPr>
          <p:cNvPr id="3" name="文本框 2"/>
          <p:cNvSpPr txBox="1"/>
          <p:nvPr/>
        </p:nvSpPr>
        <p:spPr>
          <a:xfrm>
            <a:off x="8776335" y="2687320"/>
            <a:ext cx="2480310" cy="553085"/>
          </a:xfrm>
          <a:prstGeom prst="rect">
            <a:avLst/>
          </a:prstGeom>
          <a:noFill/>
        </p:spPr>
        <p:txBody>
          <a:bodyPr wrap="square" rtlCol="0" anchor="t">
            <a:spAutoFit/>
          </a:bodyPr>
          <a:p>
            <a:pPr algn="ctr">
              <a:lnSpc>
                <a:spcPct val="150000"/>
              </a:lnSpc>
            </a:pPr>
            <a:r>
              <a:rPr lang="en-US" sz="2000">
                <a:solidFill>
                  <a:schemeClr val="accent6">
                    <a:lumMod val="75000"/>
                  </a:schemeClr>
                </a:solidFill>
              </a:rPr>
              <a:t>推理模型</a:t>
            </a:r>
            <a:endParaRPr lang="en-US" sz="2000">
              <a:solidFill>
                <a:schemeClr val="accent6">
                  <a:lumMod val="75000"/>
                </a:schemeClr>
              </a:solidFill>
            </a:endParaRPr>
          </a:p>
        </p:txBody>
      </p:sp>
      <p:cxnSp>
        <p:nvCxnSpPr>
          <p:cNvPr id="6" name="直接连接符 5"/>
          <p:cNvCxnSpPr/>
          <p:nvPr/>
        </p:nvCxnSpPr>
        <p:spPr>
          <a:xfrm>
            <a:off x="9021445" y="2449195"/>
            <a:ext cx="1921510" cy="0"/>
          </a:xfrm>
          <a:prstGeom prst="line">
            <a:avLst/>
          </a:prstGeom>
          <a:ln w="19050"/>
        </p:spPr>
        <p:style>
          <a:lnRef idx="1">
            <a:schemeClr val="dk1"/>
          </a:lnRef>
          <a:fillRef idx="0">
            <a:schemeClr val="dk1"/>
          </a:fillRef>
          <a:effectRef idx="0">
            <a:schemeClr val="dk1"/>
          </a:effectRef>
          <a:fontRef idx="minor">
            <a:schemeClr val="tx1"/>
          </a:fontRef>
        </p:style>
      </p:cxnSp>
      <p:sp>
        <p:nvSpPr>
          <p:cNvPr id="7" name="文本框 6"/>
          <p:cNvSpPr txBox="1"/>
          <p:nvPr/>
        </p:nvSpPr>
        <p:spPr>
          <a:xfrm>
            <a:off x="8776335" y="3856990"/>
            <a:ext cx="2480310" cy="553085"/>
          </a:xfrm>
          <a:prstGeom prst="rect">
            <a:avLst/>
          </a:prstGeom>
          <a:noFill/>
        </p:spPr>
        <p:txBody>
          <a:bodyPr wrap="square" rtlCol="0" anchor="t">
            <a:spAutoFit/>
          </a:bodyPr>
          <a:p>
            <a:pPr algn="ctr">
              <a:lnSpc>
                <a:spcPct val="150000"/>
              </a:lnSpc>
            </a:pPr>
            <a:r>
              <a:rPr lang="en-US" altLang="en-US" sz="2000">
                <a:solidFill>
                  <a:schemeClr val="accent2">
                    <a:lumMod val="75000"/>
                  </a:schemeClr>
                </a:solidFill>
              </a:rPr>
              <a:t>代码</a:t>
            </a:r>
            <a:r>
              <a:rPr lang="en-US" sz="2000">
                <a:solidFill>
                  <a:schemeClr val="accent2">
                    <a:lumMod val="75000"/>
                  </a:schemeClr>
                </a:solidFill>
              </a:rPr>
              <a:t>模型</a:t>
            </a:r>
            <a:endParaRPr lang="en-US" sz="2000">
              <a:solidFill>
                <a:schemeClr val="accent2">
                  <a:lumMod val="75000"/>
                </a:schemeClr>
              </a:solidFill>
            </a:endParaRPr>
          </a:p>
        </p:txBody>
      </p:sp>
      <p:sp>
        <p:nvSpPr>
          <p:cNvPr id="8" name="加号 7"/>
          <p:cNvSpPr/>
          <p:nvPr/>
        </p:nvSpPr>
        <p:spPr>
          <a:xfrm>
            <a:off x="9765665" y="3332480"/>
            <a:ext cx="432435" cy="432435"/>
          </a:xfrm>
          <a:prstGeom prst="mathPlus">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9" name="文本框 8"/>
          <p:cNvSpPr txBox="1"/>
          <p:nvPr/>
        </p:nvSpPr>
        <p:spPr>
          <a:xfrm>
            <a:off x="2719070" y="5012055"/>
            <a:ext cx="3230880" cy="398780"/>
          </a:xfrm>
          <a:prstGeom prst="rect">
            <a:avLst/>
          </a:prstGeom>
          <a:noFill/>
        </p:spPr>
        <p:txBody>
          <a:bodyPr wrap="none" rtlCol="0">
            <a:spAutoFit/>
          </a:bodyPr>
          <a:p>
            <a:r>
              <a:rPr lang="en-US" altLang="zh-CN" sz="2000">
                <a:solidFill>
                  <a:srgbClr val="C00000"/>
                </a:solidFill>
              </a:rPr>
              <a:t>【上述文本通过语音输入】</a:t>
            </a:r>
            <a:endParaRPr lang="en-US" altLang="zh-CN" sz="2000">
              <a:solidFill>
                <a:srgbClr val="C00000"/>
              </a:solidFill>
            </a:endParaRPr>
          </a:p>
        </p:txBody>
      </p:sp>
      <p:sp>
        <p:nvSpPr>
          <p:cNvPr id="10" name="文本框 9"/>
          <p:cNvSpPr txBox="1"/>
          <p:nvPr/>
        </p:nvSpPr>
        <p:spPr>
          <a:xfrm>
            <a:off x="8810625" y="4934585"/>
            <a:ext cx="2480310" cy="553085"/>
          </a:xfrm>
          <a:prstGeom prst="rect">
            <a:avLst/>
          </a:prstGeom>
          <a:noFill/>
        </p:spPr>
        <p:txBody>
          <a:bodyPr wrap="square" rtlCol="0" anchor="t">
            <a:spAutoFit/>
          </a:bodyPr>
          <a:p>
            <a:pPr algn="ctr">
              <a:lnSpc>
                <a:spcPct val="150000"/>
              </a:lnSpc>
            </a:pPr>
            <a:r>
              <a:rPr lang="en-US" altLang="en-US" sz="2000">
                <a:solidFill>
                  <a:srgbClr val="C00000"/>
                </a:solidFill>
              </a:rPr>
              <a:t>语音</a:t>
            </a:r>
            <a:r>
              <a:rPr lang="en-US" sz="2000">
                <a:solidFill>
                  <a:srgbClr val="C00000"/>
                </a:solidFill>
              </a:rPr>
              <a:t>模型</a:t>
            </a:r>
            <a:endParaRPr lang="en-US" sz="2000">
              <a:solidFill>
                <a:srgbClr val="C00000"/>
              </a:solidFill>
            </a:endParaRPr>
          </a:p>
        </p:txBody>
      </p:sp>
      <p:sp>
        <p:nvSpPr>
          <p:cNvPr id="11" name="加号 10"/>
          <p:cNvSpPr/>
          <p:nvPr/>
        </p:nvSpPr>
        <p:spPr>
          <a:xfrm>
            <a:off x="9799955" y="4410075"/>
            <a:ext cx="432435" cy="432435"/>
          </a:xfrm>
          <a:prstGeom prst="mathPlus">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pic>
        <p:nvPicPr>
          <p:cNvPr id="12" name="图片 11" descr="acd4adc72334ad45387e1a46e1984081"/>
          <p:cNvPicPr>
            <a:picLocks noChangeAspect="1"/>
          </p:cNvPicPr>
          <p:nvPr/>
        </p:nvPicPr>
        <p:blipFill>
          <a:blip r:embed="rId1"/>
          <a:srcRect b="88396"/>
          <a:stretch>
            <a:fillRect/>
          </a:stretch>
        </p:blipFill>
        <p:spPr>
          <a:xfrm>
            <a:off x="1972310" y="5576570"/>
            <a:ext cx="4273900" cy="1097280"/>
          </a:xfrm>
          <a:prstGeom prst="rect">
            <a:avLst/>
          </a:prstGeom>
        </p:spPr>
      </p:pic>
      <p:pic>
        <p:nvPicPr>
          <p:cNvPr id="13" name="图片 12" descr="acd4adc72334ad45387e1a46e1984081"/>
          <p:cNvPicPr>
            <a:picLocks noChangeAspect="1"/>
          </p:cNvPicPr>
          <p:nvPr/>
        </p:nvPicPr>
        <p:blipFill>
          <a:blip r:embed="rId1"/>
          <a:srcRect t="82025" b="3251"/>
          <a:stretch>
            <a:fillRect/>
          </a:stretch>
        </p:blipFill>
        <p:spPr>
          <a:xfrm>
            <a:off x="6611620" y="5576570"/>
            <a:ext cx="3368537" cy="1097280"/>
          </a:xfrm>
          <a:prstGeom prst="rect">
            <a:avLst/>
          </a:prstGeom>
        </p:spPr>
      </p:pic>
      <p:sp>
        <p:nvSpPr>
          <p:cNvPr id="14" name="矩形 13"/>
          <p:cNvSpPr/>
          <p:nvPr/>
        </p:nvSpPr>
        <p:spPr>
          <a:xfrm>
            <a:off x="4598670" y="6075045"/>
            <a:ext cx="885825" cy="535940"/>
          </a:xfrm>
          <a:prstGeom prst="rect">
            <a:avLst/>
          </a:prstGeom>
          <a:noFill/>
          <a:ln w="1905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矩形 14"/>
          <p:cNvSpPr/>
          <p:nvPr/>
        </p:nvSpPr>
        <p:spPr>
          <a:xfrm>
            <a:off x="7853045" y="6075045"/>
            <a:ext cx="885825" cy="535940"/>
          </a:xfrm>
          <a:prstGeom prst="rect">
            <a:avLst/>
          </a:prstGeom>
          <a:noFill/>
          <a:ln w="1905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sym typeface="+mn-ea"/>
              </a:rPr>
              <a:t>使用场景——文本模型</a:t>
            </a:r>
            <a:endParaRPr lang="zh-CN" altLang="en-US"/>
          </a:p>
        </p:txBody>
      </p:sp>
      <p:sp>
        <p:nvSpPr>
          <p:cNvPr id="4" name="文本框 3"/>
          <p:cNvSpPr txBox="1"/>
          <p:nvPr/>
        </p:nvSpPr>
        <p:spPr>
          <a:xfrm>
            <a:off x="1273810" y="1903730"/>
            <a:ext cx="6121400" cy="1476375"/>
          </a:xfrm>
          <a:prstGeom prst="rect">
            <a:avLst/>
          </a:prstGeom>
          <a:noFill/>
        </p:spPr>
        <p:txBody>
          <a:bodyPr wrap="square" rtlCol="0" anchor="t">
            <a:spAutoFit/>
          </a:bodyPr>
          <a:p>
            <a:pPr>
              <a:lnSpc>
                <a:spcPct val="150000"/>
              </a:lnSpc>
            </a:pPr>
            <a:r>
              <a:rPr lang="zh-CN" altLang="en-US" sz="2000"/>
              <a:t>我总分不清电路分析和电磁感应</a:t>
            </a:r>
            <a:r>
              <a:rPr lang="en-US" altLang="zh-CN" sz="2000"/>
              <a:t>，</a:t>
            </a:r>
            <a:r>
              <a:rPr lang="zh-CN" altLang="en-US" sz="2000"/>
              <a:t>请用高中生能懂的语言解释区别</a:t>
            </a:r>
            <a:r>
              <a:rPr lang="en-US" altLang="zh-CN" sz="2000"/>
              <a:t>。</a:t>
            </a:r>
            <a:r>
              <a:rPr lang="en-US" altLang="en-US" sz="2000">
                <a:solidFill>
                  <a:schemeClr val="accent6">
                    <a:lumMod val="75000"/>
                  </a:schemeClr>
                </a:solidFill>
              </a:rPr>
              <a:t>然后出一道包含两者概念的计算题，再给出逐步求解的详细步骤和题解分析。</a:t>
            </a:r>
            <a:endParaRPr lang="en-US" altLang="en-US" sz="2000">
              <a:solidFill>
                <a:schemeClr val="accent2">
                  <a:lumMod val="75000"/>
                </a:schemeClr>
              </a:solidFill>
            </a:endParaRPr>
          </a:p>
        </p:txBody>
      </p:sp>
      <p:sp>
        <p:nvSpPr>
          <p:cNvPr id="5" name="文本框 4"/>
          <p:cNvSpPr txBox="1"/>
          <p:nvPr/>
        </p:nvSpPr>
        <p:spPr>
          <a:xfrm>
            <a:off x="8776335" y="2134235"/>
            <a:ext cx="2480310" cy="553085"/>
          </a:xfrm>
          <a:prstGeom prst="rect">
            <a:avLst/>
          </a:prstGeom>
          <a:noFill/>
        </p:spPr>
        <p:txBody>
          <a:bodyPr wrap="square" rtlCol="0" anchor="t">
            <a:spAutoFit/>
          </a:bodyPr>
          <a:p>
            <a:pPr algn="ctr">
              <a:lnSpc>
                <a:spcPct val="150000"/>
              </a:lnSpc>
            </a:pPr>
            <a:r>
              <a:rPr lang="en-US" sz="2000">
                <a:solidFill>
                  <a:schemeClr val="bg1">
                    <a:lumMod val="85000"/>
                  </a:schemeClr>
                </a:solidFill>
              </a:rPr>
              <a:t>通用文本模型</a:t>
            </a:r>
            <a:endParaRPr lang="en-US" sz="2000">
              <a:solidFill>
                <a:schemeClr val="bg1">
                  <a:lumMod val="85000"/>
                </a:schemeClr>
              </a:solidFill>
            </a:endParaRPr>
          </a:p>
        </p:txBody>
      </p:sp>
      <p:sp>
        <p:nvSpPr>
          <p:cNvPr id="3" name="文本框 2"/>
          <p:cNvSpPr txBox="1"/>
          <p:nvPr/>
        </p:nvSpPr>
        <p:spPr>
          <a:xfrm>
            <a:off x="8776335" y="2687320"/>
            <a:ext cx="2480310" cy="553085"/>
          </a:xfrm>
          <a:prstGeom prst="rect">
            <a:avLst/>
          </a:prstGeom>
          <a:noFill/>
        </p:spPr>
        <p:txBody>
          <a:bodyPr wrap="square" rtlCol="0" anchor="t">
            <a:spAutoFit/>
          </a:bodyPr>
          <a:p>
            <a:pPr algn="ctr">
              <a:lnSpc>
                <a:spcPct val="150000"/>
              </a:lnSpc>
            </a:pPr>
            <a:r>
              <a:rPr lang="en-US" sz="2000">
                <a:solidFill>
                  <a:schemeClr val="accent6">
                    <a:lumMod val="75000"/>
                  </a:schemeClr>
                </a:solidFill>
              </a:rPr>
              <a:t>推理模型</a:t>
            </a:r>
            <a:endParaRPr lang="en-US" sz="2000">
              <a:solidFill>
                <a:schemeClr val="accent6">
                  <a:lumMod val="75000"/>
                </a:schemeClr>
              </a:solidFill>
            </a:endParaRPr>
          </a:p>
        </p:txBody>
      </p:sp>
      <p:cxnSp>
        <p:nvCxnSpPr>
          <p:cNvPr id="6" name="直接连接符 5"/>
          <p:cNvCxnSpPr/>
          <p:nvPr/>
        </p:nvCxnSpPr>
        <p:spPr>
          <a:xfrm>
            <a:off x="9021445" y="2449195"/>
            <a:ext cx="1921510" cy="0"/>
          </a:xfrm>
          <a:prstGeom prst="line">
            <a:avLst/>
          </a:prstGeom>
          <a:ln w="19050"/>
        </p:spPr>
        <p:style>
          <a:lnRef idx="1">
            <a:schemeClr val="dk1"/>
          </a:lnRef>
          <a:fillRef idx="0">
            <a:schemeClr val="dk1"/>
          </a:fillRef>
          <a:effectRef idx="0">
            <a:schemeClr val="dk1"/>
          </a:effectRef>
          <a:fontRef idx="minor">
            <a:schemeClr val="tx1"/>
          </a:fontRef>
        </p:style>
      </p:cxnSp>
      <p:sp>
        <p:nvSpPr>
          <p:cNvPr id="7" name="文本框 6"/>
          <p:cNvSpPr txBox="1"/>
          <p:nvPr/>
        </p:nvSpPr>
        <p:spPr>
          <a:xfrm>
            <a:off x="1273810" y="3797300"/>
            <a:ext cx="6121400" cy="1014730"/>
          </a:xfrm>
          <a:prstGeom prst="rect">
            <a:avLst/>
          </a:prstGeom>
          <a:noFill/>
        </p:spPr>
        <p:txBody>
          <a:bodyPr wrap="square" rtlCol="0" anchor="t">
            <a:spAutoFit/>
          </a:bodyPr>
          <a:p>
            <a:pPr>
              <a:lnSpc>
                <a:spcPct val="150000"/>
              </a:lnSpc>
            </a:pPr>
            <a:r>
              <a:rPr lang="en-US" sz="2000">
                <a:solidFill>
                  <a:schemeClr val="accent2">
                    <a:lumMod val="75000"/>
                  </a:schemeClr>
                </a:solidFill>
              </a:rPr>
              <a:t>附件中是我用手机拍的自己求解刚才这道题的步骤，结果和你的不一样，分析一下我的解法有什么问题。</a:t>
            </a:r>
            <a:endParaRPr lang="en-US" sz="2000">
              <a:solidFill>
                <a:schemeClr val="accent2">
                  <a:lumMod val="75000"/>
                </a:schemeClr>
              </a:solidFill>
            </a:endParaRPr>
          </a:p>
        </p:txBody>
      </p:sp>
      <p:cxnSp>
        <p:nvCxnSpPr>
          <p:cNvPr id="8" name="直接连接符 7"/>
          <p:cNvCxnSpPr/>
          <p:nvPr/>
        </p:nvCxnSpPr>
        <p:spPr>
          <a:xfrm>
            <a:off x="1076325" y="3643630"/>
            <a:ext cx="10306050" cy="0"/>
          </a:xfrm>
          <a:prstGeom prst="line">
            <a:avLst/>
          </a:prstGeom>
          <a:ln w="19050">
            <a:solidFill>
              <a:schemeClr val="bg1">
                <a:lumMod val="75000"/>
              </a:schemeClr>
            </a:solidFill>
            <a:prstDash val="dash"/>
          </a:ln>
        </p:spPr>
        <p:style>
          <a:lnRef idx="1">
            <a:schemeClr val="dk1"/>
          </a:lnRef>
          <a:fillRef idx="0">
            <a:schemeClr val="dk1"/>
          </a:fillRef>
          <a:effectRef idx="0">
            <a:schemeClr val="dk1"/>
          </a:effectRef>
          <a:fontRef idx="minor">
            <a:schemeClr val="tx1"/>
          </a:fontRef>
        </p:style>
      </p:cxnSp>
      <p:pic>
        <p:nvPicPr>
          <p:cNvPr id="9" name="图片 8"/>
          <p:cNvPicPr>
            <a:picLocks noChangeAspect="1"/>
          </p:cNvPicPr>
          <p:nvPr/>
        </p:nvPicPr>
        <p:blipFill>
          <a:blip r:embed="rId1"/>
          <a:srcRect l="11104" b="51498"/>
          <a:stretch>
            <a:fillRect/>
          </a:stretch>
        </p:blipFill>
        <p:spPr>
          <a:xfrm>
            <a:off x="3007995" y="4812030"/>
            <a:ext cx="2653665" cy="1809750"/>
          </a:xfrm>
          <a:prstGeom prst="rect">
            <a:avLst/>
          </a:prstGeom>
        </p:spPr>
      </p:pic>
      <p:sp>
        <p:nvSpPr>
          <p:cNvPr id="11" name="文本框 10"/>
          <p:cNvSpPr txBox="1"/>
          <p:nvPr/>
        </p:nvSpPr>
        <p:spPr>
          <a:xfrm>
            <a:off x="8742045" y="4161790"/>
            <a:ext cx="2480310" cy="553085"/>
          </a:xfrm>
          <a:prstGeom prst="rect">
            <a:avLst/>
          </a:prstGeom>
          <a:noFill/>
        </p:spPr>
        <p:txBody>
          <a:bodyPr wrap="square" rtlCol="0" anchor="t">
            <a:spAutoFit/>
          </a:bodyPr>
          <a:p>
            <a:pPr algn="ctr">
              <a:lnSpc>
                <a:spcPct val="150000"/>
              </a:lnSpc>
            </a:pPr>
            <a:r>
              <a:rPr lang="en-US" sz="2000">
                <a:solidFill>
                  <a:schemeClr val="accent6">
                    <a:lumMod val="75000"/>
                  </a:schemeClr>
                </a:solidFill>
              </a:rPr>
              <a:t>推理模型</a:t>
            </a:r>
            <a:endParaRPr lang="en-US" sz="2000">
              <a:solidFill>
                <a:schemeClr val="accent6">
                  <a:lumMod val="75000"/>
                </a:schemeClr>
              </a:solidFill>
            </a:endParaRPr>
          </a:p>
        </p:txBody>
      </p:sp>
      <p:sp>
        <p:nvSpPr>
          <p:cNvPr id="12" name="文本框 11"/>
          <p:cNvSpPr txBox="1"/>
          <p:nvPr/>
        </p:nvSpPr>
        <p:spPr>
          <a:xfrm>
            <a:off x="8776335" y="5316220"/>
            <a:ext cx="2480310" cy="553085"/>
          </a:xfrm>
          <a:prstGeom prst="rect">
            <a:avLst/>
          </a:prstGeom>
          <a:noFill/>
        </p:spPr>
        <p:txBody>
          <a:bodyPr wrap="square" rtlCol="0" anchor="t">
            <a:spAutoFit/>
          </a:bodyPr>
          <a:p>
            <a:pPr algn="ctr">
              <a:lnSpc>
                <a:spcPct val="150000"/>
              </a:lnSpc>
            </a:pPr>
            <a:r>
              <a:rPr lang="en-US" altLang="en-US" sz="2000">
                <a:solidFill>
                  <a:schemeClr val="accent2">
                    <a:lumMod val="75000"/>
                  </a:schemeClr>
                </a:solidFill>
              </a:rPr>
              <a:t>视觉语言模型</a:t>
            </a:r>
            <a:endParaRPr lang="en-US" altLang="en-US" sz="2000">
              <a:solidFill>
                <a:schemeClr val="accent2">
                  <a:lumMod val="75000"/>
                </a:schemeClr>
              </a:solidFill>
            </a:endParaRPr>
          </a:p>
        </p:txBody>
      </p:sp>
      <p:sp>
        <p:nvSpPr>
          <p:cNvPr id="13" name="加号 12"/>
          <p:cNvSpPr/>
          <p:nvPr/>
        </p:nvSpPr>
        <p:spPr>
          <a:xfrm>
            <a:off x="9735820" y="4777105"/>
            <a:ext cx="432435" cy="432435"/>
          </a:xfrm>
          <a:prstGeom prst="mathPlus">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大模型产品谱系图</a:t>
            </a:r>
            <a:endParaRPr lang="en-US" altLang="zh-CN"/>
          </a:p>
        </p:txBody>
      </p:sp>
      <p:sp>
        <p:nvSpPr>
          <p:cNvPr id="5" name="矩形 4"/>
          <p:cNvSpPr/>
          <p:nvPr/>
        </p:nvSpPr>
        <p:spPr>
          <a:xfrm>
            <a:off x="8113395" y="3282950"/>
            <a:ext cx="314325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6" name="矩形 5"/>
          <p:cNvSpPr/>
          <p:nvPr/>
        </p:nvSpPr>
        <p:spPr>
          <a:xfrm>
            <a:off x="979805" y="1691005"/>
            <a:ext cx="10276840" cy="141541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8" name="文本框 7"/>
          <p:cNvSpPr txBox="1"/>
          <p:nvPr/>
        </p:nvSpPr>
        <p:spPr>
          <a:xfrm>
            <a:off x="8120380" y="4328795"/>
            <a:ext cx="551815" cy="1005840"/>
          </a:xfrm>
          <a:prstGeom prst="rect">
            <a:avLst/>
          </a:prstGeom>
          <a:noFill/>
        </p:spPr>
        <p:txBody>
          <a:bodyPr vert="eaVert" wrap="none" rtlCol="0">
            <a:spAutoFit/>
          </a:bodyPr>
          <a:p>
            <a:r>
              <a:rPr lang="en-US" altLang="en-US" sz="2400"/>
              <a:t>工具层</a:t>
            </a:r>
            <a:endParaRPr lang="en-US" altLang="en-US" sz="2400"/>
          </a:p>
        </p:txBody>
      </p:sp>
      <p:sp>
        <p:nvSpPr>
          <p:cNvPr id="9" name="文本框 8"/>
          <p:cNvSpPr txBox="1"/>
          <p:nvPr/>
        </p:nvSpPr>
        <p:spPr>
          <a:xfrm>
            <a:off x="986790" y="1896110"/>
            <a:ext cx="551815" cy="1005840"/>
          </a:xfrm>
          <a:prstGeom prst="rect">
            <a:avLst/>
          </a:prstGeom>
          <a:noFill/>
        </p:spPr>
        <p:txBody>
          <a:bodyPr vert="eaVert" wrap="none" rtlCol="0">
            <a:spAutoFit/>
          </a:bodyPr>
          <a:p>
            <a:r>
              <a:rPr lang="en-US" altLang="en-US" sz="2400"/>
              <a:t>编排层</a:t>
            </a:r>
            <a:endParaRPr lang="en-US" altLang="en-US" sz="2400"/>
          </a:p>
        </p:txBody>
      </p:sp>
      <p:pic>
        <p:nvPicPr>
          <p:cNvPr id="33" name="图片 32"/>
          <p:cNvPicPr>
            <a:picLocks noChangeAspect="1"/>
          </p:cNvPicPr>
          <p:nvPr/>
        </p:nvPicPr>
        <p:blipFill>
          <a:blip r:embed="rId1"/>
          <a:stretch>
            <a:fillRect/>
          </a:stretch>
        </p:blipFill>
        <p:spPr>
          <a:xfrm>
            <a:off x="8672195" y="3430905"/>
            <a:ext cx="457200" cy="457200"/>
          </a:xfrm>
          <a:prstGeom prst="rect">
            <a:avLst/>
          </a:prstGeom>
        </p:spPr>
      </p:pic>
      <p:pic>
        <p:nvPicPr>
          <p:cNvPr id="35" name="图片 34"/>
          <p:cNvPicPr>
            <a:picLocks noChangeAspect="1"/>
          </p:cNvPicPr>
          <p:nvPr/>
        </p:nvPicPr>
        <p:blipFill>
          <a:blip r:embed="rId2"/>
          <a:stretch>
            <a:fillRect/>
          </a:stretch>
        </p:blipFill>
        <p:spPr>
          <a:xfrm>
            <a:off x="9286240" y="3430905"/>
            <a:ext cx="450850" cy="457200"/>
          </a:xfrm>
          <a:prstGeom prst="rect">
            <a:avLst/>
          </a:prstGeom>
        </p:spPr>
      </p:pic>
      <p:pic>
        <p:nvPicPr>
          <p:cNvPr id="36" name="图片 35"/>
          <p:cNvPicPr>
            <a:picLocks noChangeAspect="1"/>
          </p:cNvPicPr>
          <p:nvPr/>
        </p:nvPicPr>
        <p:blipFill>
          <a:blip r:embed="rId3"/>
          <a:stretch>
            <a:fillRect/>
          </a:stretch>
        </p:blipFill>
        <p:spPr>
          <a:xfrm>
            <a:off x="9893935" y="3430905"/>
            <a:ext cx="457200" cy="457200"/>
          </a:xfrm>
          <a:prstGeom prst="rect">
            <a:avLst/>
          </a:prstGeom>
        </p:spPr>
      </p:pic>
      <p:pic>
        <p:nvPicPr>
          <p:cNvPr id="38" name="图片 37"/>
          <p:cNvPicPr>
            <a:picLocks noChangeAspect="1"/>
          </p:cNvPicPr>
          <p:nvPr/>
        </p:nvPicPr>
        <p:blipFill>
          <a:blip r:embed="rId4"/>
          <a:stretch>
            <a:fillRect/>
          </a:stretch>
        </p:blipFill>
        <p:spPr>
          <a:xfrm>
            <a:off x="10507980" y="3430905"/>
            <a:ext cx="457200" cy="457200"/>
          </a:xfrm>
          <a:prstGeom prst="rect">
            <a:avLst/>
          </a:prstGeom>
        </p:spPr>
      </p:pic>
      <p:sp>
        <p:nvSpPr>
          <p:cNvPr id="34" name="文本框 33"/>
          <p:cNvSpPr txBox="1"/>
          <p:nvPr/>
        </p:nvSpPr>
        <p:spPr>
          <a:xfrm>
            <a:off x="8672195" y="3944620"/>
            <a:ext cx="2475865" cy="2306955"/>
          </a:xfrm>
          <a:prstGeom prst="rect">
            <a:avLst/>
          </a:prstGeom>
          <a:noFill/>
        </p:spPr>
        <p:txBody>
          <a:bodyPr wrap="square" rtlCol="0" anchor="t">
            <a:spAutoFit/>
          </a:bodyPr>
          <a:p>
            <a:pPr>
              <a:lnSpc>
                <a:spcPct val="150000"/>
              </a:lnSpc>
            </a:pPr>
            <a:r>
              <a:rPr lang="en-US" altLang="zh-CN" sz="1600">
                <a:sym typeface="+mn-ea"/>
              </a:rPr>
              <a:t>为模型补充检索资料、解析文档、运行代码、访问日历等单一环节能力的后台组件。它们一般不能独立完成面向用户的任务，而是被上层产品按需调用。</a:t>
            </a:r>
            <a:endParaRPr lang="en-US" altLang="zh-CN" sz="1600">
              <a:sym typeface="+mn-ea"/>
            </a:endParaRPr>
          </a:p>
        </p:txBody>
      </p:sp>
      <p:pic>
        <p:nvPicPr>
          <p:cNvPr id="43" name="图片 42"/>
          <p:cNvPicPr>
            <a:picLocks noChangeAspect="1"/>
          </p:cNvPicPr>
          <p:nvPr/>
        </p:nvPicPr>
        <p:blipFill>
          <a:blip r:embed="rId5"/>
          <a:stretch>
            <a:fillRect/>
          </a:stretch>
        </p:blipFill>
        <p:spPr>
          <a:xfrm>
            <a:off x="2284730" y="2444750"/>
            <a:ext cx="457200" cy="457200"/>
          </a:xfrm>
          <a:prstGeom prst="rect">
            <a:avLst/>
          </a:prstGeom>
        </p:spPr>
      </p:pic>
      <p:pic>
        <p:nvPicPr>
          <p:cNvPr id="45" name="图片 44"/>
          <p:cNvPicPr>
            <a:picLocks noChangeAspect="1"/>
          </p:cNvPicPr>
          <p:nvPr/>
        </p:nvPicPr>
        <p:blipFill>
          <a:blip r:embed="rId6"/>
          <a:stretch>
            <a:fillRect/>
          </a:stretch>
        </p:blipFill>
        <p:spPr>
          <a:xfrm>
            <a:off x="2852420" y="2444750"/>
            <a:ext cx="455839" cy="457200"/>
          </a:xfrm>
          <a:prstGeom prst="rect">
            <a:avLst/>
          </a:prstGeom>
        </p:spPr>
      </p:pic>
      <p:pic>
        <p:nvPicPr>
          <p:cNvPr id="47" name="图片 46"/>
          <p:cNvPicPr>
            <a:picLocks noChangeAspect="1"/>
          </p:cNvPicPr>
          <p:nvPr/>
        </p:nvPicPr>
        <p:blipFill>
          <a:blip r:embed="rId7"/>
          <a:stretch>
            <a:fillRect/>
          </a:stretch>
        </p:blipFill>
        <p:spPr>
          <a:xfrm>
            <a:off x="2851150" y="1816735"/>
            <a:ext cx="457200" cy="457200"/>
          </a:xfrm>
          <a:prstGeom prst="rect">
            <a:avLst/>
          </a:prstGeom>
        </p:spPr>
      </p:pic>
      <p:pic>
        <p:nvPicPr>
          <p:cNvPr id="49" name="图片 48"/>
          <p:cNvPicPr>
            <a:picLocks noChangeAspect="1"/>
          </p:cNvPicPr>
          <p:nvPr/>
        </p:nvPicPr>
        <p:blipFill>
          <a:blip r:embed="rId8"/>
          <a:stretch>
            <a:fillRect/>
          </a:stretch>
        </p:blipFill>
        <p:spPr>
          <a:xfrm>
            <a:off x="1740535" y="2444750"/>
            <a:ext cx="457200" cy="457200"/>
          </a:xfrm>
          <a:prstGeom prst="rect">
            <a:avLst/>
          </a:prstGeom>
        </p:spPr>
      </p:pic>
      <p:pic>
        <p:nvPicPr>
          <p:cNvPr id="51" name="图片 50"/>
          <p:cNvPicPr>
            <a:picLocks noChangeAspect="1"/>
          </p:cNvPicPr>
          <p:nvPr/>
        </p:nvPicPr>
        <p:blipFill>
          <a:blip r:embed="rId9"/>
          <a:stretch>
            <a:fillRect/>
          </a:stretch>
        </p:blipFill>
        <p:spPr>
          <a:xfrm>
            <a:off x="2284730" y="1816735"/>
            <a:ext cx="457200" cy="457200"/>
          </a:xfrm>
          <a:prstGeom prst="rect">
            <a:avLst/>
          </a:prstGeom>
        </p:spPr>
      </p:pic>
      <p:pic>
        <p:nvPicPr>
          <p:cNvPr id="53" name="图片 52"/>
          <p:cNvPicPr>
            <a:picLocks noChangeAspect="1"/>
          </p:cNvPicPr>
          <p:nvPr/>
        </p:nvPicPr>
        <p:blipFill>
          <a:blip r:embed="rId10"/>
          <a:stretch>
            <a:fillRect/>
          </a:stretch>
        </p:blipFill>
        <p:spPr>
          <a:xfrm>
            <a:off x="1740535" y="1816735"/>
            <a:ext cx="457200" cy="457200"/>
          </a:xfrm>
          <a:prstGeom prst="rect">
            <a:avLst/>
          </a:prstGeom>
        </p:spPr>
      </p:pic>
      <p:sp>
        <p:nvSpPr>
          <p:cNvPr id="37" name="文本框 36"/>
          <p:cNvSpPr txBox="1"/>
          <p:nvPr/>
        </p:nvSpPr>
        <p:spPr>
          <a:xfrm>
            <a:off x="3412490" y="1730375"/>
            <a:ext cx="7552690" cy="1337945"/>
          </a:xfrm>
          <a:prstGeom prst="rect">
            <a:avLst/>
          </a:prstGeom>
          <a:noFill/>
        </p:spPr>
        <p:txBody>
          <a:bodyPr wrap="square" rtlCol="0" anchor="t">
            <a:spAutoFit/>
          </a:bodyPr>
          <a:p>
            <a:pPr>
              <a:lnSpc>
                <a:spcPct val="150000"/>
              </a:lnSpc>
            </a:pPr>
            <a:r>
              <a:rPr lang="en-US" altLang="zh-CN">
                <a:sym typeface="+mn-ea"/>
              </a:rPr>
              <a:t>把模型、工具、资料和流程组织成可直接使用的产品或系统，例如知识库、智能体和工作流平台。它决定 AI 如何完成多步骤任务、何时调用工具，以及如何控制权限与流程。</a:t>
            </a:r>
            <a:endParaRPr lang="zh-CN" altLang="en-US"/>
          </a:p>
        </p:txBody>
      </p:sp>
      <p:sp>
        <p:nvSpPr>
          <p:cNvPr id="77" name="矩形 76"/>
          <p:cNvSpPr/>
          <p:nvPr/>
        </p:nvSpPr>
        <p:spPr>
          <a:xfrm>
            <a:off x="979805" y="3282950"/>
            <a:ext cx="685800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78" name="文本框 77"/>
          <p:cNvSpPr txBox="1"/>
          <p:nvPr/>
        </p:nvSpPr>
        <p:spPr>
          <a:xfrm>
            <a:off x="986790" y="4421505"/>
            <a:ext cx="551815" cy="1005840"/>
          </a:xfrm>
          <a:prstGeom prst="rect">
            <a:avLst/>
          </a:prstGeom>
          <a:noFill/>
        </p:spPr>
        <p:txBody>
          <a:bodyPr vert="eaVert" wrap="none" rtlCol="0">
            <a:spAutoFit/>
          </a:bodyPr>
          <a:p>
            <a:r>
              <a:rPr lang="en-US" altLang="zh-CN" sz="2400"/>
              <a:t>模型层</a:t>
            </a:r>
            <a:endParaRPr lang="en-US" altLang="zh-CN" sz="2400"/>
          </a:p>
        </p:txBody>
      </p:sp>
      <p:sp>
        <p:nvSpPr>
          <p:cNvPr id="79" name="矩形 78"/>
          <p:cNvSpPr/>
          <p:nvPr/>
        </p:nvSpPr>
        <p:spPr>
          <a:xfrm>
            <a:off x="1539875" y="3514090"/>
            <a:ext cx="3030855" cy="2636520"/>
          </a:xfrm>
          <a:prstGeom prst="rect">
            <a:avLst/>
          </a:prstGeom>
        </p:spPr>
        <p:style>
          <a:lnRef idx="3">
            <a:schemeClr val="lt1"/>
          </a:lnRef>
          <a:fillRef idx="1">
            <a:schemeClr val="accent5"/>
          </a:fillRef>
          <a:effectRef idx="1">
            <a:schemeClr val="accent5"/>
          </a:effectRef>
          <a:fontRef idx="minor">
            <a:schemeClr val="lt1"/>
          </a:fontRef>
        </p:style>
        <p:txBody>
          <a:bodyPr rtlCol="0" anchor="ctr"/>
          <a:p>
            <a:pPr algn="ctr"/>
            <a:endParaRPr lang="zh-CN" altLang="en-US"/>
          </a:p>
        </p:txBody>
      </p:sp>
      <p:sp>
        <p:nvSpPr>
          <p:cNvPr id="80" name="文本框 79"/>
          <p:cNvSpPr txBox="1"/>
          <p:nvPr/>
        </p:nvSpPr>
        <p:spPr>
          <a:xfrm>
            <a:off x="2506345" y="3512820"/>
            <a:ext cx="1097280" cy="368300"/>
          </a:xfrm>
          <a:prstGeom prst="rect">
            <a:avLst/>
          </a:prstGeom>
          <a:noFill/>
        </p:spPr>
        <p:txBody>
          <a:bodyPr wrap="none" rtlCol="0">
            <a:spAutoFit/>
          </a:bodyPr>
          <a:p>
            <a:r>
              <a:rPr lang="en-US" altLang="zh-CN"/>
              <a:t>文本模型</a:t>
            </a:r>
            <a:endParaRPr lang="en-US" altLang="zh-CN"/>
          </a:p>
        </p:txBody>
      </p:sp>
      <p:sp>
        <p:nvSpPr>
          <p:cNvPr id="81" name="文本框 80"/>
          <p:cNvSpPr txBox="1"/>
          <p:nvPr/>
        </p:nvSpPr>
        <p:spPr>
          <a:xfrm>
            <a:off x="1668780" y="4679315"/>
            <a:ext cx="1249680" cy="306705"/>
          </a:xfrm>
          <a:prstGeom prst="rect">
            <a:avLst/>
          </a:prstGeom>
          <a:noFill/>
        </p:spPr>
        <p:txBody>
          <a:bodyPr wrap="none" rtlCol="0">
            <a:spAutoFit/>
          </a:bodyPr>
          <a:p>
            <a:r>
              <a:rPr lang="en-US" altLang="en-US" sz="1400"/>
              <a:t>通用</a:t>
            </a:r>
            <a:r>
              <a:rPr lang="en-US" altLang="zh-CN" sz="1400"/>
              <a:t>文本模型</a:t>
            </a:r>
            <a:endParaRPr lang="en-US" altLang="zh-CN" sz="1400"/>
          </a:p>
        </p:txBody>
      </p:sp>
      <p:sp>
        <p:nvSpPr>
          <p:cNvPr id="82" name="文本框 81"/>
          <p:cNvSpPr txBox="1"/>
          <p:nvPr/>
        </p:nvSpPr>
        <p:spPr>
          <a:xfrm>
            <a:off x="3373755" y="4678680"/>
            <a:ext cx="894080" cy="306705"/>
          </a:xfrm>
          <a:prstGeom prst="rect">
            <a:avLst/>
          </a:prstGeom>
          <a:noFill/>
        </p:spPr>
        <p:txBody>
          <a:bodyPr wrap="none" rtlCol="0">
            <a:spAutoFit/>
          </a:bodyPr>
          <a:p>
            <a:r>
              <a:rPr lang="en-US" altLang="en-US" sz="1400"/>
              <a:t>推理</a:t>
            </a:r>
            <a:r>
              <a:rPr lang="en-US" altLang="zh-CN" sz="1400"/>
              <a:t>模型</a:t>
            </a:r>
            <a:endParaRPr lang="en-US" altLang="zh-CN" sz="1400"/>
          </a:p>
        </p:txBody>
      </p:sp>
      <p:sp>
        <p:nvSpPr>
          <p:cNvPr id="83" name="文本框 82"/>
          <p:cNvSpPr txBox="1"/>
          <p:nvPr/>
        </p:nvSpPr>
        <p:spPr>
          <a:xfrm>
            <a:off x="1801495" y="5720715"/>
            <a:ext cx="894080" cy="306705"/>
          </a:xfrm>
          <a:prstGeom prst="rect">
            <a:avLst/>
          </a:prstGeom>
          <a:noFill/>
        </p:spPr>
        <p:txBody>
          <a:bodyPr wrap="none" rtlCol="0">
            <a:spAutoFit/>
          </a:bodyPr>
          <a:p>
            <a:r>
              <a:rPr lang="en-US" altLang="en-US" sz="1400"/>
              <a:t>代码</a:t>
            </a:r>
            <a:r>
              <a:rPr lang="en-US" altLang="zh-CN" sz="1400"/>
              <a:t>模型</a:t>
            </a:r>
            <a:endParaRPr lang="en-US" altLang="zh-CN" sz="1400"/>
          </a:p>
        </p:txBody>
      </p:sp>
      <p:sp>
        <p:nvSpPr>
          <p:cNvPr id="84" name="文本框 83"/>
          <p:cNvSpPr txBox="1"/>
          <p:nvPr/>
        </p:nvSpPr>
        <p:spPr>
          <a:xfrm>
            <a:off x="3195955" y="5720715"/>
            <a:ext cx="1249680" cy="306705"/>
          </a:xfrm>
          <a:prstGeom prst="rect">
            <a:avLst/>
          </a:prstGeom>
          <a:noFill/>
        </p:spPr>
        <p:txBody>
          <a:bodyPr wrap="none" rtlCol="0">
            <a:spAutoFit/>
          </a:bodyPr>
          <a:p>
            <a:r>
              <a:rPr lang="en-US" altLang="en-US" sz="1400"/>
              <a:t>视觉语言模型</a:t>
            </a:r>
            <a:endParaRPr lang="en-US" altLang="en-US" sz="1400"/>
          </a:p>
        </p:txBody>
      </p:sp>
      <p:sp>
        <p:nvSpPr>
          <p:cNvPr id="85" name="矩形 84"/>
          <p:cNvSpPr/>
          <p:nvPr/>
        </p:nvSpPr>
        <p:spPr>
          <a:xfrm>
            <a:off x="4706620" y="3512820"/>
            <a:ext cx="3030855" cy="2636520"/>
          </a:xfrm>
          <a:prstGeom prst="rect">
            <a:avLst/>
          </a:prstGeom>
        </p:spPr>
        <p:style>
          <a:lnRef idx="3">
            <a:schemeClr val="lt1"/>
          </a:lnRef>
          <a:fillRef idx="1">
            <a:schemeClr val="accent5"/>
          </a:fillRef>
          <a:effectRef idx="1">
            <a:schemeClr val="accent5"/>
          </a:effectRef>
          <a:fontRef idx="minor">
            <a:schemeClr val="lt1"/>
          </a:fontRef>
        </p:style>
        <p:txBody>
          <a:bodyPr rtlCol="0" anchor="ctr"/>
          <a:p>
            <a:pPr algn="ctr"/>
            <a:endParaRPr lang="zh-CN" altLang="en-US"/>
          </a:p>
        </p:txBody>
      </p:sp>
      <p:sp>
        <p:nvSpPr>
          <p:cNvPr id="86" name="文本框 85"/>
          <p:cNvSpPr txBox="1"/>
          <p:nvPr/>
        </p:nvSpPr>
        <p:spPr>
          <a:xfrm>
            <a:off x="5673725" y="3514090"/>
            <a:ext cx="1325880" cy="368300"/>
          </a:xfrm>
          <a:prstGeom prst="rect">
            <a:avLst/>
          </a:prstGeom>
          <a:noFill/>
        </p:spPr>
        <p:txBody>
          <a:bodyPr wrap="none" rtlCol="0">
            <a:spAutoFit/>
          </a:bodyPr>
          <a:p>
            <a:r>
              <a:rPr lang="en-US" altLang="en-US"/>
              <a:t>多模态</a:t>
            </a:r>
            <a:r>
              <a:rPr lang="en-US" altLang="zh-CN"/>
              <a:t>模型</a:t>
            </a:r>
            <a:endParaRPr lang="en-US" altLang="zh-CN"/>
          </a:p>
        </p:txBody>
      </p:sp>
      <p:sp>
        <p:nvSpPr>
          <p:cNvPr id="87" name="文本框 86"/>
          <p:cNvSpPr txBox="1"/>
          <p:nvPr/>
        </p:nvSpPr>
        <p:spPr>
          <a:xfrm>
            <a:off x="4826000" y="4679315"/>
            <a:ext cx="894080" cy="306705"/>
          </a:xfrm>
          <a:prstGeom prst="rect">
            <a:avLst/>
          </a:prstGeom>
          <a:noFill/>
        </p:spPr>
        <p:txBody>
          <a:bodyPr wrap="none" rtlCol="0">
            <a:spAutoFit/>
          </a:bodyPr>
          <a:p>
            <a:r>
              <a:rPr lang="en-US" altLang="en-US" sz="1400"/>
              <a:t>语音模型</a:t>
            </a:r>
            <a:endParaRPr lang="en-US" altLang="en-US" sz="1400"/>
          </a:p>
        </p:txBody>
      </p:sp>
      <p:sp>
        <p:nvSpPr>
          <p:cNvPr id="88" name="文本框 87"/>
          <p:cNvSpPr txBox="1"/>
          <p:nvPr/>
        </p:nvSpPr>
        <p:spPr>
          <a:xfrm>
            <a:off x="5986145" y="4679315"/>
            <a:ext cx="1664970" cy="306705"/>
          </a:xfrm>
          <a:prstGeom prst="rect">
            <a:avLst/>
          </a:prstGeom>
          <a:noFill/>
        </p:spPr>
        <p:txBody>
          <a:bodyPr wrap="none" rtlCol="0">
            <a:spAutoFit/>
          </a:bodyPr>
          <a:p>
            <a:r>
              <a:rPr lang="en-US" altLang="en-US" sz="1400"/>
              <a:t>图像生成/编辑模型</a:t>
            </a:r>
            <a:endParaRPr lang="en-US" altLang="en-US" sz="1400"/>
          </a:p>
        </p:txBody>
      </p:sp>
      <p:sp>
        <p:nvSpPr>
          <p:cNvPr id="89" name="文本框 88"/>
          <p:cNvSpPr txBox="1"/>
          <p:nvPr/>
        </p:nvSpPr>
        <p:spPr>
          <a:xfrm>
            <a:off x="5504180" y="5842635"/>
            <a:ext cx="1664970" cy="306705"/>
          </a:xfrm>
          <a:prstGeom prst="rect">
            <a:avLst/>
          </a:prstGeom>
          <a:noFill/>
        </p:spPr>
        <p:txBody>
          <a:bodyPr wrap="none" rtlCol="0">
            <a:spAutoFit/>
          </a:bodyPr>
          <a:p>
            <a:r>
              <a:rPr lang="en-US" altLang="en-US" sz="1400"/>
              <a:t>视频生成/编辑模型</a:t>
            </a:r>
            <a:endParaRPr lang="en-US" altLang="en-US" sz="1400"/>
          </a:p>
        </p:txBody>
      </p:sp>
      <p:pic>
        <p:nvPicPr>
          <p:cNvPr id="90" name="图片 89"/>
          <p:cNvPicPr>
            <a:picLocks noChangeAspect="1"/>
          </p:cNvPicPr>
          <p:nvPr/>
        </p:nvPicPr>
        <p:blipFill>
          <a:blip r:embed="rId11"/>
          <a:stretch>
            <a:fillRect/>
          </a:stretch>
        </p:blipFill>
        <p:spPr>
          <a:xfrm>
            <a:off x="3592195" y="4051300"/>
            <a:ext cx="457200" cy="457200"/>
          </a:xfrm>
          <a:prstGeom prst="rect">
            <a:avLst/>
          </a:prstGeom>
        </p:spPr>
      </p:pic>
      <p:pic>
        <p:nvPicPr>
          <p:cNvPr id="91" name="图片 90"/>
          <p:cNvPicPr>
            <a:picLocks noChangeAspect="1"/>
          </p:cNvPicPr>
          <p:nvPr/>
        </p:nvPicPr>
        <p:blipFill>
          <a:blip r:embed="rId12"/>
          <a:stretch>
            <a:fillRect/>
          </a:stretch>
        </p:blipFill>
        <p:spPr>
          <a:xfrm>
            <a:off x="2016760" y="4051300"/>
            <a:ext cx="463351" cy="457200"/>
          </a:xfrm>
          <a:prstGeom prst="rect">
            <a:avLst/>
          </a:prstGeom>
        </p:spPr>
      </p:pic>
      <p:pic>
        <p:nvPicPr>
          <p:cNvPr id="92" name="图片 91"/>
          <p:cNvPicPr>
            <a:picLocks noChangeAspect="1"/>
          </p:cNvPicPr>
          <p:nvPr/>
        </p:nvPicPr>
        <p:blipFill>
          <a:blip r:embed="rId13"/>
          <a:stretch>
            <a:fillRect/>
          </a:stretch>
        </p:blipFill>
        <p:spPr>
          <a:xfrm>
            <a:off x="2023110" y="5154930"/>
            <a:ext cx="457200" cy="457200"/>
          </a:xfrm>
          <a:prstGeom prst="rect">
            <a:avLst/>
          </a:prstGeom>
        </p:spPr>
      </p:pic>
      <p:pic>
        <p:nvPicPr>
          <p:cNvPr id="93" name="图片 92"/>
          <p:cNvPicPr>
            <a:picLocks noChangeAspect="1"/>
          </p:cNvPicPr>
          <p:nvPr/>
        </p:nvPicPr>
        <p:blipFill>
          <a:blip r:embed="rId14"/>
          <a:stretch>
            <a:fillRect/>
          </a:stretch>
        </p:blipFill>
        <p:spPr>
          <a:xfrm>
            <a:off x="3592195" y="5154930"/>
            <a:ext cx="457200" cy="457200"/>
          </a:xfrm>
          <a:prstGeom prst="rect">
            <a:avLst/>
          </a:prstGeom>
        </p:spPr>
      </p:pic>
      <p:pic>
        <p:nvPicPr>
          <p:cNvPr id="94" name="图片 93"/>
          <p:cNvPicPr>
            <a:picLocks noChangeAspect="1"/>
          </p:cNvPicPr>
          <p:nvPr/>
        </p:nvPicPr>
        <p:blipFill>
          <a:blip r:embed="rId15"/>
          <a:stretch>
            <a:fillRect/>
          </a:stretch>
        </p:blipFill>
        <p:spPr>
          <a:xfrm>
            <a:off x="5044440" y="4051300"/>
            <a:ext cx="457200" cy="457200"/>
          </a:xfrm>
          <a:prstGeom prst="rect">
            <a:avLst/>
          </a:prstGeom>
        </p:spPr>
      </p:pic>
      <p:pic>
        <p:nvPicPr>
          <p:cNvPr id="95" name="图片 94"/>
          <p:cNvPicPr>
            <a:picLocks noChangeAspect="1"/>
          </p:cNvPicPr>
          <p:nvPr/>
        </p:nvPicPr>
        <p:blipFill>
          <a:blip r:embed="rId16"/>
          <a:stretch>
            <a:fillRect/>
          </a:stretch>
        </p:blipFill>
        <p:spPr>
          <a:xfrm>
            <a:off x="6108065" y="5334635"/>
            <a:ext cx="457200" cy="457200"/>
          </a:xfrm>
          <a:prstGeom prst="rect">
            <a:avLst/>
          </a:prstGeom>
        </p:spPr>
      </p:pic>
      <p:pic>
        <p:nvPicPr>
          <p:cNvPr id="96" name="图片 95"/>
          <p:cNvPicPr>
            <a:picLocks noChangeAspect="1"/>
          </p:cNvPicPr>
          <p:nvPr/>
        </p:nvPicPr>
        <p:blipFill>
          <a:blip r:embed="rId17"/>
          <a:stretch>
            <a:fillRect/>
          </a:stretch>
        </p:blipFill>
        <p:spPr>
          <a:xfrm>
            <a:off x="6544310" y="4051300"/>
            <a:ext cx="548640" cy="457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大模型产品谱系图</a:t>
            </a:r>
            <a:endParaRPr lang="en-US" altLang="zh-CN"/>
          </a:p>
        </p:txBody>
      </p:sp>
      <p:sp>
        <p:nvSpPr>
          <p:cNvPr id="6" name="矩形 5"/>
          <p:cNvSpPr/>
          <p:nvPr/>
        </p:nvSpPr>
        <p:spPr>
          <a:xfrm>
            <a:off x="979805" y="1691005"/>
            <a:ext cx="10276840" cy="141541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9" name="文本框 8"/>
          <p:cNvSpPr txBox="1"/>
          <p:nvPr/>
        </p:nvSpPr>
        <p:spPr>
          <a:xfrm>
            <a:off x="986790" y="1896110"/>
            <a:ext cx="551815" cy="1005840"/>
          </a:xfrm>
          <a:prstGeom prst="rect">
            <a:avLst/>
          </a:prstGeom>
          <a:noFill/>
        </p:spPr>
        <p:txBody>
          <a:bodyPr vert="eaVert" wrap="none" rtlCol="0">
            <a:spAutoFit/>
          </a:bodyPr>
          <a:p>
            <a:r>
              <a:rPr lang="en-US" altLang="en-US" sz="2400"/>
              <a:t>编排层</a:t>
            </a:r>
            <a:endParaRPr lang="en-US" altLang="en-US" sz="2400"/>
          </a:p>
        </p:txBody>
      </p:sp>
      <p:pic>
        <p:nvPicPr>
          <p:cNvPr id="43" name="图片 42"/>
          <p:cNvPicPr>
            <a:picLocks noChangeAspect="1"/>
          </p:cNvPicPr>
          <p:nvPr/>
        </p:nvPicPr>
        <p:blipFill>
          <a:blip r:embed="rId1"/>
          <a:stretch>
            <a:fillRect/>
          </a:stretch>
        </p:blipFill>
        <p:spPr>
          <a:xfrm>
            <a:off x="2284730" y="2444750"/>
            <a:ext cx="457200" cy="457200"/>
          </a:xfrm>
          <a:prstGeom prst="rect">
            <a:avLst/>
          </a:prstGeom>
        </p:spPr>
      </p:pic>
      <p:pic>
        <p:nvPicPr>
          <p:cNvPr id="45" name="图片 44"/>
          <p:cNvPicPr>
            <a:picLocks noChangeAspect="1"/>
          </p:cNvPicPr>
          <p:nvPr/>
        </p:nvPicPr>
        <p:blipFill>
          <a:blip r:embed="rId2"/>
          <a:stretch>
            <a:fillRect/>
          </a:stretch>
        </p:blipFill>
        <p:spPr>
          <a:xfrm>
            <a:off x="2852420" y="2444750"/>
            <a:ext cx="455839" cy="457200"/>
          </a:xfrm>
          <a:prstGeom prst="rect">
            <a:avLst/>
          </a:prstGeom>
        </p:spPr>
      </p:pic>
      <p:pic>
        <p:nvPicPr>
          <p:cNvPr id="47" name="图片 46"/>
          <p:cNvPicPr>
            <a:picLocks noChangeAspect="1"/>
          </p:cNvPicPr>
          <p:nvPr/>
        </p:nvPicPr>
        <p:blipFill>
          <a:blip r:embed="rId3"/>
          <a:stretch>
            <a:fillRect/>
          </a:stretch>
        </p:blipFill>
        <p:spPr>
          <a:xfrm>
            <a:off x="2851150" y="1816735"/>
            <a:ext cx="457200" cy="457200"/>
          </a:xfrm>
          <a:prstGeom prst="rect">
            <a:avLst/>
          </a:prstGeom>
        </p:spPr>
      </p:pic>
      <p:pic>
        <p:nvPicPr>
          <p:cNvPr id="49" name="图片 48"/>
          <p:cNvPicPr>
            <a:picLocks noChangeAspect="1"/>
          </p:cNvPicPr>
          <p:nvPr/>
        </p:nvPicPr>
        <p:blipFill>
          <a:blip r:embed="rId4"/>
          <a:stretch>
            <a:fillRect/>
          </a:stretch>
        </p:blipFill>
        <p:spPr>
          <a:xfrm>
            <a:off x="1740535" y="2444750"/>
            <a:ext cx="457200" cy="457200"/>
          </a:xfrm>
          <a:prstGeom prst="rect">
            <a:avLst/>
          </a:prstGeom>
        </p:spPr>
      </p:pic>
      <p:pic>
        <p:nvPicPr>
          <p:cNvPr id="51" name="图片 50"/>
          <p:cNvPicPr>
            <a:picLocks noChangeAspect="1"/>
          </p:cNvPicPr>
          <p:nvPr/>
        </p:nvPicPr>
        <p:blipFill>
          <a:blip r:embed="rId5"/>
          <a:stretch>
            <a:fillRect/>
          </a:stretch>
        </p:blipFill>
        <p:spPr>
          <a:xfrm>
            <a:off x="2284730" y="1816735"/>
            <a:ext cx="457200" cy="457200"/>
          </a:xfrm>
          <a:prstGeom prst="rect">
            <a:avLst/>
          </a:prstGeom>
        </p:spPr>
      </p:pic>
      <p:pic>
        <p:nvPicPr>
          <p:cNvPr id="53" name="图片 52"/>
          <p:cNvPicPr>
            <a:picLocks noChangeAspect="1"/>
          </p:cNvPicPr>
          <p:nvPr/>
        </p:nvPicPr>
        <p:blipFill>
          <a:blip r:embed="rId6"/>
          <a:stretch>
            <a:fillRect/>
          </a:stretch>
        </p:blipFill>
        <p:spPr>
          <a:xfrm>
            <a:off x="1740535" y="1816735"/>
            <a:ext cx="457200" cy="457200"/>
          </a:xfrm>
          <a:prstGeom prst="rect">
            <a:avLst/>
          </a:prstGeom>
        </p:spPr>
      </p:pic>
      <p:sp>
        <p:nvSpPr>
          <p:cNvPr id="37" name="文本框 36"/>
          <p:cNvSpPr txBox="1"/>
          <p:nvPr/>
        </p:nvSpPr>
        <p:spPr>
          <a:xfrm>
            <a:off x="3412490" y="1730375"/>
            <a:ext cx="7552690" cy="1337945"/>
          </a:xfrm>
          <a:prstGeom prst="rect">
            <a:avLst/>
          </a:prstGeom>
          <a:noFill/>
        </p:spPr>
        <p:txBody>
          <a:bodyPr wrap="square" rtlCol="0" anchor="t">
            <a:spAutoFit/>
          </a:bodyPr>
          <a:p>
            <a:pPr>
              <a:lnSpc>
                <a:spcPct val="150000"/>
              </a:lnSpc>
            </a:pPr>
            <a:r>
              <a:rPr lang="en-US" altLang="zh-CN">
                <a:sym typeface="+mn-ea"/>
              </a:rPr>
              <a:t>把模型、工具、资料和流程组织成可直接使用的产品或系统，例如知识库、智能体和工作流平台。它决定 AI 如何完成多步骤任务、何时调用工具，以及如何控制权限与流程。</a:t>
            </a:r>
            <a:endParaRPr lang="zh-CN" altLang="en-US"/>
          </a:p>
        </p:txBody>
      </p:sp>
      <p:sp>
        <p:nvSpPr>
          <p:cNvPr id="4" name="矩形 3"/>
          <p:cNvSpPr/>
          <p:nvPr/>
        </p:nvSpPr>
        <p:spPr>
          <a:xfrm>
            <a:off x="8113395" y="3282950"/>
            <a:ext cx="314325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7" name="文本框 6"/>
          <p:cNvSpPr txBox="1"/>
          <p:nvPr/>
        </p:nvSpPr>
        <p:spPr>
          <a:xfrm>
            <a:off x="8120380" y="4328795"/>
            <a:ext cx="551815" cy="1005840"/>
          </a:xfrm>
          <a:prstGeom prst="rect">
            <a:avLst/>
          </a:prstGeom>
          <a:noFill/>
        </p:spPr>
        <p:txBody>
          <a:bodyPr vert="eaVert" wrap="none" rtlCol="0">
            <a:spAutoFit/>
          </a:bodyPr>
          <a:p>
            <a:r>
              <a:rPr lang="en-US" altLang="en-US" sz="2400"/>
              <a:t>工具层</a:t>
            </a:r>
            <a:endParaRPr lang="en-US" altLang="en-US" sz="2400"/>
          </a:p>
        </p:txBody>
      </p:sp>
      <p:sp>
        <p:nvSpPr>
          <p:cNvPr id="32" name="文本框 31"/>
          <p:cNvSpPr txBox="1"/>
          <p:nvPr/>
        </p:nvSpPr>
        <p:spPr>
          <a:xfrm>
            <a:off x="8799195" y="3574415"/>
            <a:ext cx="1249680" cy="306705"/>
          </a:xfrm>
          <a:prstGeom prst="rect">
            <a:avLst/>
          </a:prstGeom>
          <a:noFill/>
        </p:spPr>
        <p:txBody>
          <a:bodyPr wrap="none" rtlCol="0">
            <a:spAutoFit/>
          </a:bodyPr>
          <a:p>
            <a:r>
              <a:rPr lang="en-US" altLang="en-US" sz="1400"/>
              <a:t>向量嵌入模型</a:t>
            </a:r>
            <a:endParaRPr lang="en-US" altLang="en-US" sz="1400"/>
          </a:p>
        </p:txBody>
      </p:sp>
      <p:pic>
        <p:nvPicPr>
          <p:cNvPr id="25" name="图片 24"/>
          <p:cNvPicPr>
            <a:picLocks noChangeAspect="1"/>
          </p:cNvPicPr>
          <p:nvPr/>
        </p:nvPicPr>
        <p:blipFill>
          <a:blip r:embed="rId7"/>
          <a:stretch>
            <a:fillRect/>
          </a:stretch>
        </p:blipFill>
        <p:spPr>
          <a:xfrm>
            <a:off x="10292080" y="3468370"/>
            <a:ext cx="457200" cy="457200"/>
          </a:xfrm>
          <a:prstGeom prst="rect">
            <a:avLst/>
          </a:prstGeom>
        </p:spPr>
      </p:pic>
      <p:sp>
        <p:nvSpPr>
          <p:cNvPr id="26" name="文本框 25"/>
          <p:cNvSpPr txBox="1"/>
          <p:nvPr/>
        </p:nvSpPr>
        <p:spPr>
          <a:xfrm>
            <a:off x="8888095" y="4264660"/>
            <a:ext cx="1071880" cy="306705"/>
          </a:xfrm>
          <a:prstGeom prst="rect">
            <a:avLst/>
          </a:prstGeom>
          <a:noFill/>
        </p:spPr>
        <p:txBody>
          <a:bodyPr wrap="none" rtlCol="0">
            <a:spAutoFit/>
          </a:bodyPr>
          <a:p>
            <a:r>
              <a:rPr lang="en-US" altLang="en-US" sz="1400"/>
              <a:t>向量数据库</a:t>
            </a:r>
            <a:endParaRPr lang="en-US" altLang="en-US" sz="1400"/>
          </a:p>
        </p:txBody>
      </p:sp>
      <p:pic>
        <p:nvPicPr>
          <p:cNvPr id="27" name="图片 26"/>
          <p:cNvPicPr>
            <a:picLocks noChangeAspect="1"/>
          </p:cNvPicPr>
          <p:nvPr/>
        </p:nvPicPr>
        <p:blipFill>
          <a:blip r:embed="rId8"/>
          <a:stretch>
            <a:fillRect/>
          </a:stretch>
        </p:blipFill>
        <p:spPr>
          <a:xfrm>
            <a:off x="10298430" y="4168775"/>
            <a:ext cx="451131" cy="457200"/>
          </a:xfrm>
          <a:prstGeom prst="rect">
            <a:avLst/>
          </a:prstGeom>
        </p:spPr>
      </p:pic>
      <p:pic>
        <p:nvPicPr>
          <p:cNvPr id="28" name="图片 27"/>
          <p:cNvPicPr>
            <a:picLocks noChangeAspect="1"/>
          </p:cNvPicPr>
          <p:nvPr/>
        </p:nvPicPr>
        <p:blipFill>
          <a:blip r:embed="rId9"/>
          <a:stretch>
            <a:fillRect/>
          </a:stretch>
        </p:blipFill>
        <p:spPr>
          <a:xfrm>
            <a:off x="10292080" y="4869180"/>
            <a:ext cx="457200" cy="457200"/>
          </a:xfrm>
          <a:prstGeom prst="rect">
            <a:avLst/>
          </a:prstGeom>
        </p:spPr>
      </p:pic>
      <p:sp>
        <p:nvSpPr>
          <p:cNvPr id="29" name="文本框 28"/>
          <p:cNvSpPr txBox="1"/>
          <p:nvPr/>
        </p:nvSpPr>
        <p:spPr>
          <a:xfrm>
            <a:off x="8799195" y="4954905"/>
            <a:ext cx="1249680" cy="306705"/>
          </a:xfrm>
          <a:prstGeom prst="rect">
            <a:avLst/>
          </a:prstGeom>
          <a:noFill/>
        </p:spPr>
        <p:txBody>
          <a:bodyPr wrap="none" rtlCol="0">
            <a:spAutoFit/>
          </a:bodyPr>
          <a:p>
            <a:r>
              <a:rPr lang="en-US" altLang="en-US" sz="1400"/>
              <a:t>文档识别模型</a:t>
            </a:r>
            <a:endParaRPr lang="en-US" altLang="en-US" sz="1400"/>
          </a:p>
        </p:txBody>
      </p:sp>
      <p:pic>
        <p:nvPicPr>
          <p:cNvPr id="30" name="图片 29"/>
          <p:cNvPicPr>
            <a:picLocks noChangeAspect="1"/>
          </p:cNvPicPr>
          <p:nvPr/>
        </p:nvPicPr>
        <p:blipFill>
          <a:blip r:embed="rId10"/>
          <a:stretch>
            <a:fillRect/>
          </a:stretch>
        </p:blipFill>
        <p:spPr>
          <a:xfrm>
            <a:off x="10298430" y="5569585"/>
            <a:ext cx="457200" cy="457200"/>
          </a:xfrm>
          <a:prstGeom prst="rect">
            <a:avLst/>
          </a:prstGeom>
        </p:spPr>
      </p:pic>
      <p:sp>
        <p:nvSpPr>
          <p:cNvPr id="31" name="文本框 30"/>
          <p:cNvSpPr txBox="1"/>
          <p:nvPr/>
        </p:nvSpPr>
        <p:spPr>
          <a:xfrm>
            <a:off x="8799195" y="5645150"/>
            <a:ext cx="1249680" cy="306705"/>
          </a:xfrm>
          <a:prstGeom prst="rect">
            <a:avLst/>
          </a:prstGeom>
          <a:noFill/>
        </p:spPr>
        <p:txBody>
          <a:bodyPr wrap="none" rtlCol="0">
            <a:spAutoFit/>
          </a:bodyPr>
          <a:p>
            <a:r>
              <a:rPr lang="en-US" altLang="en-US" sz="1400"/>
              <a:t>工具调用服务</a:t>
            </a:r>
            <a:endParaRPr lang="en-US" altLang="en-US" sz="1400"/>
          </a:p>
        </p:txBody>
      </p:sp>
      <p:sp>
        <p:nvSpPr>
          <p:cNvPr id="77" name="矩形 76"/>
          <p:cNvSpPr/>
          <p:nvPr/>
        </p:nvSpPr>
        <p:spPr>
          <a:xfrm>
            <a:off x="979805" y="3282950"/>
            <a:ext cx="685800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78" name="文本框 77"/>
          <p:cNvSpPr txBox="1"/>
          <p:nvPr/>
        </p:nvSpPr>
        <p:spPr>
          <a:xfrm>
            <a:off x="986790" y="4421505"/>
            <a:ext cx="551815" cy="1005840"/>
          </a:xfrm>
          <a:prstGeom prst="rect">
            <a:avLst/>
          </a:prstGeom>
          <a:noFill/>
        </p:spPr>
        <p:txBody>
          <a:bodyPr vert="eaVert" wrap="none" rtlCol="0">
            <a:spAutoFit/>
          </a:bodyPr>
          <a:p>
            <a:r>
              <a:rPr lang="en-US" altLang="zh-CN" sz="2400"/>
              <a:t>模型层</a:t>
            </a:r>
            <a:endParaRPr lang="en-US" altLang="zh-CN" sz="2400"/>
          </a:p>
        </p:txBody>
      </p:sp>
      <p:sp>
        <p:nvSpPr>
          <p:cNvPr id="79" name="矩形 78"/>
          <p:cNvSpPr/>
          <p:nvPr/>
        </p:nvSpPr>
        <p:spPr>
          <a:xfrm>
            <a:off x="1539875" y="3514090"/>
            <a:ext cx="3030855" cy="2636520"/>
          </a:xfrm>
          <a:prstGeom prst="rect">
            <a:avLst/>
          </a:prstGeom>
        </p:spPr>
        <p:style>
          <a:lnRef idx="3">
            <a:schemeClr val="lt1"/>
          </a:lnRef>
          <a:fillRef idx="1">
            <a:schemeClr val="accent5"/>
          </a:fillRef>
          <a:effectRef idx="1">
            <a:schemeClr val="accent5"/>
          </a:effectRef>
          <a:fontRef idx="minor">
            <a:schemeClr val="lt1"/>
          </a:fontRef>
        </p:style>
        <p:txBody>
          <a:bodyPr rtlCol="0" anchor="ctr"/>
          <a:p>
            <a:pPr algn="ctr"/>
            <a:endParaRPr lang="zh-CN" altLang="en-US"/>
          </a:p>
        </p:txBody>
      </p:sp>
      <p:sp>
        <p:nvSpPr>
          <p:cNvPr id="80" name="文本框 79"/>
          <p:cNvSpPr txBox="1"/>
          <p:nvPr/>
        </p:nvSpPr>
        <p:spPr>
          <a:xfrm>
            <a:off x="2506345" y="3512820"/>
            <a:ext cx="1097280" cy="368300"/>
          </a:xfrm>
          <a:prstGeom prst="rect">
            <a:avLst/>
          </a:prstGeom>
          <a:noFill/>
        </p:spPr>
        <p:txBody>
          <a:bodyPr wrap="none" rtlCol="0">
            <a:spAutoFit/>
          </a:bodyPr>
          <a:p>
            <a:r>
              <a:rPr lang="en-US" altLang="zh-CN"/>
              <a:t>文本模型</a:t>
            </a:r>
            <a:endParaRPr lang="en-US" altLang="zh-CN"/>
          </a:p>
        </p:txBody>
      </p:sp>
      <p:sp>
        <p:nvSpPr>
          <p:cNvPr id="81" name="文本框 80"/>
          <p:cNvSpPr txBox="1"/>
          <p:nvPr/>
        </p:nvSpPr>
        <p:spPr>
          <a:xfrm>
            <a:off x="1668780" y="4679315"/>
            <a:ext cx="1249680" cy="306705"/>
          </a:xfrm>
          <a:prstGeom prst="rect">
            <a:avLst/>
          </a:prstGeom>
          <a:noFill/>
        </p:spPr>
        <p:txBody>
          <a:bodyPr wrap="none" rtlCol="0">
            <a:spAutoFit/>
          </a:bodyPr>
          <a:p>
            <a:r>
              <a:rPr lang="en-US" altLang="en-US" sz="1400"/>
              <a:t>通用</a:t>
            </a:r>
            <a:r>
              <a:rPr lang="en-US" altLang="zh-CN" sz="1400"/>
              <a:t>文本模型</a:t>
            </a:r>
            <a:endParaRPr lang="en-US" altLang="zh-CN" sz="1400"/>
          </a:p>
        </p:txBody>
      </p:sp>
      <p:sp>
        <p:nvSpPr>
          <p:cNvPr id="82" name="文本框 81"/>
          <p:cNvSpPr txBox="1"/>
          <p:nvPr/>
        </p:nvSpPr>
        <p:spPr>
          <a:xfrm>
            <a:off x="3373755" y="4678680"/>
            <a:ext cx="894080" cy="306705"/>
          </a:xfrm>
          <a:prstGeom prst="rect">
            <a:avLst/>
          </a:prstGeom>
          <a:noFill/>
        </p:spPr>
        <p:txBody>
          <a:bodyPr wrap="none" rtlCol="0">
            <a:spAutoFit/>
          </a:bodyPr>
          <a:p>
            <a:r>
              <a:rPr lang="en-US" altLang="en-US" sz="1400"/>
              <a:t>推理</a:t>
            </a:r>
            <a:r>
              <a:rPr lang="en-US" altLang="zh-CN" sz="1400"/>
              <a:t>模型</a:t>
            </a:r>
            <a:endParaRPr lang="en-US" altLang="zh-CN" sz="1400"/>
          </a:p>
        </p:txBody>
      </p:sp>
      <p:sp>
        <p:nvSpPr>
          <p:cNvPr id="83" name="文本框 82"/>
          <p:cNvSpPr txBox="1"/>
          <p:nvPr/>
        </p:nvSpPr>
        <p:spPr>
          <a:xfrm>
            <a:off x="1801495" y="5720715"/>
            <a:ext cx="894080" cy="306705"/>
          </a:xfrm>
          <a:prstGeom prst="rect">
            <a:avLst/>
          </a:prstGeom>
          <a:noFill/>
        </p:spPr>
        <p:txBody>
          <a:bodyPr wrap="none" rtlCol="0">
            <a:spAutoFit/>
          </a:bodyPr>
          <a:p>
            <a:r>
              <a:rPr lang="en-US" altLang="en-US" sz="1400"/>
              <a:t>代码</a:t>
            </a:r>
            <a:r>
              <a:rPr lang="en-US" altLang="zh-CN" sz="1400"/>
              <a:t>模型</a:t>
            </a:r>
            <a:endParaRPr lang="en-US" altLang="zh-CN" sz="1400"/>
          </a:p>
        </p:txBody>
      </p:sp>
      <p:sp>
        <p:nvSpPr>
          <p:cNvPr id="84" name="文本框 83"/>
          <p:cNvSpPr txBox="1"/>
          <p:nvPr/>
        </p:nvSpPr>
        <p:spPr>
          <a:xfrm>
            <a:off x="3195955" y="5720715"/>
            <a:ext cx="1249680" cy="306705"/>
          </a:xfrm>
          <a:prstGeom prst="rect">
            <a:avLst/>
          </a:prstGeom>
          <a:noFill/>
        </p:spPr>
        <p:txBody>
          <a:bodyPr wrap="none" rtlCol="0">
            <a:spAutoFit/>
          </a:bodyPr>
          <a:p>
            <a:r>
              <a:rPr lang="en-US" altLang="en-US" sz="1400"/>
              <a:t>视觉语言模型</a:t>
            </a:r>
            <a:endParaRPr lang="en-US" altLang="en-US" sz="1400"/>
          </a:p>
        </p:txBody>
      </p:sp>
      <p:sp>
        <p:nvSpPr>
          <p:cNvPr id="85" name="矩形 84"/>
          <p:cNvSpPr/>
          <p:nvPr/>
        </p:nvSpPr>
        <p:spPr>
          <a:xfrm>
            <a:off x="4706620" y="3512820"/>
            <a:ext cx="3030855" cy="2636520"/>
          </a:xfrm>
          <a:prstGeom prst="rect">
            <a:avLst/>
          </a:prstGeom>
        </p:spPr>
        <p:style>
          <a:lnRef idx="3">
            <a:schemeClr val="lt1"/>
          </a:lnRef>
          <a:fillRef idx="1">
            <a:schemeClr val="accent5"/>
          </a:fillRef>
          <a:effectRef idx="1">
            <a:schemeClr val="accent5"/>
          </a:effectRef>
          <a:fontRef idx="minor">
            <a:schemeClr val="lt1"/>
          </a:fontRef>
        </p:style>
        <p:txBody>
          <a:bodyPr rtlCol="0" anchor="ctr"/>
          <a:p>
            <a:pPr algn="ctr"/>
            <a:endParaRPr lang="zh-CN" altLang="en-US"/>
          </a:p>
        </p:txBody>
      </p:sp>
      <p:sp>
        <p:nvSpPr>
          <p:cNvPr id="86" name="文本框 85"/>
          <p:cNvSpPr txBox="1"/>
          <p:nvPr/>
        </p:nvSpPr>
        <p:spPr>
          <a:xfrm>
            <a:off x="5673725" y="3514090"/>
            <a:ext cx="1325880" cy="368300"/>
          </a:xfrm>
          <a:prstGeom prst="rect">
            <a:avLst/>
          </a:prstGeom>
          <a:noFill/>
        </p:spPr>
        <p:txBody>
          <a:bodyPr wrap="none" rtlCol="0">
            <a:spAutoFit/>
          </a:bodyPr>
          <a:p>
            <a:r>
              <a:rPr lang="en-US" altLang="en-US"/>
              <a:t>多模态</a:t>
            </a:r>
            <a:r>
              <a:rPr lang="en-US" altLang="zh-CN"/>
              <a:t>模型</a:t>
            </a:r>
            <a:endParaRPr lang="en-US" altLang="zh-CN"/>
          </a:p>
        </p:txBody>
      </p:sp>
      <p:sp>
        <p:nvSpPr>
          <p:cNvPr id="87" name="文本框 86"/>
          <p:cNvSpPr txBox="1"/>
          <p:nvPr/>
        </p:nvSpPr>
        <p:spPr>
          <a:xfrm>
            <a:off x="4826000" y="4679315"/>
            <a:ext cx="894080" cy="306705"/>
          </a:xfrm>
          <a:prstGeom prst="rect">
            <a:avLst/>
          </a:prstGeom>
          <a:noFill/>
        </p:spPr>
        <p:txBody>
          <a:bodyPr wrap="none" rtlCol="0">
            <a:spAutoFit/>
          </a:bodyPr>
          <a:p>
            <a:r>
              <a:rPr lang="en-US" altLang="en-US" sz="1400"/>
              <a:t>语音模型</a:t>
            </a:r>
            <a:endParaRPr lang="en-US" altLang="en-US" sz="1400"/>
          </a:p>
        </p:txBody>
      </p:sp>
      <p:sp>
        <p:nvSpPr>
          <p:cNvPr id="88" name="文本框 87"/>
          <p:cNvSpPr txBox="1"/>
          <p:nvPr/>
        </p:nvSpPr>
        <p:spPr>
          <a:xfrm>
            <a:off x="5986145" y="4679315"/>
            <a:ext cx="1664970" cy="306705"/>
          </a:xfrm>
          <a:prstGeom prst="rect">
            <a:avLst/>
          </a:prstGeom>
          <a:noFill/>
        </p:spPr>
        <p:txBody>
          <a:bodyPr wrap="none" rtlCol="0">
            <a:spAutoFit/>
          </a:bodyPr>
          <a:p>
            <a:r>
              <a:rPr lang="en-US" altLang="en-US" sz="1400"/>
              <a:t>图像生成/编辑模型</a:t>
            </a:r>
            <a:endParaRPr lang="en-US" altLang="en-US" sz="1400"/>
          </a:p>
        </p:txBody>
      </p:sp>
      <p:sp>
        <p:nvSpPr>
          <p:cNvPr id="89" name="文本框 88"/>
          <p:cNvSpPr txBox="1"/>
          <p:nvPr/>
        </p:nvSpPr>
        <p:spPr>
          <a:xfrm>
            <a:off x="5504180" y="5842635"/>
            <a:ext cx="1664970" cy="306705"/>
          </a:xfrm>
          <a:prstGeom prst="rect">
            <a:avLst/>
          </a:prstGeom>
          <a:noFill/>
        </p:spPr>
        <p:txBody>
          <a:bodyPr wrap="none" rtlCol="0">
            <a:spAutoFit/>
          </a:bodyPr>
          <a:p>
            <a:r>
              <a:rPr lang="en-US" altLang="en-US" sz="1400"/>
              <a:t>视频生成/编辑模型</a:t>
            </a:r>
            <a:endParaRPr lang="en-US" altLang="en-US" sz="1400"/>
          </a:p>
        </p:txBody>
      </p:sp>
      <p:pic>
        <p:nvPicPr>
          <p:cNvPr id="90" name="图片 89"/>
          <p:cNvPicPr>
            <a:picLocks noChangeAspect="1"/>
          </p:cNvPicPr>
          <p:nvPr/>
        </p:nvPicPr>
        <p:blipFill>
          <a:blip r:embed="rId11"/>
          <a:stretch>
            <a:fillRect/>
          </a:stretch>
        </p:blipFill>
        <p:spPr>
          <a:xfrm>
            <a:off x="3592195" y="4051300"/>
            <a:ext cx="457200" cy="457200"/>
          </a:xfrm>
          <a:prstGeom prst="rect">
            <a:avLst/>
          </a:prstGeom>
        </p:spPr>
      </p:pic>
      <p:pic>
        <p:nvPicPr>
          <p:cNvPr id="91" name="图片 90"/>
          <p:cNvPicPr>
            <a:picLocks noChangeAspect="1"/>
          </p:cNvPicPr>
          <p:nvPr/>
        </p:nvPicPr>
        <p:blipFill>
          <a:blip r:embed="rId12"/>
          <a:stretch>
            <a:fillRect/>
          </a:stretch>
        </p:blipFill>
        <p:spPr>
          <a:xfrm>
            <a:off x="2016760" y="4051300"/>
            <a:ext cx="463351" cy="457200"/>
          </a:xfrm>
          <a:prstGeom prst="rect">
            <a:avLst/>
          </a:prstGeom>
        </p:spPr>
      </p:pic>
      <p:pic>
        <p:nvPicPr>
          <p:cNvPr id="92" name="图片 91"/>
          <p:cNvPicPr>
            <a:picLocks noChangeAspect="1"/>
          </p:cNvPicPr>
          <p:nvPr/>
        </p:nvPicPr>
        <p:blipFill>
          <a:blip r:embed="rId13"/>
          <a:stretch>
            <a:fillRect/>
          </a:stretch>
        </p:blipFill>
        <p:spPr>
          <a:xfrm>
            <a:off x="2023110" y="5154930"/>
            <a:ext cx="457200" cy="457200"/>
          </a:xfrm>
          <a:prstGeom prst="rect">
            <a:avLst/>
          </a:prstGeom>
        </p:spPr>
      </p:pic>
      <p:pic>
        <p:nvPicPr>
          <p:cNvPr id="93" name="图片 92"/>
          <p:cNvPicPr>
            <a:picLocks noChangeAspect="1"/>
          </p:cNvPicPr>
          <p:nvPr/>
        </p:nvPicPr>
        <p:blipFill>
          <a:blip r:embed="rId14"/>
          <a:stretch>
            <a:fillRect/>
          </a:stretch>
        </p:blipFill>
        <p:spPr>
          <a:xfrm>
            <a:off x="3592195" y="5154930"/>
            <a:ext cx="457200" cy="457200"/>
          </a:xfrm>
          <a:prstGeom prst="rect">
            <a:avLst/>
          </a:prstGeom>
        </p:spPr>
      </p:pic>
      <p:pic>
        <p:nvPicPr>
          <p:cNvPr id="94" name="图片 93"/>
          <p:cNvPicPr>
            <a:picLocks noChangeAspect="1"/>
          </p:cNvPicPr>
          <p:nvPr/>
        </p:nvPicPr>
        <p:blipFill>
          <a:blip r:embed="rId15"/>
          <a:stretch>
            <a:fillRect/>
          </a:stretch>
        </p:blipFill>
        <p:spPr>
          <a:xfrm>
            <a:off x="5044440" y="4051300"/>
            <a:ext cx="457200" cy="457200"/>
          </a:xfrm>
          <a:prstGeom prst="rect">
            <a:avLst/>
          </a:prstGeom>
        </p:spPr>
      </p:pic>
      <p:pic>
        <p:nvPicPr>
          <p:cNvPr id="95" name="图片 94"/>
          <p:cNvPicPr>
            <a:picLocks noChangeAspect="1"/>
          </p:cNvPicPr>
          <p:nvPr/>
        </p:nvPicPr>
        <p:blipFill>
          <a:blip r:embed="rId16"/>
          <a:stretch>
            <a:fillRect/>
          </a:stretch>
        </p:blipFill>
        <p:spPr>
          <a:xfrm>
            <a:off x="6108065" y="5334635"/>
            <a:ext cx="457200" cy="457200"/>
          </a:xfrm>
          <a:prstGeom prst="rect">
            <a:avLst/>
          </a:prstGeom>
        </p:spPr>
      </p:pic>
      <p:pic>
        <p:nvPicPr>
          <p:cNvPr id="96" name="图片 95"/>
          <p:cNvPicPr>
            <a:picLocks noChangeAspect="1"/>
          </p:cNvPicPr>
          <p:nvPr/>
        </p:nvPicPr>
        <p:blipFill>
          <a:blip r:embed="rId17"/>
          <a:stretch>
            <a:fillRect/>
          </a:stretch>
        </p:blipFill>
        <p:spPr>
          <a:xfrm>
            <a:off x="6544310" y="4051300"/>
            <a:ext cx="548640" cy="457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sym typeface="+mn-ea"/>
              </a:rPr>
              <a:t>使用场景——</a:t>
            </a:r>
            <a:r>
              <a:rPr lang="en-US" altLang="en-US">
                <a:sym typeface="+mn-ea"/>
              </a:rPr>
              <a:t>大模型工具</a:t>
            </a:r>
            <a:endParaRPr lang="en-US" altLang="en-US">
              <a:sym typeface="+mn-ea"/>
            </a:endParaRPr>
          </a:p>
        </p:txBody>
      </p:sp>
      <p:sp>
        <p:nvSpPr>
          <p:cNvPr id="4" name="文本框 3"/>
          <p:cNvSpPr txBox="1"/>
          <p:nvPr/>
        </p:nvSpPr>
        <p:spPr>
          <a:xfrm>
            <a:off x="1273810" y="1903730"/>
            <a:ext cx="6121400" cy="1476375"/>
          </a:xfrm>
          <a:prstGeom prst="rect">
            <a:avLst/>
          </a:prstGeom>
          <a:noFill/>
        </p:spPr>
        <p:txBody>
          <a:bodyPr wrap="square" rtlCol="0" anchor="t">
            <a:spAutoFit/>
          </a:bodyPr>
          <a:p>
            <a:pPr>
              <a:lnSpc>
                <a:spcPct val="150000"/>
              </a:lnSpc>
            </a:pPr>
            <a:r>
              <a:rPr lang="zh-CN" altLang="en-US" sz="2000"/>
              <a:t>我总分不清电路分析和电磁感应</a:t>
            </a:r>
            <a:r>
              <a:rPr lang="en-US" altLang="zh-CN" sz="2000"/>
              <a:t>，</a:t>
            </a:r>
            <a:r>
              <a:rPr lang="zh-CN" altLang="en-US" sz="2000"/>
              <a:t>请用高中生能懂的语言解释区别</a:t>
            </a:r>
            <a:r>
              <a:rPr lang="en-US" altLang="zh-CN" sz="2000"/>
              <a:t>。</a:t>
            </a:r>
            <a:r>
              <a:rPr lang="en-US" altLang="en-US" sz="2000">
                <a:solidFill>
                  <a:schemeClr val="accent2">
                    <a:lumMod val="75000"/>
                  </a:schemeClr>
                </a:solidFill>
              </a:rPr>
              <a:t>结合学校最近几次考试的题目和老师发布的课纲，分析期末考试最可能考的三种题型。</a:t>
            </a:r>
            <a:endParaRPr lang="en-US" altLang="en-US" sz="2000">
              <a:solidFill>
                <a:schemeClr val="accent2">
                  <a:lumMod val="75000"/>
                </a:schemeClr>
              </a:solidFill>
            </a:endParaRPr>
          </a:p>
        </p:txBody>
      </p:sp>
      <p:sp>
        <p:nvSpPr>
          <p:cNvPr id="11" name="文本框 10"/>
          <p:cNvSpPr txBox="1"/>
          <p:nvPr/>
        </p:nvSpPr>
        <p:spPr>
          <a:xfrm>
            <a:off x="9010015" y="2026920"/>
            <a:ext cx="2480310" cy="398780"/>
          </a:xfrm>
          <a:prstGeom prst="rect">
            <a:avLst/>
          </a:prstGeom>
          <a:noFill/>
        </p:spPr>
        <p:txBody>
          <a:bodyPr wrap="square" rtlCol="0" anchor="t">
            <a:spAutoFit/>
          </a:bodyPr>
          <a:p>
            <a:pPr algn="ctr">
              <a:lnSpc>
                <a:spcPct val="100000"/>
              </a:lnSpc>
            </a:pPr>
            <a:r>
              <a:rPr lang="en-US" sz="2000">
                <a:solidFill>
                  <a:schemeClr val="tx1"/>
                </a:solidFill>
              </a:rPr>
              <a:t>推理模型</a:t>
            </a:r>
            <a:endParaRPr lang="en-US" sz="2000">
              <a:solidFill>
                <a:schemeClr val="tx1"/>
              </a:solidFill>
            </a:endParaRPr>
          </a:p>
        </p:txBody>
      </p:sp>
      <p:sp>
        <p:nvSpPr>
          <p:cNvPr id="12" name="文本框 11"/>
          <p:cNvSpPr txBox="1"/>
          <p:nvPr/>
        </p:nvSpPr>
        <p:spPr>
          <a:xfrm>
            <a:off x="9009380" y="2827020"/>
            <a:ext cx="2480310" cy="398780"/>
          </a:xfrm>
          <a:prstGeom prst="rect">
            <a:avLst/>
          </a:prstGeom>
          <a:noFill/>
        </p:spPr>
        <p:txBody>
          <a:bodyPr wrap="square" rtlCol="0" anchor="t">
            <a:spAutoFit/>
          </a:bodyPr>
          <a:p>
            <a:pPr algn="ctr">
              <a:lnSpc>
                <a:spcPct val="100000"/>
              </a:lnSpc>
            </a:pPr>
            <a:r>
              <a:rPr lang="en-US" altLang="en-US" sz="2000">
                <a:solidFill>
                  <a:schemeClr val="accent2">
                    <a:lumMod val="75000"/>
                  </a:schemeClr>
                </a:solidFill>
              </a:rPr>
              <a:t>工具</a:t>
            </a:r>
            <a:endParaRPr lang="en-US" altLang="en-US" sz="2000">
              <a:solidFill>
                <a:schemeClr val="accent2">
                  <a:lumMod val="75000"/>
                </a:schemeClr>
              </a:solidFill>
            </a:endParaRPr>
          </a:p>
        </p:txBody>
      </p:sp>
      <p:sp>
        <p:nvSpPr>
          <p:cNvPr id="13" name="加号 12"/>
          <p:cNvSpPr/>
          <p:nvPr/>
        </p:nvSpPr>
        <p:spPr>
          <a:xfrm>
            <a:off x="10033635" y="2425700"/>
            <a:ext cx="432435" cy="432435"/>
          </a:xfrm>
          <a:prstGeom prst="mathPlus">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pic>
        <p:nvPicPr>
          <p:cNvPr id="6" name="图片 5"/>
          <p:cNvPicPr>
            <a:picLocks noChangeAspect="1"/>
          </p:cNvPicPr>
          <p:nvPr/>
        </p:nvPicPr>
        <p:blipFill>
          <a:blip r:embed="rId1"/>
          <a:stretch>
            <a:fillRect/>
          </a:stretch>
        </p:blipFill>
        <p:spPr>
          <a:xfrm>
            <a:off x="2450465" y="4095115"/>
            <a:ext cx="1028080" cy="1371600"/>
          </a:xfrm>
          <a:prstGeom prst="rect">
            <a:avLst/>
          </a:prstGeom>
        </p:spPr>
      </p:pic>
      <p:pic>
        <p:nvPicPr>
          <p:cNvPr id="7" name="图片 6"/>
          <p:cNvPicPr>
            <a:picLocks noChangeAspect="1"/>
          </p:cNvPicPr>
          <p:nvPr/>
        </p:nvPicPr>
        <p:blipFill>
          <a:blip r:embed="rId2"/>
          <a:stretch>
            <a:fillRect/>
          </a:stretch>
        </p:blipFill>
        <p:spPr>
          <a:xfrm>
            <a:off x="1871980" y="4482465"/>
            <a:ext cx="998780" cy="1371600"/>
          </a:xfrm>
          <a:prstGeom prst="rect">
            <a:avLst/>
          </a:prstGeom>
        </p:spPr>
      </p:pic>
      <p:pic>
        <p:nvPicPr>
          <p:cNvPr id="28" name="图片 27"/>
          <p:cNvPicPr>
            <a:picLocks noChangeAspect="1"/>
          </p:cNvPicPr>
          <p:nvPr/>
        </p:nvPicPr>
        <p:blipFill>
          <a:blip r:embed="rId3"/>
          <a:stretch>
            <a:fillRect/>
          </a:stretch>
        </p:blipFill>
        <p:spPr>
          <a:xfrm>
            <a:off x="3909695" y="4236085"/>
            <a:ext cx="457200" cy="457200"/>
          </a:xfrm>
          <a:prstGeom prst="rect">
            <a:avLst/>
          </a:prstGeom>
        </p:spPr>
      </p:pic>
      <p:sp>
        <p:nvSpPr>
          <p:cNvPr id="8" name="右箭头 7"/>
          <p:cNvSpPr/>
          <p:nvPr/>
        </p:nvSpPr>
        <p:spPr>
          <a:xfrm>
            <a:off x="3593465" y="4693285"/>
            <a:ext cx="1221105" cy="3721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7" name="图片 26"/>
          <p:cNvPicPr>
            <a:picLocks noChangeAspect="1"/>
          </p:cNvPicPr>
          <p:nvPr/>
        </p:nvPicPr>
        <p:blipFill>
          <a:blip r:embed="rId4"/>
          <a:stretch>
            <a:fillRect/>
          </a:stretch>
        </p:blipFill>
        <p:spPr>
          <a:xfrm>
            <a:off x="5010785" y="4422140"/>
            <a:ext cx="902262" cy="914400"/>
          </a:xfrm>
          <a:prstGeom prst="rect">
            <a:avLst/>
          </a:prstGeom>
        </p:spPr>
      </p:pic>
      <p:pic>
        <p:nvPicPr>
          <p:cNvPr id="25" name="图片 24"/>
          <p:cNvPicPr>
            <a:picLocks noChangeAspect="1"/>
          </p:cNvPicPr>
          <p:nvPr/>
        </p:nvPicPr>
        <p:blipFill>
          <a:blip r:embed="rId5"/>
          <a:stretch>
            <a:fillRect/>
          </a:stretch>
        </p:blipFill>
        <p:spPr>
          <a:xfrm>
            <a:off x="3909695" y="5065395"/>
            <a:ext cx="457200" cy="457200"/>
          </a:xfrm>
          <a:prstGeom prst="rect">
            <a:avLst/>
          </a:prstGeom>
        </p:spPr>
      </p:pic>
      <p:sp>
        <p:nvSpPr>
          <p:cNvPr id="10" name="右箭头 9"/>
          <p:cNvSpPr/>
          <p:nvPr/>
        </p:nvSpPr>
        <p:spPr>
          <a:xfrm>
            <a:off x="6125845" y="4693285"/>
            <a:ext cx="1221105" cy="3721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右箭头 13"/>
          <p:cNvSpPr/>
          <p:nvPr/>
        </p:nvSpPr>
        <p:spPr>
          <a:xfrm rot="5400000">
            <a:off x="5067300" y="3655695"/>
            <a:ext cx="788670" cy="3721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nvSpPr>
        <p:spPr>
          <a:xfrm>
            <a:off x="7346950" y="4556760"/>
            <a:ext cx="1325880" cy="645160"/>
          </a:xfrm>
          <a:prstGeom prst="rect">
            <a:avLst/>
          </a:prstGeom>
          <a:noFill/>
        </p:spPr>
        <p:txBody>
          <a:bodyPr wrap="none" rtlCol="0">
            <a:spAutoFit/>
          </a:bodyPr>
          <a:p>
            <a:pPr algn="ctr"/>
            <a:r>
              <a:rPr lang="en-US" altLang="zh-CN"/>
              <a:t>相关题目和</a:t>
            </a:r>
            <a:br>
              <a:rPr lang="en-US" altLang="zh-CN"/>
            </a:br>
            <a:r>
              <a:rPr lang="en-US" altLang="zh-CN"/>
              <a:t>考纲内容</a:t>
            </a:r>
            <a:endParaRPr lang="en-US" altLang="zh-CN"/>
          </a:p>
        </p:txBody>
      </p:sp>
      <p:sp>
        <p:nvSpPr>
          <p:cNvPr id="16" name="右箭头 15"/>
          <p:cNvSpPr/>
          <p:nvPr/>
        </p:nvSpPr>
        <p:spPr>
          <a:xfrm>
            <a:off x="8732520" y="4693285"/>
            <a:ext cx="1221105" cy="3721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90" name="图片 89"/>
          <p:cNvPicPr>
            <a:picLocks noChangeAspect="1"/>
          </p:cNvPicPr>
          <p:nvPr/>
        </p:nvPicPr>
        <p:blipFill>
          <a:blip r:embed="rId6"/>
          <a:stretch>
            <a:fillRect/>
          </a:stretch>
        </p:blipFill>
        <p:spPr>
          <a:xfrm>
            <a:off x="9114155" y="4236085"/>
            <a:ext cx="457200" cy="457200"/>
          </a:xfrm>
          <a:prstGeom prst="rect">
            <a:avLst/>
          </a:prstGeom>
        </p:spPr>
      </p:pic>
      <p:sp>
        <p:nvSpPr>
          <p:cNvPr id="17" name="文本框 16"/>
          <p:cNvSpPr txBox="1"/>
          <p:nvPr/>
        </p:nvSpPr>
        <p:spPr>
          <a:xfrm>
            <a:off x="10097135" y="4693285"/>
            <a:ext cx="640080" cy="368300"/>
          </a:xfrm>
          <a:prstGeom prst="rect">
            <a:avLst/>
          </a:prstGeom>
          <a:noFill/>
        </p:spPr>
        <p:txBody>
          <a:bodyPr wrap="none" rtlCol="0">
            <a:spAutoFit/>
          </a:bodyPr>
          <a:p>
            <a:pPr algn="ctr"/>
            <a:r>
              <a:rPr lang="en-US" altLang="en-US"/>
              <a:t>回答</a:t>
            </a: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大模型产品谱系图</a:t>
            </a:r>
            <a:endParaRPr lang="en-US" altLang="zh-CN"/>
          </a:p>
        </p:txBody>
      </p:sp>
      <p:sp>
        <p:nvSpPr>
          <p:cNvPr id="6" name="矩形 5"/>
          <p:cNvSpPr/>
          <p:nvPr/>
        </p:nvSpPr>
        <p:spPr>
          <a:xfrm>
            <a:off x="979805" y="1691005"/>
            <a:ext cx="10276840" cy="141541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9" name="文本框 8"/>
          <p:cNvSpPr txBox="1"/>
          <p:nvPr/>
        </p:nvSpPr>
        <p:spPr>
          <a:xfrm>
            <a:off x="986790" y="1896110"/>
            <a:ext cx="551815" cy="1005840"/>
          </a:xfrm>
          <a:prstGeom prst="rect">
            <a:avLst/>
          </a:prstGeom>
          <a:noFill/>
        </p:spPr>
        <p:txBody>
          <a:bodyPr vert="eaVert" wrap="none" rtlCol="0">
            <a:spAutoFit/>
          </a:bodyPr>
          <a:p>
            <a:r>
              <a:rPr lang="en-US" altLang="en-US" sz="2400"/>
              <a:t>编排层</a:t>
            </a:r>
            <a:endParaRPr lang="en-US" altLang="en-US" sz="2400"/>
          </a:p>
        </p:txBody>
      </p:sp>
      <p:pic>
        <p:nvPicPr>
          <p:cNvPr id="43" name="图片 42"/>
          <p:cNvPicPr>
            <a:picLocks noChangeAspect="1"/>
          </p:cNvPicPr>
          <p:nvPr/>
        </p:nvPicPr>
        <p:blipFill>
          <a:blip r:embed="rId1"/>
          <a:stretch>
            <a:fillRect/>
          </a:stretch>
        </p:blipFill>
        <p:spPr>
          <a:xfrm>
            <a:off x="2284730" y="2444750"/>
            <a:ext cx="457200" cy="457200"/>
          </a:xfrm>
          <a:prstGeom prst="rect">
            <a:avLst/>
          </a:prstGeom>
        </p:spPr>
      </p:pic>
      <p:pic>
        <p:nvPicPr>
          <p:cNvPr id="45" name="图片 44"/>
          <p:cNvPicPr>
            <a:picLocks noChangeAspect="1"/>
          </p:cNvPicPr>
          <p:nvPr/>
        </p:nvPicPr>
        <p:blipFill>
          <a:blip r:embed="rId2"/>
          <a:stretch>
            <a:fillRect/>
          </a:stretch>
        </p:blipFill>
        <p:spPr>
          <a:xfrm>
            <a:off x="2852420" y="2444750"/>
            <a:ext cx="455839" cy="457200"/>
          </a:xfrm>
          <a:prstGeom prst="rect">
            <a:avLst/>
          </a:prstGeom>
        </p:spPr>
      </p:pic>
      <p:pic>
        <p:nvPicPr>
          <p:cNvPr id="47" name="图片 46"/>
          <p:cNvPicPr>
            <a:picLocks noChangeAspect="1"/>
          </p:cNvPicPr>
          <p:nvPr/>
        </p:nvPicPr>
        <p:blipFill>
          <a:blip r:embed="rId3"/>
          <a:stretch>
            <a:fillRect/>
          </a:stretch>
        </p:blipFill>
        <p:spPr>
          <a:xfrm>
            <a:off x="2851150" y="1816735"/>
            <a:ext cx="457200" cy="457200"/>
          </a:xfrm>
          <a:prstGeom prst="rect">
            <a:avLst/>
          </a:prstGeom>
        </p:spPr>
      </p:pic>
      <p:pic>
        <p:nvPicPr>
          <p:cNvPr id="49" name="图片 48"/>
          <p:cNvPicPr>
            <a:picLocks noChangeAspect="1"/>
          </p:cNvPicPr>
          <p:nvPr/>
        </p:nvPicPr>
        <p:blipFill>
          <a:blip r:embed="rId4"/>
          <a:stretch>
            <a:fillRect/>
          </a:stretch>
        </p:blipFill>
        <p:spPr>
          <a:xfrm>
            <a:off x="1740535" y="2444750"/>
            <a:ext cx="457200" cy="457200"/>
          </a:xfrm>
          <a:prstGeom prst="rect">
            <a:avLst/>
          </a:prstGeom>
        </p:spPr>
      </p:pic>
      <p:pic>
        <p:nvPicPr>
          <p:cNvPr id="51" name="图片 50"/>
          <p:cNvPicPr>
            <a:picLocks noChangeAspect="1"/>
          </p:cNvPicPr>
          <p:nvPr/>
        </p:nvPicPr>
        <p:blipFill>
          <a:blip r:embed="rId5"/>
          <a:stretch>
            <a:fillRect/>
          </a:stretch>
        </p:blipFill>
        <p:spPr>
          <a:xfrm>
            <a:off x="2284730" y="1816735"/>
            <a:ext cx="457200" cy="457200"/>
          </a:xfrm>
          <a:prstGeom prst="rect">
            <a:avLst/>
          </a:prstGeom>
        </p:spPr>
      </p:pic>
      <p:pic>
        <p:nvPicPr>
          <p:cNvPr id="53" name="图片 52"/>
          <p:cNvPicPr>
            <a:picLocks noChangeAspect="1"/>
          </p:cNvPicPr>
          <p:nvPr/>
        </p:nvPicPr>
        <p:blipFill>
          <a:blip r:embed="rId6"/>
          <a:stretch>
            <a:fillRect/>
          </a:stretch>
        </p:blipFill>
        <p:spPr>
          <a:xfrm>
            <a:off x="1740535" y="1816735"/>
            <a:ext cx="457200" cy="457200"/>
          </a:xfrm>
          <a:prstGeom prst="rect">
            <a:avLst/>
          </a:prstGeom>
        </p:spPr>
      </p:pic>
      <p:sp>
        <p:nvSpPr>
          <p:cNvPr id="37" name="文本框 36"/>
          <p:cNvSpPr txBox="1"/>
          <p:nvPr/>
        </p:nvSpPr>
        <p:spPr>
          <a:xfrm>
            <a:off x="3412490" y="1730375"/>
            <a:ext cx="7552690" cy="1337945"/>
          </a:xfrm>
          <a:prstGeom prst="rect">
            <a:avLst/>
          </a:prstGeom>
          <a:noFill/>
        </p:spPr>
        <p:txBody>
          <a:bodyPr wrap="square" rtlCol="0" anchor="t">
            <a:spAutoFit/>
          </a:bodyPr>
          <a:p>
            <a:pPr>
              <a:lnSpc>
                <a:spcPct val="150000"/>
              </a:lnSpc>
            </a:pPr>
            <a:r>
              <a:rPr lang="en-US" altLang="zh-CN">
                <a:sym typeface="+mn-ea"/>
              </a:rPr>
              <a:t>把模型、工具、资料和流程组织成可直接使用的产品或系统，例如知识库、智能体和工作流平台。它决定 AI 如何完成多步骤任务、何时调用工具，以及如何控制权限与流程。</a:t>
            </a:r>
            <a:endParaRPr lang="zh-CN" altLang="en-US"/>
          </a:p>
        </p:txBody>
      </p:sp>
      <p:sp>
        <p:nvSpPr>
          <p:cNvPr id="4" name="矩形 3"/>
          <p:cNvSpPr/>
          <p:nvPr/>
        </p:nvSpPr>
        <p:spPr>
          <a:xfrm>
            <a:off x="8113395" y="3282950"/>
            <a:ext cx="314325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7" name="文本框 6"/>
          <p:cNvSpPr txBox="1"/>
          <p:nvPr/>
        </p:nvSpPr>
        <p:spPr>
          <a:xfrm>
            <a:off x="8120380" y="4328795"/>
            <a:ext cx="551815" cy="1005840"/>
          </a:xfrm>
          <a:prstGeom prst="rect">
            <a:avLst/>
          </a:prstGeom>
          <a:noFill/>
        </p:spPr>
        <p:txBody>
          <a:bodyPr vert="eaVert" wrap="none" rtlCol="0">
            <a:spAutoFit/>
          </a:bodyPr>
          <a:p>
            <a:r>
              <a:rPr lang="en-US" altLang="en-US" sz="2400"/>
              <a:t>工具层</a:t>
            </a:r>
            <a:endParaRPr lang="en-US" altLang="en-US" sz="2400"/>
          </a:p>
        </p:txBody>
      </p:sp>
      <p:sp>
        <p:nvSpPr>
          <p:cNvPr id="32" name="文本框 31"/>
          <p:cNvSpPr txBox="1"/>
          <p:nvPr/>
        </p:nvSpPr>
        <p:spPr>
          <a:xfrm>
            <a:off x="8799195" y="3574415"/>
            <a:ext cx="1249680" cy="306705"/>
          </a:xfrm>
          <a:prstGeom prst="rect">
            <a:avLst/>
          </a:prstGeom>
          <a:noFill/>
        </p:spPr>
        <p:txBody>
          <a:bodyPr wrap="none" rtlCol="0">
            <a:spAutoFit/>
          </a:bodyPr>
          <a:p>
            <a:r>
              <a:rPr lang="en-US" altLang="en-US" sz="1400"/>
              <a:t>向量嵌入模型</a:t>
            </a:r>
            <a:endParaRPr lang="en-US" altLang="en-US" sz="1400"/>
          </a:p>
        </p:txBody>
      </p:sp>
      <p:pic>
        <p:nvPicPr>
          <p:cNvPr id="25" name="图片 24"/>
          <p:cNvPicPr>
            <a:picLocks noChangeAspect="1"/>
          </p:cNvPicPr>
          <p:nvPr/>
        </p:nvPicPr>
        <p:blipFill>
          <a:blip r:embed="rId7"/>
          <a:stretch>
            <a:fillRect/>
          </a:stretch>
        </p:blipFill>
        <p:spPr>
          <a:xfrm>
            <a:off x="10292080" y="3468370"/>
            <a:ext cx="457200" cy="457200"/>
          </a:xfrm>
          <a:prstGeom prst="rect">
            <a:avLst/>
          </a:prstGeom>
        </p:spPr>
      </p:pic>
      <p:sp>
        <p:nvSpPr>
          <p:cNvPr id="26" name="文本框 25"/>
          <p:cNvSpPr txBox="1"/>
          <p:nvPr/>
        </p:nvSpPr>
        <p:spPr>
          <a:xfrm>
            <a:off x="8888095" y="4264660"/>
            <a:ext cx="1071880" cy="306705"/>
          </a:xfrm>
          <a:prstGeom prst="rect">
            <a:avLst/>
          </a:prstGeom>
          <a:noFill/>
        </p:spPr>
        <p:txBody>
          <a:bodyPr wrap="none" rtlCol="0">
            <a:spAutoFit/>
          </a:bodyPr>
          <a:p>
            <a:r>
              <a:rPr lang="en-US" altLang="en-US" sz="1400"/>
              <a:t>向量数据库</a:t>
            </a:r>
            <a:endParaRPr lang="en-US" altLang="en-US" sz="1400"/>
          </a:p>
        </p:txBody>
      </p:sp>
      <p:pic>
        <p:nvPicPr>
          <p:cNvPr id="27" name="图片 26"/>
          <p:cNvPicPr>
            <a:picLocks noChangeAspect="1"/>
          </p:cNvPicPr>
          <p:nvPr/>
        </p:nvPicPr>
        <p:blipFill>
          <a:blip r:embed="rId8"/>
          <a:stretch>
            <a:fillRect/>
          </a:stretch>
        </p:blipFill>
        <p:spPr>
          <a:xfrm>
            <a:off x="10298430" y="4168775"/>
            <a:ext cx="451131" cy="457200"/>
          </a:xfrm>
          <a:prstGeom prst="rect">
            <a:avLst/>
          </a:prstGeom>
        </p:spPr>
      </p:pic>
      <p:pic>
        <p:nvPicPr>
          <p:cNvPr id="28" name="图片 27"/>
          <p:cNvPicPr>
            <a:picLocks noChangeAspect="1"/>
          </p:cNvPicPr>
          <p:nvPr/>
        </p:nvPicPr>
        <p:blipFill>
          <a:blip r:embed="rId9"/>
          <a:stretch>
            <a:fillRect/>
          </a:stretch>
        </p:blipFill>
        <p:spPr>
          <a:xfrm>
            <a:off x="10292080" y="4869180"/>
            <a:ext cx="457200" cy="457200"/>
          </a:xfrm>
          <a:prstGeom prst="rect">
            <a:avLst/>
          </a:prstGeom>
        </p:spPr>
      </p:pic>
      <p:sp>
        <p:nvSpPr>
          <p:cNvPr id="29" name="文本框 28"/>
          <p:cNvSpPr txBox="1"/>
          <p:nvPr/>
        </p:nvSpPr>
        <p:spPr>
          <a:xfrm>
            <a:off x="8799195" y="4954905"/>
            <a:ext cx="1249680" cy="306705"/>
          </a:xfrm>
          <a:prstGeom prst="rect">
            <a:avLst/>
          </a:prstGeom>
          <a:noFill/>
        </p:spPr>
        <p:txBody>
          <a:bodyPr wrap="none" rtlCol="0">
            <a:spAutoFit/>
          </a:bodyPr>
          <a:p>
            <a:r>
              <a:rPr lang="en-US" altLang="en-US" sz="1400"/>
              <a:t>文档识别模型</a:t>
            </a:r>
            <a:endParaRPr lang="en-US" altLang="en-US" sz="1400"/>
          </a:p>
        </p:txBody>
      </p:sp>
      <p:pic>
        <p:nvPicPr>
          <p:cNvPr id="30" name="图片 29"/>
          <p:cNvPicPr>
            <a:picLocks noChangeAspect="1"/>
          </p:cNvPicPr>
          <p:nvPr/>
        </p:nvPicPr>
        <p:blipFill>
          <a:blip r:embed="rId10"/>
          <a:stretch>
            <a:fillRect/>
          </a:stretch>
        </p:blipFill>
        <p:spPr>
          <a:xfrm>
            <a:off x="10298430" y="5569585"/>
            <a:ext cx="457200" cy="457200"/>
          </a:xfrm>
          <a:prstGeom prst="rect">
            <a:avLst/>
          </a:prstGeom>
        </p:spPr>
      </p:pic>
      <p:sp>
        <p:nvSpPr>
          <p:cNvPr id="31" name="文本框 30"/>
          <p:cNvSpPr txBox="1"/>
          <p:nvPr/>
        </p:nvSpPr>
        <p:spPr>
          <a:xfrm>
            <a:off x="8799195" y="5645150"/>
            <a:ext cx="1249680" cy="306705"/>
          </a:xfrm>
          <a:prstGeom prst="rect">
            <a:avLst/>
          </a:prstGeom>
          <a:noFill/>
        </p:spPr>
        <p:txBody>
          <a:bodyPr wrap="none" rtlCol="0">
            <a:spAutoFit/>
          </a:bodyPr>
          <a:p>
            <a:r>
              <a:rPr lang="en-US" altLang="en-US" sz="1400"/>
              <a:t>工具调用服务</a:t>
            </a:r>
            <a:endParaRPr lang="en-US" altLang="en-US" sz="1400"/>
          </a:p>
        </p:txBody>
      </p:sp>
      <p:sp>
        <p:nvSpPr>
          <p:cNvPr id="77" name="矩形 76"/>
          <p:cNvSpPr/>
          <p:nvPr/>
        </p:nvSpPr>
        <p:spPr>
          <a:xfrm>
            <a:off x="979805" y="3282950"/>
            <a:ext cx="685800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78" name="文本框 77"/>
          <p:cNvSpPr txBox="1"/>
          <p:nvPr/>
        </p:nvSpPr>
        <p:spPr>
          <a:xfrm>
            <a:off x="986790" y="4421505"/>
            <a:ext cx="551815" cy="1005840"/>
          </a:xfrm>
          <a:prstGeom prst="rect">
            <a:avLst/>
          </a:prstGeom>
          <a:noFill/>
        </p:spPr>
        <p:txBody>
          <a:bodyPr vert="eaVert" wrap="none" rtlCol="0">
            <a:spAutoFit/>
          </a:bodyPr>
          <a:p>
            <a:r>
              <a:rPr lang="en-US" altLang="zh-CN" sz="2400"/>
              <a:t>模型层</a:t>
            </a:r>
            <a:endParaRPr lang="en-US" altLang="zh-CN" sz="2400"/>
          </a:p>
        </p:txBody>
      </p:sp>
      <p:sp>
        <p:nvSpPr>
          <p:cNvPr id="79" name="矩形 78"/>
          <p:cNvSpPr/>
          <p:nvPr/>
        </p:nvSpPr>
        <p:spPr>
          <a:xfrm>
            <a:off x="1539875" y="3514090"/>
            <a:ext cx="3030855" cy="2636520"/>
          </a:xfrm>
          <a:prstGeom prst="rect">
            <a:avLst/>
          </a:prstGeom>
        </p:spPr>
        <p:style>
          <a:lnRef idx="3">
            <a:schemeClr val="lt1"/>
          </a:lnRef>
          <a:fillRef idx="1">
            <a:schemeClr val="accent5"/>
          </a:fillRef>
          <a:effectRef idx="1">
            <a:schemeClr val="accent5"/>
          </a:effectRef>
          <a:fontRef idx="minor">
            <a:schemeClr val="lt1"/>
          </a:fontRef>
        </p:style>
        <p:txBody>
          <a:bodyPr rtlCol="0" anchor="ctr"/>
          <a:p>
            <a:pPr algn="ctr"/>
            <a:endParaRPr lang="zh-CN" altLang="en-US"/>
          </a:p>
        </p:txBody>
      </p:sp>
      <p:sp>
        <p:nvSpPr>
          <p:cNvPr id="80" name="文本框 79"/>
          <p:cNvSpPr txBox="1"/>
          <p:nvPr/>
        </p:nvSpPr>
        <p:spPr>
          <a:xfrm>
            <a:off x="2506345" y="3512820"/>
            <a:ext cx="1097280" cy="368300"/>
          </a:xfrm>
          <a:prstGeom prst="rect">
            <a:avLst/>
          </a:prstGeom>
          <a:noFill/>
        </p:spPr>
        <p:txBody>
          <a:bodyPr wrap="none" rtlCol="0">
            <a:spAutoFit/>
          </a:bodyPr>
          <a:p>
            <a:r>
              <a:rPr lang="en-US" altLang="zh-CN"/>
              <a:t>文本模型</a:t>
            </a:r>
            <a:endParaRPr lang="en-US" altLang="zh-CN"/>
          </a:p>
        </p:txBody>
      </p:sp>
      <p:sp>
        <p:nvSpPr>
          <p:cNvPr id="81" name="文本框 80"/>
          <p:cNvSpPr txBox="1"/>
          <p:nvPr/>
        </p:nvSpPr>
        <p:spPr>
          <a:xfrm>
            <a:off x="1668780" y="4679315"/>
            <a:ext cx="1249680" cy="306705"/>
          </a:xfrm>
          <a:prstGeom prst="rect">
            <a:avLst/>
          </a:prstGeom>
          <a:noFill/>
        </p:spPr>
        <p:txBody>
          <a:bodyPr wrap="none" rtlCol="0">
            <a:spAutoFit/>
          </a:bodyPr>
          <a:p>
            <a:r>
              <a:rPr lang="en-US" altLang="en-US" sz="1400"/>
              <a:t>通用</a:t>
            </a:r>
            <a:r>
              <a:rPr lang="en-US" altLang="zh-CN" sz="1400"/>
              <a:t>文本模型</a:t>
            </a:r>
            <a:endParaRPr lang="en-US" altLang="zh-CN" sz="1400"/>
          </a:p>
        </p:txBody>
      </p:sp>
      <p:sp>
        <p:nvSpPr>
          <p:cNvPr id="82" name="文本框 81"/>
          <p:cNvSpPr txBox="1"/>
          <p:nvPr/>
        </p:nvSpPr>
        <p:spPr>
          <a:xfrm>
            <a:off x="3373755" y="4678680"/>
            <a:ext cx="894080" cy="306705"/>
          </a:xfrm>
          <a:prstGeom prst="rect">
            <a:avLst/>
          </a:prstGeom>
          <a:noFill/>
        </p:spPr>
        <p:txBody>
          <a:bodyPr wrap="none" rtlCol="0">
            <a:spAutoFit/>
          </a:bodyPr>
          <a:p>
            <a:r>
              <a:rPr lang="en-US" altLang="en-US" sz="1400"/>
              <a:t>推理</a:t>
            </a:r>
            <a:r>
              <a:rPr lang="en-US" altLang="zh-CN" sz="1400"/>
              <a:t>模型</a:t>
            </a:r>
            <a:endParaRPr lang="en-US" altLang="zh-CN" sz="1400"/>
          </a:p>
        </p:txBody>
      </p:sp>
      <p:sp>
        <p:nvSpPr>
          <p:cNvPr id="83" name="文本框 82"/>
          <p:cNvSpPr txBox="1"/>
          <p:nvPr/>
        </p:nvSpPr>
        <p:spPr>
          <a:xfrm>
            <a:off x="1801495" y="5720715"/>
            <a:ext cx="894080" cy="306705"/>
          </a:xfrm>
          <a:prstGeom prst="rect">
            <a:avLst/>
          </a:prstGeom>
          <a:noFill/>
        </p:spPr>
        <p:txBody>
          <a:bodyPr wrap="none" rtlCol="0">
            <a:spAutoFit/>
          </a:bodyPr>
          <a:p>
            <a:r>
              <a:rPr lang="en-US" altLang="en-US" sz="1400"/>
              <a:t>代码</a:t>
            </a:r>
            <a:r>
              <a:rPr lang="en-US" altLang="zh-CN" sz="1400"/>
              <a:t>模型</a:t>
            </a:r>
            <a:endParaRPr lang="en-US" altLang="zh-CN" sz="1400"/>
          </a:p>
        </p:txBody>
      </p:sp>
      <p:sp>
        <p:nvSpPr>
          <p:cNvPr id="84" name="文本框 83"/>
          <p:cNvSpPr txBox="1"/>
          <p:nvPr/>
        </p:nvSpPr>
        <p:spPr>
          <a:xfrm>
            <a:off x="3195955" y="5720715"/>
            <a:ext cx="1249680" cy="306705"/>
          </a:xfrm>
          <a:prstGeom prst="rect">
            <a:avLst/>
          </a:prstGeom>
          <a:noFill/>
        </p:spPr>
        <p:txBody>
          <a:bodyPr wrap="none" rtlCol="0">
            <a:spAutoFit/>
          </a:bodyPr>
          <a:p>
            <a:r>
              <a:rPr lang="en-US" altLang="en-US" sz="1400"/>
              <a:t>视觉语言模型</a:t>
            </a:r>
            <a:endParaRPr lang="en-US" altLang="en-US" sz="1400"/>
          </a:p>
        </p:txBody>
      </p:sp>
      <p:sp>
        <p:nvSpPr>
          <p:cNvPr id="85" name="矩形 84"/>
          <p:cNvSpPr/>
          <p:nvPr/>
        </p:nvSpPr>
        <p:spPr>
          <a:xfrm>
            <a:off x="4706620" y="3512820"/>
            <a:ext cx="3030855" cy="2636520"/>
          </a:xfrm>
          <a:prstGeom prst="rect">
            <a:avLst/>
          </a:prstGeom>
        </p:spPr>
        <p:style>
          <a:lnRef idx="3">
            <a:schemeClr val="lt1"/>
          </a:lnRef>
          <a:fillRef idx="1">
            <a:schemeClr val="accent5"/>
          </a:fillRef>
          <a:effectRef idx="1">
            <a:schemeClr val="accent5"/>
          </a:effectRef>
          <a:fontRef idx="minor">
            <a:schemeClr val="lt1"/>
          </a:fontRef>
        </p:style>
        <p:txBody>
          <a:bodyPr rtlCol="0" anchor="ctr"/>
          <a:p>
            <a:pPr algn="ctr"/>
            <a:endParaRPr lang="zh-CN" altLang="en-US"/>
          </a:p>
        </p:txBody>
      </p:sp>
      <p:sp>
        <p:nvSpPr>
          <p:cNvPr id="86" name="文本框 85"/>
          <p:cNvSpPr txBox="1"/>
          <p:nvPr/>
        </p:nvSpPr>
        <p:spPr>
          <a:xfrm>
            <a:off x="5673725" y="3514090"/>
            <a:ext cx="1325880" cy="368300"/>
          </a:xfrm>
          <a:prstGeom prst="rect">
            <a:avLst/>
          </a:prstGeom>
          <a:noFill/>
        </p:spPr>
        <p:txBody>
          <a:bodyPr wrap="none" rtlCol="0">
            <a:spAutoFit/>
          </a:bodyPr>
          <a:p>
            <a:r>
              <a:rPr lang="en-US" altLang="en-US"/>
              <a:t>多模态</a:t>
            </a:r>
            <a:r>
              <a:rPr lang="en-US" altLang="zh-CN"/>
              <a:t>模型</a:t>
            </a:r>
            <a:endParaRPr lang="en-US" altLang="zh-CN"/>
          </a:p>
        </p:txBody>
      </p:sp>
      <p:sp>
        <p:nvSpPr>
          <p:cNvPr id="87" name="文本框 86"/>
          <p:cNvSpPr txBox="1"/>
          <p:nvPr/>
        </p:nvSpPr>
        <p:spPr>
          <a:xfrm>
            <a:off x="4826000" y="4679315"/>
            <a:ext cx="894080" cy="306705"/>
          </a:xfrm>
          <a:prstGeom prst="rect">
            <a:avLst/>
          </a:prstGeom>
          <a:noFill/>
        </p:spPr>
        <p:txBody>
          <a:bodyPr wrap="none" rtlCol="0">
            <a:spAutoFit/>
          </a:bodyPr>
          <a:p>
            <a:r>
              <a:rPr lang="en-US" altLang="en-US" sz="1400"/>
              <a:t>语音模型</a:t>
            </a:r>
            <a:endParaRPr lang="en-US" altLang="en-US" sz="1400"/>
          </a:p>
        </p:txBody>
      </p:sp>
      <p:sp>
        <p:nvSpPr>
          <p:cNvPr id="88" name="文本框 87"/>
          <p:cNvSpPr txBox="1"/>
          <p:nvPr/>
        </p:nvSpPr>
        <p:spPr>
          <a:xfrm>
            <a:off x="5986145" y="4679315"/>
            <a:ext cx="1664970" cy="306705"/>
          </a:xfrm>
          <a:prstGeom prst="rect">
            <a:avLst/>
          </a:prstGeom>
          <a:noFill/>
        </p:spPr>
        <p:txBody>
          <a:bodyPr wrap="none" rtlCol="0">
            <a:spAutoFit/>
          </a:bodyPr>
          <a:p>
            <a:r>
              <a:rPr lang="en-US" altLang="en-US" sz="1400"/>
              <a:t>图像生成/编辑模型</a:t>
            </a:r>
            <a:endParaRPr lang="en-US" altLang="en-US" sz="1400"/>
          </a:p>
        </p:txBody>
      </p:sp>
      <p:sp>
        <p:nvSpPr>
          <p:cNvPr id="89" name="文本框 88"/>
          <p:cNvSpPr txBox="1"/>
          <p:nvPr/>
        </p:nvSpPr>
        <p:spPr>
          <a:xfrm>
            <a:off x="5504180" y="5842635"/>
            <a:ext cx="1664970" cy="306705"/>
          </a:xfrm>
          <a:prstGeom prst="rect">
            <a:avLst/>
          </a:prstGeom>
          <a:noFill/>
        </p:spPr>
        <p:txBody>
          <a:bodyPr wrap="none" rtlCol="0">
            <a:spAutoFit/>
          </a:bodyPr>
          <a:p>
            <a:r>
              <a:rPr lang="en-US" altLang="en-US" sz="1400"/>
              <a:t>视频生成/编辑模型</a:t>
            </a:r>
            <a:endParaRPr lang="en-US" altLang="en-US" sz="1400"/>
          </a:p>
        </p:txBody>
      </p:sp>
      <p:pic>
        <p:nvPicPr>
          <p:cNvPr id="90" name="图片 89"/>
          <p:cNvPicPr>
            <a:picLocks noChangeAspect="1"/>
          </p:cNvPicPr>
          <p:nvPr/>
        </p:nvPicPr>
        <p:blipFill>
          <a:blip r:embed="rId11"/>
          <a:stretch>
            <a:fillRect/>
          </a:stretch>
        </p:blipFill>
        <p:spPr>
          <a:xfrm>
            <a:off x="3592195" y="4051300"/>
            <a:ext cx="457200" cy="457200"/>
          </a:xfrm>
          <a:prstGeom prst="rect">
            <a:avLst/>
          </a:prstGeom>
        </p:spPr>
      </p:pic>
      <p:pic>
        <p:nvPicPr>
          <p:cNvPr id="91" name="图片 90"/>
          <p:cNvPicPr>
            <a:picLocks noChangeAspect="1"/>
          </p:cNvPicPr>
          <p:nvPr/>
        </p:nvPicPr>
        <p:blipFill>
          <a:blip r:embed="rId12"/>
          <a:stretch>
            <a:fillRect/>
          </a:stretch>
        </p:blipFill>
        <p:spPr>
          <a:xfrm>
            <a:off x="2016760" y="4051300"/>
            <a:ext cx="463351" cy="457200"/>
          </a:xfrm>
          <a:prstGeom prst="rect">
            <a:avLst/>
          </a:prstGeom>
        </p:spPr>
      </p:pic>
      <p:pic>
        <p:nvPicPr>
          <p:cNvPr id="92" name="图片 91"/>
          <p:cNvPicPr>
            <a:picLocks noChangeAspect="1"/>
          </p:cNvPicPr>
          <p:nvPr/>
        </p:nvPicPr>
        <p:blipFill>
          <a:blip r:embed="rId13"/>
          <a:stretch>
            <a:fillRect/>
          </a:stretch>
        </p:blipFill>
        <p:spPr>
          <a:xfrm>
            <a:off x="2023110" y="5154930"/>
            <a:ext cx="457200" cy="457200"/>
          </a:xfrm>
          <a:prstGeom prst="rect">
            <a:avLst/>
          </a:prstGeom>
        </p:spPr>
      </p:pic>
      <p:pic>
        <p:nvPicPr>
          <p:cNvPr id="93" name="图片 92"/>
          <p:cNvPicPr>
            <a:picLocks noChangeAspect="1"/>
          </p:cNvPicPr>
          <p:nvPr/>
        </p:nvPicPr>
        <p:blipFill>
          <a:blip r:embed="rId14"/>
          <a:stretch>
            <a:fillRect/>
          </a:stretch>
        </p:blipFill>
        <p:spPr>
          <a:xfrm>
            <a:off x="3592195" y="5154930"/>
            <a:ext cx="457200" cy="457200"/>
          </a:xfrm>
          <a:prstGeom prst="rect">
            <a:avLst/>
          </a:prstGeom>
        </p:spPr>
      </p:pic>
      <p:pic>
        <p:nvPicPr>
          <p:cNvPr id="94" name="图片 93"/>
          <p:cNvPicPr>
            <a:picLocks noChangeAspect="1"/>
          </p:cNvPicPr>
          <p:nvPr/>
        </p:nvPicPr>
        <p:blipFill>
          <a:blip r:embed="rId15"/>
          <a:stretch>
            <a:fillRect/>
          </a:stretch>
        </p:blipFill>
        <p:spPr>
          <a:xfrm>
            <a:off x="5044440" y="4051300"/>
            <a:ext cx="457200" cy="457200"/>
          </a:xfrm>
          <a:prstGeom prst="rect">
            <a:avLst/>
          </a:prstGeom>
        </p:spPr>
      </p:pic>
      <p:pic>
        <p:nvPicPr>
          <p:cNvPr id="95" name="图片 94"/>
          <p:cNvPicPr>
            <a:picLocks noChangeAspect="1"/>
          </p:cNvPicPr>
          <p:nvPr/>
        </p:nvPicPr>
        <p:blipFill>
          <a:blip r:embed="rId16"/>
          <a:stretch>
            <a:fillRect/>
          </a:stretch>
        </p:blipFill>
        <p:spPr>
          <a:xfrm>
            <a:off x="6108065" y="5334635"/>
            <a:ext cx="457200" cy="457200"/>
          </a:xfrm>
          <a:prstGeom prst="rect">
            <a:avLst/>
          </a:prstGeom>
        </p:spPr>
      </p:pic>
      <p:pic>
        <p:nvPicPr>
          <p:cNvPr id="96" name="图片 95"/>
          <p:cNvPicPr>
            <a:picLocks noChangeAspect="1"/>
          </p:cNvPicPr>
          <p:nvPr/>
        </p:nvPicPr>
        <p:blipFill>
          <a:blip r:embed="rId17"/>
          <a:stretch>
            <a:fillRect/>
          </a:stretch>
        </p:blipFill>
        <p:spPr>
          <a:xfrm>
            <a:off x="6544310" y="4051300"/>
            <a:ext cx="548640" cy="457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大模型产品谱系图</a:t>
            </a:r>
            <a:endParaRPr lang="en-US" altLang="zh-CN"/>
          </a:p>
        </p:txBody>
      </p:sp>
      <p:sp>
        <p:nvSpPr>
          <p:cNvPr id="4" name="矩形 3"/>
          <p:cNvSpPr/>
          <p:nvPr/>
        </p:nvSpPr>
        <p:spPr>
          <a:xfrm>
            <a:off x="979805" y="3282950"/>
            <a:ext cx="685800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5" name="矩形 4"/>
          <p:cNvSpPr/>
          <p:nvPr/>
        </p:nvSpPr>
        <p:spPr>
          <a:xfrm>
            <a:off x="8113395" y="3282950"/>
            <a:ext cx="3143250" cy="309816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6" name="矩形 5"/>
          <p:cNvSpPr/>
          <p:nvPr/>
        </p:nvSpPr>
        <p:spPr>
          <a:xfrm>
            <a:off x="979805" y="1691005"/>
            <a:ext cx="10276840" cy="1415415"/>
          </a:xfrm>
          <a:prstGeom prst="rect">
            <a:avLst/>
          </a:prstGeom>
        </p:spPr>
        <p:style>
          <a:lnRef idx="3">
            <a:schemeClr val="lt1"/>
          </a:lnRef>
          <a:fillRef idx="1">
            <a:schemeClr val="accent1"/>
          </a:fillRef>
          <a:effectRef idx="1">
            <a:schemeClr val="accent1"/>
          </a:effectRef>
          <a:fontRef idx="minor">
            <a:schemeClr val="lt1"/>
          </a:fontRef>
        </p:style>
        <p:txBody>
          <a:bodyPr rtlCol="0" anchor="ctr"/>
          <a:p>
            <a:pPr algn="ctr"/>
            <a:endParaRPr lang="zh-CN" altLang="en-US"/>
          </a:p>
        </p:txBody>
      </p:sp>
      <p:sp>
        <p:nvSpPr>
          <p:cNvPr id="7" name="文本框 6"/>
          <p:cNvSpPr txBox="1"/>
          <p:nvPr/>
        </p:nvSpPr>
        <p:spPr>
          <a:xfrm>
            <a:off x="986790" y="4421505"/>
            <a:ext cx="551815" cy="1005840"/>
          </a:xfrm>
          <a:prstGeom prst="rect">
            <a:avLst/>
          </a:prstGeom>
          <a:noFill/>
        </p:spPr>
        <p:txBody>
          <a:bodyPr vert="eaVert" wrap="none" rtlCol="0">
            <a:spAutoFit/>
          </a:bodyPr>
          <a:p>
            <a:r>
              <a:rPr lang="en-US" altLang="zh-CN" sz="2400"/>
              <a:t>模型层</a:t>
            </a:r>
            <a:endParaRPr lang="en-US" altLang="zh-CN" sz="2400"/>
          </a:p>
        </p:txBody>
      </p:sp>
      <p:sp>
        <p:nvSpPr>
          <p:cNvPr id="8" name="文本框 7"/>
          <p:cNvSpPr txBox="1"/>
          <p:nvPr/>
        </p:nvSpPr>
        <p:spPr>
          <a:xfrm>
            <a:off x="8120380" y="4328795"/>
            <a:ext cx="551815" cy="1005840"/>
          </a:xfrm>
          <a:prstGeom prst="rect">
            <a:avLst/>
          </a:prstGeom>
          <a:noFill/>
        </p:spPr>
        <p:txBody>
          <a:bodyPr vert="eaVert" wrap="none" rtlCol="0">
            <a:spAutoFit/>
          </a:bodyPr>
          <a:p>
            <a:r>
              <a:rPr lang="en-US" altLang="en-US" sz="2400"/>
              <a:t>工具层</a:t>
            </a:r>
            <a:endParaRPr lang="en-US" altLang="en-US" sz="2400"/>
          </a:p>
        </p:txBody>
      </p:sp>
      <p:sp>
        <p:nvSpPr>
          <p:cNvPr id="9" name="文本框 8"/>
          <p:cNvSpPr txBox="1"/>
          <p:nvPr/>
        </p:nvSpPr>
        <p:spPr>
          <a:xfrm>
            <a:off x="986790" y="1896110"/>
            <a:ext cx="551815" cy="1005840"/>
          </a:xfrm>
          <a:prstGeom prst="rect">
            <a:avLst/>
          </a:prstGeom>
          <a:noFill/>
        </p:spPr>
        <p:txBody>
          <a:bodyPr vert="eaVert" wrap="none" rtlCol="0">
            <a:spAutoFit/>
          </a:bodyPr>
          <a:p>
            <a:r>
              <a:rPr lang="en-US" altLang="en-US" sz="2400"/>
              <a:t>编排层</a:t>
            </a:r>
            <a:endParaRPr lang="en-US" altLang="en-US" sz="2400"/>
          </a:p>
        </p:txBody>
      </p:sp>
      <p:sp>
        <p:nvSpPr>
          <p:cNvPr id="10" name="矩形 9"/>
          <p:cNvSpPr/>
          <p:nvPr/>
        </p:nvSpPr>
        <p:spPr>
          <a:xfrm>
            <a:off x="1539875" y="3514090"/>
            <a:ext cx="3030855" cy="2636520"/>
          </a:xfrm>
          <a:prstGeom prst="rect">
            <a:avLst/>
          </a:prstGeom>
        </p:spPr>
        <p:style>
          <a:lnRef idx="3">
            <a:schemeClr val="lt1"/>
          </a:lnRef>
          <a:fillRef idx="1">
            <a:schemeClr val="accent5"/>
          </a:fillRef>
          <a:effectRef idx="1">
            <a:schemeClr val="accent5"/>
          </a:effectRef>
          <a:fontRef idx="minor">
            <a:schemeClr val="lt1"/>
          </a:fontRef>
        </p:style>
        <p:txBody>
          <a:bodyPr rtlCol="0" anchor="ctr"/>
          <a:p>
            <a:pPr algn="ctr"/>
            <a:endParaRPr lang="zh-CN" altLang="en-US"/>
          </a:p>
        </p:txBody>
      </p:sp>
      <p:sp>
        <p:nvSpPr>
          <p:cNvPr id="11" name="文本框 10"/>
          <p:cNvSpPr txBox="1"/>
          <p:nvPr/>
        </p:nvSpPr>
        <p:spPr>
          <a:xfrm>
            <a:off x="2506345" y="3512820"/>
            <a:ext cx="1097280" cy="368300"/>
          </a:xfrm>
          <a:prstGeom prst="rect">
            <a:avLst/>
          </a:prstGeom>
          <a:noFill/>
        </p:spPr>
        <p:txBody>
          <a:bodyPr wrap="none" rtlCol="0">
            <a:spAutoFit/>
          </a:bodyPr>
          <a:p>
            <a:r>
              <a:rPr lang="en-US" altLang="zh-CN"/>
              <a:t>文本模型</a:t>
            </a:r>
            <a:endParaRPr lang="en-US" altLang="zh-CN"/>
          </a:p>
        </p:txBody>
      </p:sp>
      <p:sp>
        <p:nvSpPr>
          <p:cNvPr id="12" name="文本框 11"/>
          <p:cNvSpPr txBox="1"/>
          <p:nvPr/>
        </p:nvSpPr>
        <p:spPr>
          <a:xfrm>
            <a:off x="1668780" y="4679315"/>
            <a:ext cx="1249680" cy="306705"/>
          </a:xfrm>
          <a:prstGeom prst="rect">
            <a:avLst/>
          </a:prstGeom>
          <a:noFill/>
        </p:spPr>
        <p:txBody>
          <a:bodyPr wrap="none" rtlCol="0">
            <a:spAutoFit/>
          </a:bodyPr>
          <a:p>
            <a:r>
              <a:rPr lang="en-US" altLang="en-US" sz="1400"/>
              <a:t>通用</a:t>
            </a:r>
            <a:r>
              <a:rPr lang="en-US" altLang="zh-CN" sz="1400"/>
              <a:t>文本模型</a:t>
            </a:r>
            <a:endParaRPr lang="en-US" altLang="zh-CN" sz="1400"/>
          </a:p>
        </p:txBody>
      </p:sp>
      <p:sp>
        <p:nvSpPr>
          <p:cNvPr id="13" name="文本框 12"/>
          <p:cNvSpPr txBox="1"/>
          <p:nvPr/>
        </p:nvSpPr>
        <p:spPr>
          <a:xfrm>
            <a:off x="3373755" y="4678680"/>
            <a:ext cx="894080" cy="306705"/>
          </a:xfrm>
          <a:prstGeom prst="rect">
            <a:avLst/>
          </a:prstGeom>
          <a:noFill/>
        </p:spPr>
        <p:txBody>
          <a:bodyPr wrap="none" rtlCol="0">
            <a:spAutoFit/>
          </a:bodyPr>
          <a:p>
            <a:r>
              <a:rPr lang="en-US" altLang="en-US" sz="1400"/>
              <a:t>推理</a:t>
            </a:r>
            <a:r>
              <a:rPr lang="en-US" altLang="zh-CN" sz="1400"/>
              <a:t>模型</a:t>
            </a:r>
            <a:endParaRPr lang="en-US" altLang="zh-CN" sz="1400"/>
          </a:p>
        </p:txBody>
      </p:sp>
      <p:sp>
        <p:nvSpPr>
          <p:cNvPr id="14" name="文本框 13"/>
          <p:cNvSpPr txBox="1"/>
          <p:nvPr/>
        </p:nvSpPr>
        <p:spPr>
          <a:xfrm>
            <a:off x="1801495" y="5720715"/>
            <a:ext cx="894080" cy="306705"/>
          </a:xfrm>
          <a:prstGeom prst="rect">
            <a:avLst/>
          </a:prstGeom>
          <a:noFill/>
        </p:spPr>
        <p:txBody>
          <a:bodyPr wrap="none" rtlCol="0">
            <a:spAutoFit/>
          </a:bodyPr>
          <a:p>
            <a:r>
              <a:rPr lang="en-US" altLang="en-US" sz="1400"/>
              <a:t>代码</a:t>
            </a:r>
            <a:r>
              <a:rPr lang="en-US" altLang="zh-CN" sz="1400"/>
              <a:t>模型</a:t>
            </a:r>
            <a:endParaRPr lang="en-US" altLang="zh-CN" sz="1400"/>
          </a:p>
        </p:txBody>
      </p:sp>
      <p:sp>
        <p:nvSpPr>
          <p:cNvPr id="15" name="文本框 14"/>
          <p:cNvSpPr txBox="1"/>
          <p:nvPr/>
        </p:nvSpPr>
        <p:spPr>
          <a:xfrm>
            <a:off x="3195955" y="5720715"/>
            <a:ext cx="1249680" cy="306705"/>
          </a:xfrm>
          <a:prstGeom prst="rect">
            <a:avLst/>
          </a:prstGeom>
          <a:noFill/>
        </p:spPr>
        <p:txBody>
          <a:bodyPr wrap="none" rtlCol="0">
            <a:spAutoFit/>
          </a:bodyPr>
          <a:p>
            <a:r>
              <a:rPr lang="en-US" altLang="en-US" sz="1400"/>
              <a:t>视觉语言模型</a:t>
            </a:r>
            <a:endParaRPr lang="en-US" altLang="en-US" sz="1400"/>
          </a:p>
        </p:txBody>
      </p:sp>
      <p:sp>
        <p:nvSpPr>
          <p:cNvPr id="16" name="矩形 15"/>
          <p:cNvSpPr/>
          <p:nvPr/>
        </p:nvSpPr>
        <p:spPr>
          <a:xfrm>
            <a:off x="4706620" y="3512820"/>
            <a:ext cx="3030855" cy="2636520"/>
          </a:xfrm>
          <a:prstGeom prst="rect">
            <a:avLst/>
          </a:prstGeom>
        </p:spPr>
        <p:style>
          <a:lnRef idx="3">
            <a:schemeClr val="lt1"/>
          </a:lnRef>
          <a:fillRef idx="1">
            <a:schemeClr val="accent5"/>
          </a:fillRef>
          <a:effectRef idx="1">
            <a:schemeClr val="accent5"/>
          </a:effectRef>
          <a:fontRef idx="minor">
            <a:schemeClr val="lt1"/>
          </a:fontRef>
        </p:style>
        <p:txBody>
          <a:bodyPr rtlCol="0" anchor="ctr"/>
          <a:p>
            <a:pPr algn="ctr"/>
            <a:endParaRPr lang="zh-CN" altLang="en-US"/>
          </a:p>
        </p:txBody>
      </p:sp>
      <p:sp>
        <p:nvSpPr>
          <p:cNvPr id="17" name="文本框 16"/>
          <p:cNvSpPr txBox="1"/>
          <p:nvPr/>
        </p:nvSpPr>
        <p:spPr>
          <a:xfrm>
            <a:off x="5673725" y="3514090"/>
            <a:ext cx="1325880" cy="368300"/>
          </a:xfrm>
          <a:prstGeom prst="rect">
            <a:avLst/>
          </a:prstGeom>
          <a:noFill/>
        </p:spPr>
        <p:txBody>
          <a:bodyPr wrap="none" rtlCol="0">
            <a:spAutoFit/>
          </a:bodyPr>
          <a:p>
            <a:r>
              <a:rPr lang="en-US" altLang="en-US"/>
              <a:t>多模态</a:t>
            </a:r>
            <a:r>
              <a:rPr lang="en-US" altLang="zh-CN"/>
              <a:t>模型</a:t>
            </a:r>
            <a:endParaRPr lang="en-US" altLang="zh-CN"/>
          </a:p>
        </p:txBody>
      </p:sp>
      <p:sp>
        <p:nvSpPr>
          <p:cNvPr id="18" name="文本框 17"/>
          <p:cNvSpPr txBox="1"/>
          <p:nvPr/>
        </p:nvSpPr>
        <p:spPr>
          <a:xfrm>
            <a:off x="4826000" y="4679315"/>
            <a:ext cx="894080" cy="306705"/>
          </a:xfrm>
          <a:prstGeom prst="rect">
            <a:avLst/>
          </a:prstGeom>
          <a:noFill/>
        </p:spPr>
        <p:txBody>
          <a:bodyPr wrap="none" rtlCol="0">
            <a:spAutoFit/>
          </a:bodyPr>
          <a:p>
            <a:r>
              <a:rPr lang="en-US" altLang="en-US" sz="1400"/>
              <a:t>语音模型</a:t>
            </a:r>
            <a:endParaRPr lang="en-US" altLang="en-US" sz="1400"/>
          </a:p>
        </p:txBody>
      </p:sp>
      <p:sp>
        <p:nvSpPr>
          <p:cNvPr id="19" name="文本框 18"/>
          <p:cNvSpPr txBox="1"/>
          <p:nvPr/>
        </p:nvSpPr>
        <p:spPr>
          <a:xfrm>
            <a:off x="5986145" y="4679315"/>
            <a:ext cx="1664970" cy="306705"/>
          </a:xfrm>
          <a:prstGeom prst="rect">
            <a:avLst/>
          </a:prstGeom>
          <a:noFill/>
        </p:spPr>
        <p:txBody>
          <a:bodyPr wrap="none" rtlCol="0">
            <a:spAutoFit/>
          </a:bodyPr>
          <a:p>
            <a:r>
              <a:rPr lang="en-US" altLang="en-US" sz="1400"/>
              <a:t>图像生成/编辑模型</a:t>
            </a:r>
            <a:endParaRPr lang="en-US" altLang="en-US" sz="1400"/>
          </a:p>
        </p:txBody>
      </p:sp>
      <p:sp>
        <p:nvSpPr>
          <p:cNvPr id="20" name="文本框 19"/>
          <p:cNvSpPr txBox="1"/>
          <p:nvPr/>
        </p:nvSpPr>
        <p:spPr>
          <a:xfrm>
            <a:off x="5504180" y="5842635"/>
            <a:ext cx="1664970" cy="306705"/>
          </a:xfrm>
          <a:prstGeom prst="rect">
            <a:avLst/>
          </a:prstGeom>
          <a:noFill/>
        </p:spPr>
        <p:txBody>
          <a:bodyPr wrap="none" rtlCol="0">
            <a:spAutoFit/>
          </a:bodyPr>
          <a:p>
            <a:r>
              <a:rPr lang="en-US" altLang="en-US" sz="1400"/>
              <a:t>视频生成/编辑模型</a:t>
            </a:r>
            <a:endParaRPr lang="en-US" altLang="en-US" sz="1400"/>
          </a:p>
        </p:txBody>
      </p:sp>
      <p:pic>
        <p:nvPicPr>
          <p:cNvPr id="21" name="图片 20"/>
          <p:cNvPicPr>
            <a:picLocks noChangeAspect="1"/>
          </p:cNvPicPr>
          <p:nvPr/>
        </p:nvPicPr>
        <p:blipFill>
          <a:blip r:embed="rId1"/>
          <a:stretch>
            <a:fillRect/>
          </a:stretch>
        </p:blipFill>
        <p:spPr>
          <a:xfrm>
            <a:off x="3592195" y="4051300"/>
            <a:ext cx="457200" cy="457200"/>
          </a:xfrm>
          <a:prstGeom prst="rect">
            <a:avLst/>
          </a:prstGeom>
        </p:spPr>
      </p:pic>
      <p:pic>
        <p:nvPicPr>
          <p:cNvPr id="22" name="图片 21"/>
          <p:cNvPicPr>
            <a:picLocks noChangeAspect="1"/>
          </p:cNvPicPr>
          <p:nvPr/>
        </p:nvPicPr>
        <p:blipFill>
          <a:blip r:embed="rId2"/>
          <a:stretch>
            <a:fillRect/>
          </a:stretch>
        </p:blipFill>
        <p:spPr>
          <a:xfrm>
            <a:off x="2016760" y="4051300"/>
            <a:ext cx="463351" cy="457200"/>
          </a:xfrm>
          <a:prstGeom prst="rect">
            <a:avLst/>
          </a:prstGeom>
        </p:spPr>
      </p:pic>
      <p:pic>
        <p:nvPicPr>
          <p:cNvPr id="23" name="图片 22"/>
          <p:cNvPicPr>
            <a:picLocks noChangeAspect="1"/>
          </p:cNvPicPr>
          <p:nvPr/>
        </p:nvPicPr>
        <p:blipFill>
          <a:blip r:embed="rId3"/>
          <a:stretch>
            <a:fillRect/>
          </a:stretch>
        </p:blipFill>
        <p:spPr>
          <a:xfrm>
            <a:off x="2023110" y="5154930"/>
            <a:ext cx="457200" cy="457200"/>
          </a:xfrm>
          <a:prstGeom prst="rect">
            <a:avLst/>
          </a:prstGeom>
        </p:spPr>
      </p:pic>
      <p:pic>
        <p:nvPicPr>
          <p:cNvPr id="24" name="图片 23"/>
          <p:cNvPicPr>
            <a:picLocks noChangeAspect="1"/>
          </p:cNvPicPr>
          <p:nvPr/>
        </p:nvPicPr>
        <p:blipFill>
          <a:blip r:embed="rId4"/>
          <a:stretch>
            <a:fillRect/>
          </a:stretch>
        </p:blipFill>
        <p:spPr>
          <a:xfrm>
            <a:off x="3592195" y="5154930"/>
            <a:ext cx="457200" cy="457200"/>
          </a:xfrm>
          <a:prstGeom prst="rect">
            <a:avLst/>
          </a:prstGeom>
        </p:spPr>
      </p:pic>
      <p:pic>
        <p:nvPicPr>
          <p:cNvPr id="3" name="图片 2"/>
          <p:cNvPicPr>
            <a:picLocks noChangeAspect="1"/>
          </p:cNvPicPr>
          <p:nvPr/>
        </p:nvPicPr>
        <p:blipFill>
          <a:blip r:embed="rId5"/>
          <a:stretch>
            <a:fillRect/>
          </a:stretch>
        </p:blipFill>
        <p:spPr>
          <a:xfrm>
            <a:off x="5044440" y="4051300"/>
            <a:ext cx="457200" cy="457200"/>
          </a:xfrm>
          <a:prstGeom prst="rect">
            <a:avLst/>
          </a:prstGeom>
        </p:spPr>
      </p:pic>
      <p:pic>
        <p:nvPicPr>
          <p:cNvPr id="26" name="图片 25"/>
          <p:cNvPicPr>
            <a:picLocks noChangeAspect="1"/>
          </p:cNvPicPr>
          <p:nvPr/>
        </p:nvPicPr>
        <p:blipFill>
          <a:blip r:embed="rId6"/>
          <a:stretch>
            <a:fillRect/>
          </a:stretch>
        </p:blipFill>
        <p:spPr>
          <a:xfrm>
            <a:off x="6108065" y="5334635"/>
            <a:ext cx="457200" cy="457200"/>
          </a:xfrm>
          <a:prstGeom prst="rect">
            <a:avLst/>
          </a:prstGeom>
        </p:spPr>
      </p:pic>
      <p:pic>
        <p:nvPicPr>
          <p:cNvPr id="27" name="图片 26"/>
          <p:cNvPicPr>
            <a:picLocks noChangeAspect="1"/>
          </p:cNvPicPr>
          <p:nvPr/>
        </p:nvPicPr>
        <p:blipFill>
          <a:blip r:embed="rId7"/>
          <a:stretch>
            <a:fillRect/>
          </a:stretch>
        </p:blipFill>
        <p:spPr>
          <a:xfrm>
            <a:off x="6544310" y="4051300"/>
            <a:ext cx="548640" cy="457200"/>
          </a:xfrm>
          <a:prstGeom prst="rect">
            <a:avLst/>
          </a:prstGeom>
        </p:spPr>
      </p:pic>
      <p:pic>
        <p:nvPicPr>
          <p:cNvPr id="28" name="图片 27"/>
          <p:cNvPicPr>
            <a:picLocks noChangeAspect="1"/>
          </p:cNvPicPr>
          <p:nvPr/>
        </p:nvPicPr>
        <p:blipFill>
          <a:blip r:embed="rId1"/>
          <a:stretch>
            <a:fillRect/>
          </a:stretch>
        </p:blipFill>
        <p:spPr>
          <a:xfrm>
            <a:off x="3592195" y="4051300"/>
            <a:ext cx="457200" cy="457200"/>
          </a:xfrm>
          <a:prstGeom prst="rect">
            <a:avLst/>
          </a:prstGeom>
        </p:spPr>
      </p:pic>
      <p:pic>
        <p:nvPicPr>
          <p:cNvPr id="29" name="图片 28"/>
          <p:cNvPicPr>
            <a:picLocks noChangeAspect="1"/>
          </p:cNvPicPr>
          <p:nvPr/>
        </p:nvPicPr>
        <p:blipFill>
          <a:blip r:embed="rId2"/>
          <a:stretch>
            <a:fillRect/>
          </a:stretch>
        </p:blipFill>
        <p:spPr>
          <a:xfrm>
            <a:off x="2016760" y="4051300"/>
            <a:ext cx="463351" cy="457200"/>
          </a:xfrm>
          <a:prstGeom prst="rect">
            <a:avLst/>
          </a:prstGeom>
        </p:spPr>
      </p:pic>
      <p:pic>
        <p:nvPicPr>
          <p:cNvPr id="30" name="图片 29"/>
          <p:cNvPicPr>
            <a:picLocks noChangeAspect="1"/>
          </p:cNvPicPr>
          <p:nvPr/>
        </p:nvPicPr>
        <p:blipFill>
          <a:blip r:embed="rId3"/>
          <a:stretch>
            <a:fillRect/>
          </a:stretch>
        </p:blipFill>
        <p:spPr>
          <a:xfrm>
            <a:off x="2023110" y="5154930"/>
            <a:ext cx="457200" cy="457200"/>
          </a:xfrm>
          <a:prstGeom prst="rect">
            <a:avLst/>
          </a:prstGeom>
        </p:spPr>
      </p:pic>
      <p:pic>
        <p:nvPicPr>
          <p:cNvPr id="31" name="图片 30"/>
          <p:cNvPicPr>
            <a:picLocks noChangeAspect="1"/>
          </p:cNvPicPr>
          <p:nvPr/>
        </p:nvPicPr>
        <p:blipFill>
          <a:blip r:embed="rId4"/>
          <a:stretch>
            <a:fillRect/>
          </a:stretch>
        </p:blipFill>
        <p:spPr>
          <a:xfrm>
            <a:off x="3592195" y="5154930"/>
            <a:ext cx="457200" cy="457200"/>
          </a:xfrm>
          <a:prstGeom prst="rect">
            <a:avLst/>
          </a:prstGeom>
        </p:spPr>
      </p:pic>
      <p:sp>
        <p:nvSpPr>
          <p:cNvPr id="32" name="文本框 31"/>
          <p:cNvSpPr txBox="1"/>
          <p:nvPr/>
        </p:nvSpPr>
        <p:spPr>
          <a:xfrm>
            <a:off x="8799195" y="3574415"/>
            <a:ext cx="1249680" cy="306705"/>
          </a:xfrm>
          <a:prstGeom prst="rect">
            <a:avLst/>
          </a:prstGeom>
          <a:noFill/>
        </p:spPr>
        <p:txBody>
          <a:bodyPr wrap="none" rtlCol="0">
            <a:spAutoFit/>
          </a:bodyPr>
          <a:p>
            <a:r>
              <a:rPr lang="en-US" altLang="en-US" sz="1400"/>
              <a:t>向量嵌入模型</a:t>
            </a:r>
            <a:endParaRPr lang="en-US" altLang="en-US" sz="1400"/>
          </a:p>
        </p:txBody>
      </p:sp>
      <p:pic>
        <p:nvPicPr>
          <p:cNvPr id="33" name="图片 32"/>
          <p:cNvPicPr>
            <a:picLocks noChangeAspect="1"/>
          </p:cNvPicPr>
          <p:nvPr/>
        </p:nvPicPr>
        <p:blipFill>
          <a:blip r:embed="rId8"/>
          <a:stretch>
            <a:fillRect/>
          </a:stretch>
        </p:blipFill>
        <p:spPr>
          <a:xfrm>
            <a:off x="10292080" y="3468370"/>
            <a:ext cx="457200" cy="457200"/>
          </a:xfrm>
          <a:prstGeom prst="rect">
            <a:avLst/>
          </a:prstGeom>
        </p:spPr>
      </p:pic>
      <p:sp>
        <p:nvSpPr>
          <p:cNvPr id="34" name="文本框 33"/>
          <p:cNvSpPr txBox="1"/>
          <p:nvPr/>
        </p:nvSpPr>
        <p:spPr>
          <a:xfrm>
            <a:off x="8888095" y="4264660"/>
            <a:ext cx="1071880" cy="306705"/>
          </a:xfrm>
          <a:prstGeom prst="rect">
            <a:avLst/>
          </a:prstGeom>
          <a:noFill/>
        </p:spPr>
        <p:txBody>
          <a:bodyPr wrap="none" rtlCol="0">
            <a:spAutoFit/>
          </a:bodyPr>
          <a:p>
            <a:r>
              <a:rPr lang="en-US" altLang="en-US" sz="1400"/>
              <a:t>向量数据库</a:t>
            </a:r>
            <a:endParaRPr lang="en-US" altLang="en-US" sz="1400"/>
          </a:p>
        </p:txBody>
      </p:sp>
      <p:pic>
        <p:nvPicPr>
          <p:cNvPr id="35" name="图片 34"/>
          <p:cNvPicPr>
            <a:picLocks noChangeAspect="1"/>
          </p:cNvPicPr>
          <p:nvPr/>
        </p:nvPicPr>
        <p:blipFill>
          <a:blip r:embed="rId9"/>
          <a:stretch>
            <a:fillRect/>
          </a:stretch>
        </p:blipFill>
        <p:spPr>
          <a:xfrm>
            <a:off x="10298430" y="4168775"/>
            <a:ext cx="451131" cy="457200"/>
          </a:xfrm>
          <a:prstGeom prst="rect">
            <a:avLst/>
          </a:prstGeom>
        </p:spPr>
      </p:pic>
      <p:pic>
        <p:nvPicPr>
          <p:cNvPr id="36" name="图片 35"/>
          <p:cNvPicPr>
            <a:picLocks noChangeAspect="1"/>
          </p:cNvPicPr>
          <p:nvPr/>
        </p:nvPicPr>
        <p:blipFill>
          <a:blip r:embed="rId10"/>
          <a:stretch>
            <a:fillRect/>
          </a:stretch>
        </p:blipFill>
        <p:spPr>
          <a:xfrm>
            <a:off x="10292080" y="4869180"/>
            <a:ext cx="457200" cy="457200"/>
          </a:xfrm>
          <a:prstGeom prst="rect">
            <a:avLst/>
          </a:prstGeom>
        </p:spPr>
      </p:pic>
      <p:sp>
        <p:nvSpPr>
          <p:cNvPr id="37" name="文本框 36"/>
          <p:cNvSpPr txBox="1"/>
          <p:nvPr/>
        </p:nvSpPr>
        <p:spPr>
          <a:xfrm>
            <a:off x="8799195" y="4954905"/>
            <a:ext cx="1249680" cy="306705"/>
          </a:xfrm>
          <a:prstGeom prst="rect">
            <a:avLst/>
          </a:prstGeom>
          <a:noFill/>
        </p:spPr>
        <p:txBody>
          <a:bodyPr wrap="none" rtlCol="0">
            <a:spAutoFit/>
          </a:bodyPr>
          <a:p>
            <a:r>
              <a:rPr lang="en-US" altLang="en-US" sz="1400"/>
              <a:t>文档识别模型</a:t>
            </a:r>
            <a:endParaRPr lang="en-US" altLang="en-US" sz="1400"/>
          </a:p>
        </p:txBody>
      </p:sp>
      <p:pic>
        <p:nvPicPr>
          <p:cNvPr id="38" name="图片 37"/>
          <p:cNvPicPr>
            <a:picLocks noChangeAspect="1"/>
          </p:cNvPicPr>
          <p:nvPr/>
        </p:nvPicPr>
        <p:blipFill>
          <a:blip r:embed="rId11"/>
          <a:stretch>
            <a:fillRect/>
          </a:stretch>
        </p:blipFill>
        <p:spPr>
          <a:xfrm>
            <a:off x="10298430" y="5569585"/>
            <a:ext cx="457200" cy="457200"/>
          </a:xfrm>
          <a:prstGeom prst="rect">
            <a:avLst/>
          </a:prstGeom>
        </p:spPr>
      </p:pic>
      <p:sp>
        <p:nvSpPr>
          <p:cNvPr id="39" name="文本框 38"/>
          <p:cNvSpPr txBox="1"/>
          <p:nvPr/>
        </p:nvSpPr>
        <p:spPr>
          <a:xfrm>
            <a:off x="8799195" y="5645150"/>
            <a:ext cx="1249680" cy="306705"/>
          </a:xfrm>
          <a:prstGeom prst="rect">
            <a:avLst/>
          </a:prstGeom>
          <a:noFill/>
        </p:spPr>
        <p:txBody>
          <a:bodyPr wrap="none" rtlCol="0">
            <a:spAutoFit/>
          </a:bodyPr>
          <a:p>
            <a:r>
              <a:rPr lang="en-US" altLang="en-US" sz="1400"/>
              <a:t>工具调用服务</a:t>
            </a:r>
            <a:endParaRPr lang="en-US" altLang="en-US" sz="1400"/>
          </a:p>
        </p:txBody>
      </p:sp>
      <p:sp>
        <p:nvSpPr>
          <p:cNvPr id="42" name="文本框 41"/>
          <p:cNvSpPr txBox="1"/>
          <p:nvPr/>
        </p:nvSpPr>
        <p:spPr>
          <a:xfrm>
            <a:off x="1781810" y="2595245"/>
            <a:ext cx="716280" cy="306705"/>
          </a:xfrm>
          <a:prstGeom prst="rect">
            <a:avLst/>
          </a:prstGeom>
          <a:noFill/>
        </p:spPr>
        <p:txBody>
          <a:bodyPr wrap="none" rtlCol="0">
            <a:spAutoFit/>
          </a:bodyPr>
          <a:p>
            <a:r>
              <a:rPr lang="en-US" altLang="en-US" sz="1400"/>
              <a:t>智能体</a:t>
            </a:r>
            <a:endParaRPr lang="en-US" altLang="en-US" sz="1400"/>
          </a:p>
        </p:txBody>
      </p:sp>
      <p:pic>
        <p:nvPicPr>
          <p:cNvPr id="43" name="图片 42"/>
          <p:cNvPicPr>
            <a:picLocks noChangeAspect="1"/>
          </p:cNvPicPr>
          <p:nvPr/>
        </p:nvPicPr>
        <p:blipFill>
          <a:blip r:embed="rId12"/>
          <a:stretch>
            <a:fillRect/>
          </a:stretch>
        </p:blipFill>
        <p:spPr>
          <a:xfrm>
            <a:off x="7656195" y="2030730"/>
            <a:ext cx="457200" cy="457200"/>
          </a:xfrm>
          <a:prstGeom prst="rect">
            <a:avLst/>
          </a:prstGeom>
        </p:spPr>
      </p:pic>
      <p:sp>
        <p:nvSpPr>
          <p:cNvPr id="44" name="文本框 43"/>
          <p:cNvSpPr txBox="1"/>
          <p:nvPr/>
        </p:nvSpPr>
        <p:spPr>
          <a:xfrm>
            <a:off x="7355840" y="2630805"/>
            <a:ext cx="1071880" cy="306705"/>
          </a:xfrm>
          <a:prstGeom prst="rect">
            <a:avLst/>
          </a:prstGeom>
          <a:noFill/>
        </p:spPr>
        <p:txBody>
          <a:bodyPr wrap="none" rtlCol="0">
            <a:spAutoFit/>
          </a:bodyPr>
          <a:p>
            <a:r>
              <a:rPr lang="en-US" altLang="en-US" sz="1400"/>
              <a:t>工作流编排</a:t>
            </a:r>
            <a:endParaRPr lang="en-US" altLang="en-US" sz="1400"/>
          </a:p>
        </p:txBody>
      </p:sp>
      <p:pic>
        <p:nvPicPr>
          <p:cNvPr id="45" name="图片 44"/>
          <p:cNvPicPr>
            <a:picLocks noChangeAspect="1"/>
          </p:cNvPicPr>
          <p:nvPr/>
        </p:nvPicPr>
        <p:blipFill>
          <a:blip r:embed="rId13"/>
          <a:stretch>
            <a:fillRect/>
          </a:stretch>
        </p:blipFill>
        <p:spPr>
          <a:xfrm>
            <a:off x="9196070" y="2030730"/>
            <a:ext cx="455839" cy="457200"/>
          </a:xfrm>
          <a:prstGeom prst="rect">
            <a:avLst/>
          </a:prstGeom>
        </p:spPr>
      </p:pic>
      <p:sp>
        <p:nvSpPr>
          <p:cNvPr id="46" name="文本框 45"/>
          <p:cNvSpPr txBox="1"/>
          <p:nvPr/>
        </p:nvSpPr>
        <p:spPr>
          <a:xfrm>
            <a:off x="8976995" y="2595245"/>
            <a:ext cx="894080" cy="306705"/>
          </a:xfrm>
          <a:prstGeom prst="rect">
            <a:avLst/>
          </a:prstGeom>
          <a:noFill/>
        </p:spPr>
        <p:txBody>
          <a:bodyPr wrap="none" rtlCol="0">
            <a:spAutoFit/>
          </a:bodyPr>
          <a:p>
            <a:r>
              <a:rPr lang="en-US" altLang="en-US" sz="1400"/>
              <a:t>开发框架</a:t>
            </a:r>
            <a:endParaRPr lang="en-US" altLang="en-US" sz="1400"/>
          </a:p>
        </p:txBody>
      </p:sp>
      <p:pic>
        <p:nvPicPr>
          <p:cNvPr id="47" name="图片 46"/>
          <p:cNvPicPr>
            <a:picLocks noChangeAspect="1"/>
          </p:cNvPicPr>
          <p:nvPr/>
        </p:nvPicPr>
        <p:blipFill>
          <a:blip r:embed="rId14"/>
          <a:stretch>
            <a:fillRect/>
          </a:stretch>
        </p:blipFill>
        <p:spPr>
          <a:xfrm>
            <a:off x="4625975" y="1995170"/>
            <a:ext cx="457200" cy="457200"/>
          </a:xfrm>
          <a:prstGeom prst="rect">
            <a:avLst/>
          </a:prstGeom>
        </p:spPr>
      </p:pic>
      <p:sp>
        <p:nvSpPr>
          <p:cNvPr id="48" name="文本框 47"/>
          <p:cNvSpPr txBox="1"/>
          <p:nvPr/>
        </p:nvSpPr>
        <p:spPr>
          <a:xfrm>
            <a:off x="4445635" y="2595245"/>
            <a:ext cx="716280" cy="306705"/>
          </a:xfrm>
          <a:prstGeom prst="rect">
            <a:avLst/>
          </a:prstGeom>
          <a:noFill/>
        </p:spPr>
        <p:txBody>
          <a:bodyPr wrap="none" rtlCol="0">
            <a:spAutoFit/>
          </a:bodyPr>
          <a:p>
            <a:r>
              <a:rPr lang="en-US" altLang="en-US" sz="1400"/>
              <a:t>知识库</a:t>
            </a:r>
            <a:endParaRPr lang="en-US" altLang="en-US" sz="1400"/>
          </a:p>
        </p:txBody>
      </p:sp>
      <p:pic>
        <p:nvPicPr>
          <p:cNvPr id="49" name="图片 48"/>
          <p:cNvPicPr>
            <a:picLocks noChangeAspect="1"/>
          </p:cNvPicPr>
          <p:nvPr/>
        </p:nvPicPr>
        <p:blipFill>
          <a:blip r:embed="rId15"/>
          <a:stretch>
            <a:fillRect/>
          </a:stretch>
        </p:blipFill>
        <p:spPr>
          <a:xfrm>
            <a:off x="6101080" y="1995170"/>
            <a:ext cx="457200" cy="457200"/>
          </a:xfrm>
          <a:prstGeom prst="rect">
            <a:avLst/>
          </a:prstGeom>
        </p:spPr>
      </p:pic>
      <p:sp>
        <p:nvSpPr>
          <p:cNvPr id="50" name="文本框 49"/>
          <p:cNvSpPr txBox="1"/>
          <p:nvPr/>
        </p:nvSpPr>
        <p:spPr>
          <a:xfrm>
            <a:off x="5889625" y="2595245"/>
            <a:ext cx="894080" cy="306705"/>
          </a:xfrm>
          <a:prstGeom prst="rect">
            <a:avLst/>
          </a:prstGeom>
          <a:noFill/>
        </p:spPr>
        <p:txBody>
          <a:bodyPr wrap="none" rtlCol="0">
            <a:spAutoFit/>
          </a:bodyPr>
          <a:p>
            <a:r>
              <a:rPr lang="en-US" altLang="en-US" sz="1400"/>
              <a:t>搜索引擎</a:t>
            </a:r>
            <a:endParaRPr lang="en-US" altLang="en-US" sz="1400"/>
          </a:p>
        </p:txBody>
      </p:sp>
      <p:pic>
        <p:nvPicPr>
          <p:cNvPr id="51" name="图片 50"/>
          <p:cNvPicPr>
            <a:picLocks noChangeAspect="1"/>
          </p:cNvPicPr>
          <p:nvPr/>
        </p:nvPicPr>
        <p:blipFill>
          <a:blip r:embed="rId16"/>
          <a:stretch>
            <a:fillRect/>
          </a:stretch>
        </p:blipFill>
        <p:spPr>
          <a:xfrm>
            <a:off x="3267710" y="2030730"/>
            <a:ext cx="457200" cy="457200"/>
          </a:xfrm>
          <a:prstGeom prst="rect">
            <a:avLst/>
          </a:prstGeom>
        </p:spPr>
      </p:pic>
      <p:sp>
        <p:nvSpPr>
          <p:cNvPr id="52" name="文本框 51"/>
          <p:cNvSpPr txBox="1"/>
          <p:nvPr/>
        </p:nvSpPr>
        <p:spPr>
          <a:xfrm>
            <a:off x="2789555" y="2630805"/>
            <a:ext cx="1427480" cy="306705"/>
          </a:xfrm>
          <a:prstGeom prst="rect">
            <a:avLst/>
          </a:prstGeom>
          <a:noFill/>
        </p:spPr>
        <p:txBody>
          <a:bodyPr wrap="none" rtlCol="0">
            <a:spAutoFit/>
          </a:bodyPr>
          <a:p>
            <a:r>
              <a:rPr lang="en-US" altLang="en-US" sz="1400"/>
              <a:t>智能体技能管理</a:t>
            </a:r>
            <a:endParaRPr lang="en-US" altLang="en-US" sz="1400"/>
          </a:p>
        </p:txBody>
      </p:sp>
      <p:pic>
        <p:nvPicPr>
          <p:cNvPr id="53" name="图片 52"/>
          <p:cNvPicPr>
            <a:picLocks noChangeAspect="1"/>
          </p:cNvPicPr>
          <p:nvPr/>
        </p:nvPicPr>
        <p:blipFill>
          <a:blip r:embed="rId17"/>
          <a:stretch>
            <a:fillRect/>
          </a:stretch>
        </p:blipFill>
        <p:spPr>
          <a:xfrm>
            <a:off x="1904365" y="1995170"/>
            <a:ext cx="457200" cy="457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使用场景——</a:t>
            </a:r>
            <a:r>
              <a:rPr lang="en-US" altLang="en-US">
                <a:sym typeface="+mn-ea"/>
              </a:rPr>
              <a:t>大模型智能体</a:t>
            </a:r>
            <a:endParaRPr lang="en-US" altLang="en-US">
              <a:sym typeface="+mn-ea"/>
            </a:endParaRPr>
          </a:p>
        </p:txBody>
      </p:sp>
      <p:pic>
        <p:nvPicPr>
          <p:cNvPr id="7" name="图片 6"/>
          <p:cNvPicPr>
            <a:picLocks noChangeAspect="1"/>
          </p:cNvPicPr>
          <p:nvPr/>
        </p:nvPicPr>
        <p:blipFill>
          <a:blip r:embed="rId1"/>
          <a:stretch>
            <a:fillRect/>
          </a:stretch>
        </p:blipFill>
        <p:spPr>
          <a:xfrm>
            <a:off x="1682750" y="3368675"/>
            <a:ext cx="1914525" cy="2628900"/>
          </a:xfrm>
          <a:prstGeom prst="rect">
            <a:avLst/>
          </a:prstGeom>
        </p:spPr>
      </p:pic>
      <p:sp>
        <p:nvSpPr>
          <p:cNvPr id="4" name="文本框 3"/>
          <p:cNvSpPr txBox="1"/>
          <p:nvPr/>
        </p:nvSpPr>
        <p:spPr>
          <a:xfrm>
            <a:off x="1031240" y="1854200"/>
            <a:ext cx="3486150" cy="1337945"/>
          </a:xfrm>
          <a:prstGeom prst="rect">
            <a:avLst/>
          </a:prstGeom>
          <a:noFill/>
        </p:spPr>
        <p:txBody>
          <a:bodyPr wrap="square" rtlCol="0">
            <a:spAutoFit/>
          </a:bodyPr>
          <a:p>
            <a:pPr>
              <a:lnSpc>
                <a:spcPct val="150000"/>
              </a:lnSpc>
            </a:pPr>
            <a:r>
              <a:rPr lang="en-US" altLang="zh-CN"/>
              <a:t>分析我本次物理考试的错题，然后针对性地设计复习计划，准备期末考试</a:t>
            </a:r>
            <a:endParaRPr lang="en-US" altLang="zh-CN"/>
          </a:p>
        </p:txBody>
      </p:sp>
      <p:sp>
        <p:nvSpPr>
          <p:cNvPr id="5" name="文本框 4"/>
          <p:cNvSpPr txBox="1"/>
          <p:nvPr/>
        </p:nvSpPr>
        <p:spPr>
          <a:xfrm>
            <a:off x="5036820" y="1952625"/>
            <a:ext cx="2540635" cy="506730"/>
          </a:xfrm>
          <a:prstGeom prst="rect">
            <a:avLst/>
          </a:prstGeom>
          <a:noFill/>
        </p:spPr>
        <p:txBody>
          <a:bodyPr wrap="square" rtlCol="0">
            <a:spAutoFit/>
          </a:bodyPr>
          <a:p>
            <a:pPr algn="ctr">
              <a:lnSpc>
                <a:spcPct val="150000"/>
              </a:lnSpc>
            </a:pPr>
            <a:r>
              <a:rPr lang="en-US" altLang="en-US"/>
              <a:t>1. 试卷内容读取</a:t>
            </a:r>
            <a:endParaRPr lang="en-US" altLang="en-US"/>
          </a:p>
        </p:txBody>
      </p:sp>
      <p:sp>
        <p:nvSpPr>
          <p:cNvPr id="6" name="文本框 5"/>
          <p:cNvSpPr txBox="1"/>
          <p:nvPr/>
        </p:nvSpPr>
        <p:spPr>
          <a:xfrm>
            <a:off x="5036820" y="2960370"/>
            <a:ext cx="2540635" cy="506730"/>
          </a:xfrm>
          <a:prstGeom prst="rect">
            <a:avLst/>
          </a:prstGeom>
          <a:noFill/>
        </p:spPr>
        <p:txBody>
          <a:bodyPr wrap="square" rtlCol="0">
            <a:spAutoFit/>
          </a:bodyPr>
          <a:p>
            <a:pPr algn="ctr">
              <a:lnSpc>
                <a:spcPct val="150000"/>
              </a:lnSpc>
            </a:pPr>
            <a:r>
              <a:rPr lang="en-US" altLang="en-US"/>
              <a:t>2. 错题求解和对比</a:t>
            </a:r>
            <a:endParaRPr lang="en-US" altLang="en-US"/>
          </a:p>
        </p:txBody>
      </p:sp>
      <p:sp>
        <p:nvSpPr>
          <p:cNvPr id="8" name="文本框 7"/>
          <p:cNvSpPr txBox="1"/>
          <p:nvPr/>
        </p:nvSpPr>
        <p:spPr>
          <a:xfrm>
            <a:off x="5036820" y="4004310"/>
            <a:ext cx="2540635" cy="506730"/>
          </a:xfrm>
          <a:prstGeom prst="rect">
            <a:avLst/>
          </a:prstGeom>
          <a:noFill/>
        </p:spPr>
        <p:txBody>
          <a:bodyPr wrap="square" rtlCol="0">
            <a:spAutoFit/>
          </a:bodyPr>
          <a:p>
            <a:pPr algn="ctr">
              <a:lnSpc>
                <a:spcPct val="150000"/>
              </a:lnSpc>
            </a:pPr>
            <a:r>
              <a:rPr lang="en-US" altLang="en-US"/>
              <a:t>3. 考纲查询</a:t>
            </a:r>
            <a:endParaRPr lang="en-US" altLang="en-US"/>
          </a:p>
        </p:txBody>
      </p:sp>
      <p:sp>
        <p:nvSpPr>
          <p:cNvPr id="9" name="文本框 8"/>
          <p:cNvSpPr txBox="1"/>
          <p:nvPr/>
        </p:nvSpPr>
        <p:spPr>
          <a:xfrm>
            <a:off x="5036820" y="4895850"/>
            <a:ext cx="2540635" cy="506730"/>
          </a:xfrm>
          <a:prstGeom prst="rect">
            <a:avLst/>
          </a:prstGeom>
          <a:noFill/>
        </p:spPr>
        <p:txBody>
          <a:bodyPr wrap="square" rtlCol="0">
            <a:spAutoFit/>
          </a:bodyPr>
          <a:p>
            <a:pPr algn="ctr">
              <a:lnSpc>
                <a:spcPct val="150000"/>
              </a:lnSpc>
            </a:pPr>
            <a:r>
              <a:rPr lang="en-US" altLang="en-US"/>
              <a:t>4. 文件编辑</a:t>
            </a:r>
            <a:endParaRPr lang="en-US" altLang="en-US"/>
          </a:p>
        </p:txBody>
      </p:sp>
      <p:sp>
        <p:nvSpPr>
          <p:cNvPr id="10" name="文本框 9"/>
          <p:cNvSpPr txBox="1"/>
          <p:nvPr/>
        </p:nvSpPr>
        <p:spPr>
          <a:xfrm>
            <a:off x="5036820" y="5635625"/>
            <a:ext cx="2540635" cy="506730"/>
          </a:xfrm>
          <a:prstGeom prst="rect">
            <a:avLst/>
          </a:prstGeom>
          <a:noFill/>
        </p:spPr>
        <p:txBody>
          <a:bodyPr wrap="square" rtlCol="0">
            <a:spAutoFit/>
          </a:bodyPr>
          <a:p>
            <a:pPr algn="ctr">
              <a:lnSpc>
                <a:spcPct val="150000"/>
              </a:lnSpc>
            </a:pPr>
            <a:r>
              <a:rPr lang="en-US" altLang="en-US"/>
              <a:t>……</a:t>
            </a:r>
            <a:endParaRPr lang="en-US" altLang="en-US"/>
          </a:p>
        </p:txBody>
      </p:sp>
      <p:sp>
        <p:nvSpPr>
          <p:cNvPr id="11" name="文本框 10"/>
          <p:cNvSpPr txBox="1"/>
          <p:nvPr/>
        </p:nvSpPr>
        <p:spPr>
          <a:xfrm>
            <a:off x="8055610" y="1952625"/>
            <a:ext cx="2540635" cy="506730"/>
          </a:xfrm>
          <a:prstGeom prst="rect">
            <a:avLst/>
          </a:prstGeom>
          <a:noFill/>
        </p:spPr>
        <p:txBody>
          <a:bodyPr wrap="square" rtlCol="0">
            <a:spAutoFit/>
          </a:bodyPr>
          <a:p>
            <a:pPr algn="ctr">
              <a:lnSpc>
                <a:spcPct val="150000"/>
              </a:lnSpc>
            </a:pPr>
            <a:r>
              <a:rPr lang="en-US" altLang="en-US"/>
              <a:t>使用文件识别工具</a:t>
            </a:r>
            <a:endParaRPr lang="en-US" altLang="en-US"/>
          </a:p>
        </p:txBody>
      </p:sp>
      <p:sp>
        <p:nvSpPr>
          <p:cNvPr id="12" name="文本框 11"/>
          <p:cNvSpPr txBox="1"/>
          <p:nvPr/>
        </p:nvSpPr>
        <p:spPr>
          <a:xfrm>
            <a:off x="8055610" y="2960370"/>
            <a:ext cx="2540635" cy="506730"/>
          </a:xfrm>
          <a:prstGeom prst="rect">
            <a:avLst/>
          </a:prstGeom>
          <a:noFill/>
        </p:spPr>
        <p:txBody>
          <a:bodyPr wrap="square" rtlCol="0">
            <a:spAutoFit/>
          </a:bodyPr>
          <a:p>
            <a:pPr algn="ctr">
              <a:lnSpc>
                <a:spcPct val="150000"/>
              </a:lnSpc>
            </a:pPr>
            <a:r>
              <a:rPr lang="en-US" altLang="en-US"/>
              <a:t>使用思考模型分析题目</a:t>
            </a:r>
            <a:endParaRPr lang="en-US" altLang="en-US"/>
          </a:p>
        </p:txBody>
      </p:sp>
      <p:sp>
        <p:nvSpPr>
          <p:cNvPr id="13" name="文本框 12"/>
          <p:cNvSpPr txBox="1"/>
          <p:nvPr/>
        </p:nvSpPr>
        <p:spPr>
          <a:xfrm>
            <a:off x="8055610" y="4004310"/>
            <a:ext cx="2540635" cy="506730"/>
          </a:xfrm>
          <a:prstGeom prst="rect">
            <a:avLst/>
          </a:prstGeom>
          <a:noFill/>
        </p:spPr>
        <p:txBody>
          <a:bodyPr wrap="square" rtlCol="0">
            <a:spAutoFit/>
          </a:bodyPr>
          <a:p>
            <a:pPr algn="ctr">
              <a:lnSpc>
                <a:spcPct val="150000"/>
              </a:lnSpc>
            </a:pPr>
            <a:r>
              <a:rPr lang="en-US" altLang="en-US"/>
              <a:t>使用联网搜索工具</a:t>
            </a:r>
            <a:endParaRPr lang="en-US" altLang="en-US"/>
          </a:p>
        </p:txBody>
      </p:sp>
      <p:sp>
        <p:nvSpPr>
          <p:cNvPr id="14" name="文本框 13"/>
          <p:cNvSpPr txBox="1"/>
          <p:nvPr/>
        </p:nvSpPr>
        <p:spPr>
          <a:xfrm>
            <a:off x="8055610" y="4895850"/>
            <a:ext cx="2540635" cy="506730"/>
          </a:xfrm>
          <a:prstGeom prst="rect">
            <a:avLst/>
          </a:prstGeom>
          <a:noFill/>
        </p:spPr>
        <p:txBody>
          <a:bodyPr wrap="square" rtlCol="0">
            <a:spAutoFit/>
          </a:bodyPr>
          <a:p>
            <a:pPr algn="ctr">
              <a:lnSpc>
                <a:spcPct val="150000"/>
              </a:lnSpc>
            </a:pPr>
            <a:r>
              <a:rPr lang="en-US" altLang="en-US"/>
              <a:t>使用代码生成模型</a:t>
            </a:r>
            <a:endParaRPr lang="en-US" altLang="en-US"/>
          </a:p>
        </p:txBody>
      </p:sp>
      <p:sp>
        <p:nvSpPr>
          <p:cNvPr id="15" name="文本框 14"/>
          <p:cNvSpPr txBox="1"/>
          <p:nvPr/>
        </p:nvSpPr>
        <p:spPr>
          <a:xfrm>
            <a:off x="8055610" y="5635625"/>
            <a:ext cx="2540635" cy="506730"/>
          </a:xfrm>
          <a:prstGeom prst="rect">
            <a:avLst/>
          </a:prstGeom>
          <a:noFill/>
        </p:spPr>
        <p:txBody>
          <a:bodyPr wrap="square" rtlCol="0">
            <a:spAutoFit/>
          </a:bodyPr>
          <a:p>
            <a:pPr algn="ctr">
              <a:lnSpc>
                <a:spcPct val="150000"/>
              </a:lnSpc>
            </a:pPr>
            <a:r>
              <a:rPr lang="en-US" altLang="en-US"/>
              <a:t>……</a:t>
            </a:r>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模型、产品和工具不是一回事</a:t>
            </a:r>
            <a:endParaRPr lang="en-US" altLang="zh-CN"/>
          </a:p>
        </p:txBody>
      </p:sp>
      <p:sp>
        <p:nvSpPr>
          <p:cNvPr id="3" name="内容占位符 2"/>
          <p:cNvSpPr>
            <a:spLocks noGrp="1"/>
          </p:cNvSpPr>
          <p:nvPr>
            <p:ph idx="1"/>
          </p:nvPr>
        </p:nvSpPr>
        <p:spPr/>
        <p:txBody>
          <a:bodyPr>
            <a:normAutofit/>
          </a:bodyPr>
          <a:p>
            <a:pPr>
              <a:lnSpc>
                <a:spcPct val="150000"/>
              </a:lnSpc>
            </a:pPr>
            <a:r>
              <a:rPr lang="zh-CN" altLang="en-US" sz="2400"/>
              <a:t>模型</a:t>
            </a:r>
            <a:r>
              <a:rPr lang="en-US" altLang="zh-CN" sz="2400"/>
              <a:t>本身不</a:t>
            </a:r>
            <a:r>
              <a:rPr lang="zh-CN" altLang="en-US" sz="2400"/>
              <a:t>能联网，产品联网通常依靠搜索工具；</a:t>
            </a:r>
            <a:endParaRPr lang="zh-CN" altLang="en-US" sz="2400"/>
          </a:p>
          <a:p>
            <a:pPr>
              <a:lnSpc>
                <a:spcPct val="150000"/>
              </a:lnSpc>
            </a:pPr>
            <a:r>
              <a:rPr lang="zh-CN" altLang="en-US" sz="2400"/>
              <a:t>模型</a:t>
            </a:r>
            <a:r>
              <a:rPr lang="en-US" altLang="zh-CN" sz="2400">
                <a:sym typeface="+mn-ea"/>
              </a:rPr>
              <a:t>本身不</a:t>
            </a:r>
            <a:r>
              <a:rPr lang="zh-CN" altLang="en-US" sz="2400"/>
              <a:t>能读文件，文件问答通常依靠上下文或</a:t>
            </a:r>
            <a:r>
              <a:rPr lang="en-US" altLang="zh-CN" sz="2400"/>
              <a:t>知识库</a:t>
            </a:r>
            <a:r>
              <a:rPr lang="zh-CN" altLang="en-US" sz="2400"/>
              <a:t>；</a:t>
            </a:r>
            <a:endParaRPr lang="zh-CN" altLang="en-US" sz="2400"/>
          </a:p>
          <a:p>
            <a:pPr>
              <a:lnSpc>
                <a:spcPct val="150000"/>
              </a:lnSpc>
            </a:pPr>
            <a:r>
              <a:rPr lang="zh-CN" altLang="en-US" sz="2400"/>
              <a:t>模型</a:t>
            </a:r>
            <a:r>
              <a:rPr lang="en-US" altLang="zh-CN" sz="2400">
                <a:sym typeface="+mn-ea"/>
              </a:rPr>
              <a:t>本身不</a:t>
            </a:r>
            <a:r>
              <a:rPr lang="en-US" altLang="en-US" sz="2400">
                <a:sym typeface="+mn-ea"/>
              </a:rPr>
              <a:t>会</a:t>
            </a:r>
            <a:r>
              <a:rPr lang="zh-CN" altLang="en-US" sz="2400"/>
              <a:t>永久记住你上传的资料，长期记忆属于具体产品设计；</a:t>
            </a:r>
            <a:endParaRPr lang="zh-CN" altLang="en-US" sz="2400"/>
          </a:p>
          <a:p>
            <a:pPr>
              <a:lnSpc>
                <a:spcPct val="150000"/>
              </a:lnSpc>
            </a:pPr>
            <a:r>
              <a:rPr lang="zh-CN" altLang="en-US" sz="2400"/>
              <a:t>模型不一定能准确计算，复杂计算应交给代码、计算器或专门工具；</a:t>
            </a:r>
            <a:endParaRPr lang="zh-CN" altLang="en-US" sz="2400"/>
          </a:p>
          <a:p>
            <a:pPr>
              <a:lnSpc>
                <a:spcPct val="150000"/>
              </a:lnSpc>
            </a:pPr>
            <a:r>
              <a:rPr lang="zh-CN" altLang="en-US" sz="2400"/>
              <a:t>产品能自动操作真实系统时，必须有权限和人工确认。</a:t>
            </a:r>
            <a:endParaRPr lang="zh-CN" altLang="en-US"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如何选择模型和产品</a:t>
            </a:r>
            <a:endParaRPr lang="en-US" altLang="zh-CN"/>
          </a:p>
        </p:txBody>
      </p:sp>
      <p:sp>
        <p:nvSpPr>
          <p:cNvPr id="3" name="内容占位符 2"/>
          <p:cNvSpPr>
            <a:spLocks noGrp="1"/>
          </p:cNvSpPr>
          <p:nvPr>
            <p:ph idx="1"/>
          </p:nvPr>
        </p:nvSpPr>
        <p:spPr>
          <a:xfrm>
            <a:off x="838200" y="1825625"/>
            <a:ext cx="5217795" cy="4351655"/>
          </a:xfrm>
        </p:spPr>
        <p:txBody>
          <a:bodyPr>
            <a:normAutofit fontScale="80000"/>
          </a:bodyPr>
          <a:p>
            <a:r>
              <a:rPr lang="en-US" altLang="zh-CN" sz="2400"/>
              <a:t>几个问题</a:t>
            </a:r>
            <a:endParaRPr lang="en-US" altLang="zh-CN" sz="2400"/>
          </a:p>
          <a:p>
            <a:pPr lvl="1">
              <a:lnSpc>
                <a:spcPct val="150000"/>
              </a:lnSpc>
            </a:pPr>
            <a:r>
              <a:rPr lang="en-US" altLang="zh-CN" sz="2055"/>
              <a:t>任务是否只是简单整理、摘要、改写或格式转换？</a:t>
            </a:r>
            <a:endParaRPr lang="en-US" altLang="zh-CN" sz="2055"/>
          </a:p>
          <a:p>
            <a:pPr lvl="1">
              <a:lnSpc>
                <a:spcPct val="150000"/>
              </a:lnSpc>
            </a:pPr>
            <a:r>
              <a:rPr lang="en-US" altLang="zh-CN" sz="2055"/>
              <a:t>是否需要复杂推理、多步骤规划或严谨比较？</a:t>
            </a:r>
            <a:endParaRPr lang="en-US" altLang="zh-CN" sz="2055"/>
          </a:p>
          <a:p>
            <a:pPr lvl="1">
              <a:lnSpc>
                <a:spcPct val="150000"/>
              </a:lnSpc>
            </a:pPr>
            <a:r>
              <a:rPr lang="en-US" altLang="zh-CN" sz="2055"/>
              <a:t>是否需要处理长文档、课程资料或错题本？</a:t>
            </a:r>
            <a:endParaRPr lang="en-US" altLang="zh-CN" sz="2055"/>
          </a:p>
          <a:p>
            <a:pPr lvl="1">
              <a:lnSpc>
                <a:spcPct val="150000"/>
              </a:lnSpc>
            </a:pPr>
            <a:r>
              <a:rPr lang="en-US" altLang="zh-CN" sz="2055"/>
              <a:t>是否需要图片、手写题、语音或表格？</a:t>
            </a:r>
            <a:endParaRPr lang="en-US" altLang="zh-CN" sz="2055"/>
          </a:p>
          <a:p>
            <a:pPr lvl="1">
              <a:lnSpc>
                <a:spcPct val="150000"/>
              </a:lnSpc>
            </a:pPr>
            <a:r>
              <a:rPr lang="en-US" altLang="zh-CN" sz="2055"/>
              <a:t>是否需要最新信息或指定资料来源？</a:t>
            </a:r>
            <a:endParaRPr lang="en-US" altLang="zh-CN" sz="2055"/>
          </a:p>
          <a:p>
            <a:pPr lvl="1">
              <a:lnSpc>
                <a:spcPct val="150000"/>
              </a:lnSpc>
            </a:pPr>
            <a:r>
              <a:rPr lang="en-US" altLang="zh-CN" sz="2055"/>
              <a:t>是否涉及个人隐私、成绩、账号、家庭信息或真实操作？</a:t>
            </a:r>
            <a:endParaRPr lang="en-US" altLang="zh-CN" sz="2055"/>
          </a:p>
          <a:p>
            <a:pPr lvl="1">
              <a:lnSpc>
                <a:spcPct val="150000"/>
              </a:lnSpc>
            </a:pPr>
            <a:r>
              <a:rPr lang="en-US" altLang="zh-CN" sz="2055"/>
              <a:t>是否对速度、成本和稳定性有要求？</a:t>
            </a:r>
            <a:endParaRPr lang="en-US" altLang="zh-CN" sz="2050"/>
          </a:p>
        </p:txBody>
      </p:sp>
      <p:sp>
        <p:nvSpPr>
          <p:cNvPr id="4" name="内容占位符 2"/>
          <p:cNvSpPr>
            <a:spLocks noGrp="1"/>
          </p:cNvSpPr>
          <p:nvPr/>
        </p:nvSpPr>
        <p:spPr>
          <a:xfrm>
            <a:off x="6399530" y="1825625"/>
            <a:ext cx="5013325" cy="4351655"/>
          </a:xfrm>
          <a:prstGeom prst="rect">
            <a:avLst/>
          </a:prstGeom>
        </p:spPr>
        <p:txBody>
          <a:bodyPr vert="horz" lIns="91440" tIns="45720" rIns="91440" bIns="45720" rtlCol="0">
            <a:normAutofit fontScale="80000"/>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r>
              <a:rPr lang="en-US" altLang="zh-CN" sz="2395"/>
              <a:t>初步原则：</a:t>
            </a:r>
            <a:endParaRPr lang="en-US" altLang="zh-CN" sz="2395"/>
          </a:p>
          <a:p>
            <a:pPr lvl="1">
              <a:lnSpc>
                <a:spcPct val="150000"/>
              </a:lnSpc>
            </a:pPr>
            <a:r>
              <a:rPr lang="en-US" altLang="zh-CN" sz="2050"/>
              <a:t>简单整理用速度快、成本低的模型；</a:t>
            </a:r>
            <a:endParaRPr lang="en-US" altLang="zh-CN" sz="2050"/>
          </a:p>
          <a:p>
            <a:pPr lvl="1">
              <a:lnSpc>
                <a:spcPct val="150000"/>
              </a:lnSpc>
            </a:pPr>
            <a:r>
              <a:rPr lang="en-US" altLang="zh-CN" sz="2050"/>
              <a:t>复杂推理用推理能力更强的模型；</a:t>
            </a:r>
            <a:endParaRPr lang="en-US" altLang="zh-CN" sz="2050"/>
          </a:p>
          <a:p>
            <a:pPr lvl="1">
              <a:lnSpc>
                <a:spcPct val="150000"/>
              </a:lnSpc>
            </a:pPr>
            <a:r>
              <a:rPr lang="en-US" altLang="zh-CN" sz="2050"/>
              <a:t>长文档用长上下文或</a:t>
            </a:r>
            <a:r>
              <a:rPr lang="en-US" altLang="en-US" sz="2050"/>
              <a:t>带知识库功能的</a:t>
            </a:r>
            <a:r>
              <a:rPr lang="en-US" altLang="zh-CN" sz="2050"/>
              <a:t>产品；</a:t>
            </a:r>
            <a:endParaRPr lang="en-US" altLang="zh-CN" sz="2050"/>
          </a:p>
          <a:p>
            <a:pPr lvl="1">
              <a:lnSpc>
                <a:spcPct val="150000"/>
              </a:lnSpc>
            </a:pPr>
            <a:r>
              <a:rPr lang="en-US" altLang="zh-CN" sz="2050"/>
              <a:t>图片、语音、手写题用多模态模型；</a:t>
            </a:r>
            <a:endParaRPr lang="en-US" altLang="zh-CN" sz="2050"/>
          </a:p>
          <a:p>
            <a:pPr lvl="1">
              <a:lnSpc>
                <a:spcPct val="150000"/>
              </a:lnSpc>
            </a:pPr>
            <a:r>
              <a:rPr lang="en-US" altLang="zh-CN" sz="2050"/>
              <a:t>最新信息要搜索并核查来源；</a:t>
            </a:r>
            <a:endParaRPr lang="en-US" altLang="zh-CN" sz="2050"/>
          </a:p>
          <a:p>
            <a:pPr lvl="1">
              <a:lnSpc>
                <a:spcPct val="150000"/>
              </a:lnSpc>
            </a:pPr>
            <a:r>
              <a:rPr lang="en-US" altLang="zh-CN" sz="2050"/>
              <a:t>隐私敏感任务要关注本地化、权限和数据边界；</a:t>
            </a:r>
            <a:endParaRPr lang="en-US" altLang="zh-CN" sz="2050"/>
          </a:p>
          <a:p>
            <a:pPr lvl="1">
              <a:lnSpc>
                <a:spcPct val="150000"/>
              </a:lnSpc>
            </a:pPr>
            <a:r>
              <a:rPr lang="en-US" altLang="zh-CN" sz="2050"/>
              <a:t>涉及正式评价、考试公平和真实操作时要人工确认。</a:t>
            </a:r>
            <a:endParaRPr lang="en-US" altLang="zh-CN" sz="205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en-US"/>
              <a:t>总结</a:t>
            </a:r>
            <a:endParaRPr lang="en-US" altLang="en-US"/>
          </a:p>
        </p:txBody>
      </p:sp>
      <p:sp>
        <p:nvSpPr>
          <p:cNvPr id="3" name="内容占位符 2"/>
          <p:cNvSpPr>
            <a:spLocks noGrp="1"/>
          </p:cNvSpPr>
          <p:nvPr>
            <p:ph idx="1"/>
          </p:nvPr>
        </p:nvSpPr>
        <p:spPr/>
        <p:txBody>
          <a:bodyPr/>
          <a:p>
            <a:pPr>
              <a:lnSpc>
                <a:spcPct val="150000"/>
              </a:lnSpc>
            </a:pPr>
            <a:r>
              <a:rPr lang="en-US" altLang="zh-CN"/>
              <a:t>大模型技术全景图：</a:t>
            </a:r>
            <a:r>
              <a:rPr lang="en-US" altLang="zh-CN" b="1">
                <a:solidFill>
                  <a:srgbClr val="FF0000"/>
                </a:solidFill>
              </a:rPr>
              <a:t>大模型</a:t>
            </a:r>
            <a:r>
              <a:rPr lang="en-US" altLang="zh-CN"/>
              <a:t> or </a:t>
            </a:r>
            <a:r>
              <a:rPr lang="en-US" altLang="zh-CN" b="1">
                <a:solidFill>
                  <a:srgbClr val="FF0000"/>
                </a:solidFill>
              </a:rPr>
              <a:t>大模型产品</a:t>
            </a:r>
            <a:endParaRPr lang="en-US" altLang="zh-CN"/>
          </a:p>
          <a:p>
            <a:pPr>
              <a:lnSpc>
                <a:spcPct val="150000"/>
              </a:lnSpc>
            </a:pPr>
            <a:r>
              <a:rPr lang="en-US" altLang="zh-CN"/>
              <a:t>大模型产品谱系包含</a:t>
            </a:r>
            <a:r>
              <a:rPr lang="en-US" altLang="zh-CN" b="1">
                <a:solidFill>
                  <a:srgbClr val="FF0000"/>
                </a:solidFill>
              </a:rPr>
              <a:t>模型层</a:t>
            </a:r>
            <a:r>
              <a:rPr lang="en-US" altLang="zh-CN"/>
              <a:t>、</a:t>
            </a:r>
            <a:r>
              <a:rPr lang="en-US" altLang="zh-CN" b="1">
                <a:solidFill>
                  <a:srgbClr val="FF0000"/>
                </a:solidFill>
              </a:rPr>
              <a:t>工具层</a:t>
            </a:r>
            <a:r>
              <a:rPr lang="en-US" altLang="zh-CN"/>
              <a:t>和</a:t>
            </a:r>
            <a:r>
              <a:rPr lang="en-US" altLang="zh-CN" b="1">
                <a:solidFill>
                  <a:srgbClr val="FF0000"/>
                </a:solidFill>
              </a:rPr>
              <a:t>编排层</a:t>
            </a:r>
            <a:r>
              <a:rPr lang="en-US" altLang="zh-CN"/>
              <a:t>三个层次</a:t>
            </a:r>
            <a:endParaRPr lang="en-US" altLang="zh-CN"/>
          </a:p>
          <a:p>
            <a:pPr>
              <a:lnSpc>
                <a:spcPct val="150000"/>
              </a:lnSpc>
            </a:pPr>
            <a:r>
              <a:rPr lang="en-US" altLang="zh-CN"/>
              <a:t>要根</a:t>
            </a:r>
            <a:r>
              <a:rPr lang="en-US" altLang="zh-CN" b="1">
                <a:solidFill>
                  <a:srgbClr val="FF0000"/>
                </a:solidFill>
              </a:rPr>
              <a:t>据实际情况</a:t>
            </a:r>
            <a:r>
              <a:rPr lang="en-US" altLang="zh-CN"/>
              <a:t>选择合适的大模型产品</a:t>
            </a:r>
            <a:endParaRPr lang="en-US" altLang="zh-CN"/>
          </a:p>
          <a:p>
            <a:pPr>
              <a:lnSpc>
                <a:spcPct val="150000"/>
              </a:lnSpc>
            </a:pPr>
            <a:r>
              <a:rPr lang="en-US" altLang="zh-CN"/>
              <a:t>下一节课：</a:t>
            </a:r>
            <a:endParaRPr lang="en-US" altLang="zh-CN"/>
          </a:p>
          <a:p>
            <a:pPr lvl="1">
              <a:lnSpc>
                <a:spcPct val="150000"/>
              </a:lnSpc>
            </a:pPr>
            <a:r>
              <a:rPr lang="en-US" altLang="zh-CN"/>
              <a:t>大模型为什么能够回答问题？</a:t>
            </a:r>
            <a:endParaRPr lang="en-US" altLang="zh-CN"/>
          </a:p>
          <a:p>
            <a:pPr lvl="1">
              <a:lnSpc>
                <a:spcPct val="150000"/>
              </a:lnSpc>
            </a:pPr>
            <a:r>
              <a:rPr lang="en-US" altLang="zh-CN"/>
              <a:t>对于同一个问题为什么会有不同的回答方式？</a:t>
            </a:r>
            <a:endParaRPr lang="en-US" altLang="zh-CN"/>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2930</Words>
  <Application>WPS 演示</Application>
  <PresentationFormat>宽屏</PresentationFormat>
  <Paragraphs>431</Paragraphs>
  <Slides>22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22</vt:i4>
      </vt:variant>
    </vt:vector>
  </HeadingPairs>
  <TitlesOfParts>
    <vt:vector size="35" baseType="lpstr">
      <vt:lpstr>Arial</vt:lpstr>
      <vt:lpstr>SimSun</vt:lpstr>
      <vt:lpstr>Wingdings</vt:lpstr>
      <vt:lpstr>DejaVu Sans</vt:lpstr>
      <vt:lpstr>Ubuntu Sans</vt:lpstr>
      <vt:lpstr>Noto Serif CJK SC</vt:lpstr>
      <vt:lpstr>Calibri Light</vt:lpstr>
      <vt:lpstr>Calibri</vt:lpstr>
      <vt:lpstr>Microsoft YaHei</vt:lpstr>
      <vt:lpstr>Droid Sans Fallback</vt:lpstr>
      <vt:lpstr>Arial Unicode MS</vt:lpstr>
      <vt:lpstr>SimSun</vt:lpstr>
      <vt:lpstr>Office 主题</vt:lpstr>
      <vt:lpstr>第一课 你每天在用的 AI 到底是什么</vt:lpstr>
      <vt:lpstr>我们每天在用哪些 AI？</vt:lpstr>
      <vt:lpstr>大模型技术全景图</vt:lpstr>
      <vt:lpstr>课程路线图</vt:lpstr>
      <vt:lpstr>一个产品中包含的技术</vt:lpstr>
      <vt:lpstr>大模型产品谱系图</vt:lpstr>
      <vt:lpstr>大模型产品谱系图</vt:lpstr>
      <vt:lpstr>使用场景——文本模型</vt:lpstr>
      <vt:lpstr>使用场景——文本模型</vt:lpstr>
      <vt:lpstr>使用场景——文本模型</vt:lpstr>
      <vt:lpstr>使用场景——文本模型</vt:lpstr>
      <vt:lpstr>使用场景——文本模型</vt:lpstr>
      <vt:lpstr>使用场景——文本模型</vt:lpstr>
      <vt:lpstr>大模型产品谱系图</vt:lpstr>
      <vt:lpstr>大模型产品谱系图</vt:lpstr>
      <vt:lpstr>使用场景——大模型工具</vt:lpstr>
      <vt:lpstr>大模型产品谱系图</vt:lpstr>
      <vt:lpstr>大模型产品谱系图</vt:lpstr>
      <vt:lpstr>使用场景——大模型智能体</vt:lpstr>
      <vt:lpstr>模型、产品和工具不是一回事</vt:lpstr>
      <vt:lpstr>如何选择模型和产品</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ruoyu</dc:creator>
  <cp:lastModifiedBy>ruoyu</cp:lastModifiedBy>
  <cp:revision>134</cp:revision>
  <dcterms:created xsi:type="dcterms:W3CDTF">2026-08-05T01:12:50Z</dcterms:created>
  <dcterms:modified xsi:type="dcterms:W3CDTF">2026-08-05T01:12:50Z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2052-12.1.2.26885</vt:lpwstr>
  </property>
  <property fmtid="{D5CDD505-2E9C-101B-9397-08002B2CF9AE}" pid="3" name="ICV">
    <vt:lpwstr>AA9262404BBE79D4128E726A8266ABCF_42</vt:lpwstr>
  </property>
</Properties>
</file>