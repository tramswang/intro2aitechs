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大家好,欢迎来到今天的前沿AI技术探索课程。在接下来的时间里,我们将一起揭开人工智能的神秘面纱,探索这个正在深刻改变世界的前沿科技。准备好开启你的AI启蒙之旅了吗?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本次课程将分为四个部分。首先,我们会回顾AI的发展历程;接着,深入了解其核心技术;然后,我们会看到AI在现实世界中的各种神奇应用;最后,一起探讨AI的未来以及我们需要思考的伦理问题。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让我们首先进入第一章,回到过去,看看人工智能这个概念是如何诞生的,以及它经历了怎样的发展历程,才成为今天我们所熟知的强大技术。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那么,到底什么是人工智能呢?简单来说,它就是让机器像人一样思考和行动的技术。它的目标是赋予机器感知、推理、学习和行动的能力,让它们能够解决复杂的问题。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AI的发展并非一帆风顺,它经历了多个关键的里程碑。从图灵提出的伟大构想,到达特茅斯会议的正式定名,再到近年来深度学习和生成式AI的爆发,每一步都推动着技术的飞跃。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了解了AI的发展历程后,我们将进入更核心的部分。在第二章,我们将一起揭开AI背后的关键技术,看看机器学习、神经网络这些听起来很复杂的概念到底是什么。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机器学习是AI的灵魂。它就像给计算机一个大脑,让它能够从海量数据中自己学习规律。主要分为监督学习、无监督学习和强化学习三大类,它们各自在不同领域发挥着重要作用。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如果说机器学习是大脑,那么神经网络就是大脑中的神经元网络。它通过层层递进的结构,从数据中提取复杂的特征。深度学习就是拥有很多层的神经网络,它能处理更复杂的任务,比如识别图片中的猫或狗。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大家可能都听说过ChatGPT,它就是一种大语言模型。这些模型通过学习海量的书籍、文章和网站内容,变得非常擅长理解和使用人类语言。它们可以聊天、写文章、翻译,甚至写代码,是当前AI领域最热门的技术之一。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理论知识就介绍到这里。接下来,让我们进入第三章,看看这些强大的AI技术已经在我们的生活中得到了哪些有趣的应用。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计算机视觉就是让机器拥有"眼睛"。从手机上的人脸识别,到自动驾驶汽车的路况感知,再到AI创作的精美画作,都是计算机视觉技术的杰作。它让机器能够看懂我们所处的世界。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自然语言处理,简称NLP,是让机器拥有"语言能力"的技术。我们每天都在使用的语音助手、翻译软件,背后都离不开NLP技术的支持。它让人机交互变得更加自然和便捷。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除了视觉和语言,AI的应用无处不在。你购物时看到的推荐商品,看视频时刷到的推荐内容,甚至在金融、教育和娱乐领域,AI都在默默地发挥着巨大的作用,让我们的生活变得更加智能和便捷。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AI的发展速度超乎想象。在最后一章,让我们一起展望未来,看看AI将把我们带向何方,同时也要思考,作为未来的创造者,我们应该如何负责任地发展和使用这项强大的技术。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AI的未来充满了无限可能,它将带来生产力的巨大飞跃和科学的飞速发展。但同时,我们也必须正视它带来的挑战,比如就业变化、数据隐私和伦理问题。如何趋利避害,是我们需要共同思考的课题。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我的分享到此结束。AI的世界广阔而精彩,今天我们只是打开了一扇小小的窗户。希望这次课程能激发大家对人工智能的兴趣。现在是提问环节,大家有什么问题吗?谢谢大家!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15000">
                <a:srgbClr val="000000">
                  <a:alpha val="20000"/>
                </a:srgbClr>
              </a:gs>
              <a:gs pos="40000">
                <a:srgbClr val="1E0F3C">
                  <a:alpha val="35000"/>
                </a:srgbClr>
              </a:gs>
              <a:gs pos="70000">
                <a:srgbClr val="140A2D">
                  <a:alpha val="50000"/>
                </a:srgbClr>
              </a:gs>
              <a:gs pos="90000">
                <a:srgbClr val="0A0519">
                  <a:alpha val="5500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2730500"/>
            <a:ext cx="1117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5200" spc="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前沿AI技术探索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4191000"/>
            <a:ext cx="1117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200" spc="1000">
                <a:solidFill>
                  <a:srgbClr val="FFFFFF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中学生人工智能启蒙课程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 spc="8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8000"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683000"/>
            <a:ext cx="508000" cy="38100"/>
          </a:xfrm>
          <a:prstGeom prst="roundRect">
            <a:avLst>
              <a:gd name="adj" fmla="val 0"/>
            </a:avLst>
          </a:prstGeom>
          <a:solidFill>
            <a:srgbClr val="A855F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911600"/>
            <a:ext cx="254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AI的起源与发展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4958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从图灵测试到深度学习的演进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83000" y="2286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8000"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3683000"/>
            <a:ext cx="508000" cy="38100"/>
          </a:xfrm>
          <a:prstGeom prst="roundRect">
            <a:avLst>
              <a:gd name="adj" fmla="val 0"/>
            </a:avLst>
          </a:prstGeom>
          <a:solidFill>
            <a:srgbClr val="A855F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3911600"/>
            <a:ext cx="254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核心技术揭秘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44958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机器学习、神经网络与大模型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2286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8000"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683000"/>
            <a:ext cx="508000" cy="38100"/>
          </a:xfrm>
          <a:prstGeom prst="roundRect">
            <a:avLst>
              <a:gd name="adj" fmla="val 0"/>
            </a:avLst>
          </a:prstGeom>
          <a:solidFill>
            <a:srgbClr val="A855F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911600"/>
            <a:ext cx="254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AI的应用领域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44958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计算机视觉、自然语言处理与更多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0" y="2286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8000"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0" y="3683000"/>
            <a:ext cx="508000" cy="38100"/>
          </a:xfrm>
          <a:prstGeom prst="roundRect">
            <a:avLst>
              <a:gd name="adj" fmla="val 0"/>
            </a:avLst>
          </a:prstGeom>
          <a:solidFill>
            <a:srgbClr val="A855F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0" y="3911600"/>
            <a:ext cx="254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未来展望与伦理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0" y="44958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AI将如何塑造未来及我们的责任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1651000"/>
            <a:ext cx="10160000" cy="3302000"/>
          </a:xfrm>
          <a:prstGeom prst="ellipse">
            <a:avLst/>
          </a:prstGeom>
          <a:gradFill rotWithShape="true">
            <a:gsLst>
              <a:gs pos="0">
                <a:srgbClr val="A855F7">
                  <a:alpha val="28000"/>
                </a:srgbClr>
              </a:gs>
              <a:gs pos="35000">
                <a:srgbClr val="A855F7">
                  <a:alpha val="10000"/>
                </a:srgbClr>
              </a:gs>
              <a:gs pos="65000">
                <a:srgbClr val="A855F7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AI的起源与发展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0" spc="140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20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600" spc="800">
                <a:solidFill>
                  <a:srgbClr val="FFFFFF">
                    <a:alpha val="9607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第一章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什么是人工智能?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224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 spc="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ARTIFICIAL INTELLIGENCE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人工智能(AI)是一门旨在使计算机系统能够模拟、延伸和扩展人类智能的技术科学。它涵盖了机器学习、自然语言处理、计算机视觉等多个领域。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2603500" cy="32004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50800" cy="3200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2004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37084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 spc="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PERCEPTION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4140200"/>
            <a:ext cx="2159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E6E6F0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让机器能够理解和解释周围世界,如识别图像、声音。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2921000"/>
            <a:ext cx="2603500" cy="32004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19500" y="2921000"/>
            <a:ext cx="50800" cy="3200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98900" y="32004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98900" y="37084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 spc="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REASONING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98900" y="4140200"/>
            <a:ext cx="2159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E6E6F0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让机器能够根据已有知识进行逻辑思考和决策。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921000"/>
            <a:ext cx="2603500" cy="32004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921000"/>
            <a:ext cx="50800" cy="3200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56400" y="32004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56400" y="37084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 spc="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LEARNING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56400" y="4140200"/>
            <a:ext cx="2159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E6E6F0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让机器能够从数据中学习,不断改进自身性能。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34500" y="2921000"/>
            <a:ext cx="2603500" cy="32004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34500" y="2921000"/>
            <a:ext cx="50800" cy="3200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13900" y="32004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613900" y="37084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 spc="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ACTION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13900" y="4140200"/>
            <a:ext cx="2159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E6E6F0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让机器能够与环境交互并执行任务。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AI发展的关键里程碑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462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 spc="8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KEY MILESTONES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2082800" cy="41275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50800" cy="4127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1844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7500"/>
              </a:lnSpc>
              <a:defRPr/>
            </a:pPr>
            <a:r>
              <a:rPr lang="en-US" b="true" i="false" strike="noStrike" u="none" sz="4200" spc="100">
                <a:latin typeface="Noto Sans SC"/>
                <a:ea typeface="Noto Sans SC"/>
                <a:cs typeface="Noto Sans SC"/>
                <a:sym typeface="Noto Sans SC"/>
              </a:rPr>
              <a:t>1950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0480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25277" flipH="false" flipV="false">
            <a:off x="965223" y="34480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965200" y="35814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图灵测试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4064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艾伦·图灵提出判断机器是否具有智能的著名测试。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49600" y="2032000"/>
            <a:ext cx="2082800" cy="41275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49600" y="2032000"/>
            <a:ext cx="50800" cy="4127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52800" y="21844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7500"/>
              </a:lnSpc>
              <a:defRPr/>
            </a:pPr>
            <a:r>
              <a:rPr lang="en-US" b="true" i="false" strike="noStrike" u="none" sz="4200" spc="100">
                <a:latin typeface="Noto Sans SC"/>
                <a:ea typeface="Noto Sans SC"/>
                <a:cs typeface="Noto Sans SC"/>
                <a:sym typeface="Noto Sans SC"/>
              </a:rPr>
              <a:t>1956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52800" y="30480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5277" flipH="false" flipV="false">
            <a:off x="3352823" y="34480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352800" y="35814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达特茅斯会议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352800" y="40640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"人工智能"这一术语被正式提出,标志着AI作为一门独立学科的诞生。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37200" y="2032000"/>
            <a:ext cx="2082800" cy="41275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537200" y="2032000"/>
            <a:ext cx="50800" cy="4127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740400" y="21844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7500"/>
              </a:lnSpc>
              <a:defRPr/>
            </a:pPr>
            <a:r>
              <a:rPr lang="en-US" b="true" i="false" strike="noStrike" u="none" sz="4200" spc="100">
                <a:latin typeface="Noto Sans SC"/>
                <a:ea typeface="Noto Sans SC"/>
                <a:cs typeface="Noto Sans SC"/>
                <a:sym typeface="Noto Sans SC"/>
              </a:rPr>
              <a:t>1980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740400" y="30480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年代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25277" flipH="false" flipV="false">
            <a:off x="5740423" y="34480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5740400" y="35814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专家系统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740400" y="40640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AI研究的第一个黄金时代,大量基于规则的专家系统被开发和应用。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924800" y="2032000"/>
            <a:ext cx="2082800" cy="41275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924800" y="2032000"/>
            <a:ext cx="50800" cy="4127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28000" y="21844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7500"/>
              </a:lnSpc>
              <a:defRPr/>
            </a:pPr>
            <a:r>
              <a:rPr lang="en-US" b="true" i="false" strike="noStrike" u="none" sz="4200" spc="100">
                <a:latin typeface="Noto Sans SC"/>
                <a:ea typeface="Noto Sans SC"/>
                <a:cs typeface="Noto Sans SC"/>
                <a:sym typeface="Noto Sans SC"/>
              </a:rPr>
              <a:t>2012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128000" y="30480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25277" flipH="false" flipV="false">
            <a:off x="8128023" y="34480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8128000" y="35814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深度学习革命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128000" y="40640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AlexNet在ImageNet竞赛中取得突破性成功,开启了深度学习的新纪元。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0160000" y="2032000"/>
            <a:ext cx="2082800" cy="41275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0160000" y="2032000"/>
            <a:ext cx="50800" cy="4127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0363200" y="21844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7500"/>
              </a:lnSpc>
              <a:defRPr/>
            </a:pPr>
            <a:r>
              <a:rPr lang="en-US" b="true" i="false" strike="noStrike" u="none" sz="4200" spc="100">
                <a:latin typeface="Noto Sans SC"/>
                <a:ea typeface="Noto Sans SC"/>
                <a:cs typeface="Noto Sans SC"/>
                <a:sym typeface="Noto Sans SC"/>
              </a:rPr>
              <a:t>2022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363200" y="30480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-26856" flipH="false" flipV="false">
            <a:off x="10363225" y="34480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10363200" y="35814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生成式AI爆发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363200" y="40640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ChatGPT等大语言模型的出现,让生成式AI技术进入大众视野。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1778000"/>
            <a:ext cx="7620000" cy="3810000"/>
          </a:xfrm>
          <a:prstGeom prst="ellipse">
            <a:avLst/>
          </a:prstGeom>
          <a:gradFill rotWithShape="true">
            <a:gsLst>
              <a:gs pos="0">
                <a:srgbClr val="A855F7">
                  <a:alpha val="30000"/>
                </a:srgbClr>
              </a:gs>
              <a:gs pos="35000">
                <a:srgbClr val="A855F7">
                  <a:alpha val="10000"/>
                </a:srgbClr>
              </a:gs>
              <a:gs pos="65000">
                <a:srgbClr val="A855F7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核心技术揭秘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10668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0" spc="1400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8647" flipH="false" flipV="false">
            <a:off x="762026" y="5200650"/>
            <a:ext cx="152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A855F7">
                <a:alpha val="8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55245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 spc="80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核心技术揭秘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机器学习:让机器自我学习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 spc="60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E6E6F0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机器学习是AI的核心分支,它让计算机能够从数据中学习,而无需被明确编程。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30500"/>
            <a:ext cx="3556000" cy="3619500"/>
          </a:xfrm>
          <a:prstGeom prst="roundRect">
            <a:avLst>
              <a:gd name="adj" fmla="val 0"/>
            </a:avLst>
          </a:prstGeom>
          <a:solidFill>
            <a:srgbClr val="140F23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30500"/>
            <a:ext cx="50800" cy="3619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6B37B4">
                  <a:alpha val="5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819400"/>
            <a:ext cx="304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A855F7">
                    <a:alpha val="4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810000"/>
            <a:ext cx="3111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监督学习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191000"/>
            <a:ext cx="3111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 spc="20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Supervised Learning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72000"/>
            <a:ext cx="3111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从有标签的数据中学习,用于分类和回归任务。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628" flipH="false" flipV="false">
            <a:off x="1016014" y="5327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5435600"/>
            <a:ext cx="3111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true" strike="noStrike" u="none" sz="1200">
                <a:solidFill>
                  <a:srgbClr val="DCDCEB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例如:垃圾邮件识别、房价预测。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2730500"/>
            <a:ext cx="3556000" cy="3619500"/>
          </a:xfrm>
          <a:prstGeom prst="roundRect">
            <a:avLst>
              <a:gd name="adj" fmla="val 0"/>
            </a:avLst>
          </a:prstGeom>
          <a:solidFill>
            <a:srgbClr val="140F23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2730500"/>
            <a:ext cx="50800" cy="3619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6B37B4">
                  <a:alpha val="5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26000" y="2819400"/>
            <a:ext cx="304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A855F7">
                    <a:alpha val="4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3810000"/>
            <a:ext cx="3111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无监督学习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826000" y="4191000"/>
            <a:ext cx="3111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 spc="20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826000" y="4572000"/>
            <a:ext cx="3111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从未标记的数据中发现隐藏的模式和结构。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628" flipH="false" flipV="false">
            <a:off x="4826014" y="5327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4826000" y="5435600"/>
            <a:ext cx="3111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true" strike="noStrike" u="none" sz="1200">
                <a:solidFill>
                  <a:srgbClr val="DCDCEB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例如:客户分群、异常检测。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2730500"/>
            <a:ext cx="3556000" cy="3619500"/>
          </a:xfrm>
          <a:prstGeom prst="roundRect">
            <a:avLst>
              <a:gd name="adj" fmla="val 0"/>
            </a:avLst>
          </a:prstGeom>
          <a:solidFill>
            <a:srgbClr val="140F23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2730500"/>
            <a:ext cx="50800" cy="3619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6B37B4">
                  <a:alpha val="5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36000" y="2819400"/>
            <a:ext cx="304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A855F7">
                    <a:alpha val="4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636000" y="3810000"/>
            <a:ext cx="3111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强化学习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636000" y="4191000"/>
            <a:ext cx="3111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 spc="20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Reinforcement Learning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636000" y="4572000"/>
            <a:ext cx="3111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通过试错和奖励机制来学习最佳行为策略。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628" flipH="false" flipV="false">
            <a:off x="8636014" y="5327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8636000" y="5435600"/>
            <a:ext cx="3111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true" strike="noStrike" u="none" sz="1200">
                <a:solidFill>
                  <a:srgbClr val="DCDCEB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例如:AlphaGo下棋、自动驾驶。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神经网络与深度学习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954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 spc="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NEURAL NETWORKS &amp; DEEP LEARNING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E6E6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神经网络是模仿人脑神经元结构的计算模型,是深度学习的基础。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3530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540000"/>
            <a:ext cx="50800" cy="21336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924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149600"/>
            <a:ext cx="30734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由输入层、隐藏层和输出层组成,层与层之间通过大量节点(神经元)连接。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84700" y="2540000"/>
            <a:ext cx="3530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84700" y="2540000"/>
            <a:ext cx="50800" cy="21336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38700" y="26924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训练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38700" y="3149600"/>
            <a:ext cx="3073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通过反向传播算法,不断调整节点间连接的权重,使模型的输出越来越接近预期结果。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07400" y="2540000"/>
            <a:ext cx="3530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07400" y="2540000"/>
            <a:ext cx="50800" cy="21336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661400" y="26924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深度学习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61400" y="3149600"/>
            <a:ext cx="3073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指具有多个隐藏层的深度神经网络,能够学习更复杂的特征和模式。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080000"/>
            <a:ext cx="10668000" cy="1270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22000"/>
                </a:srgbClr>
              </a:gs>
              <a:gs pos="100000">
                <a:srgbClr val="A855F7">
                  <a:alpha val="6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08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92200" y="52324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 spc="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形象比喻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048000" y="5232400"/>
            <a:ext cx="8178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F0F0FA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就像一个多层过滤器,每一层都从原始数据中提取更高级、更抽象的特征,最终实现精准识别或预测。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 (LLM)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208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 spc="6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LARGE LANGUAGE MODELS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854200"/>
            <a:ext cx="1066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6E6F0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大语言模型是基于海量文本数据训练的深度学习模型,能够理解和生成人类语言。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 spc="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00400"/>
            <a:ext cx="26035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200400"/>
            <a:ext cx="50800" cy="17526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27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文本生成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7846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1E1EB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创作文章、诗歌、代码等。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3200400"/>
            <a:ext cx="26035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19500" y="3200400"/>
            <a:ext cx="50800" cy="17526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73500" y="3327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信息问答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73500" y="37846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1E1EB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回答各种问题,提供知识。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200400"/>
            <a:ext cx="26035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3200400"/>
            <a:ext cx="50800" cy="17526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3327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语言翻译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37846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1E1EB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实现不同语言间的精准翻译。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34500" y="3200400"/>
            <a:ext cx="26035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34500" y="3200400"/>
            <a:ext cx="50800" cy="17526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88500" y="3327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对话交互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88500" y="37846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1E1EB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进行自然流畅的对话。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207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 spc="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代表模型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740400"/>
            <a:ext cx="3429000" cy="609600"/>
          </a:xfrm>
          <a:prstGeom prst="roundRect">
            <a:avLst>
              <a:gd name="adj" fmla="val 0"/>
            </a:avLst>
          </a:prstGeom>
          <a:solidFill>
            <a:srgbClr val="A855F7">
              <a:alpha val="14000"/>
            </a:srgbClr>
          </a:solidFill>
          <a:ln w="12700" cmpd="sng" cap="flat">
            <a:solidFill>
              <a:srgbClr val="A855F7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5740400"/>
            <a:ext cx="2921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GPT系列</a:t>
            </a:r>
            <a:r>
              <a:rPr lang="en-US" b="false" i="false" strike="noStrike" u="none" sz="1300">
                <a:solidFill>
                  <a:srgbClr val="E1E1EB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(如ChatGPT)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08500" y="5740400"/>
            <a:ext cx="2794000" cy="609600"/>
          </a:xfrm>
          <a:prstGeom prst="roundRect">
            <a:avLst>
              <a:gd name="adj" fmla="val 0"/>
            </a:avLst>
          </a:prstGeom>
          <a:solidFill>
            <a:srgbClr val="A855F7">
              <a:alpha val="14000"/>
            </a:srgbClr>
          </a:solidFill>
          <a:ln w="12700" cmpd="sng" cap="flat">
            <a:solidFill>
              <a:srgbClr val="A855F7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08500" y="57404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BERT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0" y="5740400"/>
            <a:ext cx="2794000" cy="609600"/>
          </a:xfrm>
          <a:prstGeom prst="roundRect">
            <a:avLst>
              <a:gd name="adj" fmla="val 0"/>
            </a:avLst>
          </a:prstGeom>
          <a:solidFill>
            <a:srgbClr val="A855F7">
              <a:alpha val="14000"/>
            </a:srgbClr>
          </a:solidFill>
          <a:ln w="12700" cmpd="sng" cap="flat">
            <a:solidFill>
              <a:srgbClr val="A855F7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0" y="57404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Llama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22000"/>
                </a:srgbClr>
              </a:gs>
              <a:gs pos="28000">
                <a:srgbClr val="A855F7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AI的应用领域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0" spc="1200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7290" flipH="false" flipV="false">
            <a:off x="762053" y="5073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A855F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5334000"/>
            <a:ext cx="10668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200" spc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AI的应用领域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8000"/>
                </a:srgbClr>
              </a:gs>
              <a:gs pos="26000">
                <a:srgbClr val="A855F7">
                  <a:alpha val="6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2000"/>
                </a:srgbClr>
              </a:gs>
              <a:gs pos="22000">
                <a:srgbClr val="A855F7">
                  <a:alpha val="4000"/>
                </a:srgbClr>
              </a:gs>
              <a:gs pos="48000">
                <a:srgbClr val="000000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计算机视觉 (Computer Vision)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1066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 spc="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让机器看懂世界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03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6E6F0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计算机视觉使计算机能够识别、理解和分析图像与视频。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794000"/>
            <a:ext cx="2603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94000"/>
            <a:ext cx="50800" cy="298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90600" y="30226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人脸识别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3556000"/>
            <a:ext cx="222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F0F0FA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用于手机解锁、门禁系统。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19500" y="2794000"/>
            <a:ext cx="2603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19500" y="2794000"/>
            <a:ext cx="50800" cy="298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48100" y="30226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自动驾驶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48100" y="35560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F0F0FA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帮助汽车感知道路、行人与障碍物。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794000"/>
            <a:ext cx="2603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794000"/>
            <a:ext cx="50800" cy="298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05600" y="3022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医疗影像分析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05600" y="35560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F0F0FA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辅助医生检测疾病,如癌症筛查。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34500" y="2794000"/>
            <a:ext cx="2603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34500" y="2794000"/>
            <a:ext cx="50800" cy="298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63100" y="30226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图像生成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63100" y="3556000"/>
            <a:ext cx="2311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F0F0FA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AI绘画,如Midjourney, Stable Diffusion。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自然语言处理 (NLP)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22400"/>
            <a:ext cx="1066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让机器听懂并使用语言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自然语言处理致力于让计算机能够理解、解释和生成人类语言。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95600"/>
            <a:ext cx="2540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895600"/>
            <a:ext cx="50800" cy="304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1242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智能助手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3683000"/>
            <a:ext cx="2184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Siri, Alexa,</a:t>
            </a: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小爱同学。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19500" y="2895600"/>
            <a:ext cx="2540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2895600"/>
            <a:ext cx="50800" cy="304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98900" y="31242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机器翻译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98900" y="3683000"/>
            <a:ext cx="2184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Google翻译、</a:t>
            </a: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DeepL。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895600"/>
            <a:ext cx="2540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2895600"/>
            <a:ext cx="50800" cy="304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56400" y="31242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情感分析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56400" y="3683000"/>
            <a:ext cx="2184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分析用户评论、</a:t>
            </a: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社交媒体情绪。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34500" y="2895600"/>
            <a:ext cx="2540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34500" y="2895600"/>
            <a:ext cx="50800" cy="304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613900" y="31242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文本摘要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613900" y="3683000"/>
            <a:ext cx="2184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</a:t>
            </a: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FFFFFF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文章摘要。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AI在其他领域的应用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 spc="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MORE APPLICATIONS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141423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50800" cy="4064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1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311400"/>
            <a:ext cx="22860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A855F7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530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4064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电商平台(如淘宝、亚马逊)根据你的浏览记录推荐商品。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5207000"/>
            <a:ext cx="228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流媒体平台(如Netflix、抖音)为你推荐视频内容。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2159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141423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2159000"/>
            <a:ext cx="50800" cy="4064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1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86200" y="2311400"/>
            <a:ext cx="22860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A855F7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86200" y="3530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金融科技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86200" y="40894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用于信用评估、欺诈检测和算法交易。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159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141423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2159000"/>
            <a:ext cx="50800" cy="4064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1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07200" y="2311400"/>
            <a:ext cx="22860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A855F7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07200" y="3530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教育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07200" y="40894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个性化学习路径推荐、智能批改作业。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0" y="2159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141423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0" y="2159000"/>
            <a:ext cx="50800" cy="4064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100000"/>
                </a:srgbClr>
              </a:gs>
              <a:gs pos="100000">
                <a:srgbClr val="A855F7">
                  <a:alpha val="1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28200" y="2311400"/>
            <a:ext cx="22860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A855F7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728200" y="3530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娱乐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728200" y="40894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E6E6F0">
                    <a:alpha val="7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AI作曲、AI游戏角色、虚拟偶像。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778000"/>
            <a:ext cx="12192000" cy="3556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A855F7">
                  <a:alpha val="28000"/>
                </a:srgbClr>
              </a:gs>
              <a:gs pos="35000">
                <a:srgbClr val="A855F7">
                  <a:alpha val="10000"/>
                </a:srgbClr>
              </a:gs>
              <a:gs pos="65000">
                <a:srgbClr val="A855F7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未来展望与伦理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0" spc="1400"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20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600" spc="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未来展望与伦理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AI的未来:机遇与挑战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954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 spc="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FUTURE: OPPORTUNITIES &amp; CHALLENGES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9889" flipH="false" flipV="false">
            <a:off x="3937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508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机遇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438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500">
                <a:solidFill>
                  <a:srgbClr val="A855F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OPPORTUNITIES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921000"/>
            <a:ext cx="5080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21000"/>
            <a:ext cx="50800" cy="9652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9718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生产力革命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3020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自动化将极大提升生产效率。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064000"/>
            <a:ext cx="5080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0800" cy="9652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1148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科学发现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445000"/>
            <a:ext cx="4673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AI将加速药物研发、气候预测等领域的突破。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207000"/>
            <a:ext cx="5080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07000"/>
            <a:ext cx="50800" cy="9652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2578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个性化服务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588000"/>
            <a:ext cx="4673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医疗、教育等将更加精准和个性化。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19050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挑战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2438400"/>
            <a:ext cx="495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500">
                <a:solidFill>
                  <a:srgbClr val="A855F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CHALLENGES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2921000"/>
            <a:ext cx="4953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2921000"/>
            <a:ext cx="50800" cy="8382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31000" y="2959100"/>
            <a:ext cx="4546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就业结构变化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3263900"/>
            <a:ext cx="4546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部分传统岗位可能被替代。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3886200"/>
            <a:ext cx="4953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3886200"/>
            <a:ext cx="50800" cy="8382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731000" y="3924300"/>
            <a:ext cx="4546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数据隐私与安全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731000" y="4229100"/>
            <a:ext cx="4546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如何保护个人信息不被滥用。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4851400"/>
            <a:ext cx="4953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4851400"/>
            <a:ext cx="50800" cy="8382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731000" y="4889500"/>
            <a:ext cx="4546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算法偏见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731000" y="5194300"/>
            <a:ext cx="4546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AI可能会继承和放大人类社会的偏见。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77000" y="5816600"/>
            <a:ext cx="4953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5816600"/>
            <a:ext cx="50800" cy="8382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731000" y="5854700"/>
            <a:ext cx="4546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伦理与安全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731000" y="6159500"/>
            <a:ext cx="4546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如何确保AI的行为符合人类价值观。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15000">
                <a:srgbClr val="000000">
                  <a:alpha val="20000"/>
                </a:srgbClr>
              </a:gs>
              <a:gs pos="40000">
                <a:srgbClr val="000000">
                  <a:alpha val="32000"/>
                </a:srgbClr>
              </a:gs>
              <a:gs pos="70000">
                <a:srgbClr val="000000">
                  <a:alpha val="45000"/>
                </a:srgbClr>
              </a:gs>
              <a:gs pos="90000">
                <a:srgbClr val="000000">
                  <a:alpha val="5000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305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4800" spc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064000"/>
            <a:ext cx="1219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200" spc="1200">
                <a:solidFill>
                  <a:srgbClr val="FFFFFF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{"Label":"1","ContentProducer":"001191110102MACQD9K64010000","ProduceID":"7668966279293996323","ReservedCode1":"","ContentPropagator":"","PropagateID":"","ReservedCode2":""}</vt:lpwstr>
  </property>
</Properties>
</file>