
<file path=[Content_Types].xml><?xml version="1.0" encoding="utf-8"?>
<Types xmlns="http://schemas.openxmlformats.org/package/2006/content-types">
  <Default Extension="bin" ContentType="image/unknown"/>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12"/>
  </p:handoutMasterIdLst>
  <p:sldIdLst>
    <p:sldId id="256" r:id="rId2"/>
    <p:sldId id="284" r:id="rId3"/>
    <p:sldId id="277" r:id="rId4"/>
    <p:sldId id="286" r:id="rId5"/>
    <p:sldId id="287" r:id="rId6"/>
    <p:sldId id="288" r:id="rId7"/>
    <p:sldId id="289" r:id="rId8"/>
    <p:sldId id="278" r:id="rId9"/>
    <p:sldId id="274" r:id="rId10"/>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3B1"/>
    <a:srgbClr val="061323"/>
    <a:srgbClr val="00E5FF"/>
    <a:srgbClr val="00E5FA"/>
    <a:srgbClr val="B388FF"/>
    <a:srgbClr val="69F0AE"/>
    <a:srgbClr val="1E1E1E"/>
    <a:srgbClr val="5A5A5A"/>
    <a:srgbClr val="121212"/>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43" autoAdjust="0"/>
    <p:restoredTop sz="85167" autoAdjust="0"/>
  </p:normalViewPr>
  <p:slideViewPr>
    <p:cSldViewPr snapToGrid="0" showGuides="1">
      <p:cViewPr varScale="1">
        <p:scale>
          <a:sx n="19" d="100"/>
          <a:sy n="19" d="100"/>
        </p:scale>
        <p:origin x="804" y="42"/>
      </p:cViewPr>
      <p:guideLst>
        <p:guide orient="horz" pos="2154"/>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2026/9/6</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2026/9/6</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dirty="0"/>
              <a:t>香港科技大学上海产教融合中心和前沿学科课程研发中心发布</a:t>
            </a:r>
            <a:endParaRPr lang="en-US" altLang="zh-CN" dirty="0"/>
          </a:p>
          <a:p>
            <a:pPr marL="171450" indent="-171450">
              <a:buFont typeface="Arial" panose="02080604020202020204" pitchFamily="34" charset="0"/>
              <a:buChar char="•"/>
            </a:pPr>
            <a:r>
              <a:rPr lang="zh-CN" altLang="en-US" dirty="0"/>
              <a:t>能够会用并且用好大模型相关的</a:t>
            </a:r>
            <a:r>
              <a:rPr lang="en-US" altLang="zh-CN" dirty="0"/>
              <a:t>AI</a:t>
            </a:r>
            <a:r>
              <a:rPr lang="zh-CN" altLang="en-US" dirty="0"/>
              <a:t>产品</a:t>
            </a:r>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你看，「</a:t>
            </a:r>
            <a:r>
              <a:rPr lang="en-US" altLang="zh-CN"/>
              <a:t>AI」</a:t>
            </a:r>
            <a:r>
              <a:rPr lang="zh-CN" altLang="en-US"/>
              <a:t>在大家脑子里是一个宏大又模糊的团块——</a:t>
            </a:r>
            <a:r>
              <a:rPr lang="zh-CN" altLang="en-US">
                <a:sym typeface="+mn-ea"/>
              </a:rPr>
              <a:t>科幻、</a:t>
            </a:r>
            <a:r>
              <a:rPr lang="zh-CN" altLang="en-US"/>
              <a:t>机器人、</a:t>
            </a:r>
            <a:r>
              <a:rPr lang="zh-CN" altLang="en-US">
                <a:sym typeface="+mn-ea"/>
              </a:rPr>
              <a:t>聊天框</a:t>
            </a:r>
            <a:r>
              <a:rPr lang="zh-CN" altLang="en-US"/>
              <a:t>大脑全搅在一起。</a:t>
            </a:r>
          </a:p>
          <a:p>
            <a:endParaRPr lang="zh-CN" altLang="en-US"/>
          </a:p>
          <a:p>
            <a:r>
              <a:rPr lang="zh-CN" altLang="en-US"/>
              <a:t>今天这节课只做一件事：画一张定位地图，把这些东西放到对的位置。</a:t>
            </a:r>
          </a:p>
          <a:p>
            <a:endParaRPr lang="zh-CN" altLang="en-US"/>
          </a:p>
          <a:p>
            <a:r>
              <a:rPr lang="zh-CN" altLang="en-US"/>
              <a:t>我们要回答两个问题——</a:t>
            </a:r>
          </a:p>
          <a:p>
            <a:pPr marL="171450" indent="-171450">
              <a:buFont typeface="Arial" panose="02080604020202020204" pitchFamily="34" charset="0"/>
              <a:buChar char="•"/>
            </a:pPr>
            <a:r>
              <a:rPr lang="zh-CN" altLang="en-US"/>
              <a:t>我用的是哪种 </a:t>
            </a:r>
            <a:r>
              <a:rPr lang="en-US" altLang="zh-CN"/>
              <a:t>AI？</a:t>
            </a:r>
          </a:p>
          <a:p>
            <a:pPr marL="171450" indent="-171450">
              <a:buFont typeface="Arial" panose="02080604020202020204" pitchFamily="34" charset="0"/>
              <a:buChar char="•"/>
            </a:pPr>
            <a:r>
              <a:rPr lang="zh-CN" altLang="en-US"/>
              <a:t>它和别的 </a:t>
            </a:r>
            <a:r>
              <a:rPr lang="en-US" altLang="zh-CN"/>
              <a:t>AI </a:t>
            </a:r>
            <a:r>
              <a:rPr lang="zh-CN" altLang="en-US"/>
              <a:t>到底什么关系？</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sym typeface="+mn-ea"/>
              </a:rPr>
              <a:t>AI </a:t>
            </a:r>
            <a:r>
              <a:rPr lang="zh-CN" altLang="en-US" dirty="0">
                <a:sym typeface="+mn-ea"/>
              </a:rPr>
              <a:t>是一个很大的筐，什么都能往里装。</a:t>
            </a:r>
            <a:r>
              <a:rPr lang="en-US" altLang="zh-CN" dirty="0" err="1">
                <a:sym typeface="+mn-ea"/>
              </a:rPr>
              <a:t>从技术的</a:t>
            </a:r>
            <a:r>
              <a:rPr lang="zh-CN" altLang="en-US" dirty="0">
                <a:sym typeface="+mn-ea"/>
              </a:rPr>
              <a:t>实现方式</a:t>
            </a:r>
            <a:r>
              <a:rPr lang="en-US" altLang="zh-CN" dirty="0" err="1">
                <a:sym typeface="+mn-ea"/>
              </a:rPr>
              <a:t>来看</a:t>
            </a:r>
            <a:r>
              <a:rPr lang="en-US" altLang="zh-CN" dirty="0">
                <a:sym typeface="+mn-ea"/>
              </a:rPr>
              <a:t>，</a:t>
            </a:r>
            <a:r>
              <a:rPr lang="zh-CN" altLang="en-US" dirty="0">
                <a:sym typeface="+mn-ea"/>
              </a:rPr>
              <a:t>它</a:t>
            </a:r>
            <a:r>
              <a:rPr lang="en-US" altLang="zh-CN" dirty="0" err="1">
                <a:sym typeface="+mn-ea"/>
              </a:rPr>
              <a:t>包含了：机器学习、符号智能</a:t>
            </a:r>
            <a:r>
              <a:rPr lang="zh-CN" altLang="en-US" dirty="0">
                <a:sym typeface="+mn-ea"/>
              </a:rPr>
              <a:t>两大流派</a:t>
            </a:r>
          </a:p>
          <a:p>
            <a:pPr marL="171450" indent="-171450">
              <a:buFont typeface="Arial" panose="02080604020202020204" pitchFamily="34" charset="0"/>
              <a:buChar char="•"/>
            </a:pPr>
            <a:r>
              <a:rPr lang="zh-CN" altLang="en-US" dirty="0">
                <a:sym typeface="+mn-ea"/>
              </a:rPr>
              <a:t>符号智能：比较偏重理论，比如知识图谱这样基于严格逻辑推理的系统</a:t>
            </a:r>
          </a:p>
          <a:p>
            <a:pPr marL="171450" indent="-171450">
              <a:buFont typeface="Arial" panose="02080604020202020204" pitchFamily="34" charset="0"/>
              <a:buChar char="•"/>
            </a:pPr>
            <a:r>
              <a:rPr lang="zh-CN" altLang="en-US" dirty="0">
                <a:sym typeface="+mn-ea"/>
              </a:rPr>
              <a:t>机器学习的各种技术在实践应用中更为广泛</a:t>
            </a:r>
            <a:endParaRPr lang="en-US" altLang="zh-CN" dirty="0"/>
          </a:p>
          <a:p>
            <a:endParaRPr lang="en-US" altLang="zh-CN" dirty="0"/>
          </a:p>
          <a:p>
            <a:r>
              <a:rPr lang="en-US" altLang="zh-CN" dirty="0" err="1">
                <a:sym typeface="+mn-ea"/>
              </a:rPr>
              <a:t>大语言模型所属的深度学习就是机器学习领域的其中一部分，与它平行的还有多模态模型、视觉模型等等其他的网络模型</a:t>
            </a:r>
            <a:endParaRPr lang="en-US" altLang="zh-CN" dirty="0">
              <a:sym typeface="+mn-ea"/>
            </a:endParaRPr>
          </a:p>
          <a:p>
            <a:pPr marL="171450" indent="-171450">
              <a:buFont typeface="Arial" panose="02080604020202020204" pitchFamily="34" charset="0"/>
              <a:buChar char="•"/>
            </a:pPr>
            <a:r>
              <a:rPr lang="zh-CN" altLang="en-US" dirty="0">
                <a:sym typeface="+mn-ea"/>
              </a:rPr>
              <a:t>比如现在手机和各个</a:t>
            </a:r>
            <a:r>
              <a:rPr lang="en-US" altLang="zh-CN" dirty="0">
                <a:sym typeface="+mn-ea"/>
              </a:rPr>
              <a:t> App </a:t>
            </a:r>
            <a:r>
              <a:rPr lang="zh-CN" altLang="en-US" dirty="0">
                <a:sym typeface="+mn-ea"/>
              </a:rPr>
              <a:t>应用的人脸识别技术就属于视觉模型最广泛的应用之一</a:t>
            </a:r>
            <a:endParaRPr lang="en-US" altLang="zh-CN" dirty="0"/>
          </a:p>
          <a:p>
            <a:endParaRPr lang="en-US" altLang="zh-CN" dirty="0">
              <a:sym typeface="+mn-ea"/>
            </a:endParaRPr>
          </a:p>
          <a:p>
            <a:r>
              <a:rPr lang="en-US" altLang="zh-CN" dirty="0" err="1">
                <a:sym typeface="+mn-ea"/>
              </a:rPr>
              <a:t>在大语言模型领域内，还能进一步划分智能体、提示词工程等等更细的领域和主题</a:t>
            </a:r>
            <a:endParaRPr lang="en-US" altLang="zh-CN" dirty="0"/>
          </a:p>
          <a:p>
            <a:endParaRPr lang="zh-CN" altLang="en-US" dirty="0"/>
          </a:p>
          <a:p>
            <a:r>
              <a:rPr lang="zh-CN" altLang="en-US" dirty="0"/>
              <a:t>本课（以及整门课）聚焦在 大语言模型</a:t>
            </a:r>
            <a:r>
              <a:rPr lang="en-US" altLang="zh-CN" dirty="0"/>
              <a:t> </a:t>
            </a:r>
            <a:r>
              <a:rPr lang="zh-CN" altLang="en-US" dirty="0"/>
              <a:t>这一层——也就是 </a:t>
            </a:r>
            <a:r>
              <a:rPr lang="en-US" altLang="zh-CN" dirty="0">
                <a:sym typeface="+mn-ea"/>
              </a:rPr>
              <a:t>DeepSeek</a:t>
            </a:r>
            <a:r>
              <a:rPr lang="zh-CN" altLang="en-US" dirty="0">
                <a:sym typeface="+mn-ea"/>
              </a:rPr>
              <a:t>、豆包、</a:t>
            </a:r>
            <a:r>
              <a:rPr lang="en-US" altLang="zh-CN" dirty="0"/>
              <a:t>ChatGPT </a:t>
            </a:r>
            <a:r>
              <a:rPr lang="zh-CN" altLang="en-US" dirty="0"/>
              <a:t>这类「会说话的大模型」。</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这里还有几个概念需要带大家来辨析一下。</a:t>
            </a:r>
          </a:p>
          <a:p>
            <a:endParaRPr lang="zh-CN" altLang="en-US"/>
          </a:p>
          <a:p>
            <a:r>
              <a:rPr lang="zh-CN" altLang="en-US"/>
              <a:t>这几个词大家都听过，但常被混为一谈：</a:t>
            </a:r>
          </a:p>
          <a:p>
            <a:endParaRPr lang="en-US" altLang="zh-CN"/>
          </a:p>
          <a:p>
            <a:pPr marL="228600" indent="-228600">
              <a:buFont typeface="Arial" panose="02080604020202020204" pitchFamily="34" charset="0"/>
              <a:buAutoNum type="arabicPeriod"/>
            </a:pPr>
            <a:r>
              <a:rPr lang="en-US" altLang="zh-CN"/>
              <a:t>AGI（</a:t>
            </a:r>
            <a:r>
              <a:rPr lang="zh-CN" altLang="en-US"/>
              <a:t>通用人工智能）：比如可中科幻作品中的能够完全替代人类进行决策、生产和各项服务的软件系统和机器人可以看作这种理想的一种具象化</a:t>
            </a:r>
          </a:p>
          <a:p>
            <a:pPr marL="228600" indent="-228600">
              <a:buFont typeface="Arial" panose="02080604020202020204" pitchFamily="34" charset="0"/>
              <a:buAutoNum type="arabicPeriod"/>
            </a:pPr>
            <a:r>
              <a:rPr lang="zh-CN" altLang="en-US"/>
              <a:t>具身智能：比如春晚上跳舞和表演武术的宇树机器人，他们与人的交互更多是在物理层面的行为和动作上</a:t>
            </a:r>
          </a:p>
          <a:p>
            <a:pPr marL="228600" indent="-228600">
              <a:buFont typeface="Arial" panose="02080604020202020204" pitchFamily="34" charset="0"/>
              <a:buAutoNum type="arabicPeriod"/>
            </a:pPr>
            <a:r>
              <a:rPr lang="zh-CN" altLang="en-US"/>
              <a:t>智能体（</a:t>
            </a:r>
            <a:r>
              <a:rPr lang="en-US" altLang="zh-CN"/>
              <a:t>Agent）：</a:t>
            </a:r>
            <a:r>
              <a:rPr lang="zh-CN" altLang="en-US"/>
              <a:t>是围绕模型搭起来的系统，不是一种模型类型，比如前一段时间很火的小龙虾。→ 本课后面专门讲。</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你日常用的 </a:t>
            </a:r>
            <a:r>
              <a:rPr lang="en-US" altLang="zh-CN"/>
              <a:t>AI，</a:t>
            </a:r>
            <a:r>
              <a:rPr lang="zh-CN" altLang="en-US"/>
              <a:t>可以排列在一个坐标系中，横轴是自动化程度，纵轴是智能水平</a:t>
            </a:r>
          </a:p>
          <a:p>
            <a:endParaRPr lang="zh-CN" altLang="en-US"/>
          </a:p>
          <a:p>
            <a:r>
              <a:rPr lang="zh-CN" altLang="en-US"/>
              <a:t>一般来说，自动化程度越高，能力也会越强</a:t>
            </a:r>
          </a:p>
          <a:p>
            <a:endParaRPr lang="zh-CN" altLang="en-US"/>
          </a:p>
          <a:p>
            <a:pPr marL="228600" indent="-228600">
              <a:buAutoNum type="arabicPeriod"/>
            </a:pPr>
            <a:r>
              <a:rPr lang="zh-CN" altLang="en-US"/>
              <a:t>聊天机器人 </a:t>
            </a:r>
            <a:r>
              <a:rPr lang="en-US" altLang="zh-CN"/>
              <a:t>Chatbot	</a:t>
            </a:r>
            <a:r>
              <a:rPr lang="zh-CN" altLang="en-US"/>
              <a:t>只对话应答，不主动行动	</a:t>
            </a:r>
            <a:r>
              <a:rPr lang="en-US" altLang="zh-CN"/>
              <a:t>ChatGPT </a:t>
            </a:r>
            <a:r>
              <a:rPr lang="zh-CN" altLang="en-US"/>
              <a:t>聊天、豆包、元宝	轿车（手动）</a:t>
            </a:r>
          </a:p>
          <a:p>
            <a:pPr marL="228600" indent="-228600">
              <a:buAutoNum type="arabicPeriod"/>
            </a:pPr>
            <a:r>
              <a:rPr lang="zh-CN" altLang="en-US"/>
              <a:t>助手 / </a:t>
            </a:r>
            <a:r>
              <a:rPr lang="en-US" altLang="zh-CN"/>
              <a:t>Copilot / Work	</a:t>
            </a:r>
            <a:r>
              <a:rPr lang="zh-CN" altLang="en-US"/>
              <a:t>建议/执行受限任务，需你监督	</a:t>
            </a:r>
            <a:r>
              <a:rPr lang="en-US" altLang="zh-CN"/>
              <a:t>ChatGPT Work、GitHub Copilot	</a:t>
            </a:r>
            <a:r>
              <a:rPr lang="zh-CN" altLang="en-US"/>
              <a:t>辅助驾驶</a:t>
            </a:r>
          </a:p>
          <a:p>
            <a:pPr marL="228600" indent="-228600">
              <a:buAutoNum type="arabicPeriod"/>
            </a:pPr>
            <a:r>
              <a:rPr lang="zh-CN" altLang="en-US"/>
              <a:t>智能体 </a:t>
            </a:r>
            <a:r>
              <a:rPr lang="en-US" altLang="zh-CN"/>
              <a:t>Agent	</a:t>
            </a:r>
            <a:r>
              <a:rPr lang="zh-CN" altLang="en-US"/>
              <a:t>给目标，自主规划+多步+工具+反思	</a:t>
            </a:r>
            <a:r>
              <a:rPr lang="en-US" altLang="zh-CN"/>
              <a:t>Claude Code、OpenAI Codex、</a:t>
            </a:r>
            <a:r>
              <a:rPr lang="zh-CN" altLang="en-US"/>
              <a:t>腾讯 </a:t>
            </a:r>
            <a:r>
              <a:rPr lang="en-US" altLang="zh-CN"/>
              <a:t>Workbuddy、Manus	</a:t>
            </a:r>
            <a:r>
              <a:rPr lang="zh-CN" altLang="en-US"/>
              <a:t>自动驾驶</a:t>
            </a:r>
          </a:p>
          <a:p>
            <a:pPr marL="228600" indent="-228600">
              <a:buAutoNum type="arabicPeriod"/>
            </a:pPr>
            <a:r>
              <a:rPr lang="zh-CN" altLang="en-US"/>
              <a:t>多智能体 / 全自主	多 </a:t>
            </a:r>
            <a:r>
              <a:rPr lang="en-US" altLang="zh-CN"/>
              <a:t>agent </a:t>
            </a:r>
            <a:r>
              <a:rPr lang="zh-CN" altLang="en-US"/>
              <a:t>协作，更高自主	（前沿）	车队 / 全自驾</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我们再来看一辆具体的车，区分一下什么是模型本体，什么是围绕模型搭建的产品。</a:t>
            </a:r>
          </a:p>
          <a:p>
            <a:endParaRPr lang="zh-CN" altLang="en-US"/>
          </a:p>
          <a:p>
            <a:pPr marL="228600" indent="-228600">
              <a:buAutoNum type="arabicPeriod"/>
            </a:pPr>
            <a:r>
              <a:rPr lang="zh-CN" altLang="en-US"/>
              <a:t>发动机：提供最核心的能力，对于车来说就是前进的动力，对于</a:t>
            </a:r>
            <a:r>
              <a:rPr lang="en-US" altLang="zh-CN"/>
              <a:t>AI</a:t>
            </a:r>
            <a:r>
              <a:rPr lang="zh-CN" altLang="en-US"/>
              <a:t>产品来说，就是提供的判断力、各种内容的生成能力</a:t>
            </a:r>
          </a:p>
          <a:p>
            <a:pPr marL="228600" indent="-228600">
              <a:buAutoNum type="arabicPeriod"/>
            </a:pPr>
            <a:r>
              <a:rPr lang="zh-CN" altLang="en-US"/>
              <a:t>车轮：对应</a:t>
            </a:r>
            <a:r>
              <a:rPr lang="en-US" altLang="zh-CN"/>
              <a:t> tools, </a:t>
            </a:r>
            <a:r>
              <a:rPr lang="zh-CN" altLang="en-US"/>
              <a:t>辅助模型本体去获取信息，把系统的状态变更落实到具体的行为之上，比如运行代码</a:t>
            </a:r>
          </a:p>
          <a:p>
            <a:pPr marL="228600" indent="-228600">
              <a:buAutoNum type="arabicPeriod"/>
            </a:pPr>
            <a:r>
              <a:rPr lang="zh-CN" altLang="en-US"/>
              <a:t>车架</a:t>
            </a:r>
            <a:r>
              <a:rPr lang="en-US" altLang="zh-CN"/>
              <a:t>+</a:t>
            </a:r>
            <a:r>
              <a:rPr lang="zh-CN" altLang="en-US"/>
              <a:t>底盘：这个为模型的整体运行提供了一套编排好的流程，比如最近很火的</a:t>
            </a:r>
            <a:r>
              <a:rPr lang="en-US" altLang="zh-CN"/>
              <a:t> Harness </a:t>
            </a:r>
            <a:r>
              <a:rPr lang="zh-CN" altLang="en-US"/>
              <a:t>概念</a:t>
            </a:r>
          </a:p>
          <a:p>
            <a:pPr marL="228600" indent="-228600">
              <a:buAutoNum type="arabicPeriod"/>
            </a:pPr>
            <a:r>
              <a:rPr lang="zh-CN" altLang="en-US"/>
              <a:t>方向盘：这个就是我们直接操作、写入对话的</a:t>
            </a:r>
            <a:r>
              <a:rPr lang="en-US" altLang="zh-CN"/>
              <a:t> App </a:t>
            </a:r>
            <a:r>
              <a:rPr lang="zh-CN" altLang="en-US"/>
              <a:t>或者</a:t>
            </a:r>
            <a:r>
              <a:rPr lang="en-US" altLang="zh-CN"/>
              <a:t> Web </a:t>
            </a:r>
            <a:r>
              <a:rPr lang="zh-CN" altLang="en-US"/>
              <a:t>界面</a:t>
            </a:r>
          </a:p>
          <a:p>
            <a:pPr marL="228600" indent="-228600">
              <a:buAutoNum type="arabicPeriod"/>
            </a:pPr>
            <a:r>
              <a:rPr lang="zh-CN" altLang="en-US"/>
              <a:t>整车：大模型产品，比如</a:t>
            </a:r>
          </a:p>
          <a:p>
            <a:pPr marL="228600" indent="-228600">
              <a:buAutoNum type="arabicPeriod"/>
            </a:pPr>
            <a:endParaRPr lang="zh-CN" altLang="en-US"/>
          </a:p>
          <a:p>
            <a:pPr indent="0">
              <a:buNone/>
            </a:pPr>
            <a:r>
              <a:rPr lang="zh-CN" altLang="en-US"/>
              <a:t>我们可以从这两个方面去区分：</a:t>
            </a:r>
          </a:p>
          <a:p>
            <a:pPr marL="228600" indent="-228600">
              <a:buAutoNum type="arabicPeriod"/>
            </a:pPr>
            <a:r>
              <a:rPr lang="zh-CN" altLang="en-US"/>
              <a:t>模型本体无状态：发动机也不管是在上坡、下坡，还是在地球的什么位置，它只管周而复始的让运转的活塞提供动力</a:t>
            </a:r>
          </a:p>
          <a:p>
            <a:pPr marL="228600" indent="-228600">
              <a:buAutoNum type="arabicPeriod"/>
            </a:pPr>
            <a:r>
              <a:rPr lang="zh-CN" altLang="en-US"/>
              <a:t>模型</a:t>
            </a:r>
            <a:r>
              <a:rPr lang="zh-CN" altLang="en-US">
                <a:solidFill>
                  <a:schemeClr val="bg1"/>
                </a:solidFill>
                <a:sym typeface="+mn-ea"/>
              </a:rPr>
              <a:t>本体的知识有截止日期：发动机出厂后就只能代表生产时的技术，不可能会应用未来的技术</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我们结合一个具体的场景来看一下什么时候是大模型本体在起作用，什么是大模型产品的最外层包装。</a:t>
            </a:r>
          </a:p>
          <a:p>
            <a:endParaRPr lang="zh-CN" altLang="en-US"/>
          </a:p>
          <a:p>
            <a:r>
              <a:rPr lang="zh-CN" altLang="en-US"/>
              <a:t>假设你想要让豆包来帮你分析一道考试里的错题，你拍了照作为附件上传，然后通过语音输入给它发了一段话，我们来看看豆包内部发生了什么变化：</a:t>
            </a:r>
          </a:p>
          <a:p>
            <a:endParaRPr lang="zh-CN" altLang="en-US"/>
          </a:p>
          <a:p>
            <a:r>
              <a:rPr lang="zh-CN" altLang="en-US"/>
              <a:t>首先先明确一点，我们平常接触到的豆包已经是包装好的产品，它内部使用的</a:t>
            </a:r>
            <a:r>
              <a:rPr lang="en-US" altLang="zh-CN"/>
              <a:t> Seed </a:t>
            </a:r>
            <a:r>
              <a:rPr lang="zh-CN" altLang="en-US"/>
              <a:t>系列模型才是大模型本体。</a:t>
            </a:r>
          </a:p>
          <a:p>
            <a:endParaRPr lang="zh-CN" altLang="en-US"/>
          </a:p>
          <a:p>
            <a:r>
              <a:rPr lang="zh-CN" altLang="en-US"/>
              <a:t>【讲解流程】</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err="1">
                <a:sym typeface="+mn-ea"/>
              </a:rPr>
              <a:t>我们这套课程主要着眼于大模型这个领域，系统性地梳理各个概念，帮助大家认识和更好地使用大模型产品及相关的工具和系统</a:t>
            </a:r>
            <a:r>
              <a:rPr lang="en-US" altLang="zh-CN" dirty="0">
                <a:sym typeface="+mn-ea"/>
              </a:rPr>
              <a:t>。</a:t>
            </a:r>
            <a:endParaRPr lang="en-US" altLang="zh-CN" dirty="0"/>
          </a:p>
          <a:p>
            <a:endParaRPr lang="en-US" altLang="zh-CN" dirty="0"/>
          </a:p>
          <a:p>
            <a:r>
              <a:rPr lang="en-US" altLang="zh-CN" dirty="0">
                <a:sym typeface="+mn-ea"/>
              </a:rPr>
              <a:t>我们将用8节课主要了解大模型的原理、应用以及建立在它之上的智能体。</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我们希望大家通过这门课程的学习，学会使用相关的</a:t>
            </a:r>
            <a:r>
              <a:rPr lang="en-US" altLang="zh-CN" dirty="0"/>
              <a:t>AI</a:t>
            </a:r>
            <a:r>
              <a:rPr lang="zh-CN" altLang="en-US" dirty="0"/>
              <a:t>产品，并且能够在</a:t>
            </a:r>
            <a:r>
              <a:rPr lang="en-US" altLang="zh-CN" dirty="0"/>
              <a:t>AI</a:t>
            </a:r>
            <a:r>
              <a:rPr lang="zh-CN" altLang="en-US" dirty="0"/>
              <a:t>运行的时候对应到相关过程的原理上，在它犯错的时候知道如何排查错误原因以及修正这些错误</a:t>
            </a:r>
          </a:p>
          <a:p>
            <a:endParaRPr lang="en-US" altLang="zh-CN" dirty="0"/>
          </a:p>
          <a:p>
            <a:r>
              <a:rPr lang="en-US" altLang="zh-CN" dirty="0">
                <a:sym typeface="+mn-ea"/>
              </a:rPr>
              <a:t>- </a:t>
            </a:r>
            <a:r>
              <a:rPr lang="en-US" altLang="zh-CN" dirty="0" err="1">
                <a:sym typeface="+mn-ea"/>
              </a:rPr>
              <a:t>第二、第三节讲解大模型的生成原理以及我们常听到的</a:t>
            </a:r>
            <a:r>
              <a:rPr lang="en-US" altLang="zh-CN" dirty="0">
                <a:sym typeface="+mn-ea"/>
              </a:rPr>
              <a:t> token 、 </a:t>
            </a:r>
            <a:r>
              <a:rPr lang="en-US" altLang="zh-CN" dirty="0" err="1">
                <a:sym typeface="+mn-ea"/>
              </a:rPr>
              <a:t>embedding、上下文窗口都是什么</a:t>
            </a:r>
            <a:endParaRPr lang="en-US" altLang="zh-CN" dirty="0"/>
          </a:p>
          <a:p>
            <a:r>
              <a:rPr lang="en-US" altLang="zh-CN" dirty="0">
                <a:sym typeface="+mn-ea"/>
              </a:rPr>
              <a:t>- </a:t>
            </a:r>
            <a:r>
              <a:rPr lang="en-US" altLang="zh-CN" dirty="0" err="1">
                <a:sym typeface="+mn-ea"/>
              </a:rPr>
              <a:t>后续的课程会介绍底层的注意力机制以及模型的训练过程，让大家明白为什么有时候</a:t>
            </a:r>
            <a:r>
              <a:rPr lang="en-US" altLang="zh-CN" dirty="0">
                <a:sym typeface="+mn-ea"/>
              </a:rPr>
              <a:t> AI </a:t>
            </a:r>
            <a:r>
              <a:rPr lang="en-US" altLang="zh-CN" dirty="0" err="1">
                <a:sym typeface="+mn-ea"/>
              </a:rPr>
              <a:t>会很蠢、为什么不同的</a:t>
            </a:r>
            <a:r>
              <a:rPr lang="en-US" altLang="zh-CN" dirty="0">
                <a:sym typeface="+mn-ea"/>
              </a:rPr>
              <a:t> AI </a:t>
            </a:r>
            <a:r>
              <a:rPr lang="en-US" altLang="zh-CN" dirty="0" err="1">
                <a:sym typeface="+mn-ea"/>
              </a:rPr>
              <a:t>表现千差万别</a:t>
            </a:r>
            <a:endParaRPr lang="en-US" altLang="zh-CN" dirty="0"/>
          </a:p>
          <a:p>
            <a:r>
              <a:rPr lang="en-US" altLang="zh-CN" dirty="0">
                <a:sym typeface="+mn-ea"/>
              </a:rPr>
              <a:t>- </a:t>
            </a:r>
            <a:r>
              <a:rPr lang="en-US" altLang="zh-CN" dirty="0" err="1">
                <a:sym typeface="+mn-ea"/>
              </a:rPr>
              <a:t>了解了这些概念，我们会进一步升级到实用的提示词技术、智能体的结构，让大家知道如何能够更好地让</a:t>
            </a:r>
            <a:r>
              <a:rPr lang="en-US" altLang="zh-CN" dirty="0">
                <a:sym typeface="+mn-ea"/>
              </a:rPr>
              <a:t> AI </a:t>
            </a:r>
            <a:r>
              <a:rPr lang="en-US" altLang="zh-CN" dirty="0" err="1">
                <a:sym typeface="+mn-ea"/>
              </a:rPr>
              <a:t>为你所用</a:t>
            </a:r>
            <a:endParaRPr lang="en-US" altLang="zh-CN" dirty="0"/>
          </a:p>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171450" indent="-171450">
              <a:buFont typeface="Arial" panose="02080604020202020204" pitchFamily="34" charset="0"/>
              <a:buChar char="•"/>
            </a:pPr>
            <a:r>
              <a:rPr lang="zh-CN" altLang="en-US" dirty="0"/>
              <a:t>课程总目标：考</a:t>
            </a:r>
            <a:r>
              <a:rPr lang="en-US" altLang="zh-CN" dirty="0"/>
              <a:t> AI </a:t>
            </a:r>
            <a:r>
              <a:rPr lang="zh-CN" altLang="en-US" dirty="0"/>
              <a:t>驾照，要了解大模型的基础概念和原理，更重要的是要掌握如何驾驭，更好的在实际生活中发挥它们的最大能力</a:t>
            </a:r>
          </a:p>
          <a:p>
            <a:pPr marL="171450" indent="-171450">
              <a:buFont typeface="Arial" panose="02080604020202020204" pitchFamily="34" charset="0"/>
              <a:buChar char="•"/>
            </a:pPr>
            <a:r>
              <a:rPr lang="zh-CN" altLang="en-US" dirty="0"/>
              <a:t>本节课主要帮助大家厘清基础的概念，尤其是要区分什么是模型的本体，什么是在这个基础上搭建的产品</a:t>
            </a:r>
          </a:p>
          <a:p>
            <a:pPr marL="171450" indent="-171450">
              <a:buFont typeface="Arial" panose="02080604020202020204" pitchFamily="34" charset="0"/>
              <a:buChar char="•"/>
            </a:pPr>
            <a:r>
              <a:rPr lang="zh-CN" altLang="en-US" dirty="0"/>
              <a:t>下一节课我们打开</a:t>
            </a:r>
            <a:r>
              <a:rPr lang="en-US" altLang="zh-CN" dirty="0"/>
              <a:t> AI </a:t>
            </a:r>
            <a:r>
              <a:rPr lang="zh-CN" altLang="en-US" dirty="0"/>
              <a:t>产品这辆车的引擎盖，仔细观察一下模型本体这个发动机具体是如何运转的</a:t>
            </a:r>
          </a:p>
          <a:p>
            <a:pPr marL="171450" indent="-171450">
              <a:buFont typeface="Arial" panose="02080604020202020204" pitchFamily="34" charset="0"/>
              <a:buChar char="•"/>
            </a:pPr>
            <a:r>
              <a:rPr lang="zh-CN" altLang="en-US" dirty="0"/>
              <a:t>在后续的课程当中，我们会进一步了解如何选车、如何驾驶，最后要明确</a:t>
            </a:r>
            <a:r>
              <a:rPr lang="en-US" altLang="zh-CN" dirty="0"/>
              <a:t> AI </a:t>
            </a:r>
            <a:r>
              <a:rPr lang="zh-CN" altLang="en-US" dirty="0"/>
              <a:t>上路的交规都有哪些</a:t>
            </a:r>
            <a:endParaRPr lang="en-US" altLang="zh-CN" dirty="0"/>
          </a:p>
          <a:p>
            <a:pPr marL="171450" indent="-171450">
              <a:buFont typeface="Arial" panose="02080604020202020204" pitchFamily="34" charset="0"/>
              <a:buChar char="•"/>
            </a:pP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AutoShape 2"/>
          <p:cNvSpPr/>
          <p:nvPr userDrawn="1"/>
        </p:nvSpPr>
        <p:spPr>
          <a:xfrm>
            <a:off x="0" y="0"/>
            <a:ext cx="12192000" cy="6858000"/>
          </a:xfrm>
          <a:prstGeom prst="roundRect">
            <a:avLst>
              <a:gd name="adj" fmla="val 0"/>
            </a:avLst>
          </a:prstGeom>
          <a:pattFill prst="lgGrid">
            <a:fgClr>
              <a:srgbClr val="FFFFFF">
                <a:alpha val="5098"/>
              </a:srgbClr>
            </a:fgClr>
            <a:bgClr>
              <a:srgbClr val="121212">
                <a:alpha val="0"/>
              </a:srgbClr>
            </a:bgClr>
          </a:pattFill>
          <a:ln cap="flat" cmpd="sng">
            <a:solidFill>
              <a:srgbClr val="FFFFFF">
                <a:alpha val="0"/>
              </a:srgbClr>
            </a:solidFill>
            <a:prstDash val="solid"/>
            <a:round/>
          </a:ln>
        </p:spPr>
        <p:txBody>
          <a:bodyPr vert="horz" wrap="square" lIns="63500" tIns="63500" rIns="63500" bIns="63500" rtlCol="0" anchor="ctr"/>
          <a:lstStyle/>
          <a:p>
            <a:pPr algn="ctr">
              <a:defRPr/>
            </a:pPr>
            <a:endParaRPr/>
          </a:p>
        </p:txBody>
      </p:sp>
      <p:sp>
        <p:nvSpPr>
          <p:cNvPr id="12" name="AutoShape 5"/>
          <p:cNvSpPr/>
          <p:nvPr userDrawn="1"/>
        </p:nvSpPr>
        <p:spPr>
          <a:xfrm>
            <a:off x="2286000" y="1524000"/>
            <a:ext cx="7620000" cy="4064000"/>
          </a:xfrm>
          <a:prstGeom prst="ellipse">
            <a:avLst/>
          </a:prstGeom>
          <a:gradFill rotWithShape="1">
            <a:gsLst>
              <a:gs pos="0">
                <a:srgbClr val="FFFFFF">
                  <a:alpha val="9000"/>
                </a:srgbClr>
              </a:gs>
              <a:gs pos="35000">
                <a:srgbClr val="FFFFFF">
                  <a:alpha val="3000"/>
                </a:srgbClr>
              </a:gs>
              <a:gs pos="65000">
                <a:srgbClr val="121212">
                  <a:alpha val="0"/>
                </a:srgbClr>
              </a:gs>
            </a:gsLst>
            <a:path path="circle">
              <a:fillToRect l="50000" t="50000" r="50000" b="50000"/>
            </a:path>
            <a:tileRect/>
          </a:gradFill>
          <a:ln cap="flat" cmpd="sng">
            <a:gradFill rotWithShape="1">
              <a:gsLst>
                <a:gs pos="0">
                  <a:srgbClr val="E6CFCF">
                    <a:alpha val="9000"/>
                  </a:srgbClr>
                </a:gs>
                <a:gs pos="35000">
                  <a:srgbClr val="E6CFCF">
                    <a:alpha val="3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0" name="AutoShape 3"/>
          <p:cNvSpPr/>
          <p:nvPr userDrawn="1"/>
        </p:nvSpPr>
        <p:spPr>
          <a:xfrm>
            <a:off x="-2032000" y="-2032000"/>
            <a:ext cx="5588000" cy="5588000"/>
          </a:xfrm>
          <a:prstGeom prst="ellipse">
            <a:avLst/>
          </a:prstGeom>
          <a:gradFill rotWithShape="1">
            <a:gsLst>
              <a:gs pos="0">
                <a:srgbClr val="00E5FF">
                  <a:alpha val="20000"/>
                </a:srgbClr>
              </a:gs>
              <a:gs pos="30000">
                <a:srgbClr val="00E5FF">
                  <a:alpha val="8000"/>
                </a:srgbClr>
              </a:gs>
              <a:gs pos="65000">
                <a:srgbClr val="121212">
                  <a:alpha val="0"/>
                </a:srgbClr>
              </a:gs>
            </a:gsLst>
            <a:path path="circle">
              <a:fillToRect l="50000" t="50000" r="50000" b="50000"/>
            </a:path>
            <a:tileRect/>
          </a:gradFill>
          <a:ln cap="flat" cmpd="sng">
            <a:gradFill rotWithShape="1">
              <a:gsLst>
                <a:gs pos="0">
                  <a:srgbClr val="00CEE6">
                    <a:alpha val="20000"/>
                  </a:srgbClr>
                </a:gs>
                <a:gs pos="30000">
                  <a:srgbClr val="00CEE6">
                    <a:alpha val="8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1" name="AutoShape 4"/>
          <p:cNvSpPr/>
          <p:nvPr userDrawn="1"/>
        </p:nvSpPr>
        <p:spPr>
          <a:xfrm>
            <a:off x="8636000" y="3556000"/>
            <a:ext cx="5588000" cy="5588000"/>
          </a:xfrm>
          <a:prstGeom prst="ellipse">
            <a:avLst/>
          </a:prstGeom>
          <a:gradFill rotWithShape="1">
            <a:gsLst>
              <a:gs pos="0">
                <a:srgbClr val="B388FF">
                  <a:alpha val="20000"/>
                </a:srgbClr>
              </a:gs>
              <a:gs pos="30000">
                <a:srgbClr val="B388FF">
                  <a:alpha val="8000"/>
                </a:srgbClr>
              </a:gs>
              <a:gs pos="65000">
                <a:srgbClr val="121212">
                  <a:alpha val="0"/>
                </a:srgbClr>
              </a:gs>
            </a:gsLst>
            <a:path path="circle">
              <a:fillToRect l="50000" t="50000" r="50000" b="50000"/>
            </a:path>
            <a:tileRect/>
          </a:gradFill>
          <a:ln cap="flat" cmpd="sng">
            <a:gradFill rotWithShape="1">
              <a:gsLst>
                <a:gs pos="0">
                  <a:srgbClr val="9263E6">
                    <a:alpha val="20000"/>
                  </a:srgbClr>
                </a:gs>
                <a:gs pos="30000">
                  <a:srgbClr val="9263E6">
                    <a:alpha val="8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3" name="AutoShape 6"/>
          <p:cNvSpPr/>
          <p:nvPr userDrawn="1"/>
        </p:nvSpPr>
        <p:spPr>
          <a:xfrm>
            <a:off x="1016000" y="2159000"/>
            <a:ext cx="76200" cy="1778000"/>
          </a:xfrm>
          <a:prstGeom prst="roundRect">
            <a:avLst>
              <a:gd name="adj" fmla="val 0"/>
            </a:avLst>
          </a:prstGeom>
          <a:gradFill rotWithShape="1">
            <a:gsLst>
              <a:gs pos="0">
                <a:srgbClr val="00E5FF">
                  <a:alpha val="0"/>
                </a:srgbClr>
              </a:gs>
              <a:gs pos="50000">
                <a:srgbClr val="00E5FF">
                  <a:alpha val="55000"/>
                </a:srgbClr>
              </a:gs>
              <a:gs pos="100000">
                <a:srgbClr val="00E5FF">
                  <a:alpha val="0"/>
                </a:srgbClr>
              </a:gs>
            </a:gsLst>
            <a:lin ang="5400000"/>
          </a:gradFill>
          <a:ln cap="flat" cmpd="sng">
            <a:gradFill rotWithShape="1">
              <a:gsLst>
                <a:gs pos="0">
                  <a:srgbClr val="00CEE6">
                    <a:alpha val="0"/>
                  </a:srgbClr>
                </a:gs>
                <a:gs pos="50000">
                  <a:srgbClr val="00CEE6">
                    <a:alpha val="55000"/>
                  </a:srgbClr>
                </a:gs>
                <a:gs pos="100000">
                  <a:srgbClr val="00CEE6">
                    <a:alpha val="0"/>
                  </a:srgbClr>
                </a:gs>
              </a:gsLst>
              <a:lin ang="5400000"/>
            </a:gradFill>
            <a:prstDash val="solid"/>
            <a:round/>
          </a:ln>
        </p:spPr>
        <p:txBody>
          <a:bodyPr vert="horz" wrap="square" lIns="63500" tIns="63500" rIns="63500" bIns="63500" rtlCol="0" anchor="ctr"/>
          <a:lstStyle/>
          <a:p>
            <a:pPr algn="ctr">
              <a:defRPr/>
            </a:pPr>
            <a:endParaRPr/>
          </a:p>
        </p:txBody>
      </p:sp>
      <p:sp>
        <p:nvSpPr>
          <p:cNvPr id="14" name="AutoShape 7"/>
          <p:cNvSpPr/>
          <p:nvPr userDrawn="1"/>
        </p:nvSpPr>
        <p:spPr>
          <a:xfrm>
            <a:off x="11099800" y="2159000"/>
            <a:ext cx="76200" cy="1778000"/>
          </a:xfrm>
          <a:prstGeom prst="roundRect">
            <a:avLst>
              <a:gd name="adj" fmla="val 0"/>
            </a:avLst>
          </a:prstGeom>
          <a:gradFill rotWithShape="1">
            <a:gsLst>
              <a:gs pos="0">
                <a:srgbClr val="B388FF">
                  <a:alpha val="0"/>
                </a:srgbClr>
              </a:gs>
              <a:gs pos="50000">
                <a:srgbClr val="B388FF">
                  <a:alpha val="55000"/>
                </a:srgbClr>
              </a:gs>
              <a:gs pos="100000">
                <a:srgbClr val="B388FF">
                  <a:alpha val="0"/>
                </a:srgbClr>
              </a:gs>
            </a:gsLst>
            <a:lin ang="5400000"/>
          </a:gradFill>
          <a:ln cap="flat" cmpd="sng">
            <a:gradFill rotWithShape="1">
              <a:gsLst>
                <a:gs pos="0">
                  <a:srgbClr val="9263E6">
                    <a:alpha val="0"/>
                  </a:srgbClr>
                </a:gs>
                <a:gs pos="50000">
                  <a:srgbClr val="9263E6">
                    <a:alpha val="55000"/>
                  </a:srgbClr>
                </a:gs>
                <a:gs pos="100000">
                  <a:srgbClr val="9263E6">
                    <a:alpha val="0"/>
                  </a:srgbClr>
                </a:gs>
              </a:gsLst>
              <a:lin ang="5400000"/>
            </a:gradFill>
            <a:prstDash val="solid"/>
            <a:round/>
          </a:ln>
        </p:spPr>
        <p:txBody>
          <a:bodyPr vert="horz" wrap="square" lIns="63500" tIns="63500" rIns="63500" bIns="63500" rtlCol="0" anchor="ctr"/>
          <a:lstStyle/>
          <a:p>
            <a:pPr algn="ctr">
              <a:defRPr/>
            </a:pPr>
            <a:endParaRPr/>
          </a:p>
        </p:txBody>
      </p:sp>
      <p:sp>
        <p:nvSpPr>
          <p:cNvPr id="17" name="AutoShape 10"/>
          <p:cNvSpPr/>
          <p:nvPr userDrawn="1"/>
        </p:nvSpPr>
        <p:spPr>
          <a:xfrm>
            <a:off x="2921000" y="5207000"/>
            <a:ext cx="6350000" cy="12700"/>
          </a:xfrm>
          <a:prstGeom prst="roundRect">
            <a:avLst>
              <a:gd name="adj" fmla="val 0"/>
            </a:avLst>
          </a:prstGeom>
          <a:gradFill rotWithShape="1">
            <a:gsLst>
              <a:gs pos="0">
                <a:srgbClr val="00E5FF">
                  <a:alpha val="0"/>
                </a:srgbClr>
              </a:gs>
              <a:gs pos="28000">
                <a:srgbClr val="00E5FF">
                  <a:alpha val="55000"/>
                </a:srgbClr>
              </a:gs>
              <a:gs pos="72000">
                <a:srgbClr val="B388FF">
                  <a:alpha val="55000"/>
                </a:srgbClr>
              </a:gs>
              <a:gs pos="100000">
                <a:srgbClr val="B388FF">
                  <a:alpha val="0"/>
                </a:srgbClr>
              </a:gs>
            </a:gsLst>
            <a:lin ang="0"/>
          </a:gradFill>
          <a:ln cap="flat" cmpd="sng">
            <a:gradFill rotWithShape="1">
              <a:gsLst>
                <a:gs pos="0">
                  <a:srgbClr val="00CEE6">
                    <a:alpha val="0"/>
                  </a:srgbClr>
                </a:gs>
                <a:gs pos="28000">
                  <a:srgbClr val="00CEE6">
                    <a:alpha val="55000"/>
                  </a:srgbClr>
                </a:gs>
                <a:gs pos="72000">
                  <a:srgbClr val="9263E6">
                    <a:alpha val="55000"/>
                  </a:srgbClr>
                </a:gs>
                <a:gs pos="100000">
                  <a:srgbClr val="9263E6">
                    <a:alpha val="0"/>
                  </a:srgbClr>
                </a:gs>
              </a:gsLst>
              <a:lin ang="0"/>
            </a:gradFill>
            <a:prstDash val="solid"/>
            <a:round/>
          </a:ln>
        </p:spPr>
        <p:txBody>
          <a:bodyPr vert="horz" wrap="square" lIns="63500" tIns="63500" rIns="63500" bIns="63500" rtlCol="0" anchor="ctr"/>
          <a:lstStyle/>
          <a:p>
            <a:pPr algn="ctr">
              <a:defRPr/>
            </a:pPr>
            <a:endParaRPr/>
          </a:p>
        </p:txBody>
      </p:sp>
      <p:cxnSp>
        <p:nvCxnSpPr>
          <p:cNvPr id="19" name="Connector 12"/>
          <p:cNvCxnSpPr/>
          <p:nvPr userDrawn="1"/>
        </p:nvCxnSpPr>
        <p:spPr>
          <a:xfrm rot="5256843">
            <a:off x="5943600" y="5810382"/>
            <a:ext cx="304800" cy="12700"/>
          </a:xfrm>
          <a:prstGeom prst="straightConnector1">
            <a:avLst/>
          </a:prstGeom>
          <a:solidFill>
            <a:srgbClr val="DEE0E3">
              <a:alpha val="100000"/>
            </a:srgbClr>
          </a:solidFill>
          <a:ln w="12700" cap="flat" cmpd="sng">
            <a:solidFill>
              <a:srgbClr val="FFFFFF">
                <a:alpha val="28000"/>
              </a:srgbClr>
            </a:solidFill>
            <a:prstDash val="solid"/>
            <a:round/>
            <a:headEnd type="none" w="med" len="med"/>
            <a:tailEnd type="none" w="med" len="med"/>
          </a:ln>
        </p:spPr>
      </p:cxnSp>
      <p:sp>
        <p:nvSpPr>
          <p:cNvPr id="2" name="标题 1"/>
          <p:cNvSpPr>
            <a:spLocks noGrp="1"/>
          </p:cNvSpPr>
          <p:nvPr>
            <p:ph type="ctrTitle" hasCustomPrompt="1"/>
          </p:nvPr>
        </p:nvSpPr>
        <p:spPr>
          <a:xfrm>
            <a:off x="762000" y="1433195"/>
            <a:ext cx="10668000" cy="2325370"/>
          </a:xfrm>
        </p:spPr>
        <p:txBody>
          <a:bodyPr anchor="b">
            <a:normAutofit/>
          </a:bodyPr>
          <a:lstStyle>
            <a:lvl1pPr marL="0" marR="0" lvl="0" algn="ctr" rtl="0" eaLnBrk="1" fontAlgn="auto" latinLnBrk="0" hangingPunct="1">
              <a:lnSpc>
                <a:spcPct val="108000"/>
              </a:lnSpc>
              <a:spcBef>
                <a:spcPts val="0"/>
              </a:spcBef>
              <a:spcAft>
                <a:spcPts val="0"/>
              </a:spcAft>
              <a:buClr>
                <a:srgbClr val="000000"/>
              </a:buClr>
              <a:buSzTx/>
              <a:buFont typeface="Arial"/>
              <a:buNone/>
              <a:defRPr/>
            </a:lvl1pPr>
          </a:lstStyle>
          <a:p>
            <a:r>
              <a:rPr lang="zh-CN" altLang="en-US" dirty="0"/>
              <a:t>单击此处添加标题</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hasCustomPrompt="1"/>
          </p:nvPr>
        </p:nvSpPr>
        <p:spPr>
          <a:xfrm>
            <a:off x="762000" y="4012565"/>
            <a:ext cx="10668000" cy="1753870"/>
          </a:xfrm>
        </p:spPr>
        <p:txBody>
          <a:bodyPr>
            <a:normAutofit/>
          </a:bodyPr>
          <a:lstStyle>
            <a:lvl1pPr marL="0" indent="0" algn="ctr">
              <a:buNone/>
              <a:defRPr sz="2800">
                <a:solidFill>
                  <a:schemeClr val="bg1">
                    <a:lumMod val="7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
        <p:nvSpPr>
          <p:cNvPr id="21" name="文本占位符 20"/>
          <p:cNvSpPr>
            <a:spLocks noGrp="1"/>
          </p:cNvSpPr>
          <p:nvPr>
            <p:ph type="body" idx="13" hasCustomPrompt="1"/>
          </p:nvPr>
        </p:nvSpPr>
        <p:spPr>
          <a:xfrm>
            <a:off x="757555" y="5588000"/>
            <a:ext cx="4831080" cy="431800"/>
          </a:xfrm>
        </p:spPr>
        <p:txBody>
          <a:bodyPr/>
          <a:lstStyle>
            <a:lvl1pPr indent="0">
              <a:buNone/>
              <a:defRPr sz="2000"/>
            </a:lvl1pPr>
          </a:lstStyle>
          <a:p>
            <a:pPr marL="0" indent="0" algn="l">
              <a:lnSpc>
                <a:spcPct val="100000"/>
              </a:lnSpc>
              <a:defRPr/>
            </a:pPr>
            <a:r>
              <a:rPr lang="en-US" spc="300">
                <a:solidFill>
                  <a:srgbClr val="BEBEBE"/>
                </a:solidFill>
                <a:latin typeface="Noto Sans SC"/>
                <a:ea typeface="Noto Sans SC"/>
                <a:cs typeface="Noto Sans SC"/>
                <a:sym typeface="Noto Sans SC"/>
              </a:rPr>
              <a:t>【授课人】</a:t>
            </a:r>
            <a:endParaRPr lang="zh-CN" altLang="en-US"/>
          </a:p>
        </p:txBody>
      </p:sp>
      <p:sp>
        <p:nvSpPr>
          <p:cNvPr id="24" name="文本占位符 23"/>
          <p:cNvSpPr>
            <a:spLocks noGrp="1"/>
          </p:cNvSpPr>
          <p:nvPr>
            <p:ph type="body" idx="16" hasCustomPrompt="1"/>
          </p:nvPr>
        </p:nvSpPr>
        <p:spPr>
          <a:xfrm>
            <a:off x="6604000" y="5588000"/>
            <a:ext cx="4830445" cy="431800"/>
          </a:xfrm>
        </p:spPr>
        <p:txBody>
          <a:bodyPr/>
          <a:lstStyle>
            <a:lvl1pPr marL="0" indent="0" algn="r">
              <a:buNone/>
              <a:defRPr kumimoji="0" lang="zh-CN" altLang="en-US" sz="2000" b="0" i="0" u="none" strike="noStrike" kern="1200" cap="none" spc="300" normalizeH="0" baseline="0" noProof="1">
                <a:solidFill>
                  <a:srgbClr val="BEBEBE"/>
                </a:solidFill>
                <a:latin typeface="Noto Sans SC"/>
                <a:ea typeface="SimSun" charset="0"/>
                <a:cs typeface="Noto Sans SC"/>
                <a:sym typeface="Noto Sans SC"/>
              </a:defRPr>
            </a:lvl1pPr>
            <a:lvl5pPr algn="ctr">
              <a:defRPr/>
            </a:lvl5pPr>
          </a:lstStyle>
          <a:p>
            <a:pPr lvl="0"/>
            <a:r>
              <a:rPr lang="zh-CN" altLang="en-US"/>
              <a:t>【日期】</a:t>
            </a:r>
          </a:p>
          <a:p>
            <a:pPr lvl="0"/>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1" name="AutoShape 3"/>
          <p:cNvSpPr/>
          <p:nvPr userDrawn="1"/>
        </p:nvSpPr>
        <p:spPr>
          <a:xfrm>
            <a:off x="9144000" y="4572000"/>
            <a:ext cx="4572000" cy="4572000"/>
          </a:xfrm>
          <a:prstGeom prst="ellipse">
            <a:avLst/>
          </a:prstGeom>
          <a:gradFill rotWithShape="1">
            <a:gsLst>
              <a:gs pos="0">
                <a:srgbClr val="00E5FF">
                  <a:alpha val="6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0" name="AutoShape 2"/>
          <p:cNvSpPr/>
          <p:nvPr userDrawn="1"/>
        </p:nvSpPr>
        <p:spPr>
          <a:xfrm>
            <a:off x="-2032000" y="-2032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2" name="标题 1"/>
          <p:cNvSpPr>
            <a:spLocks noGrp="1"/>
          </p:cNvSpPr>
          <p:nvPr>
            <p:ph type="title"/>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a:ea typeface="Noto Sans SC"/>
                <a:cs typeface="Noto Sans SC"/>
                <a:sym typeface="Noto Sans SC"/>
              </a:defRPr>
            </a:lvl1pPr>
          </a:lstStyle>
          <a:p>
            <a:r>
              <a:rPr lang="zh-CN" altLang="en-US" dirty="0"/>
              <a:t>单击此处编辑母版标题样式</a:t>
            </a:r>
          </a:p>
        </p:txBody>
      </p:sp>
      <p:sp>
        <p:nvSpPr>
          <p:cNvPr id="3" name="内容占位符 2"/>
          <p:cNvSpPr>
            <a:spLocks noGrp="1"/>
          </p:cNvSpPr>
          <p:nvPr>
            <p:ph idx="1"/>
          </p:nvPr>
        </p:nvSpPr>
        <p:spPr>
          <a:xfrm>
            <a:off x="762000" y="1825625"/>
            <a:ext cx="10401300" cy="4351655"/>
          </a:xfrm>
        </p:spPr>
        <p:txBody>
          <a:bodyPr>
            <a:normAutofit/>
          </a:bodyPr>
          <a:lstStyle>
            <a:lvl1pPr>
              <a:lnSpc>
                <a:spcPct val="150000"/>
              </a:lnSpc>
              <a:buClr>
                <a:srgbClr val="00E5FA"/>
              </a:buClr>
              <a:defRPr sz="2000">
                <a:solidFill>
                  <a:schemeClr val="bg1"/>
                </a:solidFill>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t>2026/9/6</a:t>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t>‹#›</a:t>
            </a:fld>
            <a:endParaRPr lang="en-US" altLang="zh-CN"/>
          </a:p>
        </p:txBody>
      </p:sp>
      <p:sp>
        <p:nvSpPr>
          <p:cNvPr id="8" name="AutoShape 5"/>
          <p:cNvSpPr/>
          <p:nvPr userDrawn="1"/>
        </p:nvSpPr>
        <p:spPr>
          <a:xfrm>
            <a:off x="762000" y="1422400"/>
            <a:ext cx="9144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11" name="AutoShape 3"/>
          <p:cNvSpPr/>
          <p:nvPr userDrawn="1"/>
        </p:nvSpPr>
        <p:spPr>
          <a:xfrm>
            <a:off x="9144000" y="4572000"/>
            <a:ext cx="4572000" cy="4572000"/>
          </a:xfrm>
          <a:prstGeom prst="ellipse">
            <a:avLst/>
          </a:prstGeom>
          <a:gradFill rotWithShape="1">
            <a:gsLst>
              <a:gs pos="0">
                <a:srgbClr val="00E5FF">
                  <a:alpha val="6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0" name="AutoShape 2"/>
          <p:cNvSpPr/>
          <p:nvPr userDrawn="1"/>
        </p:nvSpPr>
        <p:spPr>
          <a:xfrm>
            <a:off x="-2032000" y="-2032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2" name="标题 1"/>
          <p:cNvSpPr>
            <a:spLocks noGrp="1"/>
          </p:cNvSpPr>
          <p:nvPr>
            <p:ph type="title"/>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a:ea typeface="Noto Sans SC"/>
                <a:cs typeface="Noto Sans SC"/>
                <a:sym typeface="Noto Sans SC"/>
              </a:defRPr>
            </a:lvl1pPr>
          </a:lstStyle>
          <a:p>
            <a:r>
              <a:rPr lang="zh-CN" altLang="en-US" dirty="0"/>
              <a:t>单击此处编辑母版标题样式</a:t>
            </a:r>
          </a:p>
        </p:txBody>
      </p:sp>
      <p:sp>
        <p:nvSpPr>
          <p:cNvPr id="3" name="内容占位符 2"/>
          <p:cNvSpPr>
            <a:spLocks noGrp="1"/>
          </p:cNvSpPr>
          <p:nvPr>
            <p:ph idx="1"/>
          </p:nvPr>
        </p:nvSpPr>
        <p:spPr>
          <a:xfrm>
            <a:off x="762000" y="3298825"/>
            <a:ext cx="10401300" cy="2878455"/>
          </a:xfrm>
        </p:spPr>
        <p:txBody>
          <a:bodyPr>
            <a:normAutofit/>
          </a:bodyPr>
          <a:lstStyle>
            <a:lvl1pPr>
              <a:lnSpc>
                <a:spcPct val="150000"/>
              </a:lnSpc>
              <a:buClr>
                <a:srgbClr val="00E5FA"/>
              </a:buClr>
              <a:defRPr sz="2000">
                <a:solidFill>
                  <a:schemeClr val="bg1"/>
                </a:solidFill>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t>2026/9/6</a:t>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t>‹#›</a:t>
            </a:fld>
            <a:endParaRPr lang="en-US" altLang="zh-CN"/>
          </a:p>
        </p:txBody>
      </p:sp>
      <p:sp>
        <p:nvSpPr>
          <p:cNvPr id="8" name="AutoShape 5"/>
          <p:cNvSpPr/>
          <p:nvPr userDrawn="1"/>
        </p:nvSpPr>
        <p:spPr>
          <a:xfrm>
            <a:off x="762000" y="1422400"/>
            <a:ext cx="914400" cy="508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7" name="AutoShape 7"/>
          <p:cNvSpPr/>
          <p:nvPr userDrawn="1"/>
        </p:nvSpPr>
        <p:spPr>
          <a:xfrm>
            <a:off x="762000" y="1676400"/>
            <a:ext cx="10401300" cy="1422400"/>
          </a:xfrm>
          <a:prstGeom prst="snip2DiagRect">
            <a:avLst/>
          </a:prstGeom>
          <a:solidFill>
            <a:srgbClr val="00E5FF">
              <a:alpha val="15000"/>
            </a:srgbClr>
          </a:solidFill>
          <a:ln w="12700" cap="flat" cmpd="sng">
            <a:solidFill>
              <a:srgbClr val="00E5FF">
                <a:alpha val="100000"/>
              </a:srgbClr>
            </a:solidFill>
            <a:prstDash val="solid"/>
            <a:round/>
          </a:ln>
          <a:effectLst>
            <a:outerShdw blurRad="304800" dir="5400000" algn="ctr" rotWithShape="0">
              <a:srgbClr val="00E5FF">
                <a:alpha val="35000"/>
              </a:srgbClr>
            </a:outerShdw>
          </a:effectLst>
        </p:spPr>
        <p:txBody>
          <a:bodyPr vert="horz" wrap="square" lIns="63500" tIns="63500" rIns="63500" bIns="63500" rtlCol="0" anchor="ctr"/>
          <a:lstStyle/>
          <a:p>
            <a:pPr algn="ctr">
              <a:defRPr/>
            </a:pPr>
            <a:endParaRPr/>
          </a:p>
        </p:txBody>
      </p:sp>
      <p:sp>
        <p:nvSpPr>
          <p:cNvPr id="9" name="内容占位符 8"/>
          <p:cNvSpPr>
            <a:spLocks noGrp="1"/>
          </p:cNvSpPr>
          <p:nvPr>
            <p:ph idx="13" hasCustomPrompt="1"/>
          </p:nvPr>
        </p:nvSpPr>
        <p:spPr>
          <a:xfrm>
            <a:off x="762000" y="1678305"/>
            <a:ext cx="10401300" cy="1421130"/>
          </a:xfrm>
        </p:spPr>
        <p:txBody>
          <a:bodyPr anchor="ctr" anchorCtr="0"/>
          <a:lstStyle>
            <a:lvl1pPr marL="0" indent="0" algn="ctr">
              <a:buNone/>
              <a:defRPr b="1"/>
            </a:lvl1pPr>
          </a:lstStyle>
          <a:p>
            <a:pPr lvl="0"/>
            <a:r>
              <a:rPr lang="zh-CN" altLang="en-US"/>
              <a:t>插入定义文本</a:t>
            </a: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13" name="AutoShape 2"/>
          <p:cNvSpPr/>
          <p:nvPr userDrawn="1"/>
        </p:nvSpPr>
        <p:spPr>
          <a:xfrm>
            <a:off x="-2286000" y="-2032000"/>
            <a:ext cx="5588000" cy="5588000"/>
          </a:xfrm>
          <a:prstGeom prst="ellipse">
            <a:avLst/>
          </a:prstGeom>
          <a:gradFill rotWithShape="1">
            <a:gsLst>
              <a:gs pos="0">
                <a:srgbClr val="00E5FF">
                  <a:alpha val="18000"/>
                </a:srgbClr>
              </a:gs>
              <a:gs pos="70000">
                <a:srgbClr val="00E5FF">
                  <a:alpha val="0"/>
                </a:srgbClr>
              </a:gs>
            </a:gsLst>
            <a:path path="circle">
              <a:fillToRect l="50000" t="50000" r="50000" b="50000"/>
            </a:path>
            <a:tileRect/>
          </a:gradFill>
          <a:ln cap="flat" cmpd="sng">
            <a:gradFill rotWithShape="1">
              <a:gsLst>
                <a:gs pos="0">
                  <a:srgbClr val="00CEE6">
                    <a:alpha val="18000"/>
                  </a:srgbClr>
                </a:gs>
                <a:gs pos="70000">
                  <a:srgbClr val="00CEE6">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4" name="AutoShape 3"/>
          <p:cNvSpPr/>
          <p:nvPr userDrawn="1"/>
        </p:nvSpPr>
        <p:spPr>
          <a:xfrm>
            <a:off x="8890000" y="4318000"/>
            <a:ext cx="5334000" cy="5334000"/>
          </a:xfrm>
          <a:prstGeom prst="ellipse">
            <a:avLst/>
          </a:prstGeom>
          <a:gradFill rotWithShape="1">
            <a:gsLst>
              <a:gs pos="0">
                <a:srgbClr val="69F0AE">
                  <a:alpha val="14000"/>
                </a:srgbClr>
              </a:gs>
              <a:gs pos="70000">
                <a:srgbClr val="69F0AE">
                  <a:alpha val="0"/>
                </a:srgbClr>
              </a:gs>
            </a:gsLst>
            <a:path path="circle">
              <a:fillToRect l="50000" t="50000" r="50000" b="50000"/>
            </a:path>
            <a:tileRect/>
          </a:gradFill>
          <a:ln cap="flat" cmpd="sng">
            <a:gradFill rotWithShape="1">
              <a:gsLst>
                <a:gs pos="0">
                  <a:srgbClr val="48D691">
                    <a:alpha val="14000"/>
                  </a:srgbClr>
                </a:gs>
                <a:gs pos="70000">
                  <a:srgbClr val="48D691">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2" name="标题 1"/>
          <p:cNvSpPr>
            <a:spLocks noGrp="1"/>
          </p:cNvSpPr>
          <p:nvPr>
            <p:ph type="title" hasCustomPrompt="1"/>
          </p:nvPr>
        </p:nvSpPr>
        <p:spPr>
          <a:xfrm>
            <a:off x="762000" y="609600"/>
            <a:ext cx="10401300" cy="660400"/>
          </a:xfrm>
        </p:spPr>
        <p:txBody>
          <a:bodyPr anchor="ctr" anchorCtr="0">
            <a:normAutofit/>
          </a:bodyPr>
          <a:lstStyle>
            <a:lvl1pPr>
              <a:defRPr kumimoji="0" lang="en-US" sz="3600" b="1" i="0" u="none" strike="noStrike" kern="0" cap="none" spc="200" normalizeH="0" baseline="0" noProof="1">
                <a:solidFill>
                  <a:srgbClr val="FFFFFF"/>
                </a:solidFill>
                <a:effectLst>
                  <a:outerShdw blurRad="38100" dist="38100" dir="2700000" algn="tl">
                    <a:srgbClr val="000000">
                      <a:alpha val="43137"/>
                    </a:srgbClr>
                  </a:outerShdw>
                </a:effectLst>
                <a:latin typeface="Noto Sans SC"/>
                <a:ea typeface="Noto Sans SC"/>
                <a:cs typeface="Noto Sans SC"/>
                <a:sym typeface="Noto Sans SC"/>
              </a:defRPr>
            </a:lvl1pPr>
          </a:lstStyle>
          <a:p>
            <a:r>
              <a:rPr lang="zh-CN" altLang="en-US" dirty="0"/>
              <a:t>【思考与讨论】</a:t>
            </a:r>
          </a:p>
        </p:txBody>
      </p:sp>
      <p:sp>
        <p:nvSpPr>
          <p:cNvPr id="3" name="内容占位符 2"/>
          <p:cNvSpPr>
            <a:spLocks noGrp="1"/>
          </p:cNvSpPr>
          <p:nvPr>
            <p:ph idx="1" hasCustomPrompt="1"/>
          </p:nvPr>
        </p:nvSpPr>
        <p:spPr>
          <a:xfrm>
            <a:off x="762000" y="4382135"/>
            <a:ext cx="10401300" cy="761365"/>
          </a:xfrm>
        </p:spPr>
        <p:txBody>
          <a:bodyPr>
            <a:normAutofit/>
          </a:bodyPr>
          <a:lstStyle>
            <a:lvl1pPr marL="0" indent="0" algn="ctr">
              <a:lnSpc>
                <a:spcPct val="100000"/>
              </a:lnSpc>
              <a:buClr>
                <a:srgbClr val="00E5FA"/>
              </a:buClr>
              <a:buNone/>
              <a:defRPr kumimoji="0" lang="en-US" sz="2800" b="0" i="0" u="none" strike="noStrike" kern="0" cap="none" spc="300" normalizeH="0" baseline="0" noProof="1">
                <a:solidFill>
                  <a:srgbClr val="FFFFFF"/>
                </a:solidFill>
                <a:latin typeface="Noto Sans SC"/>
                <a:ea typeface="Noto Sans SC"/>
                <a:cs typeface="Noto Sans SC"/>
                <a:sym typeface="Noto Sans SC"/>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【提出一个开放性问题,引导学生思考】</a:t>
            </a:r>
          </a:p>
        </p:txBody>
      </p:sp>
      <p:sp>
        <p:nvSpPr>
          <p:cNvPr id="4" name="日期占位符 3"/>
          <p:cNvSpPr>
            <a:spLocks noGrp="1"/>
          </p:cNvSpPr>
          <p:nvPr>
            <p:ph type="dt" sz="half" idx="10"/>
          </p:nvPr>
        </p:nvSpPr>
        <p:spPr>
          <a:xfrm>
            <a:off x="8420100" y="6356350"/>
            <a:ext cx="2743200" cy="365125"/>
          </a:xfrm>
        </p:spPr>
        <p:txBody>
          <a:bodyPr/>
          <a:lstStyle>
            <a:lvl1pPr algn="r">
              <a:defRPr/>
            </a:lvl1pPr>
          </a:lstStyle>
          <a:p>
            <a:fld id="{760FBDFE-C587-4B4C-A407-44438C67B59E}" type="datetimeFigureOut">
              <a:rPr lang="zh-CN" altLang="en-US" smtClean="0"/>
              <a:t>2026/9/6</a:t>
            </a:fld>
            <a:endParaRPr lang="zh-CN" altLang="en-US"/>
          </a:p>
        </p:txBody>
      </p:sp>
      <p:sp>
        <p:nvSpPr>
          <p:cNvPr id="5" name="页脚占位符 4"/>
          <p:cNvSpPr>
            <a:spLocks noGrp="1"/>
          </p:cNvSpPr>
          <p:nvPr>
            <p:ph type="ftr" sz="quarter" idx="11"/>
          </p:nvPr>
        </p:nvSpPr>
        <p:spPr>
          <a:xfrm>
            <a:off x="3905250" y="6356350"/>
            <a:ext cx="4114800" cy="365125"/>
          </a:xfrm>
        </p:spPr>
        <p:txBody>
          <a:bodyPr/>
          <a:lstStyle/>
          <a:p>
            <a:endParaRPr lang="zh-CN" altLang="en-US"/>
          </a:p>
        </p:txBody>
      </p:sp>
      <p:sp>
        <p:nvSpPr>
          <p:cNvPr id="6" name="灯片编号占位符 5"/>
          <p:cNvSpPr>
            <a:spLocks noGrp="1"/>
          </p:cNvSpPr>
          <p:nvPr>
            <p:ph type="sldNum" sz="quarter" idx="12"/>
          </p:nvPr>
        </p:nvSpPr>
        <p:spPr>
          <a:xfrm>
            <a:off x="762000" y="6356350"/>
            <a:ext cx="2743200" cy="365125"/>
          </a:xfrm>
        </p:spPr>
        <p:txBody>
          <a:bodyPr/>
          <a:lstStyle>
            <a:lvl1pPr algn="l">
              <a:defRPr/>
            </a:lvl1pPr>
          </a:lstStyle>
          <a:p>
            <a:fld id="{49AE70B2-8BF9-45C0-BB95-33D1B9D3A854}" type="slidenum">
              <a:rPr lang="zh-CN" altLang="en-US" smtClean="0"/>
              <a:t>‹#›</a:t>
            </a:fld>
            <a:endParaRPr lang="en-US" altLang="zh-CN"/>
          </a:p>
        </p:txBody>
      </p:sp>
      <p:cxnSp>
        <p:nvCxnSpPr>
          <p:cNvPr id="16" name="Connector 16"/>
          <p:cNvCxnSpPr/>
          <p:nvPr userDrawn="1"/>
        </p:nvCxnSpPr>
        <p:spPr>
          <a:xfrm rot="-4092">
            <a:off x="762004" y="621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2" name="AutoShape 5"/>
          <p:cNvSpPr/>
          <p:nvPr userDrawn="1"/>
        </p:nvSpPr>
        <p:spPr>
          <a:xfrm>
            <a:off x="762000" y="1524000"/>
            <a:ext cx="10668000" cy="50800"/>
          </a:xfrm>
          <a:prstGeom prst="roundRect">
            <a:avLst>
              <a:gd name="adj" fmla="val 0"/>
            </a:avLst>
          </a:prstGeom>
          <a:gradFill rotWithShape="1">
            <a:gsLst>
              <a:gs pos="0">
                <a:srgbClr val="00E5FF">
                  <a:alpha val="0"/>
                </a:srgbClr>
              </a:gs>
              <a:gs pos="30000">
                <a:srgbClr val="00E5FF">
                  <a:alpha val="100000"/>
                </a:srgbClr>
              </a:gs>
              <a:gs pos="70000">
                <a:srgbClr val="00E5FF">
                  <a:alpha val="100000"/>
                </a:srgbClr>
              </a:gs>
              <a:gs pos="100000">
                <a:srgbClr val="00E5FF">
                  <a:alpha val="0"/>
                </a:srgbClr>
              </a:gs>
            </a:gsLst>
            <a:lin ang="0"/>
          </a:gradFill>
          <a:ln cap="flat" cmpd="sng">
            <a:gradFill rotWithShape="1">
              <a:gsLst>
                <a:gs pos="0">
                  <a:srgbClr val="00CEE6">
                    <a:alpha val="0"/>
                  </a:srgbClr>
                </a:gs>
                <a:gs pos="30000">
                  <a:srgbClr val="00CEE6">
                    <a:alpha val="100000"/>
                  </a:srgbClr>
                </a:gs>
                <a:gs pos="70000">
                  <a:srgbClr val="00CEE6">
                    <a:alpha val="100000"/>
                  </a:srgbClr>
                </a:gs>
                <a:gs pos="100000">
                  <a:srgbClr val="00CEE6">
                    <a:alpha val="0"/>
                  </a:srgbClr>
                </a:gs>
              </a:gsLst>
              <a:lin ang="0"/>
            </a:gradFill>
            <a:prstDash val="solid"/>
            <a:round/>
          </a:ln>
        </p:spPr>
        <p:txBody>
          <a:bodyPr vert="horz" wrap="square" lIns="63500" tIns="63500" rIns="63500" bIns="63500" rtlCol="0" anchor="ctr"/>
          <a:lstStyle/>
          <a:p>
            <a:pPr algn="ctr">
              <a:defRPr/>
            </a:pPr>
            <a:endParaRPr/>
          </a:p>
        </p:txBody>
      </p:sp>
      <p:sp>
        <p:nvSpPr>
          <p:cNvPr id="15" name="AutoShape 6"/>
          <p:cNvSpPr/>
          <p:nvPr userDrawn="1"/>
        </p:nvSpPr>
        <p:spPr>
          <a:xfrm>
            <a:off x="0" y="2032000"/>
            <a:ext cx="12192000" cy="2032000"/>
          </a:xfrm>
          <a:prstGeom prst="rect">
            <a:avLst/>
          </a:prstGeom>
          <a:noFill/>
          <a:ln w="12700" cap="flat" cmpd="sng">
            <a:noFill/>
            <a:prstDash val="solid"/>
            <a:round/>
          </a:ln>
          <a:effectLst>
            <a:outerShdw blurRad="571500" dir="5400000" algn="ctr" rotWithShape="0">
              <a:srgbClr val="69F0AE">
                <a:alpha val="55000"/>
              </a:srgbClr>
            </a:outerShdw>
          </a:effectLst>
        </p:spPr>
        <p:txBody>
          <a:bodyPr vert="horz" wrap="square" lIns="0" tIns="0" rIns="0" bIns="0" rtlCol="0" anchor="ctr" anchorCtr="0"/>
          <a:lstStyle/>
          <a:p>
            <a:pPr marL="0" indent="0" algn="ctr">
              <a:lnSpc>
                <a:spcPct val="92000"/>
              </a:lnSpc>
              <a:defRPr/>
            </a:pPr>
            <a:r>
              <a:rPr lang="en-US" sz="12000" b="1" i="0" u="none" strike="noStrike">
                <a:solidFill>
                  <a:srgbClr val="69F0AE"/>
                </a:solidFill>
                <a:latin typeface="Noto Sans SC"/>
                <a:ea typeface="Noto Sans SC"/>
                <a:cs typeface="Noto Sans SC"/>
                <a:sym typeface="Noto Sans SC"/>
              </a:rPr>
              <a:t>?</a:t>
            </a:r>
            <a:endParaRPr lang="en-US" sz="1100"/>
          </a:p>
        </p:txBody>
      </p:sp>
      <p:sp>
        <p:nvSpPr>
          <p:cNvPr id="19" name="内容占位符 18"/>
          <p:cNvSpPr>
            <a:spLocks noGrp="1"/>
          </p:cNvSpPr>
          <p:nvPr>
            <p:ph idx="13" hasCustomPrompt="1"/>
          </p:nvPr>
        </p:nvSpPr>
        <p:spPr>
          <a:xfrm>
            <a:off x="762000" y="5398135"/>
            <a:ext cx="10401300" cy="405765"/>
          </a:xfrm>
        </p:spPr>
        <p:txBody>
          <a:bodyPr>
            <a:normAutofit/>
          </a:bodyPr>
          <a:lstStyle>
            <a:lvl1pPr marL="0" indent="0" algn="ctr">
              <a:lnSpc>
                <a:spcPct val="100000"/>
              </a:lnSpc>
              <a:buClr>
                <a:srgbClr val="00E5FA"/>
              </a:buClr>
              <a:buNone/>
              <a:defRPr kumimoji="0" lang="en-US" sz="1800" b="0" i="0" u="none" strike="noStrike" kern="0" cap="none" spc="200" normalizeH="0" baseline="0" noProof="1">
                <a:solidFill>
                  <a:srgbClr val="C8C8D2">
                    <a:alpha val="74902"/>
                  </a:srgbClr>
                </a:solidFill>
                <a:latin typeface="Noto Sans SC"/>
                <a:ea typeface="Noto Sans SC"/>
                <a:cs typeface="Noto Sans SC"/>
                <a:sym typeface="Noto Sans SC"/>
              </a:defRPr>
            </a:lvl1pPr>
            <a:lvl2pPr>
              <a:lnSpc>
                <a:spcPct val="150000"/>
              </a:lnSpc>
              <a:buClr>
                <a:srgbClr val="00E5FA"/>
              </a:buClr>
              <a:defRPr sz="1800">
                <a:solidFill>
                  <a:schemeClr val="bg1"/>
                </a:solidFill>
              </a:defRPr>
            </a:lvl2pPr>
            <a:lvl3pPr>
              <a:lnSpc>
                <a:spcPct val="150000"/>
              </a:lnSpc>
              <a:buClr>
                <a:srgbClr val="00E5FA"/>
              </a:buClr>
              <a:defRPr sz="1600">
                <a:solidFill>
                  <a:schemeClr val="bg1"/>
                </a:solidFill>
              </a:defRPr>
            </a:lvl3pPr>
            <a:lvl4pPr>
              <a:lnSpc>
                <a:spcPct val="150000"/>
              </a:lnSpc>
              <a:buClr>
                <a:srgbClr val="00E5FA"/>
              </a:buClr>
              <a:defRPr sz="1600">
                <a:solidFill>
                  <a:schemeClr val="bg1"/>
                </a:solidFill>
              </a:defRPr>
            </a:lvl4pPr>
            <a:lvl5pPr>
              <a:lnSpc>
                <a:spcPct val="150000"/>
              </a:lnSpc>
              <a:buClr>
                <a:srgbClr val="00E5FA"/>
              </a:buClr>
              <a:defRPr sz="1600">
                <a:solidFill>
                  <a:schemeClr val="bg1"/>
                </a:solidFill>
              </a:defRPr>
            </a:lvl5pPr>
          </a:lstStyle>
          <a:p>
            <a:pPr lvl="0"/>
            <a:r>
              <a:rPr lang="zh-CN" altLang="en-US" dirty="0"/>
              <a:t>【提示:可以分组讨论 / 举手回答 / 课后思考】</a:t>
            </a: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2026/9/6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8635" y="508000"/>
            <a:ext cx="10847070" cy="661035"/>
          </a:xfrm>
        </p:spPr>
        <p:txBody>
          <a:bodyPr/>
          <a:lstStyle/>
          <a:p>
            <a:r>
              <a:rPr lang="zh-CN" altLang="en-US"/>
              <a:t>单击此处编辑母版标题样式</a:t>
            </a:r>
          </a:p>
        </p:txBody>
      </p:sp>
      <p:sp>
        <p:nvSpPr>
          <p:cNvPr id="3" name="文本占位符 2"/>
          <p:cNvSpPr>
            <a:spLocks noGrp="1"/>
          </p:cNvSpPr>
          <p:nvPr>
            <p:ph type="body" idx="1"/>
          </p:nvPr>
        </p:nvSpPr>
        <p:spPr>
          <a:xfrm>
            <a:off x="762635" y="1904365"/>
            <a:ext cx="5234940" cy="508635"/>
          </a:xfrm>
        </p:spPr>
        <p:txBody>
          <a:bodyPr anchor="b"/>
          <a:lstStyle>
            <a:lvl1pPr marL="0" indent="0">
              <a:buNone/>
              <a:defRPr kumimoji="0" lang="en-US" sz="2400" b="1" i="0" u="none" strike="noStrike" kern="1200" cap="none" spc="0" normalizeH="0" baseline="0" noProof="1">
                <a:solidFill>
                  <a:srgbClr val="00E5FF"/>
                </a:solidFill>
                <a:latin typeface="Noto Sans SC"/>
                <a:ea typeface="Noto Sans SC"/>
                <a:cs typeface="Noto Sans SC"/>
                <a:sym typeface="Noto Sans SC"/>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762635" y="2480310"/>
            <a:ext cx="5234940" cy="3709035"/>
          </a:xfrm>
        </p:spPr>
        <p:txBody>
          <a:bodyPr/>
          <a:lstStyle>
            <a:lvl1pPr>
              <a:lnSpc>
                <a:spcPct val="150000"/>
              </a:lnSpc>
              <a:buClr>
                <a:srgbClr val="00E5FF"/>
              </a:buClr>
              <a:defRPr/>
            </a:lvl1pPr>
            <a:lvl2pPr>
              <a:lnSpc>
                <a:spcPct val="150000"/>
              </a:lnSpc>
              <a:buClr>
                <a:srgbClr val="00E5FF"/>
              </a:buClr>
              <a:defRPr/>
            </a:lvl2pPr>
            <a:lvl3pPr>
              <a:lnSpc>
                <a:spcPct val="150000"/>
              </a:lnSpc>
              <a:buClr>
                <a:srgbClr val="00E5FF"/>
              </a:buClr>
              <a:defRPr/>
            </a:lvl3pPr>
            <a:lvl4pPr>
              <a:lnSpc>
                <a:spcPct val="150000"/>
              </a:lnSpc>
              <a:buClr>
                <a:srgbClr val="00E5FF"/>
              </a:buClr>
              <a:defRPr/>
            </a:lvl4pPr>
            <a:lvl5pPr>
              <a:lnSpc>
                <a:spcPct val="150000"/>
              </a:lnSpc>
              <a:buClr>
                <a:srgbClr val="00E5FF"/>
              </a:buClr>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604635" y="1903730"/>
            <a:ext cx="5079365" cy="509905"/>
          </a:xfrm>
        </p:spPr>
        <p:txBody>
          <a:bodyPr anchor="b"/>
          <a:lstStyle>
            <a:lvl1pPr marL="0" indent="0">
              <a:buNone/>
              <a:defRPr kumimoji="0" lang="en-US" sz="2400" b="1" i="0" u="none" strike="noStrike" kern="0" cap="none" spc="0" normalizeH="0" baseline="0" noProof="1">
                <a:solidFill>
                  <a:srgbClr val="B388FF"/>
                </a:solidFill>
                <a:latin typeface="Noto Sans SC"/>
                <a:ea typeface="Noto Sans SC"/>
                <a:cs typeface="Noto Sans SC"/>
                <a:sym typeface="Noto Sans SC"/>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604635" y="2480310"/>
            <a:ext cx="5078730" cy="3709035"/>
          </a:xfrm>
        </p:spPr>
        <p:txBody>
          <a:bodyPr/>
          <a:lstStyle>
            <a:lvl1pPr>
              <a:lnSpc>
                <a:spcPct val="150000"/>
              </a:lnSpc>
              <a:buClr>
                <a:srgbClr val="B388FF"/>
              </a:buClr>
              <a:defRPr/>
            </a:lvl1pPr>
            <a:lvl2pPr>
              <a:lnSpc>
                <a:spcPct val="150000"/>
              </a:lnSpc>
              <a:buClr>
                <a:srgbClr val="B388FF"/>
              </a:buClr>
              <a:defRPr/>
            </a:lvl2pPr>
            <a:lvl3pPr>
              <a:lnSpc>
                <a:spcPct val="150000"/>
              </a:lnSpc>
              <a:buClr>
                <a:srgbClr val="B388FF"/>
              </a:buClr>
              <a:defRPr/>
            </a:lvl3pPr>
            <a:lvl4pPr>
              <a:lnSpc>
                <a:spcPct val="150000"/>
              </a:lnSpc>
              <a:buClr>
                <a:srgbClr val="B388FF"/>
              </a:buClr>
              <a:defRPr/>
            </a:lvl4pPr>
            <a:lvl5pPr>
              <a:lnSpc>
                <a:spcPct val="150000"/>
              </a:lnSpc>
              <a:buClr>
                <a:srgbClr val="B388FF"/>
              </a:buClr>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AutoShape 2"/>
          <p:cNvSpPr/>
          <p:nvPr userDrawn="1"/>
        </p:nvSpPr>
        <p:spPr>
          <a:xfrm>
            <a:off x="-2286000" y="-2286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1" name="AutoShape 3"/>
          <p:cNvSpPr/>
          <p:nvPr userDrawn="1"/>
        </p:nvSpPr>
        <p:spPr>
          <a:xfrm>
            <a:off x="9398000" y="4318000"/>
            <a:ext cx="4826000" cy="4826000"/>
          </a:xfrm>
          <a:prstGeom prst="ellipse">
            <a:avLst/>
          </a:prstGeom>
          <a:gradFill rotWithShape="1">
            <a:gsLst>
              <a:gs pos="0">
                <a:srgbClr val="B388FF">
                  <a:alpha val="10000"/>
                </a:srgbClr>
              </a:gs>
              <a:gs pos="70000">
                <a:srgbClr val="B388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2" name="AutoShape 11"/>
          <p:cNvSpPr/>
          <p:nvPr userDrawn="1"/>
        </p:nvSpPr>
        <p:spPr>
          <a:xfrm>
            <a:off x="762000" y="5740400"/>
            <a:ext cx="482600" cy="482600"/>
          </a:xfrm>
          <a:prstGeom prst="ellipse">
            <a:avLst/>
          </a:prstGeom>
          <a:solidFill>
            <a:srgbClr val="00E5FF">
              <a:alpha val="0"/>
            </a:srgbClr>
          </a:solidFill>
          <a:ln w="25400" cap="flat" cmpd="sng">
            <a:solidFill>
              <a:srgbClr val="00E5FF">
                <a:alpha val="55000"/>
              </a:srgbClr>
            </a:solidFill>
            <a:prstDash val="solid"/>
            <a:round/>
          </a:ln>
        </p:spPr>
        <p:txBody>
          <a:bodyPr vert="horz" wrap="square" lIns="63500" tIns="63500" rIns="63500" bIns="63500" rtlCol="0" anchor="ctr"/>
          <a:lstStyle/>
          <a:p>
            <a:pPr algn="ctr">
              <a:defRPr/>
            </a:pPr>
            <a:endParaRPr/>
          </a:p>
        </p:txBody>
      </p:sp>
      <p:sp>
        <p:nvSpPr>
          <p:cNvPr id="13" name="AutoShape 12"/>
          <p:cNvSpPr/>
          <p:nvPr userDrawn="1"/>
        </p:nvSpPr>
        <p:spPr>
          <a:xfrm>
            <a:off x="1397000" y="5740400"/>
            <a:ext cx="279400" cy="279400"/>
          </a:xfrm>
          <a:prstGeom prst="ellipse">
            <a:avLst/>
          </a:prstGeom>
          <a:solidFill>
            <a:srgbClr val="00E5FF">
              <a:alpha val="18000"/>
            </a:srgbClr>
          </a:solidFill>
          <a:ln w="12700" cap="flat" cmpd="sng">
            <a:solidFill>
              <a:srgbClr val="00E5FF">
                <a:alpha val="35000"/>
              </a:srgbClr>
            </a:solidFill>
            <a:prstDash val="solid"/>
            <a:round/>
          </a:ln>
        </p:spPr>
        <p:txBody>
          <a:bodyPr vert="horz" wrap="square" lIns="63500" tIns="63500" rIns="63500" bIns="63500" rtlCol="0" anchor="ctr"/>
          <a:lstStyle/>
          <a:p>
            <a:pPr algn="ctr">
              <a:defRPr/>
            </a:pPr>
            <a:endParaRPr/>
          </a:p>
        </p:txBody>
      </p:sp>
      <p:sp>
        <p:nvSpPr>
          <p:cNvPr id="17" name="AutoShape 17"/>
          <p:cNvSpPr/>
          <p:nvPr userDrawn="1"/>
        </p:nvSpPr>
        <p:spPr>
          <a:xfrm rot="2700000">
            <a:off x="6604000" y="5740400"/>
            <a:ext cx="431800" cy="431800"/>
          </a:xfrm>
          <a:prstGeom prst="roundRect">
            <a:avLst>
              <a:gd name="adj" fmla="val 0"/>
            </a:avLst>
          </a:prstGeom>
          <a:solidFill>
            <a:srgbClr val="B388FF">
              <a:alpha val="0"/>
            </a:srgbClr>
          </a:solidFill>
          <a:ln w="25400" cap="flat" cmpd="sng">
            <a:solidFill>
              <a:srgbClr val="B388FF">
                <a:alpha val="55000"/>
              </a:srgbClr>
            </a:solidFill>
            <a:prstDash val="solid"/>
            <a:round/>
          </a:ln>
        </p:spPr>
        <p:txBody>
          <a:bodyPr vert="horz" wrap="square" lIns="63500" tIns="63500" rIns="63500" bIns="63500" rtlCol="0" anchor="ctr"/>
          <a:lstStyle/>
          <a:p>
            <a:pPr algn="ctr">
              <a:defRPr/>
            </a:pPr>
            <a:endParaRPr/>
          </a:p>
        </p:txBody>
      </p:sp>
      <p:sp>
        <p:nvSpPr>
          <p:cNvPr id="18" name="AutoShape 18"/>
          <p:cNvSpPr/>
          <p:nvPr userDrawn="1"/>
        </p:nvSpPr>
        <p:spPr>
          <a:xfrm rot="2700000">
            <a:off x="7264400" y="5816600"/>
            <a:ext cx="279400" cy="279400"/>
          </a:xfrm>
          <a:prstGeom prst="roundRect">
            <a:avLst>
              <a:gd name="adj" fmla="val 0"/>
            </a:avLst>
          </a:prstGeom>
          <a:solidFill>
            <a:srgbClr val="B388FF">
              <a:alpha val="18000"/>
            </a:srgbClr>
          </a:solidFill>
          <a:ln w="12700" cap="flat" cmpd="sng">
            <a:solidFill>
              <a:srgbClr val="B388FF">
                <a:alpha val="35000"/>
              </a:srgbClr>
            </a:solidFill>
            <a:prstDash val="solid"/>
            <a:round/>
          </a:ln>
        </p:spPr>
        <p:txBody>
          <a:bodyPr vert="horz" wrap="square" lIns="63500" tIns="63500" rIns="63500" bIns="63500" rtlCol="0" anchor="ctr"/>
          <a:lstStyle/>
          <a:p>
            <a:pPr algn="ctr">
              <a:defRPr/>
            </a:pPr>
            <a:endParaRPr/>
          </a:p>
        </p:txBody>
      </p:sp>
      <p:cxnSp>
        <p:nvCxnSpPr>
          <p:cNvPr id="15" name="Connector 6"/>
          <p:cNvCxnSpPr/>
          <p:nvPr userDrawn="1"/>
        </p:nvCxnSpPr>
        <p:spPr>
          <a:xfrm rot="5388540">
            <a:off x="4191000" y="3676661"/>
            <a:ext cx="3810000" cy="12700"/>
          </a:xfrm>
          <a:prstGeom prst="straightConnector1">
            <a:avLst/>
          </a:prstGeom>
          <a:solidFill>
            <a:srgbClr val="DEE0E3">
              <a:alpha val="100000"/>
            </a:srgbClr>
          </a:solidFill>
          <a:ln w="12700" cap="flat" cmpd="sng">
            <a:solidFill>
              <a:srgbClr val="FFFFFF">
                <a:alpha val="18000"/>
              </a:srgbClr>
            </a:solidFill>
            <a:prstDash val="solid"/>
            <a:round/>
            <a:headEnd type="none" w="med" len="med"/>
            <a:tailEnd type="none" w="med" len="med"/>
          </a:ln>
        </p:spPr>
      </p:cxnSp>
      <p:sp>
        <p:nvSpPr>
          <p:cNvPr id="19" name="AutoShape 5"/>
          <p:cNvSpPr/>
          <p:nvPr userDrawn="1"/>
        </p:nvSpPr>
        <p:spPr>
          <a:xfrm>
            <a:off x="508000" y="1295400"/>
            <a:ext cx="11176000" cy="50800"/>
          </a:xfrm>
          <a:prstGeom prst="roundRect">
            <a:avLst>
              <a:gd name="adj" fmla="val 0"/>
            </a:avLst>
          </a:prstGeom>
          <a:gradFill rotWithShape="1">
            <a:gsLst>
              <a:gs pos="0">
                <a:srgbClr val="00E5FF">
                  <a:alpha val="100000"/>
                </a:srgbClr>
              </a:gs>
              <a:gs pos="45000">
                <a:srgbClr val="00E5FF">
                  <a:alpha val="35000"/>
                </a:srgbClr>
              </a:gs>
              <a:gs pos="100000">
                <a:srgbClr val="00E5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3" name="灯片编号占位符 22"/>
          <p:cNvSpPr>
            <a:spLocks noGrp="1"/>
          </p:cNvSpPr>
          <p:nvPr>
            <p:ph type="sldNum" sz="quarter" idx="12"/>
          </p:nvPr>
        </p:nvSpPr>
        <p:spPr>
          <a:xfrm>
            <a:off x="4724400" y="6356350"/>
            <a:ext cx="2743200" cy="365125"/>
          </a:xfrm>
        </p:spPr>
        <p:txBody>
          <a:bodyPr/>
          <a:lstStyle>
            <a:lvl1pPr algn="ctr">
              <a:defRPr/>
            </a:lvl1pPr>
          </a:lstStyle>
          <a:p>
            <a:fld id="{49AE70B2-8BF9-45C0-BB95-33D1B9D3A854}" type="slidenum">
              <a:rPr lang="zh-CN" altLang="en-US" smtClean="0"/>
              <a:t>‹#›</a:t>
            </a:fld>
            <a:endParaRPr lang="en-US" altLang="zh-CN"/>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508635" y="508000"/>
            <a:ext cx="10847070" cy="661035"/>
          </a:xfrm>
        </p:spPr>
        <p:txBody>
          <a:bodyPr/>
          <a:lstStyle/>
          <a:p>
            <a:r>
              <a:rPr lang="zh-CN" altLang="en-US"/>
              <a:t>单击此处编辑母版标题样式</a:t>
            </a:r>
          </a:p>
        </p:txBody>
      </p:sp>
      <p:sp>
        <p:nvSpPr>
          <p:cNvPr id="10" name="AutoShape 2"/>
          <p:cNvSpPr/>
          <p:nvPr userDrawn="1"/>
        </p:nvSpPr>
        <p:spPr>
          <a:xfrm>
            <a:off x="-2286000" y="-2286000"/>
            <a:ext cx="4826000" cy="4826000"/>
          </a:xfrm>
          <a:prstGeom prst="ellipse">
            <a:avLst/>
          </a:prstGeom>
          <a:gradFill rotWithShape="1">
            <a:gsLst>
              <a:gs pos="0">
                <a:srgbClr val="00E5FF">
                  <a:alpha val="10000"/>
                </a:srgbClr>
              </a:gs>
              <a:gs pos="70000">
                <a:srgbClr val="00E5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1" name="AutoShape 3"/>
          <p:cNvSpPr/>
          <p:nvPr userDrawn="1"/>
        </p:nvSpPr>
        <p:spPr>
          <a:xfrm>
            <a:off x="9398000" y="4318000"/>
            <a:ext cx="4826000" cy="4826000"/>
          </a:xfrm>
          <a:prstGeom prst="ellipse">
            <a:avLst/>
          </a:prstGeom>
          <a:gradFill rotWithShape="1">
            <a:gsLst>
              <a:gs pos="0">
                <a:srgbClr val="B388FF">
                  <a:alpha val="10000"/>
                </a:srgbClr>
              </a:gs>
              <a:gs pos="70000">
                <a:srgbClr val="B388FF">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endParaRPr/>
          </a:p>
        </p:txBody>
      </p:sp>
      <p:sp>
        <p:nvSpPr>
          <p:cNvPr id="19" name="AutoShape 5"/>
          <p:cNvSpPr/>
          <p:nvPr userDrawn="1"/>
        </p:nvSpPr>
        <p:spPr>
          <a:xfrm>
            <a:off x="508000" y="1295400"/>
            <a:ext cx="11176000" cy="50800"/>
          </a:xfrm>
          <a:prstGeom prst="roundRect">
            <a:avLst>
              <a:gd name="adj" fmla="val 0"/>
            </a:avLst>
          </a:prstGeom>
          <a:gradFill rotWithShape="1">
            <a:gsLst>
              <a:gs pos="0">
                <a:srgbClr val="00E5FF">
                  <a:alpha val="100000"/>
                </a:srgbClr>
              </a:gs>
              <a:gs pos="45000">
                <a:srgbClr val="00E5FF">
                  <a:alpha val="35000"/>
                </a:srgbClr>
              </a:gs>
              <a:gs pos="100000">
                <a:srgbClr val="00E5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3" name="灯片编号占位符 22"/>
          <p:cNvSpPr>
            <a:spLocks noGrp="1"/>
          </p:cNvSpPr>
          <p:nvPr>
            <p:ph type="sldNum" sz="quarter" idx="12"/>
          </p:nvPr>
        </p:nvSpPr>
        <p:spPr>
          <a:xfrm>
            <a:off x="4724400" y="6356350"/>
            <a:ext cx="2743200" cy="365125"/>
          </a:xfrm>
        </p:spPr>
        <p:txBody>
          <a:bodyPr/>
          <a:lstStyle>
            <a:lvl1pPr algn="ctr">
              <a:defRPr/>
            </a:lvl1pPr>
          </a:lstStyle>
          <a:p>
            <a:fld id="{49AE70B2-8BF9-45C0-BB95-33D1B9D3A854}" type="slidenum">
              <a:rPr lang="zh-CN" altLang="en-US" smtClean="0"/>
              <a:t>‹#›</a:t>
            </a:fld>
            <a:endParaRPr lang="en-US" altLang="zh-CN"/>
          </a:p>
        </p:txBody>
      </p:sp>
      <p:cxnSp>
        <p:nvCxnSpPr>
          <p:cNvPr id="7" name="Connector 7"/>
          <p:cNvCxnSpPr/>
          <p:nvPr userDrawn="1"/>
        </p:nvCxnSpPr>
        <p:spPr>
          <a:xfrm rot="5388145">
            <a:off x="2374900" y="3867161"/>
            <a:ext cx="3683000" cy="12700"/>
          </a:xfrm>
          <a:prstGeom prst="straightConnector1">
            <a:avLst/>
          </a:prstGeom>
          <a:solidFill>
            <a:srgbClr val="DEE0E3">
              <a:alpha val="100000"/>
            </a:srgbClr>
          </a:solidFill>
          <a:ln w="12700" cap="flat" cmpd="sng">
            <a:solidFill>
              <a:srgbClr val="FFFFFF">
                <a:alpha val="12000"/>
              </a:srgbClr>
            </a:solidFill>
            <a:prstDash val="solid"/>
            <a:round/>
            <a:headEnd type="none" w="med" len="med"/>
            <a:tailEnd type="none" w="med" len="med"/>
          </a:ln>
        </p:spPr>
      </p:cxnSp>
      <p:cxnSp>
        <p:nvCxnSpPr>
          <p:cNvPr id="8" name="Connector 8"/>
          <p:cNvCxnSpPr/>
          <p:nvPr userDrawn="1"/>
        </p:nvCxnSpPr>
        <p:spPr>
          <a:xfrm rot="5388145">
            <a:off x="6134100" y="3867161"/>
            <a:ext cx="3683000" cy="12700"/>
          </a:xfrm>
          <a:prstGeom prst="straightConnector1">
            <a:avLst/>
          </a:prstGeom>
          <a:solidFill>
            <a:srgbClr val="DEE0E3">
              <a:alpha val="100000"/>
            </a:srgbClr>
          </a:solidFill>
          <a:ln w="12700" cap="flat" cmpd="sng">
            <a:solidFill>
              <a:srgbClr val="FFFFFF">
                <a:alpha val="12000"/>
              </a:srgbClr>
            </a:solidFill>
            <a:prstDash val="solid"/>
            <a:round/>
            <a:headEnd type="none" w="med" len="med"/>
            <a:tailEnd type="none" w="med" len="med"/>
          </a:ln>
        </p:spPr>
      </p:cxn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588635" y="1651635"/>
            <a:ext cx="5967730" cy="2440305"/>
          </a:xfrm>
        </p:spPr>
        <p:txBody>
          <a:bodyPr anchor="b" anchorCtr="0">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2026/9/6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12" name="AutoShape 2"/>
          <p:cNvSpPr/>
          <p:nvPr userDrawn="1"/>
        </p:nvSpPr>
        <p:spPr>
          <a:xfrm>
            <a:off x="7112000" y="3048000"/>
            <a:ext cx="7874000" cy="7874000"/>
          </a:xfrm>
          <a:prstGeom prst="ellipse">
            <a:avLst/>
          </a:prstGeom>
          <a:gradFill rotWithShape="1">
            <a:gsLst>
              <a:gs pos="0">
                <a:srgbClr val="00E5FF">
                  <a:alpha val="22000"/>
                </a:srgbClr>
              </a:gs>
              <a:gs pos="28000">
                <a:srgbClr val="B388FF">
                  <a:alpha val="12000"/>
                </a:srgbClr>
              </a:gs>
              <a:gs pos="65000">
                <a:srgbClr val="121212">
                  <a:alpha val="0"/>
                </a:srgbClr>
              </a:gs>
            </a:gsLst>
            <a:path path="circle">
              <a:fillToRect l="50000" t="50000" r="50000" b="50000"/>
            </a:path>
            <a:tileRect/>
          </a:gradFill>
          <a:ln cap="flat" cmpd="sng">
            <a:gradFill rotWithShape="1">
              <a:gsLst>
                <a:gs pos="0">
                  <a:srgbClr val="00CEE6">
                    <a:alpha val="22000"/>
                  </a:srgbClr>
                </a:gs>
                <a:gs pos="28000">
                  <a:srgbClr val="9263E6">
                    <a:alpha val="12000"/>
                  </a:srgbClr>
                </a:gs>
                <a:gs pos="65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3" name="AutoShape 3"/>
          <p:cNvSpPr/>
          <p:nvPr userDrawn="1"/>
        </p:nvSpPr>
        <p:spPr>
          <a:xfrm>
            <a:off x="5588000" y="4572000"/>
            <a:ext cx="6350000" cy="6350000"/>
          </a:xfrm>
          <a:prstGeom prst="ellipse">
            <a:avLst/>
          </a:prstGeom>
          <a:gradFill rotWithShape="1">
            <a:gsLst>
              <a:gs pos="0">
                <a:srgbClr val="B388FF">
                  <a:alpha val="18000"/>
                </a:srgbClr>
              </a:gs>
              <a:gs pos="60000">
                <a:srgbClr val="121212">
                  <a:alpha val="0"/>
                </a:srgbClr>
              </a:gs>
            </a:gsLst>
            <a:path path="circle">
              <a:fillToRect l="50000" t="50000" r="50000" b="50000"/>
            </a:path>
            <a:tileRect/>
          </a:gradFill>
          <a:ln cap="flat" cmpd="sng">
            <a:gradFill rotWithShape="1">
              <a:gsLst>
                <a:gs pos="0">
                  <a:srgbClr val="9263E6">
                    <a:alpha val="18000"/>
                  </a:srgbClr>
                </a:gs>
                <a:gs pos="60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14" name="AutoShape 4"/>
          <p:cNvSpPr/>
          <p:nvPr userDrawn="1"/>
        </p:nvSpPr>
        <p:spPr>
          <a:xfrm>
            <a:off x="889000" y="1905000"/>
            <a:ext cx="4826000" cy="2794000"/>
          </a:xfrm>
          <a:prstGeom prst="rect">
            <a:avLst/>
          </a:prstGeom>
          <a:noFill/>
          <a:ln w="12700" cap="flat" cmpd="sng">
            <a:noFill/>
            <a:prstDash val="solid"/>
            <a:round/>
          </a:ln>
        </p:spPr>
        <p:txBody>
          <a:bodyPr vert="horz" wrap="square" lIns="0" tIns="0" rIns="0" bIns="0" rtlCol="0" anchor="ctr" anchorCtr="0"/>
          <a:lstStyle/>
          <a:p>
            <a:pPr marL="0" indent="0" algn="ctr">
              <a:lnSpc>
                <a:spcPct val="92000"/>
              </a:lnSpc>
              <a:defRPr/>
            </a:pPr>
            <a:r>
              <a:rPr lang="en-US" sz="16000" b="1" i="0" u="none" strike="noStrike" spc="600">
                <a:solidFill>
                  <a:schemeClr val="bg1">
                    <a:lumMod val="75000"/>
                  </a:schemeClr>
                </a:solidFill>
                <a:latin typeface="Poppins"/>
                <a:ea typeface="Poppins"/>
                <a:cs typeface="Poppins"/>
                <a:sym typeface="Poppins"/>
              </a:rPr>
              <a:t>01</a:t>
            </a:r>
          </a:p>
        </p:txBody>
      </p:sp>
      <p:sp>
        <p:nvSpPr>
          <p:cNvPr id="16" name="AutoShape 6"/>
          <p:cNvSpPr/>
          <p:nvPr userDrawn="1"/>
        </p:nvSpPr>
        <p:spPr>
          <a:xfrm>
            <a:off x="6350000" y="3784600"/>
            <a:ext cx="762000" cy="38100"/>
          </a:xfrm>
          <a:prstGeom prst="roundRect">
            <a:avLst>
              <a:gd name="adj" fmla="val 0"/>
            </a:avLst>
          </a:prstGeom>
          <a:gradFill rotWithShape="1">
            <a:gsLst>
              <a:gs pos="0">
                <a:srgbClr val="00E5FF">
                  <a:alpha val="100000"/>
                </a:srgbClr>
              </a:gs>
              <a:gs pos="100000">
                <a:srgbClr val="B388FF">
                  <a:alpha val="100000"/>
                </a:srgbClr>
              </a:gs>
            </a:gsLst>
            <a:lin ang="0"/>
          </a:gradFill>
          <a:ln cap="flat" cmpd="sng">
            <a:gradFill rotWithShape="1">
              <a:gsLst>
                <a:gs pos="0">
                  <a:srgbClr val="00CEE6">
                    <a:alpha val="100000"/>
                  </a:srgbClr>
                </a:gs>
                <a:gs pos="100000">
                  <a:srgbClr val="9263E6">
                    <a:alpha val="100000"/>
                  </a:srgbClr>
                </a:gs>
              </a:gsLst>
              <a:lin ang="0"/>
            </a:gradFill>
            <a:prstDash val="solid"/>
            <a:round/>
          </a:ln>
        </p:spPr>
        <p:txBody>
          <a:bodyPr vert="horz" wrap="square" lIns="63500" tIns="63500" rIns="63500" bIns="63500" rtlCol="0" anchor="ctr"/>
          <a:lstStyle/>
          <a:p>
            <a:pPr algn="ctr">
              <a:defRPr/>
            </a:pPr>
            <a:endParaRPr/>
          </a:p>
        </p:txBody>
      </p:sp>
      <p:sp>
        <p:nvSpPr>
          <p:cNvPr id="17" name="AutoShape 7"/>
          <p:cNvSpPr/>
          <p:nvPr userDrawn="1"/>
        </p:nvSpPr>
        <p:spPr>
          <a:xfrm>
            <a:off x="6350000" y="4064000"/>
            <a:ext cx="520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000" b="0" i="0" u="none" strike="noStrike" spc="300">
                <a:solidFill>
                  <a:srgbClr val="B4B4BE"/>
                </a:solidFill>
                <a:latin typeface="Noto Sans SC"/>
                <a:ea typeface="Noto Sans SC"/>
                <a:cs typeface="Noto Sans SC"/>
                <a:sym typeface="Noto Sans SC"/>
              </a:rPr>
              <a:t>【章节副标题 / 引言】</a:t>
            </a:r>
            <a:endParaRPr lang="en-US" sz="110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2026/9/6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2026/9/6</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2026/9/6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AutoShape 2"/>
          <p:cNvSpPr/>
          <p:nvPr userDrawn="1"/>
        </p:nvSpPr>
        <p:spPr>
          <a:xfrm>
            <a:off x="-2286000" y="-2286000"/>
            <a:ext cx="16764000" cy="9144000"/>
          </a:xfrm>
          <a:prstGeom prst="ellipse">
            <a:avLst/>
          </a:prstGeom>
          <a:gradFill rotWithShape="1">
            <a:gsLst>
              <a:gs pos="0">
                <a:srgbClr val="38BDF8">
                  <a:alpha val="22000"/>
                </a:srgbClr>
              </a:gs>
              <a:gs pos="22000">
                <a:srgbClr val="A855F7">
                  <a:alpha val="14000"/>
                </a:srgbClr>
              </a:gs>
              <a:gs pos="62000">
                <a:srgbClr val="121212">
                  <a:alpha val="0"/>
                </a:srgbClr>
              </a:gs>
            </a:gsLst>
            <a:path path="circle">
              <a:fillToRect l="50000" t="50000" r="50000" b="50000"/>
            </a:path>
            <a:tileRect/>
          </a:gradFill>
          <a:ln cap="flat" cmpd="sng">
            <a:gradFill rotWithShape="1">
              <a:gsLst>
                <a:gs pos="0">
                  <a:srgbClr val="1CA3DF">
                    <a:alpha val="22000"/>
                  </a:srgbClr>
                </a:gs>
                <a:gs pos="22000">
                  <a:srgbClr val="8C36DE">
                    <a:alpha val="14000"/>
                  </a:srgbClr>
                </a:gs>
                <a:gs pos="62000">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7" name="AutoShape 3"/>
          <p:cNvSpPr/>
          <p:nvPr userDrawn="1"/>
        </p:nvSpPr>
        <p:spPr>
          <a:xfrm>
            <a:off x="-1778000" y="-1524000"/>
            <a:ext cx="15748000" cy="7874000"/>
          </a:xfrm>
          <a:prstGeom prst="ellipse">
            <a:avLst/>
          </a:prstGeom>
          <a:gradFill rotWithShape="1">
            <a:gsLst>
              <a:gs pos="0">
                <a:srgbClr val="A855F7">
                  <a:alpha val="18000"/>
                </a:srgbClr>
              </a:gs>
              <a:gs pos="20000">
                <a:srgbClr val="38BDF8">
                  <a:alpha val="8000"/>
                </a:srgbClr>
              </a:gs>
              <a:gs pos="57999">
                <a:srgbClr val="121212">
                  <a:alpha val="0"/>
                </a:srgbClr>
              </a:gs>
            </a:gsLst>
            <a:path path="circle">
              <a:fillToRect l="50000" t="50000" r="50000" b="50000"/>
            </a:path>
            <a:tileRect/>
          </a:gradFill>
          <a:ln cap="flat" cmpd="sng">
            <a:gradFill rotWithShape="1">
              <a:gsLst>
                <a:gs pos="0">
                  <a:srgbClr val="8C36DE">
                    <a:alpha val="18000"/>
                  </a:srgbClr>
                </a:gs>
                <a:gs pos="20000">
                  <a:srgbClr val="1CA3DF">
                    <a:alpha val="8000"/>
                  </a:srgbClr>
                </a:gs>
                <a:gs pos="57999">
                  <a:srgbClr val="000000">
                    <a:alpha val="0"/>
                  </a:srgbClr>
                </a:gs>
              </a:gsLst>
              <a:path path="circle">
                <a:fillToRect l="50000" t="50000" r="50000" b="50000"/>
              </a:path>
              <a:tileRect/>
            </a:gradFill>
            <a:prstDash val="solid"/>
            <a:round/>
          </a:ln>
        </p:spPr>
        <p:txBody>
          <a:bodyPr vert="horz" wrap="square" lIns="63500" tIns="63500" rIns="63500" bIns="63500" rtlCol="0" anchor="ctr"/>
          <a:lstStyle/>
          <a:p>
            <a:pPr algn="ctr">
              <a:defRPr/>
            </a:pPr>
            <a:endParaRPr/>
          </a:p>
        </p:txBody>
      </p:sp>
      <p:sp>
        <p:nvSpPr>
          <p:cNvPr id="3" name="日期占位符 2"/>
          <p:cNvSpPr>
            <a:spLocks noGrp="1"/>
          </p:cNvSpPr>
          <p:nvPr>
            <p:ph type="dt" sz="half" idx="10"/>
          </p:nvPr>
        </p:nvSpPr>
        <p:spPr/>
        <p:txBody>
          <a:bodyPr/>
          <a:lstStyle/>
          <a:p>
            <a:fld id="{760FBDFE-C587-4B4C-A407-44438C67B59E}" type="datetimeFigureOut">
              <a:rPr lang="zh-CN" altLang="en-US" smtClean="0"/>
              <a:t>2026/9/6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8" name="AutoShape 4"/>
          <p:cNvSpPr/>
          <p:nvPr userDrawn="1"/>
        </p:nvSpPr>
        <p:spPr>
          <a:xfrm>
            <a:off x="762000" y="1778000"/>
            <a:ext cx="10668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7200" b="1" i="0" u="none" strike="noStrike" spc="1200">
                <a:solidFill>
                  <a:srgbClr val="FFFFFF"/>
                </a:solidFill>
                <a:latin typeface="Noto Sans SC"/>
                <a:ea typeface="Noto Sans SC"/>
                <a:cs typeface="Noto Sans SC"/>
                <a:sym typeface="Noto Sans SC"/>
              </a:rPr>
              <a:t>谢谢聆听</a:t>
            </a:r>
            <a:endParaRPr lang="en-US" sz="1100"/>
          </a:p>
        </p:txBody>
      </p:sp>
      <p:sp>
        <p:nvSpPr>
          <p:cNvPr id="9" name="AutoShape 5"/>
          <p:cNvSpPr/>
          <p:nvPr userDrawn="1"/>
        </p:nvSpPr>
        <p:spPr>
          <a:xfrm>
            <a:off x="762000" y="3530600"/>
            <a:ext cx="10668000" cy="5842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2800" b="0" i="0" u="none" strike="noStrike" spc="800">
                <a:solidFill>
                  <a:srgbClr val="E5E7EB">
                    <a:alpha val="87843"/>
                  </a:srgbClr>
                </a:solidFill>
                <a:latin typeface="Noto Sans SC"/>
                <a:ea typeface="Noto Sans SC"/>
                <a:cs typeface="Noto Sans SC"/>
                <a:sym typeface="Noto Sans SC"/>
              </a:rPr>
              <a:t>【Q &amp; A / 提问交流环节】</a:t>
            </a:r>
            <a:endParaRPr lang="en-US" sz="1100"/>
          </a:p>
        </p:txBody>
      </p:sp>
      <p:cxnSp>
        <p:nvCxnSpPr>
          <p:cNvPr id="10" name="Connector 6"/>
          <p:cNvCxnSpPr/>
          <p:nvPr userDrawn="1"/>
        </p:nvCxnSpPr>
        <p:spPr>
          <a:xfrm rot="-57290">
            <a:off x="5715053" y="4565650"/>
            <a:ext cx="762000" cy="12700"/>
          </a:xfrm>
          <a:prstGeom prst="straightConnector1">
            <a:avLst/>
          </a:prstGeom>
          <a:solidFill>
            <a:srgbClr val="DEE0E3">
              <a:alpha val="100000"/>
            </a:srgbClr>
          </a:solidFill>
          <a:ln w="25400" cap="flat" cmpd="sng">
            <a:solidFill>
              <a:srgbClr val="A855F7">
                <a:alpha val="60000"/>
              </a:srgbClr>
            </a:solidFill>
            <a:prstDash val="solid"/>
            <a:round/>
            <a:headEnd type="none" w="lg" len="lg"/>
            <a:tailEnd type="none" w="lg" len="lg"/>
          </a:ln>
        </p:spPr>
      </p:cxnSp>
      <p:pic>
        <p:nvPicPr>
          <p:cNvPr id="11" name="Picture 7"/>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286000" y="4978400"/>
            <a:ext cx="279400" cy="279400"/>
          </a:xfrm>
          <a:prstGeom prst="rect">
            <a:avLst/>
          </a:prstGeom>
        </p:spPr>
      </p:pic>
      <p:cxnSp>
        <p:nvCxnSpPr>
          <p:cNvPr id="13" name="Connector 9"/>
          <p:cNvCxnSpPr/>
          <p:nvPr userDrawn="1"/>
        </p:nvCxnSpPr>
        <p:spPr>
          <a:xfrm rot="5267844">
            <a:off x="4787900" y="5162672"/>
            <a:ext cx="330200" cy="12700"/>
          </a:xfrm>
          <a:prstGeom prst="straightConnector1">
            <a:avLst/>
          </a:prstGeom>
          <a:solidFill>
            <a:srgbClr val="DEE0E3">
              <a:alpha val="100000"/>
            </a:srgbClr>
          </a:solidFill>
          <a:ln w="12700" cap="flat" cmpd="sng">
            <a:solidFill>
              <a:srgbClr val="FFFFFF">
                <a:alpha val="22000"/>
              </a:srgbClr>
            </a:solidFill>
            <a:prstDash val="solid"/>
            <a:round/>
            <a:headEnd type="none" w="med" len="med"/>
            <a:tailEnd type="none" w="med" len="med"/>
          </a:ln>
        </p:spPr>
      </p:cxnSp>
      <p:pic>
        <p:nvPicPr>
          <p:cNvPr id="14" name="Picture 10"/>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34000" y="4978400"/>
            <a:ext cx="279400" cy="279400"/>
          </a:xfrm>
          <a:prstGeom prst="rect">
            <a:avLst/>
          </a:prstGeom>
        </p:spPr>
      </p:pic>
      <p:cxnSp>
        <p:nvCxnSpPr>
          <p:cNvPr id="16" name="Connector 12"/>
          <p:cNvCxnSpPr/>
          <p:nvPr userDrawn="1"/>
        </p:nvCxnSpPr>
        <p:spPr>
          <a:xfrm rot="5267844">
            <a:off x="7772400" y="5162672"/>
            <a:ext cx="330200" cy="12700"/>
          </a:xfrm>
          <a:prstGeom prst="straightConnector1">
            <a:avLst/>
          </a:prstGeom>
          <a:solidFill>
            <a:srgbClr val="DEE0E3">
              <a:alpha val="100000"/>
            </a:srgbClr>
          </a:solidFill>
          <a:ln w="12700" cap="flat" cmpd="sng">
            <a:solidFill>
              <a:srgbClr val="FFFFFF">
                <a:alpha val="22000"/>
              </a:srgbClr>
            </a:solidFill>
            <a:prstDash val="solid"/>
            <a:round/>
            <a:headEnd type="none" w="med" len="med"/>
            <a:tailEnd type="none" w="med" len="med"/>
          </a:ln>
        </p:spPr>
      </p:cxnSp>
      <p:pic>
        <p:nvPicPr>
          <p:cNvPr id="17" name="Picture 13"/>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18500" y="4978400"/>
            <a:ext cx="279400" cy="279400"/>
          </a:xfrm>
          <a:prstGeom prst="rect">
            <a:avLst/>
          </a:prstGeom>
        </p:spPr>
      </p:pic>
      <p:sp>
        <p:nvSpPr>
          <p:cNvPr id="21" name="内容占位符 20"/>
          <p:cNvSpPr>
            <a:spLocks noGrp="1"/>
          </p:cNvSpPr>
          <p:nvPr>
            <p:ph idx="13" hasCustomPrompt="1"/>
          </p:nvPr>
        </p:nvSpPr>
        <p:spPr>
          <a:xfrm>
            <a:off x="2693035" y="4952365"/>
            <a:ext cx="203073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a:ea typeface="Noto Sans SC"/>
                <a:cs typeface="Noto Sans SC"/>
                <a:sym typeface="Noto Sans SC"/>
              </a:defRPr>
            </a:lvl1pPr>
          </a:lstStyle>
          <a:p>
            <a:pPr marL="0" indent="0" algn="l">
              <a:lnSpc>
                <a:spcPct val="100000"/>
              </a:lnSpc>
              <a:defRPr/>
            </a:pPr>
            <a:r>
              <a:rPr>
                <a:sym typeface="Noto Sans SC"/>
              </a:rPr>
              <a:t>contact@xxx.com</a:t>
            </a:r>
            <a:endParaRPr lang="en-US" altLang="zh-CN"/>
          </a:p>
        </p:txBody>
      </p:sp>
      <p:sp>
        <p:nvSpPr>
          <p:cNvPr id="22" name="内容占位符 21"/>
          <p:cNvSpPr>
            <a:spLocks noGrp="1"/>
          </p:cNvSpPr>
          <p:nvPr>
            <p:ph idx="14" hasCustomPrompt="1"/>
          </p:nvPr>
        </p:nvSpPr>
        <p:spPr>
          <a:xfrm>
            <a:off x="5740400" y="4953000"/>
            <a:ext cx="203200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a:ea typeface="Noto Sans SC"/>
                <a:cs typeface="Noto Sans SC"/>
                <a:sym typeface="Noto Sans SC"/>
              </a:defRPr>
            </a:lvl1pPr>
          </a:lstStyle>
          <a:p>
            <a:pPr marL="0" indent="0" algn="l">
              <a:lnSpc>
                <a:spcPct val="100000"/>
              </a:lnSpc>
              <a:defRPr/>
            </a:pPr>
            <a:r>
              <a:rPr lang="zh-CN" altLang="en-US"/>
              <a:t>公众号：</a:t>
            </a:r>
            <a:r>
              <a:rPr altLang="zh-CN"/>
              <a:t>XXX</a:t>
            </a:r>
          </a:p>
        </p:txBody>
      </p:sp>
      <p:sp>
        <p:nvSpPr>
          <p:cNvPr id="23" name="内容占位符 22"/>
          <p:cNvSpPr>
            <a:spLocks noGrp="1"/>
          </p:cNvSpPr>
          <p:nvPr>
            <p:ph idx="15" hasCustomPrompt="1"/>
          </p:nvPr>
        </p:nvSpPr>
        <p:spPr>
          <a:xfrm>
            <a:off x="8724900" y="4953000"/>
            <a:ext cx="2159000" cy="330835"/>
          </a:xfrm>
        </p:spPr>
        <p:txBody>
          <a:bodyPr/>
          <a:lstStyle>
            <a:lvl1pPr marL="0" indent="0" algn="r">
              <a:buNone/>
              <a:defRPr kumimoji="0" lang="en-US" sz="1600" b="0" i="0" u="none" strike="noStrike" kern="1200" cap="none" spc="0" normalizeH="0" baseline="0" noProof="1">
                <a:solidFill>
                  <a:srgbClr val="D1D5DB">
                    <a:alpha val="85098"/>
                  </a:srgbClr>
                </a:solidFill>
                <a:latin typeface="Noto Sans SC"/>
                <a:ea typeface="SimSun" charset="0"/>
                <a:cs typeface="Noto Sans SC"/>
                <a:sym typeface="Noto Sans SC"/>
              </a:defRPr>
            </a:lvl1pPr>
          </a:lstStyle>
          <a:p>
            <a:pPr marL="0" indent="0" algn="l">
              <a:lnSpc>
                <a:spcPct val="100000"/>
              </a:lnSpc>
              <a:defRPr/>
            </a:pPr>
            <a:r>
              <a:rPr lang="zh-CN" altLang="en-US"/>
              <a:t>公众号：</a:t>
            </a:r>
            <a:r>
              <a:rPr altLang="zh-CN"/>
              <a:t>XXX</a:t>
            </a:r>
            <a:r>
              <a:rPr lang="zh-CN" altLang="en-US"/>
              <a:t>事实</a:t>
            </a:r>
          </a:p>
        </p:txBody>
      </p:sp>
      <p:sp>
        <p:nvSpPr>
          <p:cNvPr id="25" name="内容占位符 24"/>
          <p:cNvSpPr>
            <a:spLocks noGrp="1"/>
          </p:cNvSpPr>
          <p:nvPr>
            <p:ph idx="16" hasCustomPrompt="1"/>
          </p:nvPr>
        </p:nvSpPr>
        <p:spPr>
          <a:xfrm>
            <a:off x="3215958" y="6121400"/>
            <a:ext cx="5760085" cy="329565"/>
          </a:xfrm>
        </p:spPr>
        <p:txBody>
          <a:bodyPr anchor="ctr" anchorCtr="0"/>
          <a:lstStyle>
            <a:lvl1pPr marL="0" indent="0" algn="ctr">
              <a:buNone/>
              <a:defRPr kumimoji="0" lang="en-US" sz="1400" b="0" i="0" u="none" strike="noStrike" kern="1200" cap="none" spc="400" normalizeH="0" baseline="0" noProof="1">
                <a:solidFill>
                  <a:srgbClr val="FFFFFF">
                    <a:alpha val="40000"/>
                  </a:srgbClr>
                </a:solidFill>
                <a:latin typeface="Noto Sans SC"/>
                <a:ea typeface="Noto Sans SC"/>
                <a:cs typeface="Noto Sans SC"/>
                <a:sym typeface="Noto Sans SC"/>
              </a:defRPr>
            </a:lvl1pPr>
          </a:lstStyle>
          <a:p>
            <a:pPr marL="0" indent="0" algn="ctr">
              <a:lnSpc>
                <a:spcPct val="100000"/>
              </a:lnSpc>
              <a:defRPr/>
            </a:pPr>
            <a:r>
              <a:rPr>
                <a:sym typeface="Noto Sans SC"/>
              </a:rPr>
              <a:t>【课程名称 / 机构名】</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6132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2026/9/6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pic>
        <p:nvPicPr>
          <p:cNvPr id="34" name="Image 0" descr="香港科技大学与上海产教融合中心反白Logo"/>
          <p:cNvPicPr>
            <a:picLocks noChangeAspect="1"/>
          </p:cNvPicPr>
          <p:nvPr userDrawn="1"/>
        </p:nvPicPr>
        <p:blipFill>
          <a:blip r:embed="rId16"/>
          <a:stretch>
            <a:fillRect/>
          </a:stretch>
        </p:blipFill>
        <p:spPr>
          <a:xfrm>
            <a:off x="8741664" y="274320"/>
            <a:ext cx="2788920" cy="6858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l" defTabSz="914400" rtl="0" eaLnBrk="1" latinLnBrk="0" hangingPunct="1">
        <a:lnSpc>
          <a:spcPct val="90000"/>
        </a:lnSpc>
        <a:spcBef>
          <a:spcPct val="0"/>
        </a:spcBef>
        <a:buNone/>
        <a:defRPr sz="40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12.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ctrTitle"/>
          </p:nvPr>
        </p:nvSpPr>
        <p:spPr/>
        <p:txBody>
          <a:bodyPr>
            <a:normAutofit/>
          </a:bodyPr>
          <a:lstStyle/>
          <a:p>
            <a:r>
              <a:rPr lang="zh-CN" altLang="en-US" sz="6000" dirty="0"/>
              <a:t>第一课</a:t>
            </a:r>
            <a:br>
              <a:rPr lang="zh-CN" altLang="en-US" sz="6000" dirty="0"/>
            </a:br>
            <a:r>
              <a:rPr lang="zh-CN" altLang="en-US" sz="6000" dirty="0"/>
              <a:t>你每天在用的 </a:t>
            </a:r>
            <a:r>
              <a:rPr lang="en-US" altLang="zh-CN" sz="6000" dirty="0"/>
              <a:t>AI </a:t>
            </a:r>
            <a:r>
              <a:rPr lang="zh-CN" altLang="en-US" sz="6000" dirty="0"/>
              <a:t>到底是什么</a:t>
            </a:r>
          </a:p>
        </p:txBody>
      </p:sp>
      <p:sp>
        <p:nvSpPr>
          <p:cNvPr id="11" name="副标题 10"/>
          <p:cNvSpPr>
            <a:spLocks noGrp="1"/>
          </p:cNvSpPr>
          <p:nvPr>
            <p:ph type="subTitle" idx="1"/>
          </p:nvPr>
        </p:nvSpPr>
        <p:spPr/>
        <p:txBody>
          <a:bodyPr/>
          <a:lstStyle/>
          <a:p>
            <a:r>
              <a:rPr lang="zh-CN" altLang="en-US"/>
              <a:t>人工智能前沿系列课程——大模型基础通识</a:t>
            </a:r>
          </a:p>
          <a:p>
            <a:endParaRPr lang="zh-CN" altLang="en-US"/>
          </a:p>
        </p:txBody>
      </p:sp>
      <p:sp>
        <p:nvSpPr>
          <p:cNvPr id="12" name="文本占位符 11"/>
          <p:cNvSpPr>
            <a:spLocks noGrp="1"/>
          </p:cNvSpPr>
          <p:nvPr>
            <p:ph type="body" idx="13"/>
          </p:nvPr>
        </p:nvSpPr>
        <p:spPr/>
        <p:txBody>
          <a:bodyPr/>
          <a:lstStyle/>
          <a:p>
            <a:r>
              <a:rPr lang="zh-CN" altLang="en-US"/>
              <a:t>授课人：王若愚</a:t>
            </a:r>
          </a:p>
        </p:txBody>
      </p:sp>
      <p:sp>
        <p:nvSpPr>
          <p:cNvPr id="13" name="文本占位符 12"/>
          <p:cNvSpPr>
            <a:spLocks noGrp="1"/>
          </p:cNvSpPr>
          <p:nvPr>
            <p:ph type="body" idx="16"/>
          </p:nvPr>
        </p:nvSpPr>
        <p:spPr/>
        <p:txBody>
          <a:bodyPr/>
          <a:lstStyle/>
          <a:p>
            <a:r>
              <a:rPr lang="en-US" altLang="zh-CN" dirty="0"/>
              <a:t>2026/09/01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Autofit/>
          </a:bodyPr>
          <a:lstStyle/>
          <a:p>
            <a:r>
              <a:rPr lang="zh-CN" altLang="en-US" sz="3200">
                <a:ea typeface="SimSun" charset="0"/>
              </a:rPr>
              <a:t>听到</a:t>
            </a:r>
            <a:r>
              <a:rPr altLang="zh-CN" sz="3200">
                <a:ea typeface="SimSun" charset="0"/>
              </a:rPr>
              <a:t>AI</a:t>
            </a:r>
            <a:r>
              <a:rPr lang="zh-CN" altLang="en-US" sz="3200">
                <a:ea typeface="SimSun" charset="0"/>
              </a:rPr>
              <a:t>，你想到什么？</a:t>
            </a:r>
          </a:p>
        </p:txBody>
      </p:sp>
      <p:sp>
        <p:nvSpPr>
          <p:cNvPr id="3" name="灯片编号占位符 2"/>
          <p:cNvSpPr>
            <a:spLocks noGrp="1"/>
          </p:cNvSpPr>
          <p:nvPr>
            <p:ph type="sldNum" sz="quarter" idx="12"/>
          </p:nvPr>
        </p:nvSpPr>
        <p:spPr/>
        <p:txBody>
          <a:bodyPr/>
          <a:lstStyle/>
          <a:p>
            <a:fld id="{49AE70B2-8BF9-45C0-BB95-33D1B9D3A854}" type="slidenum">
              <a:rPr lang="zh-CN" altLang="en-US" smtClean="0"/>
              <a:t>2</a:t>
            </a:fld>
            <a:endParaRPr lang="en-US" altLang="zh-CN"/>
          </a:p>
        </p:txBody>
      </p:sp>
      <p:pic>
        <p:nvPicPr>
          <p:cNvPr id="7" name="图片 6"/>
          <p:cNvPicPr/>
          <p:nvPr/>
        </p:nvPicPr>
        <p:blipFill>
          <a:blip r:embed="rId3"/>
          <a:srcRect l="29453" r="30743"/>
          <a:stretch>
            <a:fillRect/>
          </a:stretch>
        </p:blipFill>
        <p:spPr>
          <a:xfrm>
            <a:off x="5892165" y="1768475"/>
            <a:ext cx="3059430" cy="4319905"/>
          </a:xfrm>
          <a:prstGeom prst="parallelogram">
            <a:avLst/>
          </a:prstGeom>
          <a:ln w="19050">
            <a:solidFill>
              <a:schemeClr val="bg1"/>
            </a:solidFill>
          </a:ln>
          <a:effectLst>
            <a:outerShdw blurRad="50800" dist="38100" dir="2700000" algn="tl" rotWithShape="0">
              <a:schemeClr val="bg1">
                <a:alpha val="40000"/>
              </a:schemeClr>
            </a:outerShdw>
          </a:effectLst>
        </p:spPr>
      </p:pic>
      <p:pic>
        <p:nvPicPr>
          <p:cNvPr id="11" name="图片 10"/>
          <p:cNvPicPr/>
          <p:nvPr/>
        </p:nvPicPr>
        <p:blipFill>
          <a:blip r:embed="rId4"/>
          <a:srcRect l="13479" r="15405"/>
          <a:stretch>
            <a:fillRect/>
          </a:stretch>
        </p:blipFill>
        <p:spPr>
          <a:xfrm>
            <a:off x="3240405" y="1768475"/>
            <a:ext cx="3059430" cy="4319905"/>
          </a:xfrm>
          <a:prstGeom prst="parallelogram">
            <a:avLst/>
          </a:prstGeom>
          <a:ln w="19050">
            <a:solidFill>
              <a:schemeClr val="bg1"/>
            </a:solidFill>
          </a:ln>
          <a:effectLst>
            <a:outerShdw blurRad="50800" dist="38100" dir="2700000" algn="tl" rotWithShape="0">
              <a:schemeClr val="bg1">
                <a:alpha val="40000"/>
              </a:schemeClr>
            </a:outerShdw>
          </a:effectLst>
        </p:spPr>
      </p:pic>
      <p:pic>
        <p:nvPicPr>
          <p:cNvPr id="12" name="图片 11"/>
          <p:cNvPicPr/>
          <p:nvPr/>
        </p:nvPicPr>
        <p:blipFill>
          <a:blip r:embed="rId5"/>
          <a:srcRect l="25913" r="27244"/>
          <a:stretch>
            <a:fillRect/>
          </a:stretch>
        </p:blipFill>
        <p:spPr>
          <a:xfrm>
            <a:off x="8543925" y="1768475"/>
            <a:ext cx="3059430" cy="4319905"/>
          </a:xfrm>
          <a:prstGeom prst="parallelogram">
            <a:avLst/>
          </a:prstGeom>
          <a:ln w="19050">
            <a:solidFill>
              <a:schemeClr val="bg1"/>
            </a:solidFill>
          </a:ln>
          <a:effectLst>
            <a:outerShdw blurRad="50800" dist="38100" dir="2700000" algn="tl" rotWithShape="0">
              <a:schemeClr val="bg1">
                <a:alpha val="40000"/>
              </a:schemeClr>
            </a:outerShdw>
          </a:effectLst>
        </p:spPr>
      </p:pic>
      <p:pic>
        <p:nvPicPr>
          <p:cNvPr id="14" name="图片 13"/>
          <p:cNvPicPr/>
          <p:nvPr/>
        </p:nvPicPr>
        <p:blipFill>
          <a:blip r:embed="rId6"/>
          <a:srcRect l="44783" r="15107"/>
          <a:stretch>
            <a:fillRect/>
          </a:stretch>
        </p:blipFill>
        <p:spPr>
          <a:xfrm>
            <a:off x="588645" y="1768475"/>
            <a:ext cx="3060065" cy="4319905"/>
          </a:xfrm>
          <a:prstGeom prst="parallelogram">
            <a:avLst/>
          </a:prstGeom>
          <a:ln w="19050">
            <a:solidFill>
              <a:schemeClr val="bg1"/>
            </a:solidFill>
          </a:ln>
          <a:effectLst>
            <a:outerShdw blurRad="50800" dist="38100" dir="2700000" algn="tl" rotWithShape="0">
              <a:schemeClr val="bg1">
                <a:alpha val="40000"/>
              </a:scheme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762635" y="1779270"/>
            <a:ext cx="10844530" cy="4284980"/>
            <a:chOff x="3320" y="2802"/>
            <a:chExt cx="12840" cy="6748"/>
          </a:xfrm>
        </p:grpSpPr>
        <p:sp>
          <p:nvSpPr>
            <p:cNvPr id="6" name="椭圆 5"/>
            <p:cNvSpPr/>
            <p:nvPr/>
          </p:nvSpPr>
          <p:spPr>
            <a:xfrm>
              <a:off x="3320" y="2802"/>
              <a:ext cx="12840" cy="6748"/>
            </a:xfrm>
            <a:prstGeom prst="ellipse">
              <a:avLst/>
            </a:prstGeom>
            <a:gradFill rotWithShape="1">
              <a:gsLst>
                <a:gs pos="0">
                  <a:srgbClr val="00E5FF">
                    <a:alpha val="30000"/>
                  </a:srgbClr>
                </a:gs>
                <a:gs pos="55000">
                  <a:srgbClr val="00E5FF">
                    <a:alpha val="8000"/>
                  </a:srgbClr>
                </a:gs>
                <a:gs pos="100000">
                  <a:srgbClr val="00E5FF">
                    <a:alpha val="2000"/>
                  </a:srgbClr>
                </a:gs>
              </a:gsLst>
              <a:path path="circle">
                <a:fillToRect l="50000" t="50000" r="50000" b="50000"/>
              </a:path>
              <a:tileRect/>
            </a:gradFill>
            <a:ln w="25400" cap="flat" cmpd="sng">
              <a:solidFill>
                <a:srgbClr val="00E5FF">
                  <a:alpha val="100000"/>
                </a:srgbClr>
              </a:solidFill>
              <a:prstDash val="solid"/>
              <a:round/>
            </a:ln>
            <a:effectLst>
              <a:outerShdw blurRad="355600" dir="5400000" algn="ctr" rotWithShape="0">
                <a:srgbClr val="00E5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6" name="文本框 15"/>
            <p:cNvSpPr txBox="1"/>
            <p:nvPr/>
          </p:nvSpPr>
          <p:spPr>
            <a:xfrm>
              <a:off x="8636" y="3073"/>
              <a:ext cx="2208" cy="725"/>
            </a:xfrm>
            <a:prstGeom prst="rect">
              <a:avLst/>
            </a:prstGeom>
            <a:noFill/>
          </p:spPr>
          <p:txBody>
            <a:bodyPr wrap="square" rtlCol="0">
              <a:spAutoFit/>
            </a:bodyPr>
            <a:lstStyle/>
            <a:p>
              <a:r>
                <a:rPr lang="en-US" altLang="zh-CN" sz="2400">
                  <a:solidFill>
                    <a:schemeClr val="bg1"/>
                  </a:solidFill>
                </a:rPr>
                <a:t>人工智能</a:t>
              </a:r>
            </a:p>
          </p:txBody>
        </p:sp>
      </p:grpSp>
      <p:sp>
        <p:nvSpPr>
          <p:cNvPr id="4" name="标题 3"/>
          <p:cNvSpPr>
            <a:spLocks noGrp="1"/>
          </p:cNvSpPr>
          <p:nvPr>
            <p:ph type="title"/>
          </p:nvPr>
        </p:nvSpPr>
        <p:spPr/>
        <p:txBody>
          <a:bodyPr>
            <a:normAutofit fontScale="90000"/>
          </a:bodyPr>
          <a:lstStyle/>
          <a:p>
            <a:r>
              <a:rPr lang="zh-CN" altLang="en-US"/>
              <a:t>大模型技术全景图</a:t>
            </a:r>
          </a:p>
        </p:txBody>
      </p:sp>
      <p:sp>
        <p:nvSpPr>
          <p:cNvPr id="3" name="灯片编号占位符 2"/>
          <p:cNvSpPr>
            <a:spLocks noGrp="1"/>
          </p:cNvSpPr>
          <p:nvPr>
            <p:ph type="sldNum" sz="quarter" idx="12"/>
          </p:nvPr>
        </p:nvSpPr>
        <p:spPr/>
        <p:txBody>
          <a:bodyPr/>
          <a:lstStyle/>
          <a:p>
            <a:fld id="{49AE70B2-8BF9-45C0-BB95-33D1B9D3A854}" type="slidenum">
              <a:rPr lang="zh-CN" altLang="en-US" smtClean="0"/>
              <a:t>3</a:t>
            </a:fld>
            <a:endParaRPr lang="en-US" altLang="zh-CN"/>
          </a:p>
        </p:txBody>
      </p:sp>
      <p:grpSp>
        <p:nvGrpSpPr>
          <p:cNvPr id="2" name="组合 1"/>
          <p:cNvGrpSpPr/>
          <p:nvPr/>
        </p:nvGrpSpPr>
        <p:grpSpPr>
          <a:xfrm>
            <a:off x="1905000" y="2565400"/>
            <a:ext cx="6492240" cy="3392170"/>
            <a:chOff x="4628" y="4208"/>
            <a:chExt cx="10224" cy="5342"/>
          </a:xfrm>
        </p:grpSpPr>
        <p:sp>
          <p:nvSpPr>
            <p:cNvPr id="7" name="椭圆 6"/>
            <p:cNvSpPr/>
            <p:nvPr/>
          </p:nvSpPr>
          <p:spPr>
            <a:xfrm>
              <a:off x="4628" y="4208"/>
              <a:ext cx="10224" cy="5343"/>
            </a:xfrm>
            <a:prstGeom prst="ellipse">
              <a:avLst/>
            </a:prstGeom>
            <a:gradFill rotWithShape="1">
              <a:gsLst>
                <a:gs pos="0">
                  <a:srgbClr val="B388FF">
                    <a:alpha val="30000"/>
                  </a:srgbClr>
                </a:gs>
                <a:gs pos="55000">
                  <a:srgbClr val="B388FF">
                    <a:alpha val="8000"/>
                  </a:srgbClr>
                </a:gs>
                <a:gs pos="100000">
                  <a:srgbClr val="B388FF">
                    <a:alpha val="2000"/>
                  </a:srgbClr>
                </a:gs>
              </a:gsLst>
              <a:path path="circle">
                <a:fillToRect l="50000" t="50000" r="50000" b="50000"/>
              </a:path>
              <a:tileRect/>
            </a:gradFill>
            <a:ln w="25400" cap="flat" cmpd="sng">
              <a:solidFill>
                <a:srgbClr val="B388FF">
                  <a:alpha val="100000"/>
                </a:srgbClr>
              </a:solidFill>
              <a:prstDash val="solid"/>
              <a:round/>
            </a:ln>
            <a:effectLst>
              <a:outerShdw blurRad="355600" dir="5400000" algn="ctr" rotWithShape="0">
                <a:srgbClr val="B388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7" name="文本框 16"/>
            <p:cNvSpPr txBox="1"/>
            <p:nvPr/>
          </p:nvSpPr>
          <p:spPr>
            <a:xfrm>
              <a:off x="8742" y="4607"/>
              <a:ext cx="2208" cy="725"/>
            </a:xfrm>
            <a:prstGeom prst="rect">
              <a:avLst/>
            </a:prstGeom>
            <a:noFill/>
          </p:spPr>
          <p:txBody>
            <a:bodyPr wrap="none" rtlCol="0">
              <a:spAutoFit/>
            </a:bodyPr>
            <a:lstStyle/>
            <a:p>
              <a:r>
                <a:rPr lang="en-US" altLang="en-US" sz="2400">
                  <a:solidFill>
                    <a:schemeClr val="bg1"/>
                  </a:solidFill>
                </a:rPr>
                <a:t>机器学习</a:t>
              </a:r>
            </a:p>
          </p:txBody>
        </p:sp>
      </p:grpSp>
      <p:grpSp>
        <p:nvGrpSpPr>
          <p:cNvPr id="28" name="组合 27"/>
          <p:cNvGrpSpPr/>
          <p:nvPr/>
        </p:nvGrpSpPr>
        <p:grpSpPr>
          <a:xfrm>
            <a:off x="2724150" y="3310255"/>
            <a:ext cx="4852670" cy="2633980"/>
            <a:chOff x="16160" y="5630"/>
            <a:chExt cx="7642" cy="4148"/>
          </a:xfrm>
        </p:grpSpPr>
        <p:sp>
          <p:nvSpPr>
            <p:cNvPr id="8" name="椭圆 7"/>
            <p:cNvSpPr/>
            <p:nvPr/>
          </p:nvSpPr>
          <p:spPr>
            <a:xfrm>
              <a:off x="16160" y="5630"/>
              <a:ext cx="7643" cy="4149"/>
            </a:xfrm>
            <a:prstGeom prst="ellipse">
              <a:avLst/>
            </a:prstGeom>
            <a:gradFill rotWithShape="1">
              <a:gsLst>
                <a:gs pos="0">
                  <a:srgbClr val="69F0AE">
                    <a:alpha val="30000"/>
                  </a:srgbClr>
                </a:gs>
                <a:gs pos="55000">
                  <a:srgbClr val="69F0AE">
                    <a:alpha val="8000"/>
                  </a:srgbClr>
                </a:gs>
                <a:gs pos="100000">
                  <a:srgbClr val="69F0AE">
                    <a:alpha val="2000"/>
                  </a:srgbClr>
                </a:gs>
              </a:gsLst>
              <a:path path="circle">
                <a:fillToRect l="50000" t="50000" r="50000" b="50000"/>
              </a:path>
              <a:tileRect/>
            </a:gradFill>
            <a:ln w="25400" cap="flat" cmpd="sng">
              <a:solidFill>
                <a:srgbClr val="69F0AE">
                  <a:alpha val="100000"/>
                </a:srgbClr>
              </a:solidFill>
              <a:prstDash val="solid"/>
              <a:round/>
            </a:ln>
            <a:effectLst>
              <a:outerShdw blurRad="355600" dir="5400000" algn="ctr" rotWithShape="0">
                <a:srgbClr val="69F0AE">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8" name="文本框 17"/>
            <p:cNvSpPr txBox="1"/>
            <p:nvPr/>
          </p:nvSpPr>
          <p:spPr>
            <a:xfrm>
              <a:off x="19012" y="5910"/>
              <a:ext cx="2208" cy="725"/>
            </a:xfrm>
            <a:prstGeom prst="rect">
              <a:avLst/>
            </a:prstGeom>
            <a:noFill/>
          </p:spPr>
          <p:txBody>
            <a:bodyPr wrap="none" rtlCol="0">
              <a:spAutoFit/>
            </a:bodyPr>
            <a:lstStyle/>
            <a:p>
              <a:r>
                <a:rPr lang="en-US" altLang="en-US" sz="2400">
                  <a:solidFill>
                    <a:schemeClr val="bg1"/>
                  </a:solidFill>
                </a:rPr>
                <a:t>深度学习</a:t>
              </a:r>
            </a:p>
          </p:txBody>
        </p:sp>
      </p:grpSp>
      <p:grpSp>
        <p:nvGrpSpPr>
          <p:cNvPr id="29" name="组合 28"/>
          <p:cNvGrpSpPr/>
          <p:nvPr/>
        </p:nvGrpSpPr>
        <p:grpSpPr>
          <a:xfrm>
            <a:off x="2973705" y="4060190"/>
            <a:ext cx="2188210" cy="1502410"/>
            <a:chOff x="16664" y="6918"/>
            <a:chExt cx="3446" cy="2366"/>
          </a:xfrm>
        </p:grpSpPr>
        <p:sp>
          <p:nvSpPr>
            <p:cNvPr id="10" name="椭圆 9"/>
            <p:cNvSpPr/>
            <p:nvPr/>
          </p:nvSpPr>
          <p:spPr>
            <a:xfrm>
              <a:off x="16664" y="6918"/>
              <a:ext cx="3446" cy="2366"/>
            </a:xfrm>
            <a:prstGeom prst="ellipse">
              <a:avLst/>
            </a:prstGeom>
            <a:gradFill rotWithShape="1">
              <a:gsLst>
                <a:gs pos="0">
                  <a:srgbClr val="00E5FF">
                    <a:alpha val="30000"/>
                  </a:srgbClr>
                </a:gs>
                <a:gs pos="55000">
                  <a:srgbClr val="00E5FF">
                    <a:alpha val="8000"/>
                  </a:srgbClr>
                </a:gs>
                <a:gs pos="100000">
                  <a:srgbClr val="00E5FF">
                    <a:alpha val="2000"/>
                  </a:srgbClr>
                </a:gs>
              </a:gsLst>
              <a:path path="circle">
                <a:fillToRect l="50000" t="50000" r="50000" b="50000"/>
              </a:path>
              <a:tileRect/>
            </a:gradFill>
            <a:ln w="25400" cap="flat" cmpd="sng">
              <a:solidFill>
                <a:srgbClr val="00E5FF">
                  <a:alpha val="100000"/>
                </a:srgbClr>
              </a:solidFill>
              <a:prstDash val="solid"/>
              <a:round/>
            </a:ln>
            <a:effectLst>
              <a:outerShdw blurRad="355600" dir="5400000" algn="ctr" rotWithShape="0">
                <a:srgbClr val="00E5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9" name="文本框 18"/>
            <p:cNvSpPr txBox="1"/>
            <p:nvPr/>
          </p:nvSpPr>
          <p:spPr>
            <a:xfrm>
              <a:off x="17173" y="7184"/>
              <a:ext cx="2288" cy="628"/>
            </a:xfrm>
            <a:prstGeom prst="rect">
              <a:avLst/>
            </a:prstGeom>
            <a:noFill/>
          </p:spPr>
          <p:txBody>
            <a:bodyPr wrap="none" rtlCol="0">
              <a:spAutoFit/>
            </a:bodyPr>
            <a:lstStyle/>
            <a:p>
              <a:r>
                <a:rPr lang="en-US" altLang="en-US" sz="2000">
                  <a:solidFill>
                    <a:schemeClr val="bg1"/>
                  </a:solidFill>
                </a:rPr>
                <a:t>大语言模型</a:t>
              </a:r>
            </a:p>
          </p:txBody>
        </p:sp>
      </p:grpSp>
      <p:grpSp>
        <p:nvGrpSpPr>
          <p:cNvPr id="30" name="组合 29"/>
          <p:cNvGrpSpPr/>
          <p:nvPr/>
        </p:nvGrpSpPr>
        <p:grpSpPr>
          <a:xfrm>
            <a:off x="5683885" y="4060190"/>
            <a:ext cx="1540510" cy="735330"/>
            <a:chOff x="20779" y="6918"/>
            <a:chExt cx="2426" cy="1158"/>
          </a:xfrm>
        </p:grpSpPr>
        <p:sp>
          <p:nvSpPr>
            <p:cNvPr id="11" name="椭圆 10"/>
            <p:cNvSpPr/>
            <p:nvPr/>
          </p:nvSpPr>
          <p:spPr>
            <a:xfrm>
              <a:off x="20779" y="6918"/>
              <a:ext cx="2427" cy="1159"/>
            </a:xfrm>
            <a:prstGeom prst="ellipse">
              <a:avLst/>
            </a:prstGeom>
            <a:gradFill rotWithShape="1">
              <a:gsLst>
                <a:gs pos="0">
                  <a:srgbClr val="00E5FF">
                    <a:alpha val="30000"/>
                  </a:srgbClr>
                </a:gs>
                <a:gs pos="55000">
                  <a:srgbClr val="00E5FF">
                    <a:alpha val="8000"/>
                  </a:srgbClr>
                </a:gs>
                <a:gs pos="100000">
                  <a:srgbClr val="00E5FF">
                    <a:alpha val="2000"/>
                  </a:srgbClr>
                </a:gs>
              </a:gsLst>
              <a:path path="circle">
                <a:fillToRect l="50000" t="50000" r="50000" b="50000"/>
              </a:path>
              <a:tileRect/>
            </a:gradFill>
            <a:ln w="25400" cap="flat" cmpd="sng">
              <a:solidFill>
                <a:srgbClr val="00E5FF">
                  <a:alpha val="100000"/>
                </a:srgbClr>
              </a:solidFill>
              <a:prstDash val="solid"/>
              <a:round/>
            </a:ln>
            <a:effectLst>
              <a:outerShdw blurRad="355600" dir="5400000" algn="ctr" rotWithShape="0">
                <a:srgbClr val="00E5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0" name="文本框 19"/>
            <p:cNvSpPr txBox="1"/>
            <p:nvPr/>
          </p:nvSpPr>
          <p:spPr>
            <a:xfrm>
              <a:off x="20848" y="7183"/>
              <a:ext cx="2288" cy="628"/>
            </a:xfrm>
            <a:prstGeom prst="rect">
              <a:avLst/>
            </a:prstGeom>
            <a:noFill/>
          </p:spPr>
          <p:txBody>
            <a:bodyPr wrap="none" rtlCol="0">
              <a:spAutoFit/>
            </a:bodyPr>
            <a:lstStyle/>
            <a:p>
              <a:r>
                <a:rPr lang="en-US" altLang="en-US" sz="2000">
                  <a:solidFill>
                    <a:schemeClr val="bg1"/>
                  </a:solidFill>
                </a:rPr>
                <a:t>多模态模型</a:t>
              </a:r>
            </a:p>
          </p:txBody>
        </p:sp>
      </p:grpSp>
      <p:grpSp>
        <p:nvGrpSpPr>
          <p:cNvPr id="31" name="组合 30"/>
          <p:cNvGrpSpPr/>
          <p:nvPr/>
        </p:nvGrpSpPr>
        <p:grpSpPr>
          <a:xfrm>
            <a:off x="5161915" y="5014595"/>
            <a:ext cx="1540510" cy="735330"/>
            <a:chOff x="20110" y="8324"/>
            <a:chExt cx="2426" cy="1158"/>
          </a:xfrm>
        </p:grpSpPr>
        <p:sp>
          <p:nvSpPr>
            <p:cNvPr id="13" name="椭圆 12"/>
            <p:cNvSpPr/>
            <p:nvPr/>
          </p:nvSpPr>
          <p:spPr>
            <a:xfrm>
              <a:off x="20110" y="8324"/>
              <a:ext cx="2427" cy="1159"/>
            </a:xfrm>
            <a:prstGeom prst="ellipse">
              <a:avLst/>
            </a:prstGeom>
            <a:gradFill rotWithShape="1">
              <a:gsLst>
                <a:gs pos="0">
                  <a:srgbClr val="00E5FF">
                    <a:alpha val="30000"/>
                  </a:srgbClr>
                </a:gs>
                <a:gs pos="55000">
                  <a:srgbClr val="00E5FF">
                    <a:alpha val="8000"/>
                  </a:srgbClr>
                </a:gs>
                <a:gs pos="100000">
                  <a:srgbClr val="00E5FF">
                    <a:alpha val="2000"/>
                  </a:srgbClr>
                </a:gs>
              </a:gsLst>
              <a:path path="circle">
                <a:fillToRect l="50000" t="50000" r="50000" b="50000"/>
              </a:path>
              <a:tileRect/>
            </a:gradFill>
            <a:ln w="25400" cap="flat" cmpd="sng">
              <a:solidFill>
                <a:srgbClr val="00E5FF">
                  <a:alpha val="100000"/>
                </a:srgbClr>
              </a:solidFill>
              <a:prstDash val="solid"/>
              <a:round/>
            </a:ln>
            <a:effectLst>
              <a:outerShdw blurRad="355600" dir="5400000" algn="ctr" rotWithShape="0">
                <a:srgbClr val="00E5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1" name="文本框 20"/>
            <p:cNvSpPr txBox="1"/>
            <p:nvPr/>
          </p:nvSpPr>
          <p:spPr>
            <a:xfrm>
              <a:off x="20219" y="8638"/>
              <a:ext cx="2208" cy="531"/>
            </a:xfrm>
            <a:prstGeom prst="rect">
              <a:avLst/>
            </a:prstGeom>
            <a:noFill/>
          </p:spPr>
          <p:txBody>
            <a:bodyPr wrap="none" rtlCol="0">
              <a:spAutoFit/>
            </a:bodyPr>
            <a:lstStyle/>
            <a:p>
              <a:r>
                <a:rPr lang="en-US" altLang="en-US" sz="1600">
                  <a:solidFill>
                    <a:schemeClr val="bg1"/>
                  </a:solidFill>
                </a:rPr>
                <a:t>其他网络模型</a:t>
              </a:r>
            </a:p>
          </p:txBody>
        </p:sp>
      </p:grpSp>
      <p:grpSp>
        <p:nvGrpSpPr>
          <p:cNvPr id="32" name="组合 31"/>
          <p:cNvGrpSpPr/>
          <p:nvPr/>
        </p:nvGrpSpPr>
        <p:grpSpPr>
          <a:xfrm>
            <a:off x="3168015" y="4704080"/>
            <a:ext cx="775916" cy="669290"/>
            <a:chOff x="17173" y="7988"/>
            <a:chExt cx="2171" cy="1054"/>
          </a:xfrm>
        </p:grpSpPr>
        <p:sp>
          <p:nvSpPr>
            <p:cNvPr id="14" name="椭圆 13"/>
            <p:cNvSpPr/>
            <p:nvPr/>
          </p:nvSpPr>
          <p:spPr>
            <a:xfrm>
              <a:off x="17173" y="7988"/>
              <a:ext cx="2171" cy="1054"/>
            </a:xfrm>
            <a:prstGeom prst="ellipse">
              <a:avLst/>
            </a:prstGeom>
            <a:gradFill rotWithShape="1">
              <a:gsLst>
                <a:gs pos="0">
                  <a:srgbClr val="B388FF">
                    <a:alpha val="30000"/>
                  </a:srgbClr>
                </a:gs>
                <a:gs pos="55000">
                  <a:srgbClr val="B388FF">
                    <a:alpha val="8000"/>
                  </a:srgbClr>
                </a:gs>
                <a:gs pos="100000">
                  <a:srgbClr val="B388FF">
                    <a:alpha val="2000"/>
                  </a:srgbClr>
                </a:gs>
              </a:gsLst>
              <a:path path="circle">
                <a:fillToRect l="50000" t="50000" r="50000" b="50000"/>
              </a:path>
              <a:tileRect/>
            </a:gradFill>
            <a:ln w="25400" cap="flat" cmpd="sng">
              <a:solidFill>
                <a:srgbClr val="B388FF">
                  <a:alpha val="100000"/>
                </a:srgbClr>
              </a:solidFill>
              <a:prstDash val="solid"/>
              <a:round/>
            </a:ln>
            <a:effectLst>
              <a:outerShdw blurRad="355600" dir="5400000" algn="ctr" rotWithShape="0">
                <a:srgbClr val="B388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2" name="文本框 21"/>
            <p:cNvSpPr txBox="1"/>
            <p:nvPr/>
          </p:nvSpPr>
          <p:spPr>
            <a:xfrm>
              <a:off x="17573" y="8253"/>
              <a:ext cx="1487" cy="561"/>
            </a:xfrm>
            <a:prstGeom prst="rect">
              <a:avLst/>
            </a:prstGeom>
            <a:noFill/>
          </p:spPr>
          <p:txBody>
            <a:bodyPr wrap="none" rtlCol="0">
              <a:noAutofit/>
            </a:bodyPr>
            <a:lstStyle/>
            <a:p>
              <a:pPr algn="ctr"/>
              <a:r>
                <a:rPr lang="en-US" altLang="en-US" sz="1600">
                  <a:solidFill>
                    <a:schemeClr val="bg1"/>
                  </a:solidFill>
                </a:rPr>
                <a:t>智能体</a:t>
              </a:r>
            </a:p>
          </p:txBody>
        </p:sp>
      </p:grpSp>
      <p:grpSp>
        <p:nvGrpSpPr>
          <p:cNvPr id="5" name="组合 4"/>
          <p:cNvGrpSpPr/>
          <p:nvPr/>
        </p:nvGrpSpPr>
        <p:grpSpPr>
          <a:xfrm>
            <a:off x="4077335" y="4704080"/>
            <a:ext cx="775916" cy="669290"/>
            <a:chOff x="17173" y="7988"/>
            <a:chExt cx="2171" cy="1054"/>
          </a:xfrm>
        </p:grpSpPr>
        <p:sp>
          <p:nvSpPr>
            <p:cNvPr id="9" name="椭圆 8"/>
            <p:cNvSpPr/>
            <p:nvPr/>
          </p:nvSpPr>
          <p:spPr>
            <a:xfrm>
              <a:off x="17173" y="7988"/>
              <a:ext cx="2171" cy="1054"/>
            </a:xfrm>
            <a:prstGeom prst="ellipse">
              <a:avLst/>
            </a:prstGeom>
            <a:gradFill rotWithShape="1">
              <a:gsLst>
                <a:gs pos="0">
                  <a:srgbClr val="B388FF">
                    <a:alpha val="30000"/>
                  </a:srgbClr>
                </a:gs>
                <a:gs pos="55000">
                  <a:srgbClr val="B388FF">
                    <a:alpha val="8000"/>
                  </a:srgbClr>
                </a:gs>
                <a:gs pos="100000">
                  <a:srgbClr val="B388FF">
                    <a:alpha val="2000"/>
                  </a:srgbClr>
                </a:gs>
              </a:gsLst>
              <a:path path="circle">
                <a:fillToRect l="50000" t="50000" r="50000" b="50000"/>
              </a:path>
              <a:tileRect/>
            </a:gradFill>
            <a:ln w="25400" cap="flat" cmpd="sng">
              <a:solidFill>
                <a:srgbClr val="B388FF">
                  <a:alpha val="100000"/>
                </a:srgbClr>
              </a:solidFill>
              <a:prstDash val="solid"/>
              <a:round/>
            </a:ln>
            <a:effectLst>
              <a:outerShdw blurRad="355600" dir="5400000" algn="ctr" rotWithShape="0">
                <a:srgbClr val="B388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12" name="文本框 11"/>
            <p:cNvSpPr txBox="1"/>
            <p:nvPr/>
          </p:nvSpPr>
          <p:spPr>
            <a:xfrm>
              <a:off x="17573" y="8230"/>
              <a:ext cx="1487" cy="561"/>
            </a:xfrm>
            <a:prstGeom prst="rect">
              <a:avLst/>
            </a:prstGeom>
            <a:noFill/>
          </p:spPr>
          <p:txBody>
            <a:bodyPr wrap="none" rtlCol="0" anchor="ctr" anchorCtr="0">
              <a:noAutofit/>
            </a:bodyPr>
            <a:lstStyle/>
            <a:p>
              <a:pPr algn="ctr"/>
              <a:r>
                <a:rPr lang="zh-CN" altLang="en-US" sz="1600">
                  <a:solidFill>
                    <a:schemeClr val="bg1"/>
                  </a:solidFill>
                </a:rPr>
                <a:t>提示词</a:t>
              </a:r>
            </a:p>
            <a:p>
              <a:pPr algn="ctr"/>
              <a:r>
                <a:rPr lang="zh-CN" altLang="en-US" sz="1600">
                  <a:solidFill>
                    <a:schemeClr val="bg1"/>
                  </a:solidFill>
                </a:rPr>
                <a:t>工程</a:t>
              </a:r>
            </a:p>
          </p:txBody>
        </p:sp>
      </p:grpSp>
      <p:grpSp>
        <p:nvGrpSpPr>
          <p:cNvPr id="15" name="组合 14"/>
          <p:cNvGrpSpPr/>
          <p:nvPr/>
        </p:nvGrpSpPr>
        <p:grpSpPr>
          <a:xfrm>
            <a:off x="8600440" y="3074670"/>
            <a:ext cx="2860040" cy="1782779"/>
            <a:chOff x="4628" y="4208"/>
            <a:chExt cx="10224" cy="5343"/>
          </a:xfrm>
        </p:grpSpPr>
        <p:sp>
          <p:nvSpPr>
            <p:cNvPr id="23" name="椭圆 22"/>
            <p:cNvSpPr/>
            <p:nvPr/>
          </p:nvSpPr>
          <p:spPr>
            <a:xfrm>
              <a:off x="4628" y="4208"/>
              <a:ext cx="10224" cy="5343"/>
            </a:xfrm>
            <a:prstGeom prst="ellipse">
              <a:avLst/>
            </a:prstGeom>
            <a:gradFill rotWithShape="1">
              <a:gsLst>
                <a:gs pos="0">
                  <a:srgbClr val="B388FF">
                    <a:alpha val="30000"/>
                  </a:srgbClr>
                </a:gs>
                <a:gs pos="55000">
                  <a:srgbClr val="B388FF">
                    <a:alpha val="8000"/>
                  </a:srgbClr>
                </a:gs>
                <a:gs pos="100000">
                  <a:srgbClr val="B388FF">
                    <a:alpha val="2000"/>
                  </a:srgbClr>
                </a:gs>
              </a:gsLst>
              <a:path path="circle">
                <a:fillToRect l="50000" t="50000" r="50000" b="50000"/>
              </a:path>
              <a:tileRect/>
            </a:gradFill>
            <a:ln w="25400" cap="flat" cmpd="sng">
              <a:solidFill>
                <a:srgbClr val="B388FF">
                  <a:alpha val="100000"/>
                </a:srgbClr>
              </a:solidFill>
              <a:prstDash val="solid"/>
              <a:round/>
            </a:ln>
            <a:effectLst>
              <a:outerShdw blurRad="355600" dir="5400000" algn="ctr" rotWithShape="0">
                <a:srgbClr val="B388FF">
                  <a:alpha val="55000"/>
                </a:srgbClr>
              </a:outerShdw>
            </a:effectLst>
          </p:spPr>
          <p:txBody>
            <a:bodyPr vert="horz" wrap="square" lIns="63500" tIns="63500" rIns="63500" bIns="63500" rtlCol="0" anchor="ctr">
              <a:noAutofit/>
            </a:bodyPr>
            <a:lstStyle/>
            <a:p>
              <a:pPr lvl="0" algn="ctr">
                <a:buClrTx/>
                <a:buSzTx/>
                <a:buFontTx/>
                <a:defRPr/>
              </a:pPr>
              <a:endParaRPr>
                <a:sym typeface="+mn-ea"/>
              </a:endParaRPr>
            </a:p>
          </p:txBody>
        </p:sp>
        <p:sp>
          <p:nvSpPr>
            <p:cNvPr id="24" name="文本框 23"/>
            <p:cNvSpPr txBox="1"/>
            <p:nvPr/>
          </p:nvSpPr>
          <p:spPr>
            <a:xfrm>
              <a:off x="5963" y="6190"/>
              <a:ext cx="7555" cy="1380"/>
            </a:xfrm>
            <a:prstGeom prst="rect">
              <a:avLst/>
            </a:prstGeom>
            <a:noFill/>
          </p:spPr>
          <p:txBody>
            <a:bodyPr wrap="square" rtlCol="0">
              <a:spAutoFit/>
            </a:bodyPr>
            <a:lstStyle/>
            <a:p>
              <a:pPr algn="ctr"/>
              <a:r>
                <a:rPr lang="zh-CN" altLang="en-US" sz="2400">
                  <a:solidFill>
                    <a:schemeClr val="bg1"/>
                  </a:solidFill>
                </a:rPr>
                <a:t>符号智能</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500"/>
                                        <p:tgtEl>
                                          <p:spTgt spid="30"/>
                                        </p:tgtEl>
                                      </p:cBhvr>
                                    </p:animEffec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500"/>
                                        <p:tgtEl>
                                          <p:spTgt spid="3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500"/>
                                        <p:tgtEl>
                                          <p:spTgt spid="32"/>
                                        </p:tgtEl>
                                      </p:cBhvr>
                                    </p:animEffect>
                                  </p:childTnLst>
                                </p:cTn>
                              </p:par>
                            </p:childTnLst>
                          </p:cTn>
                        </p:par>
                        <p:par>
                          <p:cTn id="40" fill="hold">
                            <p:stCondLst>
                              <p:cond delay="500"/>
                            </p:stCondLst>
                            <p:childTnLst>
                              <p:par>
                                <p:cTn id="41" presetID="10" presetClass="entr" presetSubtype="0" fill="hold" nodeType="after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zh-CN" altLang="en-US" sz="3200"/>
              <a:t>三个常被混淆的概念</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4</a:t>
            </a:fld>
            <a:endParaRPr lang="en-US" altLang="zh-CN"/>
          </a:p>
        </p:txBody>
      </p:sp>
      <p:grpSp>
        <p:nvGrpSpPr>
          <p:cNvPr id="18" name="组合 17"/>
          <p:cNvGrpSpPr/>
          <p:nvPr/>
        </p:nvGrpSpPr>
        <p:grpSpPr>
          <a:xfrm>
            <a:off x="762000" y="1651635"/>
            <a:ext cx="9304020" cy="1333500"/>
            <a:chOff x="800" y="2600"/>
            <a:chExt cx="14652" cy="2100"/>
          </a:xfrm>
        </p:grpSpPr>
        <p:sp>
          <p:nvSpPr>
            <p:cNvPr id="6" name="AutoShape 6"/>
            <p:cNvSpPr/>
            <p:nvPr/>
          </p:nvSpPr>
          <p:spPr>
            <a:xfrm>
              <a:off x="800" y="2600"/>
              <a:ext cx="14652" cy="210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00" y="2600"/>
              <a:ext cx="120" cy="210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200" y="2800"/>
              <a:ext cx="14252" cy="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69F0AE"/>
                  </a:solidFill>
                  <a:latin typeface="Noto Sans SC"/>
                  <a:ea typeface="Noto Sans SC"/>
                  <a:cs typeface="Noto Sans SC"/>
                  <a:sym typeface="Noto Sans SC"/>
                </a:rPr>
                <a:t>01 </a:t>
              </a:r>
              <a:r>
                <a:rPr lang="zh-CN" altLang="en-US" sz="2400" b="1" i="0" u="none" strike="noStrike">
                  <a:solidFill>
                    <a:srgbClr val="69F0AE"/>
                  </a:solidFill>
                  <a:latin typeface="Noto Sans SC"/>
                  <a:ea typeface="Noto Sans SC"/>
                  <a:cs typeface="Noto Sans SC"/>
                  <a:sym typeface="Noto Sans SC"/>
                </a:rPr>
                <a:t>通用人工智能（</a:t>
              </a:r>
              <a:r>
                <a:rPr lang="en-US" altLang="zh-CN" sz="2400" b="1" i="0" u="none" strike="noStrike">
                  <a:solidFill>
                    <a:srgbClr val="69F0AE"/>
                  </a:solidFill>
                  <a:latin typeface="Noto Sans SC"/>
                  <a:ea typeface="Noto Sans SC"/>
                  <a:cs typeface="Noto Sans SC"/>
                  <a:sym typeface="Noto Sans SC"/>
                </a:rPr>
                <a:t>AGI</a:t>
              </a:r>
              <a:r>
                <a:rPr lang="zh-CN" altLang="en-US" sz="2400" b="1" i="0" u="none" strike="noStrike">
                  <a:solidFill>
                    <a:srgbClr val="69F0AE"/>
                  </a:solidFill>
                  <a:latin typeface="Noto Sans SC"/>
                  <a:ea typeface="SimSun" charset="0"/>
                  <a:cs typeface="Noto Sans SC"/>
                  <a:sym typeface="Noto Sans SC"/>
                </a:rPr>
                <a:t>）</a:t>
              </a:r>
            </a:p>
          </p:txBody>
        </p:sp>
        <p:sp>
          <p:nvSpPr>
            <p:cNvPr id="9" name="AutoShape 9"/>
            <p:cNvSpPr/>
            <p:nvPr/>
          </p:nvSpPr>
          <p:spPr>
            <a:xfrm>
              <a:off x="1200" y="3560"/>
              <a:ext cx="14252" cy="11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600" b="0" i="0" u="none" strike="noStrike">
                  <a:solidFill>
                    <a:srgbClr val="AAAAAA"/>
                  </a:solidFill>
                  <a:latin typeface="Noto Sans SC"/>
                  <a:ea typeface="SimSun" charset="0"/>
                  <a:cs typeface="Noto Sans SC"/>
                  <a:sym typeface="Noto Sans SC"/>
                </a:rPr>
                <a:t>人工智能技术的最外层边界，不是单一的某种技术。它是终极的技术理想，目前还远未达到。</a:t>
              </a:r>
            </a:p>
          </p:txBody>
        </p:sp>
      </p:grpSp>
      <p:grpSp>
        <p:nvGrpSpPr>
          <p:cNvPr id="19" name="组合 18"/>
          <p:cNvGrpSpPr/>
          <p:nvPr/>
        </p:nvGrpSpPr>
        <p:grpSpPr>
          <a:xfrm>
            <a:off x="762000" y="3175635"/>
            <a:ext cx="9304020" cy="1333500"/>
            <a:chOff x="800" y="5000"/>
            <a:chExt cx="14652" cy="2100"/>
          </a:xfrm>
        </p:grpSpPr>
        <p:sp>
          <p:nvSpPr>
            <p:cNvPr id="10" name="AutoShape 10"/>
            <p:cNvSpPr/>
            <p:nvPr/>
          </p:nvSpPr>
          <p:spPr>
            <a:xfrm>
              <a:off x="800" y="5000"/>
              <a:ext cx="14652" cy="2100"/>
            </a:xfrm>
            <a:prstGeom prst="roundRect">
              <a:avLst>
                <a:gd name="adj" fmla="val 0"/>
              </a:avLst>
            </a:prstGeom>
            <a:solidFill>
              <a:srgbClr val="B388FF">
                <a:alpha val="8000"/>
              </a:srgbClr>
            </a:solidFill>
            <a:ln w="12700" cap="flat" cmpd="sng">
              <a:solidFill>
                <a:srgbClr val="B388FF">
                  <a:alpha val="4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00" y="5000"/>
              <a:ext cx="120" cy="2100"/>
            </a:xfrm>
            <a:prstGeom prst="roundRect">
              <a:avLst>
                <a:gd name="adj" fmla="val 0"/>
              </a:avLst>
            </a:prstGeom>
            <a:solidFill>
              <a:srgbClr val="B388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200" y="5200"/>
              <a:ext cx="14252" cy="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B388FF"/>
                  </a:solidFill>
                  <a:latin typeface="Noto Sans SC"/>
                  <a:ea typeface="Noto Sans SC"/>
                  <a:cs typeface="Noto Sans SC"/>
                  <a:sym typeface="Noto Sans SC"/>
                </a:rPr>
                <a:t>02 </a:t>
              </a:r>
              <a:r>
                <a:rPr lang="zh-CN" altLang="en-US" sz="2400" b="1" i="0" u="none" strike="noStrike">
                  <a:solidFill>
                    <a:srgbClr val="B388FF"/>
                  </a:solidFill>
                  <a:latin typeface="Noto Sans SC"/>
                  <a:ea typeface="Noto Sans SC"/>
                  <a:cs typeface="Noto Sans SC"/>
                  <a:sym typeface="Noto Sans SC"/>
                </a:rPr>
                <a:t>具身智能</a:t>
              </a:r>
            </a:p>
          </p:txBody>
        </p:sp>
        <p:sp>
          <p:nvSpPr>
            <p:cNvPr id="13" name="AutoShape 13"/>
            <p:cNvSpPr/>
            <p:nvPr/>
          </p:nvSpPr>
          <p:spPr>
            <a:xfrm>
              <a:off x="1200" y="5960"/>
              <a:ext cx="14252" cy="11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600">
                  <a:solidFill>
                    <a:srgbClr val="AAAAAA"/>
                  </a:solidFill>
                  <a:latin typeface="Noto Sans SC"/>
                  <a:ea typeface="SimSun" charset="0"/>
                  <a:cs typeface="Noto Sans SC"/>
                </a:rPr>
                <a:t>有物理身体、能感知、能行动的 AI（如：人形机器人、无人机、机械臂）。常建立在“多模态模型 + 智能体 + 物理设备”之上。</a:t>
              </a:r>
              <a:endParaRPr lang="zh-CN" altLang="en-US" sz="1100"/>
            </a:p>
          </p:txBody>
        </p:sp>
      </p:grpSp>
      <p:grpSp>
        <p:nvGrpSpPr>
          <p:cNvPr id="20" name="组合 19"/>
          <p:cNvGrpSpPr/>
          <p:nvPr/>
        </p:nvGrpSpPr>
        <p:grpSpPr>
          <a:xfrm>
            <a:off x="762000" y="4699635"/>
            <a:ext cx="9304020" cy="1460500"/>
            <a:chOff x="800" y="7400"/>
            <a:chExt cx="14652" cy="2300"/>
          </a:xfrm>
        </p:grpSpPr>
        <p:sp>
          <p:nvSpPr>
            <p:cNvPr id="14" name="AutoShape 14"/>
            <p:cNvSpPr/>
            <p:nvPr/>
          </p:nvSpPr>
          <p:spPr>
            <a:xfrm>
              <a:off x="800" y="7400"/>
              <a:ext cx="14652" cy="2300"/>
            </a:xfrm>
            <a:prstGeom prst="roundRect">
              <a:avLst>
                <a:gd name="adj" fmla="val 0"/>
              </a:avLst>
            </a:prstGeom>
            <a:solidFill>
              <a:srgbClr val="00E5FF">
                <a:alpha val="15000"/>
              </a:srgbClr>
            </a:solidFill>
            <a:ln w="12700" cap="flat" cmpd="sng">
              <a:solidFill>
                <a:srgbClr val="00E5FF">
                  <a:alpha val="4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00" y="7400"/>
              <a:ext cx="120" cy="2300"/>
            </a:xfrm>
            <a:prstGeom prst="roundRect">
              <a:avLst>
                <a:gd name="adj" fmla="val 0"/>
              </a:avLst>
            </a:prstGeom>
            <a:solidFill>
              <a:srgbClr val="00E5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1200" y="7600"/>
              <a:ext cx="14252" cy="7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00E5FF"/>
                  </a:solidFill>
                  <a:latin typeface="Noto Sans SC"/>
                  <a:ea typeface="Noto Sans SC"/>
                  <a:cs typeface="Noto Sans SC"/>
                  <a:sym typeface="Noto Sans SC"/>
                </a:rPr>
                <a:t>03 </a:t>
              </a:r>
              <a:r>
                <a:rPr lang="zh-CN" altLang="en-US" sz="2400" b="1" i="0" u="none" strike="noStrike">
                  <a:solidFill>
                    <a:srgbClr val="00E5FF"/>
                  </a:solidFill>
                  <a:latin typeface="Noto Sans SC"/>
                  <a:ea typeface="Noto Sans SC"/>
                  <a:cs typeface="Noto Sans SC"/>
                  <a:sym typeface="Noto Sans SC"/>
                </a:rPr>
                <a:t>智能体（</a:t>
              </a:r>
              <a:r>
                <a:rPr lang="en-US" altLang="zh-CN" sz="2400" b="1" i="0" u="none" strike="noStrike">
                  <a:solidFill>
                    <a:srgbClr val="00E5FF"/>
                  </a:solidFill>
                  <a:latin typeface="Noto Sans SC"/>
                  <a:ea typeface="Noto Sans SC"/>
                  <a:cs typeface="Noto Sans SC"/>
                  <a:sym typeface="Noto Sans SC"/>
                </a:rPr>
                <a:t>Agent</a:t>
              </a:r>
              <a:r>
                <a:rPr lang="zh-CN" altLang="en-US" sz="2400" b="1" i="0" u="none" strike="noStrike">
                  <a:solidFill>
                    <a:srgbClr val="00E5FF"/>
                  </a:solidFill>
                  <a:latin typeface="Noto Sans SC"/>
                  <a:ea typeface="SimSun" charset="0"/>
                  <a:cs typeface="Noto Sans SC"/>
                  <a:sym typeface="Noto Sans SC"/>
                </a:rPr>
                <a:t>）</a:t>
              </a:r>
            </a:p>
          </p:txBody>
        </p:sp>
        <p:sp>
          <p:nvSpPr>
            <p:cNvPr id="17" name="AutoShape 17"/>
            <p:cNvSpPr/>
            <p:nvPr/>
          </p:nvSpPr>
          <p:spPr>
            <a:xfrm>
              <a:off x="1200" y="8360"/>
              <a:ext cx="14252" cy="13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1600">
                  <a:solidFill>
                    <a:srgbClr val="AAAAAA"/>
                  </a:solidFill>
                  <a:latin typeface="Noto Sans SC"/>
                  <a:ea typeface="SimSun" charset="0"/>
                  <a:cs typeface="Noto Sans SC"/>
                </a:rPr>
                <a:t>一种软件的产品</a:t>
              </a:r>
              <a:r>
                <a:rPr lang="en-US" altLang="zh-CN" sz="1600">
                  <a:solidFill>
                    <a:srgbClr val="AAAAAA"/>
                  </a:solidFill>
                  <a:latin typeface="Noto Sans SC"/>
                  <a:ea typeface="SimSun" charset="0"/>
                  <a:cs typeface="Noto Sans SC"/>
                </a:rPr>
                <a:t> / </a:t>
              </a:r>
              <a:r>
                <a:rPr lang="zh-CN" altLang="en-US" sz="1600">
                  <a:solidFill>
                    <a:srgbClr val="AAAAAA"/>
                  </a:solidFill>
                  <a:latin typeface="Noto Sans SC"/>
                  <a:ea typeface="SimSun" charset="0"/>
                  <a:cs typeface="Noto Sans SC"/>
                </a:rPr>
                <a:t>系统形态，是基于大语言模型、在上层搭起来的系统，不是一种特定的大语言模型类型。</a:t>
              </a:r>
            </a:p>
          </p:txBody>
        </p:sp>
      </p:grpSp>
      <p:pic>
        <p:nvPicPr>
          <p:cNvPr id="22" name="图片 21"/>
          <p:cNvPicPr>
            <a:picLocks noChangeAspect="1"/>
          </p:cNvPicPr>
          <p:nvPr/>
        </p:nvPicPr>
        <p:blipFill>
          <a:blip r:embed="rId3"/>
          <a:srcRect l="21875" r="21875"/>
          <a:stretch>
            <a:fillRect/>
          </a:stretch>
        </p:blipFill>
        <p:spPr>
          <a:xfrm>
            <a:off x="10243787" y="1778635"/>
            <a:ext cx="1080000" cy="1080000"/>
          </a:xfrm>
          <a:prstGeom prst="snip2DiagRect">
            <a:avLst/>
          </a:prstGeom>
          <a:ln>
            <a:solidFill>
              <a:schemeClr val="bg1"/>
            </a:solidFill>
          </a:ln>
          <a:effectLst>
            <a:outerShdw blurRad="50800" dist="38100" dir="2700000" algn="tl" rotWithShape="0">
              <a:schemeClr val="bg1">
                <a:alpha val="40000"/>
              </a:schemeClr>
            </a:outerShdw>
          </a:effectLst>
        </p:spPr>
      </p:pic>
      <p:pic>
        <p:nvPicPr>
          <p:cNvPr id="24" name="图片 23"/>
          <p:cNvPicPr>
            <a:picLocks noChangeAspect="1"/>
          </p:cNvPicPr>
          <p:nvPr/>
        </p:nvPicPr>
        <p:blipFill>
          <a:blip r:embed="rId4"/>
          <a:srcRect l="34224" t="6778" r="28302" b="26500"/>
          <a:stretch>
            <a:fillRect/>
          </a:stretch>
        </p:blipFill>
        <p:spPr>
          <a:xfrm>
            <a:off x="10244596" y="3334885"/>
            <a:ext cx="1078383" cy="1079500"/>
          </a:xfrm>
          <a:prstGeom prst="snip2DiagRect">
            <a:avLst/>
          </a:prstGeom>
          <a:ln>
            <a:solidFill>
              <a:schemeClr val="bg1"/>
            </a:solidFill>
          </a:ln>
          <a:effectLst>
            <a:outerShdw blurRad="50800" dist="38100" dir="2700000" algn="tl" rotWithShape="0">
              <a:schemeClr val="bg1">
                <a:alpha val="40000"/>
              </a:schemeClr>
            </a:outerShdw>
          </a:effectLst>
        </p:spPr>
      </p:pic>
      <p:pic>
        <p:nvPicPr>
          <p:cNvPr id="25" name="图片 24"/>
          <p:cNvPicPr>
            <a:picLocks noChangeAspect="1"/>
          </p:cNvPicPr>
          <p:nvPr/>
        </p:nvPicPr>
        <p:blipFill>
          <a:blip r:embed="rId5"/>
          <a:srcRect l="286" t="-168" r="27571" b="168"/>
          <a:stretch>
            <a:fillRect/>
          </a:stretch>
        </p:blipFill>
        <p:spPr>
          <a:xfrm>
            <a:off x="10243787" y="4890635"/>
            <a:ext cx="1080000" cy="1079500"/>
          </a:xfrm>
          <a:prstGeom prst="snip2DiagRect">
            <a:avLst/>
          </a:prstGeom>
          <a:ln>
            <a:solidFill>
              <a:schemeClr val="bg1"/>
            </a:solidFill>
          </a:ln>
          <a:effectLst>
            <a:outerShdw blurRad="50800" dist="38100" dir="2700000" algn="tl" rotWithShape="0">
              <a:schemeClr val="bg1">
                <a:alpha val="40000"/>
              </a:scheme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大模型的产品形态</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5</a:t>
            </a:fld>
            <a:endParaRPr lang="en-US" altLang="zh-CN"/>
          </a:p>
        </p:txBody>
      </p:sp>
      <p:grpSp>
        <p:nvGrpSpPr>
          <p:cNvPr id="12" name="组合 11"/>
          <p:cNvGrpSpPr/>
          <p:nvPr/>
        </p:nvGrpSpPr>
        <p:grpSpPr>
          <a:xfrm>
            <a:off x="1771650" y="1878965"/>
            <a:ext cx="8649335" cy="4119880"/>
            <a:chOff x="1742" y="2959"/>
            <a:chExt cx="13621" cy="6488"/>
          </a:xfrm>
        </p:grpSpPr>
        <p:cxnSp>
          <p:nvCxnSpPr>
            <p:cNvPr id="6" name="直接箭头连接符 5"/>
            <p:cNvCxnSpPr/>
            <p:nvPr/>
          </p:nvCxnSpPr>
          <p:spPr>
            <a:xfrm>
              <a:off x="2346" y="8867"/>
              <a:ext cx="13017" cy="0"/>
            </a:xfrm>
            <a:prstGeom prst="straightConnector1">
              <a:avLst/>
            </a:prstGeom>
            <a:ln w="25400">
              <a:solidFill>
                <a:srgbClr val="69F0AE"/>
              </a:solidFill>
              <a:headEnd type="oval"/>
              <a:tailEnd type="arrow"/>
            </a:ln>
          </p:spPr>
          <p:style>
            <a:lnRef idx="2">
              <a:schemeClr val="accent1"/>
            </a:lnRef>
            <a:fillRef idx="0">
              <a:srgbClr val="FFFFFF"/>
            </a:fillRef>
            <a:effectRef idx="0">
              <a:srgbClr val="FFFFFF"/>
            </a:effectRef>
            <a:fontRef idx="minor">
              <a:schemeClr val="tx1"/>
            </a:fontRef>
          </p:style>
        </p:cxnSp>
        <p:cxnSp>
          <p:nvCxnSpPr>
            <p:cNvPr id="8" name="直接箭头连接符 7"/>
            <p:cNvCxnSpPr/>
            <p:nvPr/>
          </p:nvCxnSpPr>
          <p:spPr>
            <a:xfrm flipV="1">
              <a:off x="2346" y="2959"/>
              <a:ext cx="0" cy="5908"/>
            </a:xfrm>
            <a:prstGeom prst="straightConnector1">
              <a:avLst/>
            </a:prstGeom>
            <a:ln w="25400">
              <a:solidFill>
                <a:srgbClr val="69F0AE"/>
              </a:solidFill>
              <a:headEnd type="oval"/>
              <a:tailEnd type="arrow"/>
            </a:ln>
          </p:spPr>
          <p:style>
            <a:lnRef idx="2">
              <a:schemeClr val="accent1"/>
            </a:lnRef>
            <a:fillRef idx="0">
              <a:srgbClr val="FFFFFF"/>
            </a:fillRef>
            <a:effectRef idx="0">
              <a:srgbClr val="FFFFFF"/>
            </a:effectRef>
            <a:fontRef idx="minor">
              <a:schemeClr val="tx1"/>
            </a:fontRef>
          </p:style>
        </p:cxnSp>
        <p:sp>
          <p:nvSpPr>
            <p:cNvPr id="10" name="文本框 9"/>
            <p:cNvSpPr txBox="1"/>
            <p:nvPr/>
          </p:nvSpPr>
          <p:spPr>
            <a:xfrm>
              <a:off x="6640" y="8867"/>
              <a:ext cx="2714" cy="580"/>
            </a:xfrm>
            <a:prstGeom prst="rect">
              <a:avLst/>
            </a:prstGeom>
            <a:noFill/>
          </p:spPr>
          <p:txBody>
            <a:bodyPr wrap="square" rtlCol="0">
              <a:spAutoFit/>
            </a:bodyPr>
            <a:lstStyle/>
            <a:p>
              <a:pPr algn="ctr"/>
              <a:r>
                <a:rPr lang="zh-CN" altLang="en-US">
                  <a:solidFill>
                    <a:schemeClr val="bg1"/>
                  </a:solidFill>
                </a:rPr>
                <a:t>自动化程度</a:t>
              </a:r>
            </a:p>
          </p:txBody>
        </p:sp>
        <p:sp>
          <p:nvSpPr>
            <p:cNvPr id="11" name="文本框 10"/>
            <p:cNvSpPr txBox="1"/>
            <p:nvPr/>
          </p:nvSpPr>
          <p:spPr>
            <a:xfrm>
              <a:off x="1742" y="5405"/>
              <a:ext cx="604" cy="1016"/>
            </a:xfrm>
            <a:prstGeom prst="rect">
              <a:avLst/>
            </a:prstGeom>
            <a:noFill/>
          </p:spPr>
          <p:txBody>
            <a:bodyPr wrap="square" rtlCol="0">
              <a:spAutoFit/>
            </a:bodyPr>
            <a:lstStyle/>
            <a:p>
              <a:pPr algn="ctr"/>
              <a:r>
                <a:rPr lang="zh-CN" altLang="en-US">
                  <a:solidFill>
                    <a:schemeClr val="bg1"/>
                  </a:solidFill>
                </a:rPr>
                <a:t>能</a:t>
              </a:r>
            </a:p>
            <a:p>
              <a:pPr algn="ctr"/>
              <a:r>
                <a:rPr lang="zh-CN" altLang="en-US">
                  <a:solidFill>
                    <a:schemeClr val="bg1"/>
                  </a:solidFill>
                </a:rPr>
                <a:t>力</a:t>
              </a:r>
            </a:p>
          </p:txBody>
        </p:sp>
      </p:grpSp>
      <p:grpSp>
        <p:nvGrpSpPr>
          <p:cNvPr id="38" name="组合 37"/>
          <p:cNvGrpSpPr/>
          <p:nvPr/>
        </p:nvGrpSpPr>
        <p:grpSpPr>
          <a:xfrm>
            <a:off x="2676525" y="3574415"/>
            <a:ext cx="2613660" cy="2014220"/>
            <a:chOff x="3167" y="5629"/>
            <a:chExt cx="4116" cy="3172"/>
          </a:xfrm>
        </p:grpSpPr>
        <p:pic>
          <p:nvPicPr>
            <p:cNvPr id="14" name="图片 13"/>
            <p:cNvPicPr>
              <a:picLocks noChangeAspect="1"/>
            </p:cNvPicPr>
            <p:nvPr/>
          </p:nvPicPr>
          <p:blipFill>
            <a:blip r:embed="rId3"/>
            <a:srcRect r="25667" b="15786"/>
            <a:stretch>
              <a:fillRect/>
            </a:stretch>
          </p:blipFill>
          <p:spPr>
            <a:xfrm flipH="1">
              <a:off x="3167" y="5629"/>
              <a:ext cx="4117" cy="2624"/>
            </a:xfrm>
            <a:custGeom>
              <a:avLst/>
              <a:gdLst/>
              <a:ahLst/>
              <a:cxnLst>
                <a:cxn ang="3">
                  <a:pos x="hc" y="t"/>
                </a:cxn>
                <a:cxn ang="cd2">
                  <a:pos x="l" y="vc"/>
                </a:cxn>
                <a:cxn ang="cd4">
                  <a:pos x="hc" y="b"/>
                </a:cxn>
                <a:cxn ang="0">
                  <a:pos x="r" y="vc"/>
                </a:cxn>
              </a:cxnLst>
              <a:rect l="l" t="t" r="r" b="b"/>
              <a:pathLst>
                <a:path w="5401" h="3441">
                  <a:moveTo>
                    <a:pt x="5401" y="3441"/>
                  </a:moveTo>
                  <a:lnTo>
                    <a:pt x="5401" y="0"/>
                  </a:lnTo>
                  <a:lnTo>
                    <a:pt x="0" y="3440"/>
                  </a:lnTo>
                  <a:lnTo>
                    <a:pt x="0" y="3441"/>
                  </a:lnTo>
                  <a:lnTo>
                    <a:pt x="5401" y="3441"/>
                  </a:lnTo>
                  <a:close/>
                </a:path>
              </a:pathLst>
            </a:custGeom>
            <a:ln w="19050">
              <a:solidFill>
                <a:schemeClr val="bg1"/>
              </a:solidFill>
            </a:ln>
            <a:effectLst>
              <a:outerShdw blurRad="50800" dist="38100" dir="2700000" algn="tl" rotWithShape="0">
                <a:schemeClr val="bg1">
                  <a:alpha val="40000"/>
                </a:schemeClr>
              </a:outerShdw>
            </a:effectLst>
          </p:spPr>
        </p:pic>
        <p:sp>
          <p:nvSpPr>
            <p:cNvPr id="34" name="文本框 33"/>
            <p:cNvSpPr txBox="1"/>
            <p:nvPr/>
          </p:nvSpPr>
          <p:spPr>
            <a:xfrm>
              <a:off x="3632" y="8319"/>
              <a:ext cx="3187" cy="483"/>
            </a:xfrm>
            <a:prstGeom prst="rect">
              <a:avLst/>
            </a:prstGeom>
            <a:noFill/>
          </p:spPr>
          <p:txBody>
            <a:bodyPr wrap="square" rtlCol="0">
              <a:spAutoFit/>
            </a:bodyPr>
            <a:lstStyle/>
            <a:p>
              <a:pPr algn="ctr"/>
              <a:r>
                <a:rPr lang="zh-CN" altLang="en-US" sz="1400">
                  <a:solidFill>
                    <a:schemeClr val="bg1"/>
                  </a:solidFill>
                </a:rPr>
                <a:t>普通车（聊天机器人）</a:t>
              </a:r>
            </a:p>
          </p:txBody>
        </p:sp>
      </p:grpSp>
      <p:grpSp>
        <p:nvGrpSpPr>
          <p:cNvPr id="39" name="组合 38"/>
          <p:cNvGrpSpPr/>
          <p:nvPr/>
        </p:nvGrpSpPr>
        <p:grpSpPr>
          <a:xfrm>
            <a:off x="2676525" y="1878965"/>
            <a:ext cx="5095875" cy="3709670"/>
            <a:chOff x="3167" y="2959"/>
            <a:chExt cx="8025" cy="5842"/>
          </a:xfrm>
        </p:grpSpPr>
        <p:pic>
          <p:nvPicPr>
            <p:cNvPr id="21" name="图片 20"/>
            <p:cNvPicPr>
              <a:picLocks noChangeAspect="1"/>
            </p:cNvPicPr>
            <p:nvPr/>
          </p:nvPicPr>
          <p:blipFill>
            <a:blip r:embed="rId4"/>
            <a:srcRect l="35393" t="8276" r="4481" b="8276"/>
            <a:stretch>
              <a:fillRect/>
            </a:stretch>
          </p:blipFill>
          <p:spPr>
            <a:xfrm>
              <a:off x="3167" y="2959"/>
              <a:ext cx="7796" cy="5294"/>
            </a:xfrm>
            <a:custGeom>
              <a:avLst/>
              <a:gdLst/>
              <a:ahLst/>
              <a:cxnLst>
                <a:cxn ang="3">
                  <a:pos x="hc" y="t"/>
                </a:cxn>
                <a:cxn ang="cd2">
                  <a:pos x="l" y="vc"/>
                </a:cxn>
                <a:cxn ang="cd4">
                  <a:pos x="hc" y="b"/>
                </a:cxn>
                <a:cxn ang="0">
                  <a:pos x="r" y="vc"/>
                </a:cxn>
              </a:cxnLst>
              <a:rect l="l" t="t" r="r" b="b"/>
              <a:pathLst>
                <a:path w="7796" h="5294">
                  <a:moveTo>
                    <a:pt x="4866" y="5294"/>
                  </a:moveTo>
                  <a:lnTo>
                    <a:pt x="0" y="1990"/>
                  </a:lnTo>
                  <a:lnTo>
                    <a:pt x="0" y="0"/>
                  </a:lnTo>
                  <a:lnTo>
                    <a:pt x="7796" y="5294"/>
                  </a:lnTo>
                  <a:lnTo>
                    <a:pt x="4866" y="5294"/>
                  </a:lnTo>
                  <a:close/>
                </a:path>
              </a:pathLst>
            </a:custGeom>
            <a:ln w="19050">
              <a:solidFill>
                <a:schemeClr val="bg1"/>
              </a:solidFill>
            </a:ln>
            <a:effectLst>
              <a:outerShdw blurRad="50800" dist="38100" dir="2700000" algn="tl" rotWithShape="0">
                <a:schemeClr val="bg1">
                  <a:alpha val="40000"/>
                </a:schemeClr>
              </a:outerShdw>
            </a:effectLst>
          </p:spPr>
        </p:pic>
        <p:sp>
          <p:nvSpPr>
            <p:cNvPr id="35" name="文本框 34"/>
            <p:cNvSpPr txBox="1"/>
            <p:nvPr/>
          </p:nvSpPr>
          <p:spPr>
            <a:xfrm>
              <a:off x="8006" y="8319"/>
              <a:ext cx="3187" cy="483"/>
            </a:xfrm>
            <a:prstGeom prst="rect">
              <a:avLst/>
            </a:prstGeom>
            <a:noFill/>
          </p:spPr>
          <p:txBody>
            <a:bodyPr wrap="square" rtlCol="0">
              <a:spAutoFit/>
            </a:bodyPr>
            <a:lstStyle/>
            <a:p>
              <a:pPr algn="ctr"/>
              <a:r>
                <a:rPr lang="zh-CN" altLang="en-US" sz="1400">
                  <a:solidFill>
                    <a:schemeClr val="bg1"/>
                  </a:solidFill>
                </a:rPr>
                <a:t>辅助驾驶（工作助手）</a:t>
              </a:r>
            </a:p>
          </p:txBody>
        </p:sp>
      </p:grpSp>
      <p:grpSp>
        <p:nvGrpSpPr>
          <p:cNvPr id="40" name="组合 39"/>
          <p:cNvGrpSpPr/>
          <p:nvPr/>
        </p:nvGrpSpPr>
        <p:grpSpPr>
          <a:xfrm>
            <a:off x="3275965" y="1878965"/>
            <a:ext cx="7082155" cy="3338830"/>
            <a:chOff x="4111" y="2959"/>
            <a:chExt cx="11153" cy="5258"/>
          </a:xfrm>
        </p:grpSpPr>
        <p:pic>
          <p:nvPicPr>
            <p:cNvPr id="25" name="图片 24"/>
            <p:cNvPicPr>
              <a:picLocks noChangeAspect="1"/>
            </p:cNvPicPr>
            <p:nvPr/>
          </p:nvPicPr>
          <p:blipFill>
            <a:blip r:embed="rId5"/>
            <a:srcRect l="13047" t="5600" r="8102"/>
            <a:stretch>
              <a:fillRect/>
            </a:stretch>
          </p:blipFill>
          <p:spPr>
            <a:xfrm flipH="1">
              <a:off x="4111" y="2959"/>
              <a:ext cx="7796" cy="5259"/>
            </a:xfrm>
            <a:custGeom>
              <a:avLst/>
              <a:gdLst/>
              <a:ahLst/>
              <a:cxnLst>
                <a:cxn ang="3">
                  <a:pos x="hc" y="t"/>
                </a:cxn>
                <a:cxn ang="cd2">
                  <a:pos x="l" y="vc"/>
                </a:cxn>
                <a:cxn ang="cd4">
                  <a:pos x="hc" y="b"/>
                </a:cxn>
                <a:cxn ang="0">
                  <a:pos x="r" y="vc"/>
                </a:cxn>
              </a:cxnLst>
              <a:rect l="l" t="t" r="r" b="b"/>
              <a:pathLst>
                <a:path w="7796" h="5259">
                  <a:moveTo>
                    <a:pt x="4866" y="0"/>
                  </a:moveTo>
                  <a:lnTo>
                    <a:pt x="0" y="3304"/>
                  </a:lnTo>
                  <a:lnTo>
                    <a:pt x="0" y="5259"/>
                  </a:lnTo>
                  <a:lnTo>
                    <a:pt x="52" y="5259"/>
                  </a:lnTo>
                  <a:lnTo>
                    <a:pt x="7796" y="0"/>
                  </a:lnTo>
                  <a:lnTo>
                    <a:pt x="4866" y="0"/>
                  </a:lnTo>
                  <a:close/>
                </a:path>
              </a:pathLst>
            </a:custGeom>
            <a:ln w="19050">
              <a:solidFill>
                <a:schemeClr val="bg1"/>
              </a:solidFill>
            </a:ln>
            <a:effectLst>
              <a:outerShdw blurRad="50800" dist="38100" dir="2700000" algn="tl" rotWithShape="0">
                <a:schemeClr val="bg1">
                  <a:alpha val="40000"/>
                </a:schemeClr>
              </a:outerShdw>
            </a:effectLst>
          </p:spPr>
        </p:pic>
        <p:sp>
          <p:nvSpPr>
            <p:cNvPr id="36" name="文本框 35"/>
            <p:cNvSpPr txBox="1"/>
            <p:nvPr/>
          </p:nvSpPr>
          <p:spPr>
            <a:xfrm>
              <a:off x="12022" y="6952"/>
              <a:ext cx="3243" cy="483"/>
            </a:xfrm>
            <a:prstGeom prst="rect">
              <a:avLst/>
            </a:prstGeom>
            <a:noFill/>
          </p:spPr>
          <p:txBody>
            <a:bodyPr wrap="square" rtlCol="0">
              <a:spAutoFit/>
            </a:bodyPr>
            <a:lstStyle/>
            <a:p>
              <a:pPr algn="l"/>
              <a:r>
                <a:rPr lang="zh-CN" altLang="en-US" sz="1400">
                  <a:solidFill>
                    <a:schemeClr val="bg1"/>
                  </a:solidFill>
                </a:rPr>
                <a:t>自动驾驶（智能体）</a:t>
              </a:r>
            </a:p>
          </p:txBody>
        </p:sp>
      </p:grpSp>
      <p:grpSp>
        <p:nvGrpSpPr>
          <p:cNvPr id="41" name="组合 40"/>
          <p:cNvGrpSpPr/>
          <p:nvPr/>
        </p:nvGrpSpPr>
        <p:grpSpPr>
          <a:xfrm>
            <a:off x="5612130" y="1878965"/>
            <a:ext cx="4745990" cy="1666240"/>
            <a:chOff x="7790" y="2959"/>
            <a:chExt cx="7474" cy="2624"/>
          </a:xfrm>
        </p:grpSpPr>
        <p:pic>
          <p:nvPicPr>
            <p:cNvPr id="32" name="图片 31" descr="车队组网协同自动驾驶"/>
            <p:cNvPicPr>
              <a:picLocks noChangeAspect="1"/>
            </p:cNvPicPr>
            <p:nvPr/>
          </p:nvPicPr>
          <p:blipFill>
            <a:blip r:embed="rId6"/>
            <a:srcRect l="6086" t="38877" r="40034"/>
            <a:stretch>
              <a:fillRect/>
            </a:stretch>
          </p:blipFill>
          <p:spPr>
            <a:xfrm>
              <a:off x="7790" y="2959"/>
              <a:ext cx="4117" cy="2624"/>
            </a:xfrm>
            <a:custGeom>
              <a:avLst/>
              <a:gdLst/>
              <a:ahLst/>
              <a:cxnLst>
                <a:cxn ang="3">
                  <a:pos x="hc" y="t"/>
                </a:cxn>
                <a:cxn ang="cd2">
                  <a:pos x="l" y="vc"/>
                </a:cxn>
                <a:cxn ang="cd4">
                  <a:pos x="hc" y="b"/>
                </a:cxn>
                <a:cxn ang="0">
                  <a:pos x="r" y="vc"/>
                </a:cxn>
              </a:cxnLst>
              <a:rect l="l" t="t" r="r" b="b"/>
              <a:pathLst>
                <a:path w="4117" h="2624">
                  <a:moveTo>
                    <a:pt x="4117" y="0"/>
                  </a:moveTo>
                  <a:lnTo>
                    <a:pt x="4117" y="2624"/>
                  </a:lnTo>
                  <a:lnTo>
                    <a:pt x="0" y="1"/>
                  </a:lnTo>
                  <a:lnTo>
                    <a:pt x="0" y="0"/>
                  </a:lnTo>
                  <a:lnTo>
                    <a:pt x="4117" y="0"/>
                  </a:lnTo>
                  <a:close/>
                </a:path>
              </a:pathLst>
            </a:custGeom>
            <a:ln w="19050">
              <a:solidFill>
                <a:schemeClr val="bg1"/>
              </a:solidFill>
            </a:ln>
            <a:effectLst>
              <a:outerShdw blurRad="50800" dist="38100" dir="2700000" algn="tl" rotWithShape="0">
                <a:schemeClr val="bg1">
                  <a:alpha val="40000"/>
                </a:schemeClr>
              </a:outerShdw>
            </a:effectLst>
          </p:spPr>
        </p:pic>
        <p:sp>
          <p:nvSpPr>
            <p:cNvPr id="37" name="文本框 36"/>
            <p:cNvSpPr txBox="1"/>
            <p:nvPr/>
          </p:nvSpPr>
          <p:spPr>
            <a:xfrm>
              <a:off x="12022" y="4029"/>
              <a:ext cx="3243" cy="483"/>
            </a:xfrm>
            <a:prstGeom prst="rect">
              <a:avLst/>
            </a:prstGeom>
            <a:noFill/>
          </p:spPr>
          <p:txBody>
            <a:bodyPr wrap="square" rtlCol="0">
              <a:spAutoFit/>
            </a:bodyPr>
            <a:lstStyle/>
            <a:p>
              <a:pPr algn="l"/>
              <a:r>
                <a:rPr lang="zh-CN" altLang="en-US" sz="1400">
                  <a:solidFill>
                    <a:schemeClr val="bg1"/>
                  </a:solidFill>
                </a:rPr>
                <a:t>自驾车队（多智能体）</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大模型产品</a:t>
            </a:r>
            <a:r>
              <a:rPr altLang="zh-CN"/>
              <a:t> vs </a:t>
            </a:r>
            <a:r>
              <a:rPr lang="zh-CN" altLang="en-US">
                <a:ea typeface="SimSun" charset="0"/>
              </a:rPr>
              <a:t>本体</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6</a:t>
            </a:fld>
            <a:endParaRPr lang="en-US" altLang="zh-CN"/>
          </a:p>
        </p:txBody>
      </p:sp>
      <p:pic>
        <p:nvPicPr>
          <p:cNvPr id="5" name="图片 4"/>
          <p:cNvPicPr>
            <a:picLocks noChangeAspect="1"/>
          </p:cNvPicPr>
          <p:nvPr/>
        </p:nvPicPr>
        <p:blipFill>
          <a:blip r:embed="rId3">
            <a:alphaModFix amt="50000"/>
          </a:blip>
          <a:stretch>
            <a:fillRect/>
          </a:stretch>
        </p:blipFill>
        <p:spPr>
          <a:xfrm>
            <a:off x="1595755" y="1221105"/>
            <a:ext cx="9000000" cy="5067118"/>
          </a:xfrm>
          <a:prstGeom prst="rect">
            <a:avLst/>
          </a:prstGeom>
        </p:spPr>
      </p:pic>
      <p:sp>
        <p:nvSpPr>
          <p:cNvPr id="6" name="文本框 5"/>
          <p:cNvSpPr txBox="1"/>
          <p:nvPr/>
        </p:nvSpPr>
        <p:spPr>
          <a:xfrm>
            <a:off x="3162935" y="3429000"/>
            <a:ext cx="2392680" cy="645160"/>
          </a:xfrm>
          <a:prstGeom prst="rect">
            <a:avLst/>
          </a:prstGeom>
          <a:noFill/>
        </p:spPr>
        <p:txBody>
          <a:bodyPr wrap="square" rtlCol="0">
            <a:spAutoFit/>
          </a:bodyPr>
          <a:lstStyle/>
          <a:p>
            <a:pPr algn="ctr"/>
            <a:r>
              <a:rPr lang="zh-CN" altLang="en-US">
                <a:solidFill>
                  <a:schemeClr val="bg1"/>
                </a:solidFill>
              </a:rPr>
              <a:t>发动机</a:t>
            </a:r>
          </a:p>
          <a:p>
            <a:pPr algn="ctr"/>
            <a:r>
              <a:rPr lang="zh-CN" altLang="en-US">
                <a:solidFill>
                  <a:schemeClr val="bg1"/>
                </a:solidFill>
              </a:rPr>
              <a:t>（模型本体</a:t>
            </a:r>
            <a:r>
              <a:rPr lang="en-US" altLang="zh-CN">
                <a:solidFill>
                  <a:schemeClr val="bg1"/>
                </a:solidFill>
              </a:rPr>
              <a:t>/Model</a:t>
            </a:r>
            <a:r>
              <a:rPr lang="zh-CN" altLang="en-US">
                <a:solidFill>
                  <a:schemeClr val="bg1"/>
                </a:solidFill>
              </a:rPr>
              <a:t>）</a:t>
            </a:r>
          </a:p>
        </p:txBody>
      </p:sp>
      <p:sp>
        <p:nvSpPr>
          <p:cNvPr id="7" name="文本框 6"/>
          <p:cNvSpPr txBox="1"/>
          <p:nvPr/>
        </p:nvSpPr>
        <p:spPr>
          <a:xfrm>
            <a:off x="5542280" y="4318000"/>
            <a:ext cx="1388745" cy="645160"/>
          </a:xfrm>
          <a:prstGeom prst="rect">
            <a:avLst/>
          </a:prstGeom>
          <a:noFill/>
        </p:spPr>
        <p:txBody>
          <a:bodyPr wrap="square" rtlCol="0">
            <a:spAutoFit/>
          </a:bodyPr>
          <a:lstStyle/>
          <a:p>
            <a:pPr algn="ctr"/>
            <a:r>
              <a:rPr lang="zh-CN" altLang="en-US">
                <a:solidFill>
                  <a:schemeClr val="bg1"/>
                </a:solidFill>
              </a:rPr>
              <a:t>车轮</a:t>
            </a:r>
          </a:p>
          <a:p>
            <a:pPr algn="ctr"/>
            <a:r>
              <a:rPr lang="zh-CN" altLang="en-US">
                <a:solidFill>
                  <a:schemeClr val="bg1"/>
                </a:solidFill>
              </a:rPr>
              <a:t>（工具</a:t>
            </a:r>
            <a:r>
              <a:rPr lang="en-US" altLang="zh-CN">
                <a:solidFill>
                  <a:schemeClr val="bg1"/>
                </a:solidFill>
              </a:rPr>
              <a:t>/Tool</a:t>
            </a:r>
            <a:r>
              <a:rPr lang="zh-CN" altLang="en-US">
                <a:solidFill>
                  <a:schemeClr val="bg1"/>
                </a:solidFill>
              </a:rPr>
              <a:t>）</a:t>
            </a:r>
          </a:p>
        </p:txBody>
      </p:sp>
      <p:sp>
        <p:nvSpPr>
          <p:cNvPr id="8" name="文本框 7"/>
          <p:cNvSpPr txBox="1"/>
          <p:nvPr/>
        </p:nvSpPr>
        <p:spPr>
          <a:xfrm>
            <a:off x="6789420" y="3672840"/>
            <a:ext cx="2748280" cy="645160"/>
          </a:xfrm>
          <a:prstGeom prst="rect">
            <a:avLst/>
          </a:prstGeom>
          <a:noFill/>
        </p:spPr>
        <p:txBody>
          <a:bodyPr wrap="square" rtlCol="0">
            <a:spAutoFit/>
          </a:bodyPr>
          <a:lstStyle/>
          <a:p>
            <a:pPr algn="ctr"/>
            <a:r>
              <a:rPr lang="zh-CN" altLang="en-US">
                <a:solidFill>
                  <a:schemeClr val="bg1"/>
                </a:solidFill>
              </a:rPr>
              <a:t>车架</a:t>
            </a:r>
            <a:r>
              <a:rPr lang="en-US" altLang="zh-CN">
                <a:solidFill>
                  <a:schemeClr val="bg1"/>
                </a:solidFill>
              </a:rPr>
              <a:t>+</a:t>
            </a:r>
            <a:r>
              <a:rPr lang="zh-CN" altLang="en-US">
                <a:solidFill>
                  <a:schemeClr val="bg1"/>
                </a:solidFill>
              </a:rPr>
              <a:t>底盘</a:t>
            </a:r>
          </a:p>
          <a:p>
            <a:pPr algn="ctr"/>
            <a:r>
              <a:rPr lang="zh-CN" altLang="en-US">
                <a:solidFill>
                  <a:schemeClr val="bg1"/>
                </a:solidFill>
              </a:rPr>
              <a:t>（驾驭层</a:t>
            </a:r>
            <a:r>
              <a:rPr lang="en-US" altLang="zh-CN">
                <a:solidFill>
                  <a:schemeClr val="bg1"/>
                </a:solidFill>
              </a:rPr>
              <a:t>/Harness</a:t>
            </a:r>
            <a:r>
              <a:rPr lang="zh-CN" altLang="en-US">
                <a:solidFill>
                  <a:schemeClr val="bg1"/>
                </a:solidFill>
              </a:rPr>
              <a:t>）</a:t>
            </a:r>
          </a:p>
        </p:txBody>
      </p:sp>
      <p:sp>
        <p:nvSpPr>
          <p:cNvPr id="9" name="文本框 8"/>
          <p:cNvSpPr txBox="1"/>
          <p:nvPr/>
        </p:nvSpPr>
        <p:spPr>
          <a:xfrm>
            <a:off x="5189855" y="2864485"/>
            <a:ext cx="2748280" cy="645160"/>
          </a:xfrm>
          <a:prstGeom prst="rect">
            <a:avLst/>
          </a:prstGeom>
          <a:noFill/>
        </p:spPr>
        <p:txBody>
          <a:bodyPr wrap="square" rtlCol="0">
            <a:spAutoFit/>
          </a:bodyPr>
          <a:lstStyle/>
          <a:p>
            <a:pPr algn="ctr"/>
            <a:r>
              <a:rPr lang="zh-CN">
                <a:solidFill>
                  <a:schemeClr val="bg1"/>
                </a:solidFill>
              </a:rPr>
              <a:t>方向盘</a:t>
            </a:r>
          </a:p>
          <a:p>
            <a:pPr algn="ctr"/>
            <a:r>
              <a:rPr lang="zh-CN">
                <a:solidFill>
                  <a:schemeClr val="bg1"/>
                </a:solidFill>
              </a:rPr>
              <a:t>（操作界面</a:t>
            </a:r>
            <a:r>
              <a:rPr lang="en-US" altLang="zh-CN">
                <a:solidFill>
                  <a:schemeClr val="bg1"/>
                </a:solidFill>
              </a:rPr>
              <a:t>/UI</a:t>
            </a:r>
            <a:r>
              <a:rPr lang="zh-CN" altLang="en-US">
                <a:solidFill>
                  <a:schemeClr val="bg1"/>
                </a:solidFill>
              </a:rPr>
              <a:t>）</a:t>
            </a:r>
          </a:p>
        </p:txBody>
      </p:sp>
      <p:sp>
        <p:nvSpPr>
          <p:cNvPr id="10" name="文本框 9"/>
          <p:cNvSpPr txBox="1"/>
          <p:nvPr/>
        </p:nvSpPr>
        <p:spPr>
          <a:xfrm>
            <a:off x="4721860" y="5422900"/>
            <a:ext cx="2748280" cy="645160"/>
          </a:xfrm>
          <a:prstGeom prst="rect">
            <a:avLst/>
          </a:prstGeom>
          <a:noFill/>
        </p:spPr>
        <p:txBody>
          <a:bodyPr wrap="square" rtlCol="0">
            <a:spAutoFit/>
          </a:bodyPr>
          <a:lstStyle/>
          <a:p>
            <a:pPr algn="ctr"/>
            <a:r>
              <a:rPr lang="zh-CN">
                <a:solidFill>
                  <a:schemeClr val="bg1"/>
                </a:solidFill>
              </a:rPr>
              <a:t>整车</a:t>
            </a:r>
          </a:p>
          <a:p>
            <a:pPr algn="ctr"/>
            <a:r>
              <a:rPr lang="zh-CN">
                <a:solidFill>
                  <a:schemeClr val="bg1"/>
                </a:solidFill>
              </a:rPr>
              <a:t>（大模型产品</a:t>
            </a:r>
            <a:r>
              <a:rPr lang="en-US" altLang="zh-CN">
                <a:solidFill>
                  <a:schemeClr val="bg1"/>
                </a:solidFill>
              </a:rPr>
              <a:t>/Product</a:t>
            </a:r>
            <a:r>
              <a:rPr lang="zh-CN" altLang="en-US">
                <a:solidFill>
                  <a:schemeClr val="bg1"/>
                </a:solidFill>
              </a:rPr>
              <a:t>）</a:t>
            </a:r>
          </a:p>
        </p:txBody>
      </p:sp>
      <p:sp>
        <p:nvSpPr>
          <p:cNvPr id="14" name="文本框 13"/>
          <p:cNvSpPr txBox="1"/>
          <p:nvPr/>
        </p:nvSpPr>
        <p:spPr>
          <a:xfrm>
            <a:off x="7641590" y="2462530"/>
            <a:ext cx="4064000" cy="2584450"/>
          </a:xfrm>
          <a:prstGeom prst="rect">
            <a:avLst/>
          </a:prstGeom>
          <a:noFill/>
        </p:spPr>
        <p:txBody>
          <a:bodyPr wrap="square" rtlCol="0">
            <a:spAutoFit/>
          </a:bodyPr>
          <a:lstStyle/>
          <a:p>
            <a:pPr marL="285750" indent="-285750">
              <a:lnSpc>
                <a:spcPct val="150000"/>
              </a:lnSpc>
              <a:buFont typeface="Arial" panose="02080604020202020204" pitchFamily="34" charset="0"/>
              <a:buChar char="•"/>
            </a:pPr>
            <a:r>
              <a:rPr lang="zh-CN" altLang="en-US" b="1">
                <a:solidFill>
                  <a:schemeClr val="bg1"/>
                </a:solidFill>
              </a:rPr>
              <a:t>模型本体无状态：</a:t>
            </a:r>
            <a:r>
              <a:rPr lang="zh-CN" altLang="en-US">
                <a:solidFill>
                  <a:schemeClr val="bg1"/>
                </a:solidFill>
              </a:rPr>
              <a:t>模型本体无记忆，对话上下文都在外部存储</a:t>
            </a:r>
          </a:p>
          <a:p>
            <a:pPr marL="285750" indent="-285750">
              <a:lnSpc>
                <a:spcPct val="150000"/>
              </a:lnSpc>
              <a:buFont typeface="Arial" panose="02080604020202020204" pitchFamily="34" charset="0"/>
              <a:buChar char="•"/>
            </a:pPr>
            <a:endParaRPr lang="zh-CN" altLang="en-US">
              <a:solidFill>
                <a:schemeClr val="bg1"/>
              </a:solidFill>
            </a:endParaRPr>
          </a:p>
          <a:p>
            <a:pPr marL="285750" indent="-285750">
              <a:lnSpc>
                <a:spcPct val="150000"/>
              </a:lnSpc>
              <a:buFont typeface="Arial" panose="02080604020202020204" pitchFamily="34" charset="0"/>
              <a:buChar char="•"/>
            </a:pPr>
            <a:r>
              <a:rPr lang="zh-CN" altLang="en-US" b="1">
                <a:solidFill>
                  <a:schemeClr val="bg1"/>
                </a:solidFill>
              </a:rPr>
              <a:t>模型本体的知识有截止日期：</a:t>
            </a:r>
            <a:r>
              <a:rPr lang="zh-CN" altLang="en-US">
                <a:solidFill>
                  <a:schemeClr val="bg1"/>
                </a:solidFill>
              </a:rPr>
              <a:t>模型本体不具备训练截止之后的信息，新的信息都是通过工具获取的</a:t>
            </a:r>
            <a:endParaRPr lang="en-US" altLang="zh-CN">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1"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1"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35" presetClass="path" presetSubtype="0" accel="50000" decel="50000" fill="hold" nodeType="clickEffect">
                                  <p:stCondLst>
                                    <p:cond delay="0"/>
                                  </p:stCondLst>
                                  <p:childTnLst>
                                    <p:animMotion origin="layout" path="M 0 0 L -0.165312 0 " pathEditMode="relative" rAng="0" ptsTypes="">
                                      <p:cBhvr>
                                        <p:cTn id="36" dur="1000" fill="hold"/>
                                        <p:tgtEl>
                                          <p:spTgt spid="5"/>
                                        </p:tgtEl>
                                        <p:attrNameLst>
                                          <p:attrName>ppt_x</p:attrName>
                                          <p:attrName>ppt_y</p:attrName>
                                        </p:attrNameLst>
                                      </p:cBhvr>
                                      <p:rCtr x="-98" y="0"/>
                                    </p:animMotion>
                                  </p:childTnLst>
                                </p:cTn>
                              </p:par>
                              <p:par>
                                <p:cTn id="37" presetID="35" presetClass="path" presetSubtype="0" accel="50000" decel="50000" fill="hold" grpId="0" nodeType="withEffect">
                                  <p:stCondLst>
                                    <p:cond delay="0"/>
                                  </p:stCondLst>
                                  <p:childTnLst>
                                    <p:animMotion origin="layout" path="M 0 0 L -0.165312 0 " pathEditMode="relative" rAng="0" ptsTypes="">
                                      <p:cBhvr>
                                        <p:cTn id="38" dur="1000" fill="hold"/>
                                        <p:tgtEl>
                                          <p:spTgt spid="6"/>
                                        </p:tgtEl>
                                        <p:attrNameLst>
                                          <p:attrName>ppt_x</p:attrName>
                                          <p:attrName>ppt_y</p:attrName>
                                        </p:attrNameLst>
                                      </p:cBhvr>
                                      <p:rCtr x="-98" y="0"/>
                                    </p:animMotion>
                                  </p:childTnLst>
                                </p:cTn>
                              </p:par>
                              <p:par>
                                <p:cTn id="39" presetID="35" presetClass="path" presetSubtype="0" accel="50000" decel="50000" fill="hold" grpId="0" nodeType="withEffect">
                                  <p:stCondLst>
                                    <p:cond delay="0"/>
                                  </p:stCondLst>
                                  <p:childTnLst>
                                    <p:animMotion origin="layout" path="M 0 0 L -0.165312 0 " pathEditMode="relative" rAng="0" ptsTypes="">
                                      <p:cBhvr>
                                        <p:cTn id="40" dur="1000" fill="hold"/>
                                        <p:tgtEl>
                                          <p:spTgt spid="9"/>
                                        </p:tgtEl>
                                        <p:attrNameLst>
                                          <p:attrName>ppt_x</p:attrName>
                                          <p:attrName>ppt_y</p:attrName>
                                        </p:attrNameLst>
                                      </p:cBhvr>
                                      <p:rCtr x="-98" y="0"/>
                                    </p:animMotion>
                                  </p:childTnLst>
                                </p:cTn>
                              </p:par>
                              <p:par>
                                <p:cTn id="41" presetID="35" presetClass="path" presetSubtype="0" accel="50000" decel="50000" fill="hold" grpId="0" nodeType="withEffect">
                                  <p:stCondLst>
                                    <p:cond delay="0"/>
                                  </p:stCondLst>
                                  <p:childTnLst>
                                    <p:animMotion origin="layout" path="M 0 0 L -0.165312 0 " pathEditMode="relative" rAng="0" ptsTypes="">
                                      <p:cBhvr>
                                        <p:cTn id="42" dur="1000" fill="hold"/>
                                        <p:tgtEl>
                                          <p:spTgt spid="7"/>
                                        </p:tgtEl>
                                        <p:attrNameLst>
                                          <p:attrName>ppt_x</p:attrName>
                                          <p:attrName>ppt_y</p:attrName>
                                        </p:attrNameLst>
                                      </p:cBhvr>
                                      <p:rCtr x="-98" y="0"/>
                                    </p:animMotion>
                                  </p:childTnLst>
                                </p:cTn>
                              </p:par>
                              <p:par>
                                <p:cTn id="43" presetID="35" presetClass="path" presetSubtype="0" accel="50000" decel="50000" fill="hold" grpId="0" nodeType="withEffect">
                                  <p:stCondLst>
                                    <p:cond delay="0"/>
                                  </p:stCondLst>
                                  <p:childTnLst>
                                    <p:animMotion origin="layout" path="M 0 0 L -0.165312 0 " pathEditMode="relative" rAng="0" ptsTypes="">
                                      <p:cBhvr>
                                        <p:cTn id="44" dur="1000" fill="hold"/>
                                        <p:tgtEl>
                                          <p:spTgt spid="8"/>
                                        </p:tgtEl>
                                        <p:attrNameLst>
                                          <p:attrName>ppt_x</p:attrName>
                                          <p:attrName>ppt_y</p:attrName>
                                        </p:attrNameLst>
                                      </p:cBhvr>
                                      <p:rCtr x="-98" y="0"/>
                                    </p:animMotion>
                                  </p:childTnLst>
                                </p:cTn>
                              </p:par>
                              <p:par>
                                <p:cTn id="45" presetID="35" presetClass="path" presetSubtype="0" accel="50000" decel="50000" fill="hold" grpId="0" nodeType="withEffect">
                                  <p:stCondLst>
                                    <p:cond delay="0"/>
                                  </p:stCondLst>
                                  <p:childTnLst>
                                    <p:animMotion origin="layout" path="M 0 0 L -0.165312 0 " pathEditMode="relative" rAng="0" ptsTypes="">
                                      <p:cBhvr>
                                        <p:cTn id="46" dur="1000" fill="hold"/>
                                        <p:tgtEl>
                                          <p:spTgt spid="10"/>
                                        </p:tgtEl>
                                        <p:attrNameLst>
                                          <p:attrName>ppt_x</p:attrName>
                                          <p:attrName>ppt_y</p:attrName>
                                        </p:attrNameLst>
                                      </p:cBhvr>
                                      <p:rCtr x="-98" y="0"/>
                                    </p:animMotion>
                                  </p:childTnLst>
                                </p:cTn>
                              </p:par>
                            </p:childTnLst>
                          </p:cTn>
                        </p:par>
                        <p:par>
                          <p:cTn id="47" fill="hold">
                            <p:stCondLst>
                              <p:cond delay="100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P spid="7" grpId="1"/>
      <p:bldP spid="8" grpId="0"/>
      <p:bldP spid="8" grpId="1"/>
      <p:bldP spid="9" grpId="0"/>
      <p:bldP spid="9" grpId="1"/>
      <p:bldP spid="10" grpId="0"/>
      <p:bldP spid="10" grpId="1"/>
      <p:bldP spid="14" grpId="0"/>
      <p:bldP spid="14"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一个例子</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7</a:t>
            </a:fld>
            <a:endParaRPr lang="en-US" altLang="zh-CN"/>
          </a:p>
        </p:txBody>
      </p:sp>
      <p:pic>
        <p:nvPicPr>
          <p:cNvPr id="7" name="图片 6" descr="AI解题"/>
          <p:cNvPicPr>
            <a:picLocks noChangeAspect="1"/>
          </p:cNvPicPr>
          <p:nvPr/>
        </p:nvPicPr>
        <p:blipFill>
          <a:blip r:embed="rId3"/>
          <a:srcRect t="21922" b="21922"/>
          <a:stretch>
            <a:fillRect/>
          </a:stretch>
        </p:blipFill>
        <p:spPr>
          <a:xfrm>
            <a:off x="1157605" y="2013585"/>
            <a:ext cx="3600000" cy="3600000"/>
          </a:xfrm>
          <a:prstGeom prst="rect">
            <a:avLst/>
          </a:prstGeom>
          <a:ln w="19050">
            <a:solidFill>
              <a:schemeClr val="bg1"/>
            </a:solidFill>
          </a:ln>
          <a:effectLst>
            <a:outerShdw blurRad="50800" dist="38100" dir="2700000" algn="tl" rotWithShape="0">
              <a:schemeClr val="bg1">
                <a:alpha val="40000"/>
              </a:schemeClr>
            </a:outerShdw>
          </a:effectLst>
        </p:spPr>
      </p:pic>
      <p:sp>
        <p:nvSpPr>
          <p:cNvPr id="6" name="AutoShape 6"/>
          <p:cNvSpPr/>
          <p:nvPr/>
        </p:nvSpPr>
        <p:spPr>
          <a:xfrm>
            <a:off x="6925945" y="2012950"/>
            <a:ext cx="899795" cy="3600450"/>
          </a:xfrm>
          <a:prstGeom prst="roundRect">
            <a:avLst>
              <a:gd name="adj" fmla="val 0"/>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豆</a:t>
            </a: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包</a:t>
            </a:r>
          </a:p>
        </p:txBody>
      </p:sp>
      <p:sp>
        <p:nvSpPr>
          <p:cNvPr id="5" name="AutoShape 6"/>
          <p:cNvSpPr/>
          <p:nvPr/>
        </p:nvSpPr>
        <p:spPr>
          <a:xfrm>
            <a:off x="9994265" y="4070350"/>
            <a:ext cx="899795" cy="154305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en-US" altLang="zh-CN" sz="2400" b="1" i="0" u="none" strike="noStrike">
                <a:solidFill>
                  <a:srgbClr val="FFFFFF"/>
                </a:solidFill>
                <a:latin typeface="Noto Sans SC"/>
                <a:ea typeface="SimSun" charset="0"/>
                <a:cs typeface="Noto Sans SC"/>
                <a:sym typeface="Noto Sans SC"/>
              </a:rPr>
              <a:t>Seed</a:t>
            </a:r>
          </a:p>
          <a:p>
            <a:pPr marL="0" indent="0" algn="ctr">
              <a:lnSpc>
                <a:spcPct val="125000"/>
              </a:lnSpc>
              <a:defRPr/>
            </a:pPr>
            <a:r>
              <a:rPr lang="zh-CN" altLang="en-US" sz="2400" b="1" i="0" u="none" strike="noStrike">
                <a:solidFill>
                  <a:srgbClr val="FFFFFF"/>
                </a:solidFill>
                <a:latin typeface="Noto Sans SC"/>
                <a:ea typeface="SimSun" charset="0"/>
                <a:cs typeface="Noto Sans SC"/>
                <a:sym typeface="Noto Sans SC"/>
              </a:rPr>
              <a:t>系列</a:t>
            </a:r>
          </a:p>
        </p:txBody>
      </p:sp>
      <p:sp>
        <p:nvSpPr>
          <p:cNvPr id="8" name="文本框 7"/>
          <p:cNvSpPr txBox="1"/>
          <p:nvPr/>
        </p:nvSpPr>
        <p:spPr>
          <a:xfrm>
            <a:off x="6802120" y="5780405"/>
            <a:ext cx="1146810" cy="368300"/>
          </a:xfrm>
          <a:prstGeom prst="rect">
            <a:avLst/>
          </a:prstGeom>
          <a:noFill/>
        </p:spPr>
        <p:txBody>
          <a:bodyPr wrap="square" rtlCol="0">
            <a:spAutoFit/>
          </a:bodyPr>
          <a:lstStyle/>
          <a:p>
            <a:pPr algn="ctr"/>
            <a:r>
              <a:rPr lang="zh-CN" altLang="en-US">
                <a:solidFill>
                  <a:schemeClr val="bg1"/>
                </a:solidFill>
              </a:rPr>
              <a:t>【产品】</a:t>
            </a:r>
          </a:p>
        </p:txBody>
      </p:sp>
      <p:sp>
        <p:nvSpPr>
          <p:cNvPr id="10" name="文本框 9"/>
          <p:cNvSpPr txBox="1"/>
          <p:nvPr/>
        </p:nvSpPr>
        <p:spPr>
          <a:xfrm>
            <a:off x="9870440" y="5780405"/>
            <a:ext cx="1146810" cy="368300"/>
          </a:xfrm>
          <a:prstGeom prst="rect">
            <a:avLst/>
          </a:prstGeom>
          <a:noFill/>
        </p:spPr>
        <p:txBody>
          <a:bodyPr wrap="square" rtlCol="0">
            <a:spAutoFit/>
          </a:bodyPr>
          <a:lstStyle/>
          <a:p>
            <a:pPr algn="ctr"/>
            <a:r>
              <a:rPr lang="zh-CN" altLang="en-US">
                <a:solidFill>
                  <a:schemeClr val="bg1"/>
                </a:solidFill>
              </a:rPr>
              <a:t>【模型】</a:t>
            </a:r>
          </a:p>
        </p:txBody>
      </p:sp>
      <p:grpSp>
        <p:nvGrpSpPr>
          <p:cNvPr id="20" name="组合 19"/>
          <p:cNvGrpSpPr/>
          <p:nvPr/>
        </p:nvGrpSpPr>
        <p:grpSpPr>
          <a:xfrm>
            <a:off x="4900295" y="2999740"/>
            <a:ext cx="1880870" cy="306705"/>
            <a:chOff x="7760" y="3351"/>
            <a:chExt cx="2962" cy="483"/>
          </a:xfrm>
        </p:grpSpPr>
        <p:cxnSp>
          <p:nvCxnSpPr>
            <p:cNvPr id="18" name="直接箭头连接符 17"/>
            <p:cNvCxnSpPr/>
            <p:nvPr/>
          </p:nvCxnSpPr>
          <p:spPr>
            <a:xfrm>
              <a:off x="7760" y="3834"/>
              <a:ext cx="2962" cy="0"/>
            </a:xfrm>
            <a:prstGeom prst="straightConnector1">
              <a:avLst/>
            </a:prstGeom>
            <a:ln w="19050">
              <a:solidFill>
                <a:schemeClr val="accent6">
                  <a:lumMod val="60000"/>
                  <a:lumOff val="40000"/>
                </a:schemeClr>
              </a:solidFill>
              <a:prstDash val="sysDash"/>
              <a:tailEnd type="stealth" w="lg" len="lg"/>
            </a:ln>
          </p:spPr>
          <p:style>
            <a:lnRef idx="2">
              <a:schemeClr val="accent1"/>
            </a:lnRef>
            <a:fillRef idx="0">
              <a:srgbClr val="FFFFFF"/>
            </a:fillRef>
            <a:effectRef idx="0">
              <a:srgbClr val="FFFFFF"/>
            </a:effectRef>
            <a:fontRef idx="minor">
              <a:schemeClr val="tx1"/>
            </a:fontRef>
          </p:style>
        </p:cxnSp>
        <p:sp>
          <p:nvSpPr>
            <p:cNvPr id="19" name="文本框 18"/>
            <p:cNvSpPr txBox="1"/>
            <p:nvPr/>
          </p:nvSpPr>
          <p:spPr>
            <a:xfrm>
              <a:off x="8071" y="3351"/>
              <a:ext cx="2342" cy="483"/>
            </a:xfrm>
            <a:prstGeom prst="rect">
              <a:avLst/>
            </a:prstGeom>
            <a:noFill/>
          </p:spPr>
          <p:txBody>
            <a:bodyPr wrap="square" rtlCol="0">
              <a:spAutoFit/>
            </a:bodyPr>
            <a:lstStyle/>
            <a:p>
              <a:pPr algn="ctr"/>
              <a:r>
                <a:rPr lang="zh-CN" altLang="en-US" sz="1400">
                  <a:solidFill>
                    <a:schemeClr val="accent6">
                      <a:lumMod val="60000"/>
                      <a:lumOff val="40000"/>
                    </a:schemeClr>
                  </a:solidFill>
                </a:rPr>
                <a:t>语音</a:t>
              </a:r>
              <a:r>
                <a:rPr lang="en-US" altLang="zh-CN" sz="1400">
                  <a:solidFill>
                    <a:schemeClr val="accent6">
                      <a:lumMod val="60000"/>
                      <a:lumOff val="40000"/>
                    </a:schemeClr>
                  </a:solidFill>
                </a:rPr>
                <a:t>+</a:t>
              </a:r>
              <a:r>
                <a:rPr lang="zh-CN" altLang="en-US" sz="1400">
                  <a:solidFill>
                    <a:schemeClr val="accent6">
                      <a:lumMod val="60000"/>
                      <a:lumOff val="40000"/>
                    </a:schemeClr>
                  </a:solidFill>
                </a:rPr>
                <a:t>图片</a:t>
              </a:r>
            </a:p>
          </p:txBody>
        </p:sp>
      </p:grpSp>
      <p:grpSp>
        <p:nvGrpSpPr>
          <p:cNvPr id="21" name="组合 20"/>
          <p:cNvGrpSpPr/>
          <p:nvPr/>
        </p:nvGrpSpPr>
        <p:grpSpPr>
          <a:xfrm>
            <a:off x="7968615" y="2013585"/>
            <a:ext cx="1880870" cy="306705"/>
            <a:chOff x="7760" y="3351"/>
            <a:chExt cx="2962" cy="483"/>
          </a:xfrm>
        </p:grpSpPr>
        <p:cxnSp>
          <p:nvCxnSpPr>
            <p:cNvPr id="22" name="直接箭头连接符 21"/>
            <p:cNvCxnSpPr/>
            <p:nvPr/>
          </p:nvCxnSpPr>
          <p:spPr>
            <a:xfrm>
              <a:off x="7760" y="3834"/>
              <a:ext cx="2962" cy="0"/>
            </a:xfrm>
            <a:prstGeom prst="straightConnector1">
              <a:avLst/>
            </a:prstGeom>
            <a:ln w="19050">
              <a:solidFill>
                <a:srgbClr val="00E5FA"/>
              </a:solidFill>
              <a:prstDash val="sysDash"/>
              <a:tailEnd type="stealth" w="lg" len="lg"/>
            </a:ln>
          </p:spPr>
          <p:style>
            <a:lnRef idx="2">
              <a:schemeClr val="accent1"/>
            </a:lnRef>
            <a:fillRef idx="0">
              <a:srgbClr val="FFFFFF"/>
            </a:fillRef>
            <a:effectRef idx="0">
              <a:srgbClr val="FFFFFF"/>
            </a:effectRef>
            <a:fontRef idx="minor">
              <a:schemeClr val="tx1"/>
            </a:fontRef>
          </p:style>
        </p:cxnSp>
        <p:sp>
          <p:nvSpPr>
            <p:cNvPr id="23" name="文本框 22"/>
            <p:cNvSpPr txBox="1"/>
            <p:nvPr/>
          </p:nvSpPr>
          <p:spPr>
            <a:xfrm>
              <a:off x="8071" y="3351"/>
              <a:ext cx="2342" cy="483"/>
            </a:xfrm>
            <a:prstGeom prst="rect">
              <a:avLst/>
            </a:prstGeom>
            <a:noFill/>
          </p:spPr>
          <p:txBody>
            <a:bodyPr wrap="square" rtlCol="0">
              <a:spAutoFit/>
            </a:bodyPr>
            <a:lstStyle/>
            <a:p>
              <a:pPr algn="ctr"/>
              <a:r>
                <a:rPr lang="zh-CN" altLang="en-US" sz="1400">
                  <a:solidFill>
                    <a:srgbClr val="00E5FA"/>
                  </a:solidFill>
                </a:rPr>
                <a:t>语音</a:t>
              </a:r>
            </a:p>
          </p:txBody>
        </p:sp>
      </p:grpSp>
      <p:grpSp>
        <p:nvGrpSpPr>
          <p:cNvPr id="24" name="组合 23"/>
          <p:cNvGrpSpPr/>
          <p:nvPr/>
        </p:nvGrpSpPr>
        <p:grpSpPr>
          <a:xfrm>
            <a:off x="7970520" y="2447290"/>
            <a:ext cx="1880870" cy="306705"/>
            <a:chOff x="7760" y="3351"/>
            <a:chExt cx="2962" cy="483"/>
          </a:xfrm>
        </p:grpSpPr>
        <p:cxnSp>
          <p:nvCxnSpPr>
            <p:cNvPr id="25" name="直接箭头连接符 24"/>
            <p:cNvCxnSpPr/>
            <p:nvPr/>
          </p:nvCxnSpPr>
          <p:spPr>
            <a:xfrm>
              <a:off x="7760" y="3834"/>
              <a:ext cx="2962" cy="0"/>
            </a:xfrm>
            <a:prstGeom prst="straightConnector1">
              <a:avLst/>
            </a:prstGeom>
            <a:ln w="19050">
              <a:solidFill>
                <a:srgbClr val="69F0AE"/>
              </a:solidFill>
              <a:prstDash val="sysDash"/>
              <a:headEnd type="stealth" w="lg" len="lg"/>
              <a:tailEnd type="none"/>
            </a:ln>
          </p:spPr>
          <p:style>
            <a:lnRef idx="2">
              <a:schemeClr val="accent1"/>
            </a:lnRef>
            <a:fillRef idx="0">
              <a:srgbClr val="FFFFFF"/>
            </a:fillRef>
            <a:effectRef idx="0">
              <a:srgbClr val="FFFFFF"/>
            </a:effectRef>
            <a:fontRef idx="minor">
              <a:schemeClr val="tx1"/>
            </a:fontRef>
          </p:style>
        </p:cxnSp>
        <p:sp>
          <p:nvSpPr>
            <p:cNvPr id="26" name="文本框 25"/>
            <p:cNvSpPr txBox="1"/>
            <p:nvPr/>
          </p:nvSpPr>
          <p:spPr>
            <a:xfrm>
              <a:off x="8071" y="3351"/>
              <a:ext cx="2342" cy="483"/>
            </a:xfrm>
            <a:prstGeom prst="rect">
              <a:avLst/>
            </a:prstGeom>
            <a:noFill/>
          </p:spPr>
          <p:txBody>
            <a:bodyPr wrap="square" rtlCol="0">
              <a:spAutoFit/>
            </a:bodyPr>
            <a:lstStyle/>
            <a:p>
              <a:pPr algn="ctr"/>
              <a:r>
                <a:rPr lang="zh-CN" altLang="en-US" sz="1400">
                  <a:solidFill>
                    <a:srgbClr val="69F0AE"/>
                  </a:solidFill>
                </a:rPr>
                <a:t>文本</a:t>
              </a:r>
            </a:p>
          </p:txBody>
        </p:sp>
      </p:grpSp>
      <p:grpSp>
        <p:nvGrpSpPr>
          <p:cNvPr id="27" name="组合 26"/>
          <p:cNvGrpSpPr/>
          <p:nvPr/>
        </p:nvGrpSpPr>
        <p:grpSpPr>
          <a:xfrm>
            <a:off x="7968615" y="4330700"/>
            <a:ext cx="1880870" cy="306705"/>
            <a:chOff x="7760" y="3351"/>
            <a:chExt cx="2962" cy="483"/>
          </a:xfrm>
        </p:grpSpPr>
        <p:cxnSp>
          <p:nvCxnSpPr>
            <p:cNvPr id="28" name="直接箭头连接符 27"/>
            <p:cNvCxnSpPr/>
            <p:nvPr/>
          </p:nvCxnSpPr>
          <p:spPr>
            <a:xfrm>
              <a:off x="7760" y="3834"/>
              <a:ext cx="2962" cy="0"/>
            </a:xfrm>
            <a:prstGeom prst="straightConnector1">
              <a:avLst/>
            </a:prstGeom>
            <a:ln w="19050">
              <a:solidFill>
                <a:srgbClr val="00E5FA"/>
              </a:solidFill>
              <a:prstDash val="sysDash"/>
              <a:tailEnd type="stealth" w="lg" len="lg"/>
            </a:ln>
          </p:spPr>
          <p:style>
            <a:lnRef idx="2">
              <a:schemeClr val="accent1"/>
            </a:lnRef>
            <a:fillRef idx="0">
              <a:srgbClr val="FFFFFF"/>
            </a:fillRef>
            <a:effectRef idx="0">
              <a:srgbClr val="FFFFFF"/>
            </a:effectRef>
            <a:fontRef idx="minor">
              <a:schemeClr val="tx1"/>
            </a:fontRef>
          </p:style>
        </p:cxnSp>
        <p:sp>
          <p:nvSpPr>
            <p:cNvPr id="29" name="文本框 28"/>
            <p:cNvSpPr txBox="1"/>
            <p:nvPr/>
          </p:nvSpPr>
          <p:spPr>
            <a:xfrm>
              <a:off x="8071" y="3351"/>
              <a:ext cx="2342" cy="483"/>
            </a:xfrm>
            <a:prstGeom prst="rect">
              <a:avLst/>
            </a:prstGeom>
            <a:noFill/>
          </p:spPr>
          <p:txBody>
            <a:bodyPr wrap="square" rtlCol="0">
              <a:spAutoFit/>
            </a:bodyPr>
            <a:lstStyle/>
            <a:p>
              <a:pPr algn="ctr"/>
              <a:r>
                <a:rPr lang="zh-CN" altLang="en-US" sz="1400">
                  <a:solidFill>
                    <a:srgbClr val="00E5FA"/>
                  </a:solidFill>
                </a:rPr>
                <a:t>文本</a:t>
              </a:r>
              <a:r>
                <a:rPr lang="en-US" altLang="zh-CN" sz="1400">
                  <a:solidFill>
                    <a:srgbClr val="00E5FA"/>
                  </a:solidFill>
                </a:rPr>
                <a:t>+</a:t>
              </a:r>
              <a:r>
                <a:rPr lang="zh-CN" altLang="en-US" sz="1400">
                  <a:solidFill>
                    <a:srgbClr val="00E5FA"/>
                  </a:solidFill>
                </a:rPr>
                <a:t>图片</a:t>
              </a:r>
            </a:p>
          </p:txBody>
        </p:sp>
      </p:grpSp>
      <p:grpSp>
        <p:nvGrpSpPr>
          <p:cNvPr id="33" name="组合 32"/>
          <p:cNvGrpSpPr/>
          <p:nvPr/>
        </p:nvGrpSpPr>
        <p:grpSpPr>
          <a:xfrm>
            <a:off x="7968615" y="4798695"/>
            <a:ext cx="1880870" cy="306705"/>
            <a:chOff x="7760" y="3351"/>
            <a:chExt cx="2962" cy="483"/>
          </a:xfrm>
        </p:grpSpPr>
        <p:cxnSp>
          <p:nvCxnSpPr>
            <p:cNvPr id="34" name="直接箭头连接符 33"/>
            <p:cNvCxnSpPr/>
            <p:nvPr/>
          </p:nvCxnSpPr>
          <p:spPr>
            <a:xfrm>
              <a:off x="7760" y="3834"/>
              <a:ext cx="2962" cy="0"/>
            </a:xfrm>
            <a:prstGeom prst="straightConnector1">
              <a:avLst/>
            </a:prstGeom>
            <a:ln w="19050">
              <a:solidFill>
                <a:srgbClr val="B388FF"/>
              </a:solidFill>
              <a:prstDash val="sysDash"/>
              <a:headEnd type="stealth" w="lg" len="lg"/>
              <a:tailEnd type="none"/>
            </a:ln>
          </p:spPr>
          <p:style>
            <a:lnRef idx="2">
              <a:schemeClr val="accent1"/>
            </a:lnRef>
            <a:fillRef idx="0">
              <a:srgbClr val="FFFFFF"/>
            </a:fillRef>
            <a:effectRef idx="0">
              <a:srgbClr val="FFFFFF"/>
            </a:effectRef>
            <a:fontRef idx="minor">
              <a:schemeClr val="tx1"/>
            </a:fontRef>
          </p:style>
        </p:cxnSp>
        <p:sp>
          <p:nvSpPr>
            <p:cNvPr id="35" name="文本框 34"/>
            <p:cNvSpPr txBox="1"/>
            <p:nvPr/>
          </p:nvSpPr>
          <p:spPr>
            <a:xfrm>
              <a:off x="8071" y="3351"/>
              <a:ext cx="2342" cy="483"/>
            </a:xfrm>
            <a:prstGeom prst="rect">
              <a:avLst/>
            </a:prstGeom>
            <a:noFill/>
          </p:spPr>
          <p:txBody>
            <a:bodyPr wrap="square" rtlCol="0">
              <a:spAutoFit/>
            </a:bodyPr>
            <a:lstStyle/>
            <a:p>
              <a:pPr algn="ctr"/>
              <a:r>
                <a:rPr lang="zh-CN" altLang="en-US" sz="1400">
                  <a:solidFill>
                    <a:srgbClr val="B388FF"/>
                  </a:solidFill>
                </a:rPr>
                <a:t>文本</a:t>
              </a:r>
            </a:p>
          </p:txBody>
        </p:sp>
      </p:grpSp>
      <p:grpSp>
        <p:nvGrpSpPr>
          <p:cNvPr id="36" name="组合 35"/>
          <p:cNvGrpSpPr/>
          <p:nvPr/>
        </p:nvGrpSpPr>
        <p:grpSpPr>
          <a:xfrm>
            <a:off x="7968615" y="2935605"/>
            <a:ext cx="1880870" cy="306705"/>
            <a:chOff x="7760" y="3351"/>
            <a:chExt cx="2962" cy="483"/>
          </a:xfrm>
        </p:grpSpPr>
        <p:cxnSp>
          <p:nvCxnSpPr>
            <p:cNvPr id="37" name="直接箭头连接符 36"/>
            <p:cNvCxnSpPr/>
            <p:nvPr/>
          </p:nvCxnSpPr>
          <p:spPr>
            <a:xfrm>
              <a:off x="7760" y="3834"/>
              <a:ext cx="2962" cy="0"/>
            </a:xfrm>
            <a:prstGeom prst="straightConnector1">
              <a:avLst/>
            </a:prstGeom>
            <a:ln w="19050">
              <a:solidFill>
                <a:srgbClr val="00E5FA"/>
              </a:solidFill>
              <a:prstDash val="sysDash"/>
              <a:tailEnd type="stealth" w="lg" len="lg"/>
            </a:ln>
          </p:spPr>
          <p:style>
            <a:lnRef idx="2">
              <a:schemeClr val="accent1"/>
            </a:lnRef>
            <a:fillRef idx="0">
              <a:srgbClr val="FFFFFF"/>
            </a:fillRef>
            <a:effectRef idx="0">
              <a:srgbClr val="FFFFFF"/>
            </a:effectRef>
            <a:fontRef idx="minor">
              <a:schemeClr val="tx1"/>
            </a:fontRef>
          </p:style>
        </p:cxnSp>
        <p:sp>
          <p:nvSpPr>
            <p:cNvPr id="38" name="文本框 37"/>
            <p:cNvSpPr txBox="1"/>
            <p:nvPr/>
          </p:nvSpPr>
          <p:spPr>
            <a:xfrm>
              <a:off x="8071" y="3351"/>
              <a:ext cx="2342" cy="483"/>
            </a:xfrm>
            <a:prstGeom prst="rect">
              <a:avLst/>
            </a:prstGeom>
            <a:noFill/>
          </p:spPr>
          <p:txBody>
            <a:bodyPr wrap="square" rtlCol="0">
              <a:spAutoFit/>
            </a:bodyPr>
            <a:lstStyle/>
            <a:p>
              <a:pPr algn="ctr"/>
              <a:r>
                <a:rPr lang="zh-CN" altLang="en-US" sz="1400">
                  <a:solidFill>
                    <a:srgbClr val="00E5FA"/>
                  </a:solidFill>
                </a:rPr>
                <a:t>工具指令</a:t>
              </a:r>
            </a:p>
          </p:txBody>
        </p:sp>
      </p:grpSp>
      <p:grpSp>
        <p:nvGrpSpPr>
          <p:cNvPr id="39" name="组合 38"/>
          <p:cNvGrpSpPr/>
          <p:nvPr/>
        </p:nvGrpSpPr>
        <p:grpSpPr>
          <a:xfrm>
            <a:off x="7969250" y="3423920"/>
            <a:ext cx="1880870" cy="306705"/>
            <a:chOff x="7760" y="3351"/>
            <a:chExt cx="2962" cy="483"/>
          </a:xfrm>
        </p:grpSpPr>
        <p:cxnSp>
          <p:nvCxnSpPr>
            <p:cNvPr id="40" name="直接箭头连接符 39"/>
            <p:cNvCxnSpPr/>
            <p:nvPr/>
          </p:nvCxnSpPr>
          <p:spPr>
            <a:xfrm>
              <a:off x="7760" y="3834"/>
              <a:ext cx="2962" cy="0"/>
            </a:xfrm>
            <a:prstGeom prst="straightConnector1">
              <a:avLst/>
            </a:prstGeom>
            <a:ln w="19050">
              <a:solidFill>
                <a:srgbClr val="69F0AE"/>
              </a:solidFill>
              <a:prstDash val="sysDash"/>
              <a:headEnd type="stealth" w="lg" len="lg"/>
              <a:tailEnd type="none"/>
            </a:ln>
          </p:spPr>
          <p:style>
            <a:lnRef idx="2">
              <a:schemeClr val="accent1"/>
            </a:lnRef>
            <a:fillRef idx="0">
              <a:srgbClr val="FFFFFF"/>
            </a:fillRef>
            <a:effectRef idx="0">
              <a:srgbClr val="FFFFFF"/>
            </a:effectRef>
            <a:fontRef idx="minor">
              <a:schemeClr val="tx1"/>
            </a:fontRef>
          </p:style>
        </p:cxnSp>
        <p:sp>
          <p:nvSpPr>
            <p:cNvPr id="41" name="文本框 40"/>
            <p:cNvSpPr txBox="1"/>
            <p:nvPr/>
          </p:nvSpPr>
          <p:spPr>
            <a:xfrm>
              <a:off x="8071" y="3351"/>
              <a:ext cx="2342" cy="483"/>
            </a:xfrm>
            <a:prstGeom prst="rect">
              <a:avLst/>
            </a:prstGeom>
            <a:noFill/>
          </p:spPr>
          <p:txBody>
            <a:bodyPr wrap="square" rtlCol="0">
              <a:spAutoFit/>
            </a:bodyPr>
            <a:lstStyle/>
            <a:p>
              <a:pPr algn="ctr"/>
              <a:r>
                <a:rPr lang="zh-CN" altLang="en-US" sz="1400">
                  <a:solidFill>
                    <a:srgbClr val="69F0AE"/>
                  </a:solidFill>
                </a:rPr>
                <a:t>工具结果</a:t>
              </a:r>
            </a:p>
          </p:txBody>
        </p:sp>
      </p:grpSp>
      <p:grpSp>
        <p:nvGrpSpPr>
          <p:cNvPr id="42" name="组合 41"/>
          <p:cNvGrpSpPr/>
          <p:nvPr/>
        </p:nvGrpSpPr>
        <p:grpSpPr>
          <a:xfrm>
            <a:off x="4900930" y="4330700"/>
            <a:ext cx="1880870" cy="306705"/>
            <a:chOff x="7760" y="3351"/>
            <a:chExt cx="2962" cy="483"/>
          </a:xfrm>
        </p:grpSpPr>
        <p:cxnSp>
          <p:nvCxnSpPr>
            <p:cNvPr id="43" name="直接箭头连接符 42"/>
            <p:cNvCxnSpPr/>
            <p:nvPr/>
          </p:nvCxnSpPr>
          <p:spPr>
            <a:xfrm>
              <a:off x="7760" y="3834"/>
              <a:ext cx="2962" cy="0"/>
            </a:xfrm>
            <a:prstGeom prst="straightConnector1">
              <a:avLst/>
            </a:prstGeom>
            <a:ln w="19050">
              <a:solidFill>
                <a:srgbClr val="00E5FA"/>
              </a:solidFill>
              <a:prstDash val="sysDash"/>
              <a:headEnd type="stealth" w="lg" len="lg"/>
              <a:tailEnd type="none" w="lg" len="lg"/>
            </a:ln>
          </p:spPr>
          <p:style>
            <a:lnRef idx="2">
              <a:schemeClr val="accent1"/>
            </a:lnRef>
            <a:fillRef idx="0">
              <a:srgbClr val="FFFFFF"/>
            </a:fillRef>
            <a:effectRef idx="0">
              <a:srgbClr val="FFFFFF"/>
            </a:effectRef>
            <a:fontRef idx="minor">
              <a:schemeClr val="tx1"/>
            </a:fontRef>
          </p:style>
        </p:cxnSp>
        <p:sp>
          <p:nvSpPr>
            <p:cNvPr id="44" name="文本框 43"/>
            <p:cNvSpPr txBox="1"/>
            <p:nvPr/>
          </p:nvSpPr>
          <p:spPr>
            <a:xfrm>
              <a:off x="7867" y="3351"/>
              <a:ext cx="2750" cy="483"/>
            </a:xfrm>
            <a:prstGeom prst="rect">
              <a:avLst/>
            </a:prstGeom>
            <a:noFill/>
          </p:spPr>
          <p:txBody>
            <a:bodyPr wrap="square" rtlCol="0">
              <a:spAutoFit/>
            </a:bodyPr>
            <a:lstStyle/>
            <a:p>
              <a:pPr algn="ctr"/>
              <a:r>
                <a:rPr lang="zh-CN" altLang="en-US" sz="1400">
                  <a:solidFill>
                    <a:srgbClr val="00E5FA"/>
                  </a:solidFill>
                </a:rPr>
                <a:t>文本</a:t>
              </a:r>
              <a:r>
                <a:rPr lang="en-US" altLang="zh-CN" sz="1400">
                  <a:solidFill>
                    <a:srgbClr val="00E5FA"/>
                  </a:solidFill>
                </a:rPr>
                <a:t>+</a:t>
              </a:r>
              <a:r>
                <a:rPr lang="zh-CN" altLang="en-US" sz="1400">
                  <a:solidFill>
                    <a:srgbClr val="00E5FA"/>
                  </a:solidFill>
                </a:rPr>
                <a:t>图片</a:t>
              </a:r>
              <a:r>
                <a:rPr lang="en-US" altLang="zh-CN" sz="1400">
                  <a:solidFill>
                    <a:srgbClr val="00E5FA"/>
                  </a:solidFill>
                </a:rPr>
                <a:t>+</a:t>
              </a:r>
              <a:r>
                <a:rPr lang="zh-CN" altLang="en-US" sz="1400">
                  <a:solidFill>
                    <a:srgbClr val="00E5FA"/>
                  </a:solidFill>
                </a:rPr>
                <a:t>引用</a:t>
              </a:r>
            </a:p>
          </p:txBody>
        </p:sp>
      </p:grpSp>
      <p:sp>
        <p:nvSpPr>
          <p:cNvPr id="45" name="AutoShape 6"/>
          <p:cNvSpPr/>
          <p:nvPr/>
        </p:nvSpPr>
        <p:spPr>
          <a:xfrm>
            <a:off x="9994265" y="2009775"/>
            <a:ext cx="899795" cy="1893570"/>
          </a:xfrm>
          <a:prstGeom prst="roundRect">
            <a:avLst>
              <a:gd name="adj" fmla="val 0"/>
            </a:avLst>
          </a:prstGeom>
          <a:solidFill>
            <a:srgbClr val="69F0AE">
              <a:alpha val="8000"/>
            </a:srgbClr>
          </a:solidFill>
          <a:ln w="25400" cap="flat" cmpd="sng">
            <a:solidFill>
              <a:srgbClr val="69F0AE">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indent="0" algn="ctr" fontAlgn="auto">
              <a:spcAft>
                <a:spcPts val="600"/>
              </a:spcAft>
              <a:defRPr/>
            </a:pPr>
            <a:r>
              <a:rPr lang="en-US" altLang="zh-CN" b="1">
                <a:solidFill>
                  <a:schemeClr val="bg1"/>
                </a:solidFill>
                <a:sym typeface="+mn-ea"/>
              </a:rPr>
              <a:t>· </a:t>
            </a:r>
            <a:r>
              <a:rPr lang="zh-CN">
                <a:solidFill>
                  <a:schemeClr val="bg1"/>
                </a:solidFill>
                <a:sym typeface="+mn-ea"/>
              </a:rPr>
              <a:t>语音转换</a:t>
            </a:r>
            <a:endParaRPr lang="zh-CN">
              <a:solidFill>
                <a:schemeClr val="bg1"/>
              </a:solidFill>
            </a:endParaRPr>
          </a:p>
          <a:p>
            <a:pPr indent="0" algn="ctr" fontAlgn="auto">
              <a:spcAft>
                <a:spcPts val="600"/>
              </a:spcAft>
              <a:defRPr/>
            </a:pPr>
            <a:r>
              <a:rPr lang="en-US" altLang="zh-CN" b="1">
                <a:solidFill>
                  <a:schemeClr val="bg1"/>
                </a:solidFill>
                <a:sym typeface="+mn-ea"/>
              </a:rPr>
              <a:t>· </a:t>
            </a:r>
            <a:r>
              <a:rPr lang="zh-CN">
                <a:solidFill>
                  <a:schemeClr val="bg1"/>
                </a:solidFill>
                <a:sym typeface="+mn-ea"/>
              </a:rPr>
              <a:t>网络搜索</a:t>
            </a:r>
            <a:endParaRPr lang="zh-CN">
              <a:solidFill>
                <a:schemeClr val="bg1"/>
              </a:solidFill>
            </a:endParaRPr>
          </a:p>
          <a:p>
            <a:pPr indent="0" algn="ctr" fontAlgn="auto">
              <a:spcAft>
                <a:spcPts val="600"/>
              </a:spcAft>
              <a:defRPr/>
            </a:pPr>
            <a:r>
              <a:rPr lang="en-US" altLang="zh-CN" b="1">
                <a:solidFill>
                  <a:schemeClr val="bg1"/>
                </a:solidFill>
                <a:sym typeface="+mn-ea"/>
              </a:rPr>
              <a:t>· </a:t>
            </a:r>
            <a:r>
              <a:rPr lang="zh-CN">
                <a:solidFill>
                  <a:schemeClr val="bg1"/>
                </a:solidFill>
                <a:sym typeface="+mn-ea"/>
              </a:rPr>
              <a:t>知识库</a:t>
            </a:r>
            <a:endParaRPr lang="zh-CN" altLang="en-US" b="1" i="0" u="none" strike="noStrike">
              <a:solidFill>
                <a:schemeClr val="bg1"/>
              </a:solidFill>
              <a:latin typeface="Noto Sans SC"/>
              <a:ea typeface="SimSun" charset="0"/>
              <a:cs typeface="Noto Sans SC"/>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fade">
                                      <p:cBhvr>
                                        <p:cTn id="20" dur="500"/>
                                        <p:tgtEl>
                                          <p:spTgt spid="4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wipe(left)">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left)">
                                      <p:cBhvr>
                                        <p:cTn id="39" dur="500"/>
                                        <p:tgtEl>
                                          <p:spTgt spid="2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wipe(right)">
                                      <p:cBhvr>
                                        <p:cTn id="44" dur="5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wipe(left)">
                                      <p:cBhvr>
                                        <p:cTn id="49" dur="500"/>
                                        <p:tgtEl>
                                          <p:spTgt spid="2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2" fill="hold" nodeType="click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wipe(right)">
                                      <p:cBhvr>
                                        <p:cTn id="54" dur="500"/>
                                        <p:tgtEl>
                                          <p:spTgt spid="33"/>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wipe(left)">
                                      <p:cBhvr>
                                        <p:cTn id="59" dur="500"/>
                                        <p:tgtEl>
                                          <p:spTgt spid="3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2" fill="hold" nodeType="click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wipe(right)">
                                      <p:cBhvr>
                                        <p:cTn id="64" dur="500"/>
                                        <p:tgtEl>
                                          <p:spTgt spid="39"/>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nodeType="clickEffect">
                                  <p:stCondLst>
                                    <p:cond delay="0"/>
                                  </p:stCondLst>
                                  <p:childTnLst>
                                    <p:set>
                                      <p:cBhvr>
                                        <p:cTn id="68" dur="1" fill="hold">
                                          <p:stCondLst>
                                            <p:cond delay="0"/>
                                          </p:stCondLst>
                                        </p:cTn>
                                        <p:tgtEl>
                                          <p:spTgt spid="42"/>
                                        </p:tgtEl>
                                        <p:attrNameLst>
                                          <p:attrName>style.visibility</p:attrName>
                                        </p:attrNameLst>
                                      </p:cBhvr>
                                      <p:to>
                                        <p:strVal val="visible"/>
                                      </p:to>
                                    </p:set>
                                    <p:animEffect transition="in" filter="wipe(right)">
                                      <p:cBhvr>
                                        <p:cTn id="69"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5" grpId="0" bldLvl="0" animBg="1"/>
      <p:bldP spid="5" grpId="1" animBg="1"/>
      <p:bldP spid="8" grpId="0"/>
      <p:bldP spid="8" grpId="1"/>
      <p:bldP spid="10" grpId="0"/>
      <p:bldP spid="10" grpId="1"/>
      <p:bldP spid="45" grpId="0" bldLvl="0" animBg="1"/>
      <p:bldP spid="45"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课程路线图</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8</a:t>
            </a:fld>
            <a:endParaRPr lang="en-US" altLang="zh-CN"/>
          </a:p>
        </p:txBody>
      </p:sp>
      <p:sp>
        <p:nvSpPr>
          <p:cNvPr id="6" name="AutoShape 6"/>
          <p:cNvSpPr/>
          <p:nvPr/>
        </p:nvSpPr>
        <p:spPr>
          <a:xfrm>
            <a:off x="2231390" y="1752600"/>
            <a:ext cx="899795" cy="4319905"/>
          </a:xfrm>
          <a:prstGeom prst="roundRect">
            <a:avLst>
              <a:gd name="adj" fmla="val 0"/>
            </a:avLst>
          </a:prstGeom>
          <a:solidFill>
            <a:srgbClr val="00E5FF">
              <a:alpha val="8000"/>
            </a:srgbClr>
          </a:solidFill>
          <a:ln w="25400" cap="flat" cmpd="sng">
            <a:solidFill>
              <a:srgbClr val="00E5FF">
                <a:alpha val="100000"/>
              </a:srgbClr>
            </a:solidFill>
            <a:prstDash val="solid"/>
            <a:round/>
          </a:ln>
          <a:effectLst>
            <a:outerShdw blurRad="152400" dir="2700000" algn="tl" rotWithShape="0">
              <a:srgbClr val="00E5FF">
                <a:alpha val="40000"/>
              </a:srgbClr>
            </a:outerShdw>
          </a:effectLst>
        </p:spPr>
        <p:txBody>
          <a:bodyPr vert="horz" wrap="square" lIns="0" tIns="0" rIns="0" bIns="0" rtlCol="0" anchor="ctr" anchorCtr="0"/>
          <a:lstStyle/>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大</a:t>
            </a: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模</a:t>
            </a: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型</a:t>
            </a: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产</a:t>
            </a:r>
          </a:p>
          <a:p>
            <a:pPr marL="0" indent="0" algn="ctr">
              <a:lnSpc>
                <a:spcPct val="125000"/>
              </a:lnSpc>
              <a:defRPr/>
            </a:pPr>
            <a:r>
              <a:rPr lang="zh-CN" altLang="en-US" sz="3200" b="1" i="0" u="none" strike="noStrike">
                <a:solidFill>
                  <a:srgbClr val="FFFFFF"/>
                </a:solidFill>
                <a:latin typeface="Noto Sans SC"/>
                <a:ea typeface="SimSun" charset="0"/>
                <a:cs typeface="Noto Sans SC"/>
                <a:sym typeface="Noto Sans SC"/>
              </a:rPr>
              <a:t>品</a:t>
            </a:r>
          </a:p>
        </p:txBody>
      </p:sp>
      <p:sp>
        <p:nvSpPr>
          <p:cNvPr id="5" name="AutoShape 6"/>
          <p:cNvSpPr/>
          <p:nvPr/>
        </p:nvSpPr>
        <p:spPr>
          <a:xfrm>
            <a:off x="3395980" y="1753235"/>
            <a:ext cx="899795" cy="154305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lstStyle/>
          <a:p>
            <a:pPr marL="0" indent="0" algn="ctr">
              <a:lnSpc>
                <a:spcPct val="125000"/>
              </a:lnSpc>
              <a:defRPr/>
            </a:pPr>
            <a:r>
              <a:rPr lang="zh-CN" altLang="en-US" sz="2400" b="1" i="0" u="none" strike="noStrike">
                <a:solidFill>
                  <a:srgbClr val="FFFFFF"/>
                </a:solidFill>
                <a:latin typeface="Noto Sans SC"/>
                <a:ea typeface="SimSun" charset="0"/>
                <a:cs typeface="Noto Sans SC"/>
                <a:sym typeface="Noto Sans SC"/>
              </a:rPr>
              <a:t>模型</a:t>
            </a:r>
          </a:p>
          <a:p>
            <a:pPr marL="0" indent="0" algn="ctr">
              <a:lnSpc>
                <a:spcPct val="125000"/>
              </a:lnSpc>
              <a:defRPr/>
            </a:pPr>
            <a:r>
              <a:rPr lang="zh-CN" altLang="en-US" sz="2400" b="1" i="0" u="none" strike="noStrike">
                <a:solidFill>
                  <a:srgbClr val="FFFFFF"/>
                </a:solidFill>
                <a:latin typeface="Noto Sans SC"/>
                <a:ea typeface="SimSun" charset="0"/>
                <a:cs typeface="Noto Sans SC"/>
                <a:sym typeface="Noto Sans SC"/>
              </a:rPr>
              <a:t>原理</a:t>
            </a:r>
          </a:p>
        </p:txBody>
      </p:sp>
      <p:sp>
        <p:nvSpPr>
          <p:cNvPr id="7" name="AutoShape 6"/>
          <p:cNvSpPr/>
          <p:nvPr/>
        </p:nvSpPr>
        <p:spPr>
          <a:xfrm>
            <a:off x="3395980" y="3416935"/>
            <a:ext cx="899795" cy="1547495"/>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sz="2400" b="1">
                <a:solidFill>
                  <a:srgbClr val="FFFFFF"/>
                </a:solidFill>
                <a:latin typeface="Noto Sans SC"/>
                <a:ea typeface="SimSun" charset="0"/>
                <a:cs typeface="Noto Sans SC"/>
                <a:sym typeface="Noto Sans SC"/>
              </a:rPr>
              <a:t>模型</a:t>
            </a:r>
          </a:p>
          <a:p>
            <a:pPr lvl="0" algn="ctr">
              <a:lnSpc>
                <a:spcPct val="125000"/>
              </a:lnSpc>
              <a:buClrTx/>
              <a:buSzTx/>
              <a:buFontTx/>
              <a:defRPr/>
            </a:pPr>
            <a:r>
              <a:rPr lang="zh-CN" altLang="en-US" sz="2400" b="1">
                <a:solidFill>
                  <a:srgbClr val="FFFFFF"/>
                </a:solidFill>
                <a:latin typeface="Noto Sans SC"/>
                <a:ea typeface="SimSun" charset="0"/>
                <a:cs typeface="Noto Sans SC"/>
                <a:sym typeface="Noto Sans SC"/>
              </a:rPr>
              <a:t>应用</a:t>
            </a:r>
          </a:p>
        </p:txBody>
      </p:sp>
      <p:sp>
        <p:nvSpPr>
          <p:cNvPr id="8" name="AutoShape 6"/>
          <p:cNvSpPr/>
          <p:nvPr/>
        </p:nvSpPr>
        <p:spPr>
          <a:xfrm>
            <a:off x="3395980" y="5086985"/>
            <a:ext cx="899795" cy="989330"/>
          </a:xfrm>
          <a:prstGeom prst="roundRect">
            <a:avLst>
              <a:gd name="adj" fmla="val 0"/>
            </a:avLst>
          </a:prstGeom>
          <a:solidFill>
            <a:srgbClr val="B388FF">
              <a:alpha val="8000"/>
            </a:srgbClr>
          </a:solidFill>
          <a:ln w="25400" cap="flat" cmpd="sng">
            <a:solidFill>
              <a:srgbClr val="B388FF">
                <a:alpha val="100000"/>
              </a:srgbClr>
            </a:solidFill>
            <a:prstDash val="solid"/>
            <a:round/>
          </a:ln>
          <a:effectLst>
            <a:outerShdw blurRad="152400" dir="2700000" algn="tl" rotWithShape="0">
              <a:srgbClr val="06F0D2">
                <a:alpha val="40000"/>
              </a:srgbClr>
            </a:outerShdw>
          </a:effectLst>
        </p:spPr>
        <p:txBody>
          <a:bodyPr vert="horz" wrap="square" lIns="0" tIns="0" rIns="0" bIns="0" rtlCol="0" anchor="ctr" anchorCtr="0">
            <a:noAutofit/>
          </a:bodyPr>
          <a:lstStyle/>
          <a:p>
            <a:pPr lvl="0" algn="ctr">
              <a:lnSpc>
                <a:spcPct val="125000"/>
              </a:lnSpc>
              <a:buClrTx/>
              <a:buSzTx/>
              <a:buFontTx/>
              <a:defRPr/>
            </a:pPr>
            <a:r>
              <a:rPr lang="zh-CN" altLang="en-US" sz="2400" b="1">
                <a:solidFill>
                  <a:srgbClr val="FFFFFF"/>
                </a:solidFill>
                <a:latin typeface="Noto Sans SC"/>
                <a:ea typeface="SimSun" charset="0"/>
                <a:cs typeface="Noto Sans SC"/>
                <a:sym typeface="Noto Sans SC"/>
              </a:rPr>
              <a:t>智</a:t>
            </a:r>
          </a:p>
          <a:p>
            <a:pPr lvl="0" algn="ctr">
              <a:lnSpc>
                <a:spcPct val="125000"/>
              </a:lnSpc>
              <a:buClrTx/>
              <a:buSzTx/>
              <a:buFontTx/>
              <a:defRPr/>
            </a:pPr>
            <a:r>
              <a:rPr lang="zh-CN" altLang="en-US" sz="2400" b="1">
                <a:solidFill>
                  <a:srgbClr val="FFFFFF"/>
                </a:solidFill>
                <a:latin typeface="Noto Sans SC"/>
                <a:ea typeface="SimSun" charset="0"/>
                <a:cs typeface="Noto Sans SC"/>
                <a:sym typeface="Noto Sans SC"/>
              </a:rPr>
              <a:t>能体</a:t>
            </a:r>
          </a:p>
        </p:txBody>
      </p:sp>
      <p:grpSp>
        <p:nvGrpSpPr>
          <p:cNvPr id="17" name="组合 16"/>
          <p:cNvGrpSpPr/>
          <p:nvPr/>
        </p:nvGrpSpPr>
        <p:grpSpPr>
          <a:xfrm>
            <a:off x="4561205" y="1752600"/>
            <a:ext cx="5400040" cy="431800"/>
            <a:chOff x="7140" y="2760"/>
            <a:chExt cx="8504" cy="680"/>
          </a:xfrm>
        </p:grpSpPr>
        <p:sp>
          <p:nvSpPr>
            <p:cNvPr id="10" name="AutoShape 6"/>
            <p:cNvSpPr/>
            <p:nvPr/>
          </p:nvSpPr>
          <p:spPr>
            <a:xfrm>
              <a:off x="7140" y="2760"/>
              <a:ext cx="8504" cy="680"/>
            </a:xfrm>
            <a:prstGeom prst="roundRect">
              <a:avLst>
                <a:gd name="adj" fmla="val 0"/>
              </a:avLst>
            </a:prstGeom>
            <a:solidFill>
              <a:srgbClr val="FFE3B1">
                <a:alpha val="8000"/>
              </a:srgbClr>
            </a:solidFill>
            <a:ln w="12700" cap="flat" cmpd="sng">
              <a:solidFill>
                <a:srgbClr val="FFE3B1">
                  <a:alpha val="40000"/>
                </a:srgbClr>
              </a:solidFill>
              <a:prstDash val="solid"/>
              <a:round/>
            </a:ln>
          </p:spPr>
          <p:txBody>
            <a:bodyPr vert="horz" wrap="square" lIns="63500" tIns="63500" rIns="63500" bIns="63500" rtlCol="0" anchor="ctr"/>
            <a:lstStyle/>
            <a:p>
              <a:pPr algn="ctr">
                <a:defRPr/>
              </a:pPr>
              <a:endParaRPr/>
            </a:p>
          </p:txBody>
        </p:sp>
        <p:sp>
          <p:nvSpPr>
            <p:cNvPr id="11" name="AutoShape 7"/>
            <p:cNvSpPr/>
            <p:nvPr/>
          </p:nvSpPr>
          <p:spPr>
            <a:xfrm>
              <a:off x="7140" y="2760"/>
              <a:ext cx="85" cy="680"/>
            </a:xfrm>
            <a:prstGeom prst="roundRect">
              <a:avLst>
                <a:gd name="adj" fmla="val 0"/>
              </a:avLst>
            </a:prstGeom>
            <a:solidFill>
              <a:srgbClr val="FFE3B1"/>
            </a:solidFill>
            <a:ln w="25400" cap="flat" cmpd="sng">
              <a:noFill/>
              <a:prstDash val="solid"/>
              <a:round/>
            </a:ln>
          </p:spPr>
          <p:txBody>
            <a:bodyPr vert="horz" wrap="square" lIns="63500" tIns="63500" rIns="63500" bIns="63500" rtlCol="0" anchor="ctr"/>
            <a:lstStyle/>
            <a:p>
              <a:pPr algn="ctr">
                <a:defRPr/>
              </a:pPr>
              <a:endParaRPr/>
            </a:p>
          </p:txBody>
        </p:sp>
        <p:sp>
          <p:nvSpPr>
            <p:cNvPr id="13" name="文本框 12"/>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FFE3B1"/>
                  </a:solidFill>
                  <a:latin typeface="Noto Sans SC"/>
                  <a:ea typeface="Noto Sans SC"/>
                  <a:cs typeface="Noto Sans SC"/>
                </a:rPr>
                <a:t>01</a:t>
              </a:r>
            </a:p>
          </p:txBody>
        </p:sp>
        <p:sp>
          <p:nvSpPr>
            <p:cNvPr id="15" name="文本框 14"/>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FFE3B1"/>
                  </a:solidFill>
                  <a:latin typeface="Noto Sans SC"/>
                  <a:ea typeface="Noto Sans SC"/>
                  <a:cs typeface="Noto Sans SC"/>
                </a:rPr>
                <a:t>模型定位和介绍</a:t>
              </a:r>
            </a:p>
          </p:txBody>
        </p:sp>
      </p:grpSp>
      <p:grpSp>
        <p:nvGrpSpPr>
          <p:cNvPr id="18" name="组合 17"/>
          <p:cNvGrpSpPr/>
          <p:nvPr/>
        </p:nvGrpSpPr>
        <p:grpSpPr>
          <a:xfrm>
            <a:off x="4561205" y="3975100"/>
            <a:ext cx="5400040" cy="431800"/>
            <a:chOff x="7140" y="2760"/>
            <a:chExt cx="8504" cy="680"/>
          </a:xfrm>
        </p:grpSpPr>
        <p:sp>
          <p:nvSpPr>
            <p:cNvPr id="1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p>
          </p:txBody>
        </p:sp>
        <p:sp>
          <p:nvSpPr>
            <p:cNvPr id="20"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文本框 20"/>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a:ea typeface="Noto Sans SC"/>
                  <a:cs typeface="Noto Sans SC"/>
                </a:rPr>
                <a:t>05</a:t>
              </a:r>
            </a:p>
          </p:txBody>
        </p:sp>
        <p:sp>
          <p:nvSpPr>
            <p:cNvPr id="22" name="文本框 2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a:ea typeface="Noto Sans SC"/>
                  <a:cs typeface="Noto Sans SC"/>
                </a:rPr>
                <a:t>模型训练、选型与评估</a:t>
              </a:r>
            </a:p>
          </p:txBody>
        </p:sp>
      </p:grpSp>
      <p:grpSp>
        <p:nvGrpSpPr>
          <p:cNvPr id="23" name="组合 22"/>
          <p:cNvGrpSpPr/>
          <p:nvPr/>
        </p:nvGrpSpPr>
        <p:grpSpPr>
          <a:xfrm>
            <a:off x="4561205" y="5086350"/>
            <a:ext cx="5400040" cy="431800"/>
            <a:chOff x="7140" y="2760"/>
            <a:chExt cx="8504" cy="680"/>
          </a:xfrm>
        </p:grpSpPr>
        <p:sp>
          <p:nvSpPr>
            <p:cNvPr id="24"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p>
          </p:txBody>
        </p:sp>
        <p:sp>
          <p:nvSpPr>
            <p:cNvPr id="25"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文本框 25"/>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a:ea typeface="Noto Sans SC"/>
                  <a:cs typeface="Noto Sans SC"/>
                </a:rPr>
                <a:t>07</a:t>
              </a:r>
            </a:p>
          </p:txBody>
        </p:sp>
        <p:sp>
          <p:nvSpPr>
            <p:cNvPr id="27" name="文本框 26"/>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a:ea typeface="Noto Sans SC"/>
                  <a:cs typeface="Noto Sans SC"/>
                </a:rPr>
                <a:t>智能体框架与工具使用</a:t>
              </a:r>
            </a:p>
          </p:txBody>
        </p:sp>
      </p:grpSp>
      <p:grpSp>
        <p:nvGrpSpPr>
          <p:cNvPr id="28" name="组合 27"/>
          <p:cNvGrpSpPr/>
          <p:nvPr/>
        </p:nvGrpSpPr>
        <p:grpSpPr>
          <a:xfrm>
            <a:off x="4561205" y="2308225"/>
            <a:ext cx="5400040" cy="431800"/>
            <a:chOff x="7140" y="2760"/>
            <a:chExt cx="8504" cy="680"/>
          </a:xfrm>
        </p:grpSpPr>
        <p:sp>
          <p:nvSpPr>
            <p:cNvPr id="2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p>
          </p:txBody>
        </p:sp>
        <p:sp>
          <p:nvSpPr>
            <p:cNvPr id="30"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文本框 30"/>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a:ea typeface="Noto Sans SC"/>
                  <a:cs typeface="Noto Sans SC"/>
                </a:rPr>
                <a:t>02</a:t>
              </a:r>
            </a:p>
          </p:txBody>
        </p:sp>
        <p:sp>
          <p:nvSpPr>
            <p:cNvPr id="32" name="文本框 3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a:ea typeface="Noto Sans SC"/>
                  <a:cs typeface="Noto Sans SC"/>
                </a:rPr>
                <a:t>生成机制</a:t>
              </a:r>
            </a:p>
          </p:txBody>
        </p:sp>
      </p:grpSp>
      <p:grpSp>
        <p:nvGrpSpPr>
          <p:cNvPr id="33" name="组合 32"/>
          <p:cNvGrpSpPr/>
          <p:nvPr/>
        </p:nvGrpSpPr>
        <p:grpSpPr>
          <a:xfrm>
            <a:off x="4561205" y="2863850"/>
            <a:ext cx="5400040" cy="431800"/>
            <a:chOff x="7140" y="2760"/>
            <a:chExt cx="8504" cy="680"/>
          </a:xfrm>
        </p:grpSpPr>
        <p:sp>
          <p:nvSpPr>
            <p:cNvPr id="34"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p>
          </p:txBody>
        </p:sp>
        <p:sp>
          <p:nvSpPr>
            <p:cNvPr id="35"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文本框 35"/>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a:ea typeface="Noto Sans SC"/>
                  <a:cs typeface="Noto Sans SC"/>
                </a:rPr>
                <a:t>03</a:t>
              </a:r>
            </a:p>
          </p:txBody>
        </p:sp>
        <p:sp>
          <p:nvSpPr>
            <p:cNvPr id="37" name="文本框 36"/>
            <p:cNvSpPr txBox="1"/>
            <p:nvPr/>
          </p:nvSpPr>
          <p:spPr>
            <a:xfrm>
              <a:off x="7990" y="2760"/>
              <a:ext cx="7654" cy="680"/>
            </a:xfrm>
            <a:prstGeom prst="rect">
              <a:avLst/>
            </a:prstGeom>
            <a:noFill/>
          </p:spPr>
          <p:txBody>
            <a:bodyPr wrap="square" rtlCol="0" anchor="ctr" anchorCtr="0">
              <a:noAutofit/>
            </a:bodyPr>
            <a:lstStyle/>
            <a:p>
              <a:pPr algn="ctr"/>
              <a:r>
                <a:rPr lang="en-US" altLang="zh-CN" b="1" kern="0">
                  <a:solidFill>
                    <a:srgbClr val="69F0AE"/>
                  </a:solidFill>
                  <a:latin typeface="Noto Sans SC"/>
                  <a:ea typeface="Noto Sans SC"/>
                  <a:cs typeface="Noto Sans SC"/>
                </a:rPr>
                <a:t>token、embedding </a:t>
              </a:r>
              <a:r>
                <a:rPr lang="zh-CN" altLang="en-US" b="1" kern="0">
                  <a:solidFill>
                    <a:srgbClr val="69F0AE"/>
                  </a:solidFill>
                  <a:latin typeface="Noto Sans SC"/>
                  <a:ea typeface="Noto Sans SC"/>
                  <a:cs typeface="Noto Sans SC"/>
                </a:rPr>
                <a:t>和上下文窗口</a:t>
              </a:r>
            </a:p>
          </p:txBody>
        </p:sp>
      </p:grpSp>
      <p:grpSp>
        <p:nvGrpSpPr>
          <p:cNvPr id="38" name="组合 37"/>
          <p:cNvGrpSpPr/>
          <p:nvPr/>
        </p:nvGrpSpPr>
        <p:grpSpPr>
          <a:xfrm>
            <a:off x="4561205" y="3419475"/>
            <a:ext cx="5400040" cy="431800"/>
            <a:chOff x="7140" y="2760"/>
            <a:chExt cx="8504" cy="680"/>
          </a:xfrm>
        </p:grpSpPr>
        <p:sp>
          <p:nvSpPr>
            <p:cNvPr id="3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p>
          </p:txBody>
        </p:sp>
        <p:sp>
          <p:nvSpPr>
            <p:cNvPr id="40"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1" name="文本框 40"/>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a:ea typeface="Noto Sans SC"/>
                  <a:cs typeface="Noto Sans SC"/>
                </a:rPr>
                <a:t>04</a:t>
              </a:r>
            </a:p>
          </p:txBody>
        </p:sp>
        <p:sp>
          <p:nvSpPr>
            <p:cNvPr id="42" name="文本框 4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a:ea typeface="Noto Sans SC"/>
                  <a:cs typeface="Noto Sans SC"/>
                </a:rPr>
                <a:t>注意力、算力和模型大小</a:t>
              </a:r>
            </a:p>
          </p:txBody>
        </p:sp>
      </p:grpSp>
      <p:grpSp>
        <p:nvGrpSpPr>
          <p:cNvPr id="43" name="组合 42"/>
          <p:cNvGrpSpPr/>
          <p:nvPr/>
        </p:nvGrpSpPr>
        <p:grpSpPr>
          <a:xfrm>
            <a:off x="4561205" y="4530725"/>
            <a:ext cx="5400040" cy="431800"/>
            <a:chOff x="7140" y="2760"/>
            <a:chExt cx="8504" cy="680"/>
          </a:xfrm>
        </p:grpSpPr>
        <p:sp>
          <p:nvSpPr>
            <p:cNvPr id="44"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p>
          </p:txBody>
        </p:sp>
        <p:sp>
          <p:nvSpPr>
            <p:cNvPr id="45"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文本框 45"/>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a:ea typeface="Noto Sans SC"/>
                  <a:cs typeface="Noto Sans SC"/>
                </a:rPr>
                <a:t>06</a:t>
              </a:r>
            </a:p>
          </p:txBody>
        </p:sp>
        <p:sp>
          <p:nvSpPr>
            <p:cNvPr id="47" name="文本框 46"/>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a:ea typeface="Noto Sans SC"/>
                  <a:cs typeface="Noto Sans SC"/>
                </a:rPr>
                <a:t>提示词技术</a:t>
              </a:r>
              <a:endParaRPr lang="en-US" altLang="zh-CN" b="1" kern="0">
                <a:solidFill>
                  <a:srgbClr val="69F0AE"/>
                </a:solidFill>
                <a:latin typeface="Noto Sans SC"/>
                <a:ea typeface="Noto Sans SC"/>
                <a:cs typeface="Noto Sans SC"/>
              </a:endParaRPr>
            </a:p>
          </p:txBody>
        </p:sp>
      </p:grpSp>
      <p:grpSp>
        <p:nvGrpSpPr>
          <p:cNvPr id="48" name="组合 47"/>
          <p:cNvGrpSpPr/>
          <p:nvPr/>
        </p:nvGrpSpPr>
        <p:grpSpPr>
          <a:xfrm>
            <a:off x="4561205" y="5641975"/>
            <a:ext cx="5400040" cy="431800"/>
            <a:chOff x="7140" y="2760"/>
            <a:chExt cx="8504" cy="680"/>
          </a:xfrm>
        </p:grpSpPr>
        <p:sp>
          <p:nvSpPr>
            <p:cNvPr id="49" name="AutoShape 6"/>
            <p:cNvSpPr/>
            <p:nvPr/>
          </p:nvSpPr>
          <p:spPr>
            <a:xfrm>
              <a:off x="7140" y="2760"/>
              <a:ext cx="8504" cy="680"/>
            </a:xfrm>
            <a:prstGeom prst="roundRect">
              <a:avLst>
                <a:gd name="adj" fmla="val 0"/>
              </a:avLst>
            </a:prstGeom>
            <a:solidFill>
              <a:srgbClr val="69F0AE">
                <a:alpha val="8000"/>
              </a:srgbClr>
            </a:solidFill>
            <a:ln w="12700" cap="flat" cmpd="sng">
              <a:solidFill>
                <a:srgbClr val="69F0AE">
                  <a:alpha val="40000"/>
                </a:srgbClr>
              </a:solidFill>
              <a:prstDash val="solid"/>
              <a:round/>
            </a:ln>
          </p:spPr>
          <p:txBody>
            <a:bodyPr vert="horz" wrap="square" lIns="63500" tIns="63500" rIns="63500" bIns="63500" rtlCol="0" anchor="ctr"/>
            <a:lstStyle/>
            <a:p>
              <a:pPr algn="ctr">
                <a:defRPr/>
              </a:pPr>
              <a:endParaRPr/>
            </a:p>
          </p:txBody>
        </p:sp>
        <p:sp>
          <p:nvSpPr>
            <p:cNvPr id="50" name="AutoShape 7"/>
            <p:cNvSpPr/>
            <p:nvPr/>
          </p:nvSpPr>
          <p:spPr>
            <a:xfrm>
              <a:off x="7140" y="2760"/>
              <a:ext cx="85" cy="680"/>
            </a:xfrm>
            <a:prstGeom prst="roundRect">
              <a:avLst>
                <a:gd name="adj" fmla="val 0"/>
              </a:avLst>
            </a:prstGeom>
            <a:solidFill>
              <a:srgbClr val="69F0A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文本框 50"/>
            <p:cNvSpPr txBox="1"/>
            <p:nvPr/>
          </p:nvSpPr>
          <p:spPr>
            <a:xfrm>
              <a:off x="7140" y="2760"/>
              <a:ext cx="850" cy="680"/>
            </a:xfrm>
            <a:prstGeom prst="rect">
              <a:avLst/>
            </a:prstGeom>
            <a:noFill/>
          </p:spPr>
          <p:txBody>
            <a:bodyPr wrap="square" rtlCol="0" anchor="ctr" anchorCtr="0">
              <a:noAutofit/>
            </a:bodyPr>
            <a:lstStyle/>
            <a:p>
              <a:pPr algn="ctr"/>
              <a:r>
                <a:rPr lang="en-US" b="1" kern="0">
                  <a:solidFill>
                    <a:srgbClr val="69F0AE"/>
                  </a:solidFill>
                  <a:latin typeface="Noto Sans SC"/>
                  <a:ea typeface="Noto Sans SC"/>
                  <a:cs typeface="Noto Sans SC"/>
                </a:rPr>
                <a:t>08</a:t>
              </a:r>
            </a:p>
          </p:txBody>
        </p:sp>
        <p:sp>
          <p:nvSpPr>
            <p:cNvPr id="52" name="文本框 51"/>
            <p:cNvSpPr txBox="1"/>
            <p:nvPr/>
          </p:nvSpPr>
          <p:spPr>
            <a:xfrm>
              <a:off x="7990" y="2760"/>
              <a:ext cx="7654" cy="680"/>
            </a:xfrm>
            <a:prstGeom prst="rect">
              <a:avLst/>
            </a:prstGeom>
            <a:noFill/>
          </p:spPr>
          <p:txBody>
            <a:bodyPr wrap="square" rtlCol="0" anchor="ctr" anchorCtr="0">
              <a:noAutofit/>
            </a:bodyPr>
            <a:lstStyle/>
            <a:p>
              <a:pPr algn="ctr"/>
              <a:r>
                <a:rPr lang="zh-CN" altLang="en-US" b="1" kern="0">
                  <a:solidFill>
                    <a:srgbClr val="69F0AE"/>
                  </a:solidFill>
                  <a:latin typeface="Noto Sans SC"/>
                  <a:ea typeface="Noto Sans SC"/>
                  <a:cs typeface="Noto Sans SC"/>
                </a:rPr>
                <a:t>智能体记忆与案例剖析</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500"/>
                                        <p:tgtEl>
                                          <p:spTgt spid="28"/>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500"/>
                                        <p:tgtEl>
                                          <p:spTgt spid="33"/>
                                        </p:tgtEl>
                                      </p:cBhvr>
                                    </p:animEffect>
                                  </p:childTnLst>
                                </p:cTn>
                              </p:par>
                            </p:childTnLst>
                          </p:cTn>
                        </p:par>
                        <p:par>
                          <p:cTn id="34" fill="hold">
                            <p:stCondLst>
                              <p:cond delay="1500"/>
                            </p:stCondLst>
                            <p:childTnLst>
                              <p:par>
                                <p:cTn id="35" presetID="10" presetClass="entr" presetSubtype="0" fill="hold" nodeType="after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500"/>
                                        <p:tgtEl>
                                          <p:spTgt spid="38"/>
                                        </p:tgtEl>
                                      </p:cBhvr>
                                    </p:animEffect>
                                  </p:childTnLst>
                                </p:cTn>
                              </p:par>
                            </p:childTnLst>
                          </p:cTn>
                        </p:par>
                        <p:par>
                          <p:cTn id="38" fill="hold">
                            <p:stCondLst>
                              <p:cond delay="2000"/>
                            </p:stCondLst>
                            <p:childTnLst>
                              <p:par>
                                <p:cTn id="39" presetID="10" presetClass="entr" presetSubtype="0" fill="hold"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childTnLst>
                          </p:cTn>
                        </p:par>
                        <p:par>
                          <p:cTn id="42" fill="hold">
                            <p:stCondLst>
                              <p:cond delay="2500"/>
                            </p:stCondLst>
                            <p:childTnLst>
                              <p:par>
                                <p:cTn id="43" presetID="10" presetClass="entr" presetSubtype="0" fill="hold" nodeType="afterEffect">
                                  <p:stCondLst>
                                    <p:cond delay="0"/>
                                  </p:stCondLst>
                                  <p:childTnLst>
                                    <p:set>
                                      <p:cBhvr>
                                        <p:cTn id="44" dur="1" fill="hold">
                                          <p:stCondLst>
                                            <p:cond delay="0"/>
                                          </p:stCondLst>
                                        </p:cTn>
                                        <p:tgtEl>
                                          <p:spTgt spid="43"/>
                                        </p:tgtEl>
                                        <p:attrNameLst>
                                          <p:attrName>style.visibility</p:attrName>
                                        </p:attrNameLst>
                                      </p:cBhvr>
                                      <p:to>
                                        <p:strVal val="visible"/>
                                      </p:to>
                                    </p:set>
                                    <p:animEffect transition="in" filter="fade">
                                      <p:cBhvr>
                                        <p:cTn id="45" dur="500"/>
                                        <p:tgtEl>
                                          <p:spTgt spid="43"/>
                                        </p:tgtEl>
                                      </p:cBhvr>
                                    </p:animEffect>
                                  </p:childTnLst>
                                </p:cTn>
                              </p:par>
                            </p:childTnLst>
                          </p:cTn>
                        </p:par>
                        <p:par>
                          <p:cTn id="46" fill="hold">
                            <p:stCondLst>
                              <p:cond delay="3000"/>
                            </p:stCondLst>
                            <p:childTnLst>
                              <p:par>
                                <p:cTn id="47" presetID="10" presetClass="entr" presetSubtype="0" fill="hold" nodeType="after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500"/>
                                        <p:tgtEl>
                                          <p:spTgt spid="23"/>
                                        </p:tgtEl>
                                      </p:cBhvr>
                                    </p:animEffect>
                                  </p:childTnLst>
                                </p:cTn>
                              </p:par>
                            </p:childTnLst>
                          </p:cTn>
                        </p:par>
                        <p:par>
                          <p:cTn id="50" fill="hold">
                            <p:stCondLst>
                              <p:cond delay="3500"/>
                            </p:stCondLst>
                            <p:childTnLst>
                              <p:par>
                                <p:cTn id="51" presetID="10" presetClass="entr" presetSubtype="0" fill="hold" nodeType="afterEffect">
                                  <p:stCondLst>
                                    <p:cond delay="0"/>
                                  </p:stCondLst>
                                  <p:childTnLst>
                                    <p:set>
                                      <p:cBhvr>
                                        <p:cTn id="52" dur="1" fill="hold">
                                          <p:stCondLst>
                                            <p:cond delay="0"/>
                                          </p:stCondLst>
                                        </p:cTn>
                                        <p:tgtEl>
                                          <p:spTgt spid="48"/>
                                        </p:tgtEl>
                                        <p:attrNameLst>
                                          <p:attrName>style.visibility</p:attrName>
                                        </p:attrNameLst>
                                      </p:cBhvr>
                                      <p:to>
                                        <p:strVal val="visible"/>
                                      </p:to>
                                    </p:set>
                                    <p:animEffect transition="in" filter="fade">
                                      <p:cBhvr>
                                        <p:cTn id="5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5" grpId="0" animBg="1"/>
      <p:bldP spid="5" grpId="1" animBg="1"/>
      <p:bldP spid="7" grpId="0" bldLvl="0" animBg="1"/>
      <p:bldP spid="7" grpId="1" animBg="1"/>
      <p:bldP spid="8" grpId="0" bldLvl="0" animBg="1"/>
      <p:bldP spid="8"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总结</a:t>
            </a:r>
          </a:p>
        </p:txBody>
      </p:sp>
      <p:sp>
        <p:nvSpPr>
          <p:cNvPr id="3" name="内容占位符 2"/>
          <p:cNvSpPr>
            <a:spLocks noGrp="1"/>
          </p:cNvSpPr>
          <p:nvPr>
            <p:ph idx="1"/>
          </p:nvPr>
        </p:nvSpPr>
        <p:spPr/>
        <p:txBody>
          <a:bodyPr/>
          <a:lstStyle/>
          <a:p>
            <a:r>
              <a:rPr lang="zh-CN" altLang="en-US" sz="2800" dirty="0">
                <a:solidFill>
                  <a:schemeClr val="bg1"/>
                </a:solidFill>
              </a:rPr>
              <a:t>课程总目标：</a:t>
            </a:r>
            <a:r>
              <a:rPr lang="zh-CN" altLang="en-US" sz="2800" b="1" dirty="0">
                <a:solidFill>
                  <a:srgbClr val="00E5FA"/>
                </a:solidFill>
              </a:rPr>
              <a:t>考一张</a:t>
            </a:r>
            <a:r>
              <a:rPr lang="en-US" altLang="zh-CN" sz="2800" b="1" dirty="0">
                <a:solidFill>
                  <a:srgbClr val="00E5FA"/>
                </a:solidFill>
              </a:rPr>
              <a:t> AI </a:t>
            </a:r>
            <a:r>
              <a:rPr lang="zh-CN" altLang="en-US" sz="2800" b="1" dirty="0">
                <a:solidFill>
                  <a:srgbClr val="00E5FA"/>
                </a:solidFill>
              </a:rPr>
              <a:t>驾照</a:t>
            </a:r>
          </a:p>
          <a:p>
            <a:r>
              <a:rPr lang="zh-CN" altLang="en-US" sz="2800" dirty="0">
                <a:solidFill>
                  <a:schemeClr val="bg1"/>
                </a:solidFill>
              </a:rPr>
              <a:t>本节课：认清了</a:t>
            </a:r>
            <a:r>
              <a:rPr lang="zh-CN" altLang="en-US" sz="2800" b="1" dirty="0">
                <a:solidFill>
                  <a:srgbClr val="00E5FF"/>
                </a:solidFill>
              </a:rPr>
              <a:t>路况（技术体系）</a:t>
            </a:r>
            <a:r>
              <a:rPr lang="zh-CN" altLang="en-US" sz="2800" dirty="0">
                <a:solidFill>
                  <a:schemeClr val="bg1"/>
                </a:solidFill>
              </a:rPr>
              <a:t>和</a:t>
            </a:r>
            <a:r>
              <a:rPr lang="zh-CN" altLang="en-US" sz="2800" b="1" dirty="0">
                <a:solidFill>
                  <a:srgbClr val="00E5FF"/>
                </a:solidFill>
              </a:rPr>
              <a:t>车型（产品形态）</a:t>
            </a:r>
            <a:endParaRPr lang="zh-CN" altLang="en-US" sz="2800" dirty="0">
              <a:solidFill>
                <a:schemeClr val="bg1"/>
              </a:solidFill>
            </a:endParaRPr>
          </a:p>
          <a:p>
            <a:r>
              <a:rPr lang="zh-CN" altLang="en-US" sz="2800" dirty="0"/>
              <a:t>下一节课：认识</a:t>
            </a:r>
            <a:r>
              <a:rPr lang="zh-CN" altLang="en-US" sz="2800" b="1" dirty="0">
                <a:solidFill>
                  <a:srgbClr val="00E5FF"/>
                </a:solidFill>
              </a:rPr>
              <a:t>引擎（模型本体）的技术原理</a:t>
            </a:r>
          </a:p>
          <a:p>
            <a:r>
              <a:rPr lang="zh-CN" altLang="en-US" sz="2800" dirty="0">
                <a:solidFill>
                  <a:schemeClr val="bg1"/>
                </a:solidFill>
              </a:rPr>
              <a:t>后续课程：选车</a:t>
            </a:r>
            <a:r>
              <a:rPr lang="en-US" altLang="zh-CN" sz="2800" dirty="0">
                <a:solidFill>
                  <a:schemeClr val="bg1"/>
                </a:solidFill>
              </a:rPr>
              <a:t> → </a:t>
            </a:r>
            <a:r>
              <a:rPr lang="zh-CN" altLang="en-US" sz="2800" dirty="0">
                <a:solidFill>
                  <a:schemeClr val="bg1"/>
                </a:solidFill>
              </a:rPr>
              <a:t>开车</a:t>
            </a:r>
            <a:r>
              <a:rPr lang="en-US" altLang="zh-CN" sz="2800" dirty="0">
                <a:solidFill>
                  <a:schemeClr val="bg1"/>
                </a:solidFill>
              </a:rPr>
              <a:t> → </a:t>
            </a:r>
            <a:r>
              <a:rPr lang="zh-CN" altLang="en-US" sz="2800" dirty="0">
                <a:solidFill>
                  <a:schemeClr val="bg1"/>
                </a:solidFill>
              </a:rPr>
              <a:t>交规</a:t>
            </a:r>
          </a:p>
        </p:txBody>
      </p:sp>
      <p:sp>
        <p:nvSpPr>
          <p:cNvPr id="4" name="灯片编号占位符 3"/>
          <p:cNvSpPr>
            <a:spLocks noGrp="1"/>
          </p:cNvSpPr>
          <p:nvPr>
            <p:ph type="sldNum" sz="quarter" idx="12"/>
          </p:nvPr>
        </p:nvSpPr>
        <p:spPr/>
        <p:txBody>
          <a:bodyPr/>
          <a:lstStyle/>
          <a:p>
            <a:fld id="{49AE70B2-8BF9-45C0-BB95-33D1B9D3A854}" type="slidenum">
              <a:rPr lang="zh-CN" altLang="en-US" smtClean="0"/>
              <a:t>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build="p"/>
    </p:bldLst>
  </p:timing>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1444</Words>
  <Application>Microsoft Office PowerPoint</Application>
  <PresentationFormat>宽屏</PresentationFormat>
  <Paragraphs>169</Paragraphs>
  <Slides>9</Slides>
  <Notes>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vt:i4>
      </vt:variant>
    </vt:vector>
  </HeadingPairs>
  <TitlesOfParts>
    <vt:vector size="17" baseType="lpstr">
      <vt:lpstr>Noto Sans SC</vt:lpstr>
      <vt:lpstr>宋体</vt:lpstr>
      <vt:lpstr>宋体</vt:lpstr>
      <vt:lpstr>Arial</vt:lpstr>
      <vt:lpstr>Calibri</vt:lpstr>
      <vt:lpstr>Calibri Light</vt:lpstr>
      <vt:lpstr>Poppins</vt:lpstr>
      <vt:lpstr>WPS</vt:lpstr>
      <vt:lpstr>第一课 你每天在用的 AI 到底是什么</vt:lpstr>
      <vt:lpstr>听到AI，你想到什么？</vt:lpstr>
      <vt:lpstr>大模型技术全景图</vt:lpstr>
      <vt:lpstr>三个常被混淆的概念</vt:lpstr>
      <vt:lpstr>大模型的产品形态</vt:lpstr>
      <vt:lpstr>大模型产品 vs 本体</vt:lpstr>
      <vt:lpstr>一个例子</vt:lpstr>
      <vt:lpstr>课程路线图</vt:lpstr>
      <vt:lpstr>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Trams Wang</cp:lastModifiedBy>
  <cp:revision>297</cp:revision>
  <dcterms:created xsi:type="dcterms:W3CDTF">2026-09-05T08:21:37Z</dcterms:created>
  <dcterms:modified xsi:type="dcterms:W3CDTF">2026-09-05T23:19:54Z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2052-12.1.2.28080</vt:lpwstr>
  </property>
  <property fmtid="{D5CDD505-2E9C-101B-9397-08002B2CF9AE}" pid="3" name="ICV">
    <vt:lpwstr>AF1A490D30A00710C6B26D6AE3DED764_43</vt:lpwstr>
  </property>
</Properties>
</file>