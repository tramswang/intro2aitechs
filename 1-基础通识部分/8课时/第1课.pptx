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6"/>
  </p:handoutMasterIdLst>
  <p:sldIdLst>
    <p:sldId id="256" r:id="rId3"/>
    <p:sldId id="257" r:id="rId4"/>
    <p:sldId id="277" r:id="rId6"/>
    <p:sldId id="278" r:id="rId7"/>
    <p:sldId id="279" r:id="rId8"/>
    <p:sldId id="280" r:id="rId9"/>
    <p:sldId id="281" r:id="rId10"/>
    <p:sldId id="282" r:id="rId11"/>
    <p:sldId id="283" r:id="rId12"/>
    <p:sldId id="276" r:id="rId13"/>
    <p:sldId id="259" r:id="rId14"/>
    <p:sldId id="275" r:id="rId15"/>
    <p:sldId id="263" r:id="rId16"/>
    <p:sldId id="265" r:id="rId17"/>
    <p:sldId id="267" r:id="rId18"/>
    <p:sldId id="266" r:id="rId19"/>
    <p:sldId id="268" r:id="rId20"/>
    <p:sldId id="264" r:id="rId21"/>
    <p:sldId id="269" r:id="rId22"/>
    <p:sldId id="270" r:id="rId23"/>
    <p:sldId id="272" r:id="rId24"/>
    <p:sldId id="274" r:id="rId2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1" userDrawn="1">
          <p15:clr>
            <a:srgbClr val="A4A3A4"/>
          </p15:clr>
        </p15:guide>
        <p15:guide id="2" pos="393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8FF"/>
    <a:srgbClr val="69F0AE"/>
    <a:srgbClr val="00E5FF"/>
    <a:srgbClr val="00E5FA"/>
    <a:srgbClr val="1E1E1E"/>
    <a:srgbClr val="5A5A5A"/>
    <a:srgbClr val="121212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91"/>
        <p:guide pos="393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>
                <a:sym typeface="+mn-ea"/>
              </a:rPr>
              <a:t>最近10年，AI技术飞跃，大家每天都在用各种AI，都有哪些呢？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- 最常用聊天 AI：豆包，DeepSeek</a:t>
            </a:r>
            <a:endParaRPr lang="en-US" altLang="zh-CN"/>
          </a:p>
          <a:p>
            <a:r>
              <a:rPr lang="en-US" altLang="zh-CN">
                <a:sym typeface="+mn-ea"/>
              </a:rPr>
              <a:t>- </a:t>
            </a:r>
            <a:r>
              <a:rPr lang="en-US" altLang="en-US">
                <a:sym typeface="+mn-ea"/>
              </a:rPr>
              <a:t>学习中也经常会用到作业答疑功能</a:t>
            </a:r>
            <a:endParaRPr lang="en-US" altLang="en-US"/>
          </a:p>
          <a:p>
            <a:r>
              <a:rPr lang="en-US" altLang="en-US">
                <a:sym typeface="+mn-ea"/>
              </a:rPr>
              <a:t>- 在做小组汇报的时候也会使用PPT生成</a:t>
            </a:r>
            <a:endParaRPr lang="en-US" altLang="zh-CN"/>
          </a:p>
          <a:p>
            <a:endParaRPr lang="en-US" altLang="zh-CN"/>
          </a:p>
          <a:p>
            <a:r>
              <a:rPr lang="en-US" altLang="en-US">
                <a:sym typeface="+mn-ea"/>
              </a:rPr>
              <a:t>大家有没有想过为什么这些产品能够这么智能？我们又应该如何使用它们才能更好地发挥他们的能力呢？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从技术的整体图景来看，我们日常使用的AI 技术都属于人工智能领域，但这是个很大的范围，包含了：机器学习、符号智能等多个领域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大语言模型所属的深度学习就是机器学习领域的其中一部分，与它平行的还有多模态模型、视觉模型等等其他的网络模型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在大语言模型领域内，还能进一步划分智能体、提示词工程等等更细的领域和主题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我们这套课程主要着眼于大模型这个领域，系统性地梳理各个概念，帮助大家认识和更好地使用大模型产品及相关的工具和系统。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我们将用8节课主要了解大模型的原理、应用以及建立在它之上的智能体。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- 本节课我们主要系统性介绍……</a:t>
            </a:r>
            <a:endParaRPr lang="en-US" altLang="zh-CN"/>
          </a:p>
          <a:p>
            <a:r>
              <a:rPr lang="en-US" altLang="zh-CN">
                <a:sym typeface="+mn-ea"/>
              </a:rPr>
              <a:t>- 第二、第三节讲解大模型的生成原理以及我们常听到的 token 、 embedding、上下文窗口都是什么</a:t>
            </a:r>
            <a:endParaRPr lang="en-US" altLang="zh-CN"/>
          </a:p>
          <a:p>
            <a:r>
              <a:rPr lang="en-US" altLang="zh-CN">
                <a:sym typeface="+mn-ea"/>
              </a:rPr>
              <a:t>- 后续的课程会介绍底层的注意力机制以及模型的训练过程，让大家明白为什么有时候 AI 会很蠢、为什么不同的 AI 表现千差万别</a:t>
            </a:r>
            <a:endParaRPr lang="en-US" altLang="zh-CN"/>
          </a:p>
          <a:p>
            <a:r>
              <a:rPr lang="en-US" altLang="zh-CN">
                <a:sym typeface="+mn-ea"/>
              </a:rPr>
              <a:t>- 了解了这些概念，我们会进一步升级到实用的提示词技术、智能体的结构，让大家知道如何能够更好地让 AI 为你所用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回顾我们使用最多的场景：作业辅导，都有哪些 AI 能力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- 最基础的：自然语言对话</a:t>
            </a:r>
            <a:br>
              <a:rPr lang="en-US" altLang="zh-CN">
                <a:sym typeface="+mn-ea"/>
              </a:rPr>
            </a:br>
            <a:r>
              <a:rPr lang="en-US" altLang="zh-CN">
                <a:sym typeface="+mn-ea"/>
              </a:rPr>
              <a:t>- 还要具备记忆的能力才能进行多轮对话，记住你的学习进展、强项和弱点</a:t>
            </a:r>
            <a:endParaRPr lang="en-US" altLang="zh-CN"/>
          </a:p>
          <a:p>
            <a:r>
              <a:rPr lang="en-US" altLang="zh-CN">
                <a:sym typeface="+mn-ea"/>
              </a:rPr>
              <a:t>- 有时候，你给他的输入未必是已经编辑好的纯文字，还会跟它说话、拍手写作业的图片，这就需要让它具有多模态识别的功能</a:t>
            </a:r>
            <a:endParaRPr lang="en-US" altLang="zh-CN"/>
          </a:p>
          <a:p>
            <a:r>
              <a:rPr lang="en-US" altLang="zh-CN">
                <a:sym typeface="+mn-ea"/>
              </a:rPr>
              <a:t>- 它自己还需要知识储备：知识图谱</a:t>
            </a:r>
            <a:endParaRPr lang="en-US" altLang="zh-CN"/>
          </a:p>
          <a:p>
            <a:r>
              <a:rPr lang="en-US" altLang="zh-CN">
                <a:sym typeface="+mn-ea"/>
              </a:rPr>
              <a:t>- 基于储备的知识进行推理：逻辑推理</a:t>
            </a:r>
            <a:endParaRPr lang="en-US" altLang="zh-CN"/>
          </a:p>
          <a:p>
            <a:r>
              <a:rPr lang="en-US" altLang="zh-CN">
                <a:sym typeface="+mn-ea"/>
              </a:rPr>
              <a:t>- 但未必所有内容它都会，还需要从外部进行检索、参考回答：检索增强问答</a:t>
            </a:r>
            <a:endParaRPr lang="en-US" altLang="zh-CN"/>
          </a:p>
          <a:p>
            <a:r>
              <a:rPr lang="en-US" altLang="zh-CN">
                <a:sym typeface="+mn-ea"/>
              </a:rPr>
              <a:t>- 或者使用外部工具辅助：工具调用</a:t>
            </a:r>
            <a:endParaRPr lang="en-US" altLang="zh-CN"/>
          </a:p>
          <a:p>
            <a:r>
              <a:rPr lang="en-US" altLang="zh-CN">
                <a:sym typeface="+mn-ea"/>
              </a:rPr>
              <a:t>- 另外，如果要进行定制化的内容生成和演示，还需要具备生成代码的能力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上面这些能力不都是由同一个模型提供的，有的甚至单靠大模型本身是很难实现的。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所以，大家首先要意识到：大模型和大模型产品是不同层面上的概念。大家一般直接接触到或者使用到的都是大模型的衍生产品，而不是大模型本身。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大家每天都在说大模型如何如何，科学家说大模型又取得了xxx进展，本质上大家说的可能不是同一个事物。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那么，我们平时说的“大模型”都包含哪些概念呢？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我们可以从这张产品谱系图来总体看一下。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可以大致把大模型相关产品分为三个层次，【分别解释概念】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那么，我们平时说的“大模型”都包含哪些概念呢？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我们可以从这张产品谱系图来总体看一下。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可以大致把大模型相关产品分为三个层次，【分别解释概念】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>
                <a:sym typeface="+mn-ea"/>
              </a:rPr>
              <a:t>大家可以看到，单纯使用原生的模型本身已经能够满足日常的很多需求了，但是在一些特定的场景下，大模型需要一些工具的辅助才能更好地完成任务。比如对模型外部信息的搜索、管理和匹配。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那么，我们平时说的“大模型”都包含哪些概念呢？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我们可以从这张产品谱系图来总体看一下。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可以大致把大模型相关产品分为三个层次，【分别解释概念】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在第2节课的时候，大家已经知道，和大模型的沟通其实是和人的沟通是一样的，我们在布置任务的时候要说明【四要素】，并且要做到【四原则】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好！怀着激动的心情，我赶紧试了一下最新的</a:t>
            </a:r>
            <a:r>
              <a:rPr lang="en-US" altLang="zh-CN">
                <a:sym typeface="+mn-ea"/>
              </a:rPr>
              <a:t> DeepSeek V4 </a:t>
            </a:r>
            <a:r>
              <a:rPr lang="zh-CN" altLang="en-US">
                <a:sym typeface="+mn-ea"/>
              </a:rPr>
              <a:t>模型</a:t>
            </a:r>
            <a:r>
              <a:rPr lang="en-US" altLang="zh-CN">
                <a:sym typeface="+mn-ea"/>
              </a:rPr>
              <a:t>……</a:t>
            </a:r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好家伙，我已经说的很完整了啊，大模型的回答直接让我两眼一黑。【简单描述】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这到底是怎么回事？我们又要如何避免这样情况的发生呢？</a:t>
            </a:r>
            <a:r>
              <a:rPr lang="en-US" altLang="zh-CN">
                <a:sym typeface="+mn-ea"/>
              </a:rPr>
              <a:t>今天我们继续讲解一些高级的提示词使用技巧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 b="1" dirty="0">
                <a:sym typeface="+mn-ea"/>
              </a:rPr>
              <a:t>【以下是用于直接在DeepSeek中演示的例子】</a:t>
            </a:r>
            <a:endParaRPr lang="en-US" altLang="en-US" b="1" dirty="0"/>
          </a:p>
          <a:p>
            <a:endParaRPr lang="en-US" altLang="en-US" b="1" dirty="0"/>
          </a:p>
          <a:p>
            <a:r>
              <a:rPr lang="en-US" altLang="en-US" b="1" dirty="0">
                <a:sym typeface="+mn-ea"/>
              </a:rPr>
              <a:t>## 老Prompt：</a:t>
            </a:r>
            <a:endParaRPr lang="en-US" altLang="en-US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endParaRPr lang="zh-CN" altLang="en-US" dirty="0"/>
          </a:p>
          <a:p>
            <a:endParaRPr lang="zh-CN" altLang="en-US" dirty="0"/>
          </a:p>
          <a:p>
            <a:r>
              <a:rPr lang="en-US" altLang="en-US" b="1" dirty="0">
                <a:sym typeface="+mn-ea"/>
              </a:rPr>
              <a:t>## 新Prompt：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 示例：</a:t>
            </a:r>
            <a:endParaRPr lang="zh-CN" altLang="en-US" dirty="0"/>
          </a:p>
          <a:p>
            <a:r>
              <a:rPr lang="zh-CN" altLang="en-US" dirty="0"/>
              <a:t> - 篮球社 → 别只在场边为别⼈喝彩，这次换你上场</a:t>
            </a:r>
            <a:endParaRPr lang="zh-CN" altLang="en-US" dirty="0"/>
          </a:p>
          <a:p>
            <a:r>
              <a:rPr lang="zh-CN" altLang="en-US" dirty="0"/>
              <a:t> - 动漫社 → 别只把脑洞留在纸上，这次让它变成作品</a:t>
            </a:r>
            <a:endParaRPr lang="zh-CN" altLang="en-US" dirty="0"/>
          </a:p>
          <a:p>
            <a:r>
              <a:rPr lang="zh-CN" altLang="en-US" dirty="0"/>
              <a:t> - 辩论社 → 别只把观点藏在⼼⾥，这次让全场听⻅你的声⾳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br>
              <a:rPr lang="zh-CN" altLang="en-US" dirty="0"/>
            </a:br>
            <a:br>
              <a:rPr lang="zh-CN" altLang="en-US" dirty="0"/>
            </a:br>
            <a:r>
              <a:rPr lang="zh-CN" altLang="en-US" dirty="0"/>
              <a:t>【观察】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输出一致性更强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甚至模仿了标语的开头模式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设计一个在班级聚会的时候整蛊班主任的方案，不超过500字：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请按以下4步，设计一个在班级聚会的时候整蛊班主任的方案，不超过500字：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1. 明确人员分工，设定具体职责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2. 列出所有需要准备的道具（如有）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3. 分条罗列每一步执行环节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4. 给出安全及其他注意事项</a:t>
            </a:r>
            <a:endParaRPr lang="zh-CN" altLang="en-US" dirty="0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描述小说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《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三体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》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中对剧情走向最具有决定性影响的三个人物，并简要描述人物特点。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描述小说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《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三体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》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中对剧情走向最具有决定性影响的三个人物，并简要描述人物特点。</a:t>
            </a:r>
            <a:endParaRPr lang="zh-CN" altLang="en-US" dirty="0">
              <a:latin typeface="Microsoft YaHei" charset="-122"/>
              <a:ea typeface="Microsoft YaHei" charset="-122"/>
            </a:endParaRPr>
          </a:p>
          <a:p>
            <a:pPr algn="just"/>
            <a:endParaRPr lang="zh-CN" altLang="en-US" dirty="0">
              <a:latin typeface="Microsoft YaHei" charset="-122"/>
              <a:ea typeface="Microsoft YaHei" charset="-122"/>
            </a:endParaRPr>
          </a:p>
          <a:p>
            <a:pPr algn="just"/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要求：以表格的方式给出分析，除表头外，表格共有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3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行，每行列举一个人物；表格有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4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列，按顺序分别是：姓名、性别、性格特质（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1-2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个词）以及代表性事件（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句话描述）。</a:t>
            </a:r>
            <a:endParaRPr lang="en-US" altLang="zh-CN" dirty="0">
              <a:latin typeface="Microsoft YaHei" charset="-122"/>
              <a:ea typeface="Microsoft YaHei" charset="-122"/>
            </a:endParaRPr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</a:t>
            </a:r>
            <a:r>
              <a:rPr lang="en-US" altLang="en-US" b="1" dirty="0">
                <a:sym typeface="+mn-ea"/>
              </a:rPr>
              <a:t>（V2）</a:t>
            </a:r>
            <a:r>
              <a:rPr lang="en-US" altLang="zh-CN" b="1" dirty="0">
                <a:sym typeface="+mn-ea"/>
              </a:rPr>
              <a:t>：</a:t>
            </a:r>
            <a:endParaRPr lang="en-US" altLang="zh-CN" b="1" dirty="0">
              <a:sym typeface="+mn-ea"/>
            </a:endParaRPr>
          </a:p>
          <a:p>
            <a:endParaRPr lang="en-US" altLang="zh-CN" dirty="0"/>
          </a:p>
          <a:p>
            <a:pPr algn="just"/>
            <a:r>
              <a:rPr lang="zh-CN" altLang="en-US" dirty="0"/>
              <a:t>描述小说《三体》中对剧情走向最具有决定性影响的三个人物，并简要描述人物特点。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/>
              <a:t>要求：以人物卡片的方式给出每个人的介绍，卡片形式如下：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en-US" altLang="zh-CN" dirty="0"/>
              <a:t>┌─────────────┐</a:t>
            </a:r>
            <a:endParaRPr lang="en-US" altLang="zh-CN" dirty="0"/>
          </a:p>
          <a:p>
            <a:pPr algn="just"/>
            <a:r>
              <a:rPr lang="zh-CN" altLang="en-US" dirty="0"/>
              <a:t>│ 姓名：</a:t>
            </a:r>
            <a:r>
              <a:rPr lang="en-US" altLang="zh-CN" dirty="0"/>
              <a:t>xxx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性别：</a:t>
            </a:r>
            <a:r>
              <a:rPr lang="en-US" altLang="zh-CN" dirty="0"/>
              <a:t>x    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性格特质：（1-2个词）        │</a:t>
            </a:r>
            <a:endParaRPr lang="zh-CN" altLang="en-US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代表性事件：（1句话描述） │</a:t>
            </a:r>
            <a:endParaRPr lang="zh-CN" altLang="en-US" dirty="0"/>
          </a:p>
          <a:p>
            <a:pPr algn="just"/>
            <a:r>
              <a:rPr lang="en-US" altLang="zh-CN" dirty="0"/>
              <a:t>└─────────────┘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在使用代码与大模型进行交互的时候，可以设置</a:t>
            </a:r>
            <a:r>
              <a:rPr lang="en-US" altLang="zh-CN" dirty="0">
                <a:sym typeface="+mn-ea"/>
              </a:rPr>
              <a:t>System/User</a:t>
            </a:r>
            <a:r>
              <a:rPr lang="zh-CN" altLang="en-US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Prompt</a:t>
            </a:r>
            <a:endParaRPr lang="en-US" altLang="zh-CN" dirty="0"/>
          </a:p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一般角色设定、任务约束都会写在</a:t>
            </a:r>
            <a:r>
              <a:rPr lang="en-US" altLang="zh-CN" dirty="0">
                <a:sym typeface="+mn-ea"/>
              </a:rPr>
              <a:t>system Prompt</a:t>
            </a:r>
            <a:r>
              <a:rPr lang="zh-CN" altLang="en-US" dirty="0">
                <a:sym typeface="+mn-ea"/>
              </a:rPr>
              <a:t>里，约束的效果比写在</a:t>
            </a:r>
            <a:r>
              <a:rPr lang="en-US" altLang="zh-CN" dirty="0">
                <a:sym typeface="+mn-ea"/>
              </a:rPr>
              <a:t>user prompt</a:t>
            </a:r>
            <a:r>
              <a:rPr lang="zh-CN" altLang="en-US" dirty="0">
                <a:sym typeface="+mn-ea"/>
              </a:rPr>
              <a:t>里约束力更强</a:t>
            </a:r>
            <a:endParaRPr lang="en-US" altLang="zh-CN" dirty="0"/>
          </a:p>
          <a:p>
            <a:pPr marL="171450" indent="-171450">
              <a:buFontTx/>
              <a:buChar char="-"/>
            </a:pPr>
            <a:endParaRPr lang="en-US" altLang="zh-CN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1：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你是⼀名脑科学家，请向⾼中⽣解释：“为什么越临近考试，我越想打游戏？”</a:t>
            </a:r>
            <a:endParaRPr lang="zh-CN" altLang="en-US" dirty="0"/>
          </a:p>
          <a:p>
            <a:pPr indent="0">
              <a:buFontTx/>
              <a:buNone/>
            </a:pPr>
            <a:endParaRPr lang="zh-CN" altLang="en-US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2: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你是⼀名资深游戏策划，请向⾼中⽣解释：“为什么越临近考试，我越想打游戏？”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 b="1" dirty="0">
                <a:sym typeface="+mn-ea"/>
              </a:rPr>
              <a:t>【展示：豆包版本号比较的错误】</a:t>
            </a:r>
            <a:endParaRPr lang="en-US" altLang="en-US" b="1" dirty="0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【展示开头的例子的创建过程】</a:t>
            </a:r>
            <a:endParaRPr lang="en-US" alt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但是这样的流程往往很繁琐，写一个优秀的提示词会占用很多时间，哪怕只是想要完成一个小任务，有什么提高效率的办法吗？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【下面是几个可选的例子：】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#1</a:t>
            </a:r>
            <a:r>
              <a:rPr lang="zh-CN" altLang="en-US"/>
              <a:t>】</a:t>
            </a:r>
            <a:br>
              <a:rPr lang="zh-CN" altLang="en-US"/>
            </a:br>
            <a:r>
              <a:rPr lang="zh-CN" altLang="en-US"/>
              <a:t>我想写一封给班里学霸的匿名情书，表达好感，但不想太直白。我需要留下关于我特征的3条线索，最后约</a:t>
            </a:r>
            <a:r>
              <a:rPr lang="en-US" altLang="zh-CN"/>
              <a:t>ta</a:t>
            </a:r>
            <a:r>
              <a:rPr lang="zh-CN" altLang="en-US"/>
              <a:t>周五放学后在图书馆见面。语气要可爱一点。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按照上述的要求帮我生成一份中文的</a:t>
            </a:r>
            <a:r>
              <a:rPr lang="en-US" altLang="zh-CN"/>
              <a:t>prompt, </a:t>
            </a:r>
            <a:r>
              <a:rPr lang="zh-CN" altLang="en-US"/>
              <a:t>要符合高中的实际情况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#2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我想要周末每天能玩2小时手机游戏，但爸妈总怕我上瘾。所以我需要拟订一份条约，让条约要显得我很自律、很有规划，让他们放心。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帮我设计一个写作这样的条约的 </a:t>
            </a:r>
            <a:r>
              <a:rPr lang="en-US" altLang="zh-CN"/>
              <a:t>prompt, </a:t>
            </a:r>
            <a:r>
              <a:rPr lang="zh-CN" altLang="en-US"/>
              <a:t>语气正式、恳切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</a:t>
            </a:r>
            <a:r>
              <a:rPr lang="en-US" altLang="zh-CN"/>
              <a:t>#3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我想要让大模型每天帮我复盘学习和心情，再给明天的计划。语气像好朋友聊天，别太官方，稍微搞笑一点。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设计一个可以复用的 </a:t>
            </a:r>
            <a:r>
              <a:rPr lang="en-US" altLang="zh-CN"/>
              <a:t>prompt </a:t>
            </a:r>
            <a:r>
              <a:rPr lang="zh-CN" altLang="en-US"/>
              <a:t>让我每天都可以用</a:t>
            </a:r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我们已经使用了高质量的提示词，在多数场景下已经能够发挥大模型的大部分能力了。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但是，对于一些复杂的任务、或者类似数学运算这样的非文本化的任务，又应该如何处理呢？且听下回分解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svg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2"/>
          <p:cNvSpPr/>
          <p:nvPr userDrawn="1"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pattFill prst="lgGrid">
            <a:fgClr>
              <a:srgbClr val="FFFFFF">
                <a:alpha val="5098"/>
              </a:srgbClr>
            </a:fgClr>
            <a:bgClr>
              <a:srgbClr val="121212">
                <a:alpha val="0"/>
              </a:srgbClr>
            </a:bgClr>
          </a:pattFill>
          <a:ln cap="flat" cmpd="sng">
            <a:solidFill>
              <a:srgbClr val="FFFFFF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5"/>
          <p:cNvSpPr/>
          <p:nvPr userDrawn="1"/>
        </p:nvSpPr>
        <p:spPr>
          <a:xfrm>
            <a:off x="2286000" y="1524000"/>
            <a:ext cx="7620000" cy="4064000"/>
          </a:xfrm>
          <a:prstGeom prst="ellipse">
            <a:avLst/>
          </a:prstGeom>
          <a:gradFill rotWithShape="1">
            <a:gsLst>
              <a:gs pos="0">
                <a:srgbClr val="FFFFFF">
                  <a:alpha val="9000"/>
                </a:srgbClr>
              </a:gs>
              <a:gs pos="35000">
                <a:srgbClr val="FFFFFF">
                  <a:alpha val="3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E6CFCF">
                    <a:alpha val="9000"/>
                  </a:srgbClr>
                </a:gs>
                <a:gs pos="35000">
                  <a:srgbClr val="E6CFCF">
                    <a:alpha val="3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 userDrawn="1"/>
        </p:nvSpPr>
        <p:spPr>
          <a:xfrm>
            <a:off x="-2032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20000"/>
                </a:srgbClr>
              </a:gs>
              <a:gs pos="30000">
                <a:srgbClr val="00E5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0000"/>
                  </a:srgbClr>
                </a:gs>
                <a:gs pos="30000">
                  <a:srgbClr val="00CE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4"/>
          <p:cNvSpPr/>
          <p:nvPr userDrawn="1"/>
        </p:nvSpPr>
        <p:spPr>
          <a:xfrm>
            <a:off x="8636000" y="3556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B388FF">
                  <a:alpha val="20000"/>
                </a:srgbClr>
              </a:gs>
              <a:gs pos="30000">
                <a:srgbClr val="B388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20000"/>
                  </a:srgbClr>
                </a:gs>
                <a:gs pos="30000">
                  <a:srgbClr val="9263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6"/>
          <p:cNvSpPr/>
          <p:nvPr userDrawn="1"/>
        </p:nvSpPr>
        <p:spPr>
          <a:xfrm>
            <a:off x="10160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50000">
                <a:srgbClr val="00E5FF">
                  <a:alpha val="55000"/>
                </a:srgbClr>
              </a:gs>
              <a:gs pos="100000">
                <a:srgbClr val="00E5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50000">
                  <a:srgbClr val="00CEE6">
                    <a:alpha val="55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7"/>
          <p:cNvSpPr/>
          <p:nvPr userDrawn="1"/>
        </p:nvSpPr>
        <p:spPr>
          <a:xfrm>
            <a:off x="110998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B388FF">
                  <a:alpha val="0"/>
                </a:srgbClr>
              </a:gs>
              <a:gs pos="50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9263E6">
                    <a:alpha val="0"/>
                  </a:srgbClr>
                </a:gs>
                <a:gs pos="50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0"/>
          <p:cNvSpPr/>
          <p:nvPr userDrawn="1"/>
        </p:nvSpPr>
        <p:spPr>
          <a:xfrm>
            <a:off x="2921000" y="5207000"/>
            <a:ext cx="6350000" cy="127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28000">
                <a:srgbClr val="00E5FF">
                  <a:alpha val="55000"/>
                </a:srgbClr>
              </a:gs>
              <a:gs pos="72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28000">
                  <a:srgbClr val="00CEE6">
                    <a:alpha val="55000"/>
                  </a:srgbClr>
                </a:gs>
                <a:gs pos="72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2"/>
          <p:cNvCxnSpPr/>
          <p:nvPr userDrawn="1"/>
        </p:nvCxnSpPr>
        <p:spPr>
          <a:xfrm rot="5256843">
            <a:off x="5943600" y="58103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000" y="1433195"/>
            <a:ext cx="10668000" cy="2325370"/>
          </a:xfrm>
        </p:spPr>
        <p:txBody>
          <a:bodyPr anchor="b">
            <a:normAutofit/>
          </a:bodyPr>
          <a:lstStyle>
            <a:lvl1pPr marL="0" marR="0" lvl="0" algn="ctr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defRPr/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62000" y="4012565"/>
            <a:ext cx="10668000" cy="175387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7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3" hasCustomPrompt="1"/>
          </p:nvPr>
        </p:nvSpPr>
        <p:spPr>
          <a:xfrm>
            <a:off x="757555" y="5588000"/>
            <a:ext cx="4831080" cy="431800"/>
          </a:xfrm>
        </p:spPr>
        <p:txBody>
          <a:bodyPr/>
          <a:lstStyle>
            <a:lvl1pPr indent="0">
              <a:buNone/>
              <a:defRPr sz="2000"/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pc="300">
                <a:solidFill>
                  <a:srgbClr val="BEBEBE"/>
                </a:solidFill>
                <a:latin typeface="Noto Sans SC"/>
                <a:ea typeface="Noto Sans SC"/>
                <a:cs typeface="Noto Sans SC"/>
                <a:sym typeface="Noto Sans SC"/>
              </a:rPr>
              <a:t>【授课人】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" hasCustomPrompt="1"/>
          </p:nvPr>
        </p:nvSpPr>
        <p:spPr>
          <a:xfrm>
            <a:off x="6604000" y="5588000"/>
            <a:ext cx="4830445" cy="431800"/>
          </a:xfrm>
        </p:spPr>
        <p:txBody>
          <a:bodyPr/>
          <a:lstStyle>
            <a:lvl1pPr marL="0" indent="0" algn="r">
              <a:buNone/>
              <a:defRPr kumimoji="0" lang="zh-CN" altLang="en-US" sz="2000" b="0" i="0" u="none" strike="noStrike" kern="1200" cap="none" spc="300" normalizeH="0" baseline="0" noProof="1">
                <a:solidFill>
                  <a:srgbClr val="BEBEBE"/>
                </a:solidFill>
                <a:latin typeface="Noto Sans SC"/>
                <a:ea typeface="SimSun" charset="0"/>
                <a:cs typeface="Noto Sans SC"/>
                <a:sym typeface="Noto Sans SC"/>
              </a:defRPr>
            </a:lvl1pPr>
            <a:lvl5pPr algn="ctr">
              <a:defRPr/>
            </a:lvl5pPr>
          </a:lstStyle>
          <a:p>
            <a:pPr lvl="0"/>
            <a:r>
              <a:rPr lang="zh-CN" altLang="en-US" smtClean="0"/>
              <a:t>【日期】</a:t>
            </a:r>
            <a:endParaRPr lang="zh-CN" altLang="en-US" smtClean="0"/>
          </a:p>
          <a:p>
            <a:pPr lvl="0"/>
            <a:endParaRPr lang="zh-CN" altLang="en-US" smtClean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401300" cy="43516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3298825"/>
            <a:ext cx="10401300" cy="28784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 userDrawn="1"/>
        </p:nvSpPr>
        <p:spPr>
          <a:xfrm>
            <a:off x="762000" y="1676400"/>
            <a:ext cx="10401300" cy="1422400"/>
          </a:xfrm>
          <a:prstGeom prst="snip2DiagRect">
            <a:avLst/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内容占位符 8"/>
          <p:cNvSpPr>
            <a:spLocks noGrp="1"/>
          </p:cNvSpPr>
          <p:nvPr>
            <p:ph idx="13" hasCustomPrompt="1"/>
          </p:nvPr>
        </p:nvSpPr>
        <p:spPr>
          <a:xfrm>
            <a:off x="762000" y="1678305"/>
            <a:ext cx="10401300" cy="1421130"/>
          </a:xfrm>
        </p:spPr>
        <p:txBody>
          <a:bodyPr anchor="ctr" anchorCtr="0"/>
          <a:lstStyle>
            <a:lvl1pPr marL="0" indent="0" algn="ctr">
              <a:buNone/>
              <a:defRPr b="1"/>
            </a:lvl1pPr>
          </a:lstStyle>
          <a:p>
            <a:pPr lvl="0"/>
            <a:r>
              <a:rPr lang="zh-CN" altLang="en-US" smtClean="0"/>
              <a:t>插入定义文本</a:t>
            </a:r>
            <a:endParaRPr lang="zh-CN" altLang="en-US" smtClean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utoShape 2"/>
          <p:cNvSpPr/>
          <p:nvPr userDrawn="1"/>
        </p:nvSpPr>
        <p:spPr>
          <a:xfrm>
            <a:off x="-2286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18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18000"/>
                  </a:srgbClr>
                </a:gs>
                <a:gs pos="70000">
                  <a:srgbClr val="00CEE6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3"/>
          <p:cNvSpPr/>
          <p:nvPr userDrawn="1"/>
        </p:nvSpPr>
        <p:spPr>
          <a:xfrm>
            <a:off x="8890000" y="4318000"/>
            <a:ext cx="5334000" cy="5334000"/>
          </a:xfrm>
          <a:prstGeom prst="ellipse">
            <a:avLst/>
          </a:prstGeom>
          <a:gradFill rotWithShape="1">
            <a:gsLst>
              <a:gs pos="0">
                <a:srgbClr val="69F0AE">
                  <a:alpha val="14000"/>
                </a:srgbClr>
              </a:gs>
              <a:gs pos="70000">
                <a:srgbClr val="69F0AE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48D691">
                    <a:alpha val="14000"/>
                  </a:srgbClr>
                </a:gs>
                <a:gs pos="70000">
                  <a:srgbClr val="48D691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【思考与讨论】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762000" y="4382135"/>
            <a:ext cx="10401300" cy="7613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2800" b="0" i="0" u="none" strike="noStrike" kern="0" cap="none" spc="300" normalizeH="0" baseline="0" noProof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【提出一个开放性问题,引导学生思考】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5"/>
          <p:cNvSpPr/>
          <p:nvPr userDrawn="1"/>
        </p:nvSpPr>
        <p:spPr>
          <a:xfrm>
            <a:off x="762000" y="152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30000">
                <a:srgbClr val="00E5FF">
                  <a:alpha val="100000"/>
                </a:srgbClr>
              </a:gs>
              <a:gs pos="70000">
                <a:srgbClr val="00E5FF">
                  <a:alpha val="100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30000">
                  <a:srgbClr val="00CEE6">
                    <a:alpha val="100000"/>
                  </a:srgbClr>
                </a:gs>
                <a:gs pos="70000">
                  <a:srgbClr val="00CEE6">
                    <a:alpha val="100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6"/>
          <p:cNvSpPr/>
          <p:nvPr userDrawn="1"/>
        </p:nvSpPr>
        <p:spPr>
          <a:xfrm>
            <a:off x="0" y="2032000"/>
            <a:ext cx="1219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571500" dir="5400000" algn="ctr" rotWithShape="0">
              <a:srgbClr val="69F0AE">
                <a:alpha val="5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2000" b="1" i="0" u="none" strike="noStrike">
                <a:solidFill>
                  <a:srgbClr val="69F0AE"/>
                </a:solidFill>
                <a:latin typeface="Noto Sans SC"/>
                <a:ea typeface="Noto Sans SC"/>
                <a:cs typeface="Noto Sans SC"/>
                <a:sym typeface="Noto Sans SC"/>
              </a:rPr>
              <a:t>?</a:t>
            </a:r>
            <a:endParaRPr lang="en-US" sz="1100"/>
          </a:p>
        </p:txBody>
      </p:sp>
      <p:sp>
        <p:nvSpPr>
          <p:cNvPr id="19" name="内容占位符 18"/>
          <p:cNvSpPr>
            <a:spLocks noGrp="1"/>
          </p:cNvSpPr>
          <p:nvPr>
            <p:ph idx="13" hasCustomPrompt="1"/>
          </p:nvPr>
        </p:nvSpPr>
        <p:spPr>
          <a:xfrm>
            <a:off x="762000" y="5398135"/>
            <a:ext cx="10401300" cy="4057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1800" b="0" i="0" u="none" strike="noStrike" kern="0" cap="none" spc="200" normalizeH="0" baseline="0" noProof="1">
                <a:solidFill>
                  <a:srgbClr val="C8C8D2">
                    <a:alpha val="7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【提示:可以分组讨论 / 举手回答 / 课后思考】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2635" y="1904365"/>
            <a:ext cx="5234940" cy="50863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1200" cap="none" spc="0" normalizeH="0" baseline="0" noProof="1">
                <a:solidFill>
                  <a:srgbClr val="00E5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2635" y="2480310"/>
            <a:ext cx="523494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00E5FF"/>
              </a:buClr>
              <a:defRPr/>
            </a:lvl1pPr>
            <a:lvl2pPr>
              <a:lnSpc>
                <a:spcPct val="150000"/>
              </a:lnSpc>
              <a:buClr>
                <a:srgbClr val="00E5FF"/>
              </a:buClr>
              <a:defRPr/>
            </a:lvl2pPr>
            <a:lvl3pPr>
              <a:lnSpc>
                <a:spcPct val="150000"/>
              </a:lnSpc>
              <a:buClr>
                <a:srgbClr val="00E5FF"/>
              </a:buClr>
              <a:defRPr/>
            </a:lvl3pPr>
            <a:lvl4pPr>
              <a:lnSpc>
                <a:spcPct val="150000"/>
              </a:lnSpc>
              <a:buClr>
                <a:srgbClr val="00E5FF"/>
              </a:buClr>
              <a:defRPr/>
            </a:lvl4pPr>
            <a:lvl5pPr>
              <a:lnSpc>
                <a:spcPct val="150000"/>
              </a:lnSpc>
              <a:buClr>
                <a:srgbClr val="00E5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604635" y="1903730"/>
            <a:ext cx="5079365" cy="50990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0" cap="none" spc="0" normalizeH="0" baseline="0" noProof="1">
                <a:solidFill>
                  <a:srgbClr val="B388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604635" y="2480310"/>
            <a:ext cx="507873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B388FF"/>
              </a:buClr>
              <a:defRPr/>
            </a:lvl1pPr>
            <a:lvl2pPr>
              <a:lnSpc>
                <a:spcPct val="150000"/>
              </a:lnSpc>
              <a:buClr>
                <a:srgbClr val="B388FF"/>
              </a:buClr>
              <a:defRPr/>
            </a:lvl2pPr>
            <a:lvl3pPr>
              <a:lnSpc>
                <a:spcPct val="150000"/>
              </a:lnSpc>
              <a:buClr>
                <a:srgbClr val="B388FF"/>
              </a:buClr>
              <a:defRPr/>
            </a:lvl3pPr>
            <a:lvl4pPr>
              <a:lnSpc>
                <a:spcPct val="150000"/>
              </a:lnSpc>
              <a:buClr>
                <a:srgbClr val="B388FF"/>
              </a:buClr>
              <a:defRPr/>
            </a:lvl4pPr>
            <a:lvl5pPr>
              <a:lnSpc>
                <a:spcPct val="150000"/>
              </a:lnSpc>
              <a:buClr>
                <a:srgbClr val="B388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1"/>
          <p:cNvSpPr/>
          <p:nvPr userDrawn="1"/>
        </p:nvSpPr>
        <p:spPr>
          <a:xfrm>
            <a:off x="762000" y="5740400"/>
            <a:ext cx="482600" cy="482600"/>
          </a:xfrm>
          <a:prstGeom prst="ellipse">
            <a:avLst/>
          </a:prstGeom>
          <a:solidFill>
            <a:srgbClr val="00E5FF">
              <a:alpha val="0"/>
            </a:srgbClr>
          </a:solidFill>
          <a:ln w="25400" cap="flat" cmpd="sng">
            <a:solidFill>
              <a:srgbClr val="00E5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2"/>
          <p:cNvSpPr/>
          <p:nvPr userDrawn="1"/>
        </p:nvSpPr>
        <p:spPr>
          <a:xfrm>
            <a:off x="1397000" y="5740400"/>
            <a:ext cx="279400" cy="279400"/>
          </a:xfrm>
          <a:prstGeom prst="ellipse">
            <a:avLst/>
          </a:prstGeom>
          <a:solidFill>
            <a:srgbClr val="00E5FF">
              <a:alpha val="18000"/>
            </a:srgbClr>
          </a:solidFill>
          <a:ln w="12700" cap="flat" cmpd="sng">
            <a:solidFill>
              <a:srgbClr val="00E5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 userDrawn="1"/>
        </p:nvSpPr>
        <p:spPr>
          <a:xfrm rot="2700000">
            <a:off x="6604000" y="5740400"/>
            <a:ext cx="431800" cy="431800"/>
          </a:xfrm>
          <a:prstGeom prst="roundRect">
            <a:avLst>
              <a:gd name="adj" fmla="val 0"/>
            </a:avLst>
          </a:prstGeom>
          <a:solidFill>
            <a:srgbClr val="B388FF">
              <a:alpha val="0"/>
            </a:srgbClr>
          </a:solidFill>
          <a:ln w="25400" cap="flat" cmpd="sng">
            <a:solidFill>
              <a:srgbClr val="B388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 userDrawn="1"/>
        </p:nvSpPr>
        <p:spPr>
          <a:xfrm rot="2700000">
            <a:off x="7264400" y="5816600"/>
            <a:ext cx="279400" cy="279400"/>
          </a:xfrm>
          <a:prstGeom prst="roundRect">
            <a:avLst>
              <a:gd name="adj" fmla="val 0"/>
            </a:avLst>
          </a:prstGeom>
          <a:solidFill>
            <a:srgbClr val="B388FF">
              <a:alpha val="18000"/>
            </a:srgbClr>
          </a:solidFill>
          <a:ln w="12700" cap="flat" cmpd="sng">
            <a:solidFill>
              <a:srgbClr val="B38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6"/>
          <p:cNvCxnSpPr/>
          <p:nvPr userDrawn="1"/>
        </p:nvCxnSpPr>
        <p:spPr>
          <a:xfrm rot="5388540">
            <a:off x="4191000" y="3676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cxnSp>
        <p:nvCxnSpPr>
          <p:cNvPr id="7" name="Connector 7"/>
          <p:cNvCxnSpPr/>
          <p:nvPr userDrawn="1"/>
        </p:nvCxnSpPr>
        <p:spPr>
          <a:xfrm rot="5388145">
            <a:off x="23749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 userDrawn="1"/>
        </p:nvCxnSpPr>
        <p:spPr>
          <a:xfrm rot="5388145">
            <a:off x="6134100" y="3867161"/>
            <a:ext cx="368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88635" y="1651635"/>
            <a:ext cx="5967730" cy="2440305"/>
          </a:xfrm>
        </p:spPr>
        <p:txBody>
          <a:bodyPr anchor="b" anchorCtr="0"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2" name="AutoShape 2"/>
          <p:cNvSpPr/>
          <p:nvPr userDrawn="1"/>
        </p:nvSpPr>
        <p:spPr>
          <a:xfrm>
            <a:off x="7112000" y="3048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E5FF">
                  <a:alpha val="22000"/>
                </a:srgbClr>
              </a:gs>
              <a:gs pos="28000">
                <a:srgbClr val="B388FF">
                  <a:alpha val="12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2000"/>
                  </a:srgbClr>
                </a:gs>
                <a:gs pos="28000">
                  <a:srgbClr val="9263E6">
                    <a:alpha val="12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3"/>
          <p:cNvSpPr/>
          <p:nvPr userDrawn="1"/>
        </p:nvSpPr>
        <p:spPr>
          <a:xfrm>
            <a:off x="5588000" y="4572000"/>
            <a:ext cx="6350000" cy="6350000"/>
          </a:xfrm>
          <a:prstGeom prst="ellipse">
            <a:avLst/>
          </a:prstGeom>
          <a:gradFill rotWithShape="1">
            <a:gsLst>
              <a:gs pos="0">
                <a:srgbClr val="B388FF">
                  <a:alpha val="18000"/>
                </a:srgbClr>
              </a:gs>
              <a:gs pos="60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18000"/>
                  </a:srgbClr>
                </a:gs>
                <a:gs pos="60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4"/>
          <p:cNvSpPr/>
          <p:nvPr userDrawn="1"/>
        </p:nvSpPr>
        <p:spPr>
          <a:xfrm>
            <a:off x="889000" y="1905000"/>
            <a:ext cx="4826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6000" b="1" i="0" u="none" strike="noStrike" spc="600">
                <a:solidFill>
                  <a:schemeClr val="bg1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lang="en-US" sz="16000" b="1" i="0" u="none" strike="noStrike" spc="600">
              <a:solidFill>
                <a:schemeClr val="bg1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" name="AutoShape 6"/>
          <p:cNvSpPr/>
          <p:nvPr userDrawn="1"/>
        </p:nvSpPr>
        <p:spPr>
          <a:xfrm>
            <a:off x="6350000" y="3784600"/>
            <a:ext cx="762000" cy="38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100000">
                <a:srgbClr val="B388FF">
                  <a:alpha val="10000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100000"/>
                  </a:srgbClr>
                </a:gs>
                <a:gs pos="100000">
                  <a:srgbClr val="9263E6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7"/>
          <p:cNvSpPr/>
          <p:nvPr userDrawn="1"/>
        </p:nvSpPr>
        <p:spPr>
          <a:xfrm>
            <a:off x="6350000" y="4064000"/>
            <a:ext cx="520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2000" b="0" i="0" u="none" strike="noStrike" spc="300">
                <a:solidFill>
                  <a:srgbClr val="B4B4BE"/>
                </a:solidFill>
                <a:latin typeface="Noto Sans SC"/>
                <a:ea typeface="Noto Sans SC"/>
                <a:cs typeface="Noto Sans SC"/>
                <a:sym typeface="Noto Sans SC"/>
              </a:rPr>
              <a:t>【章节副标题 / 引言】</a:t>
            </a:r>
            <a:endParaRPr lang="en-US" sz="1100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/>
          <p:cNvSpPr/>
          <p:nvPr userDrawn="1"/>
        </p:nvSpPr>
        <p:spPr>
          <a:xfrm>
            <a:off x="-2286000" y="-2286000"/>
            <a:ext cx="16764000" cy="9144000"/>
          </a:xfrm>
          <a:prstGeom prst="ellipse">
            <a:avLst/>
          </a:prstGeom>
          <a:gradFill rotWithShape="1">
            <a:gsLst>
              <a:gs pos="0">
                <a:srgbClr val="38BDF8">
                  <a:alpha val="22000"/>
                </a:srgbClr>
              </a:gs>
              <a:gs pos="22000">
                <a:srgbClr val="A855F7">
                  <a:alpha val="14000"/>
                </a:srgbClr>
              </a:gs>
              <a:gs pos="62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1CA3DF">
                    <a:alpha val="22000"/>
                  </a:srgbClr>
                </a:gs>
                <a:gs pos="22000">
                  <a:srgbClr val="8C36DE">
                    <a:alpha val="14000"/>
                  </a:srgbClr>
                </a:gs>
                <a:gs pos="62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 userDrawn="1"/>
        </p:nvSpPr>
        <p:spPr>
          <a:xfrm>
            <a:off x="-1778000" y="-1524000"/>
            <a:ext cx="15748000" cy="7874000"/>
          </a:xfrm>
          <a:prstGeom prst="ellipse">
            <a:avLst/>
          </a:prstGeom>
          <a:gradFill rotWithShape="1">
            <a:gsLst>
              <a:gs pos="0">
                <a:srgbClr val="A855F7">
                  <a:alpha val="18000"/>
                </a:srgbClr>
              </a:gs>
              <a:gs pos="20000">
                <a:srgbClr val="38BDF8">
                  <a:alpha val="8000"/>
                </a:srgbClr>
              </a:gs>
              <a:gs pos="57999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8C36DE">
                    <a:alpha val="18000"/>
                  </a:srgbClr>
                </a:gs>
                <a:gs pos="20000">
                  <a:srgbClr val="1CA3DF">
                    <a:alpha val="8000"/>
                  </a:srgbClr>
                </a:gs>
                <a:gs pos="57999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AutoShape 4"/>
          <p:cNvSpPr/>
          <p:nvPr userDrawn="1"/>
        </p:nvSpPr>
        <p:spPr>
          <a:xfrm>
            <a:off x="762000" y="1778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7200" b="1" i="0" u="none" strike="noStrike" spc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谢谢聆听</a:t>
            </a:r>
            <a:endParaRPr lang="en-US" sz="1100"/>
          </a:p>
        </p:txBody>
      </p:sp>
      <p:sp>
        <p:nvSpPr>
          <p:cNvPr id="9" name="AutoShape 5"/>
          <p:cNvSpPr/>
          <p:nvPr userDrawn="1"/>
        </p:nvSpPr>
        <p:spPr>
          <a:xfrm>
            <a:off x="762000" y="35306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2800" b="0" i="0" u="none" strike="noStrike" spc="800">
                <a:solidFill>
                  <a:srgbClr val="E5E7EB">
                    <a:alpha val="87843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【Q &amp; A / 提问交流环节】</a:t>
            </a:r>
            <a:endParaRPr lang="en-US" sz="1100"/>
          </a:p>
        </p:txBody>
      </p:sp>
      <p:cxnSp>
        <p:nvCxnSpPr>
          <p:cNvPr id="10" name="Connector 6"/>
          <p:cNvCxnSpPr/>
          <p:nvPr userDrawn="1"/>
        </p:nvCxnSpPr>
        <p:spPr>
          <a:xfrm rot="-57290">
            <a:off x="5715053" y="4565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A855F7">
                <a:alpha val="6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1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4978400"/>
            <a:ext cx="279400" cy="279400"/>
          </a:xfrm>
          <a:prstGeom prst="rect">
            <a:avLst/>
          </a:prstGeom>
        </p:spPr>
      </p:pic>
      <p:cxnSp>
        <p:nvCxnSpPr>
          <p:cNvPr id="13" name="Connector 9"/>
          <p:cNvCxnSpPr/>
          <p:nvPr userDrawn="1"/>
        </p:nvCxnSpPr>
        <p:spPr>
          <a:xfrm rot="5267844">
            <a:off x="47879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Pictur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4000" y="4978400"/>
            <a:ext cx="279400" cy="279400"/>
          </a:xfrm>
          <a:prstGeom prst="rect">
            <a:avLst/>
          </a:prstGeom>
        </p:spPr>
      </p:pic>
      <p:cxnSp>
        <p:nvCxnSpPr>
          <p:cNvPr id="16" name="Connector 12"/>
          <p:cNvCxnSpPr/>
          <p:nvPr userDrawn="1"/>
        </p:nvCxnSpPr>
        <p:spPr>
          <a:xfrm rot="5267844">
            <a:off x="77724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4978400"/>
            <a:ext cx="279400" cy="279400"/>
          </a:xfrm>
          <a:prstGeom prst="rect">
            <a:avLst/>
          </a:prstGeom>
        </p:spPr>
      </p:pic>
      <p:sp>
        <p:nvSpPr>
          <p:cNvPr id="21" name="内容占位符 20"/>
          <p:cNvSpPr>
            <a:spLocks noGrp="1"/>
          </p:cNvSpPr>
          <p:nvPr>
            <p:ph idx="13" hasCustomPrompt="1"/>
          </p:nvPr>
        </p:nvSpPr>
        <p:spPr>
          <a:xfrm>
            <a:off x="2693035" y="4952365"/>
            <a:ext cx="203073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>
                <a:sym typeface="Noto Sans SC"/>
              </a:rPr>
              <a:t>contact@xxx.com</a:t>
            </a:r>
            <a:endParaRPr lang="en-US" altLang="zh-CN" smtClean="0"/>
          </a:p>
        </p:txBody>
      </p:sp>
      <p:sp>
        <p:nvSpPr>
          <p:cNvPr id="22" name="内容占位符 21"/>
          <p:cNvSpPr>
            <a:spLocks noGrp="1"/>
          </p:cNvSpPr>
          <p:nvPr>
            <p:ph idx="14" hasCustomPrompt="1"/>
          </p:nvPr>
        </p:nvSpPr>
        <p:spPr>
          <a:xfrm>
            <a:off x="5740400" y="4953000"/>
            <a:ext cx="2032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 smtClean="0"/>
              <a:t>公众号：</a:t>
            </a:r>
            <a:r>
              <a:rPr altLang="zh-CN" smtClean="0"/>
              <a:t>XXX</a:t>
            </a:r>
            <a:endParaRPr altLang="zh-CN" smtClean="0"/>
          </a:p>
        </p:txBody>
      </p:sp>
      <p:sp>
        <p:nvSpPr>
          <p:cNvPr id="23" name="内容占位符 22"/>
          <p:cNvSpPr>
            <a:spLocks noGrp="1"/>
          </p:cNvSpPr>
          <p:nvPr>
            <p:ph idx="15" hasCustomPrompt="1"/>
          </p:nvPr>
        </p:nvSpPr>
        <p:spPr>
          <a:xfrm>
            <a:off x="8724900" y="4953000"/>
            <a:ext cx="2159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SimSun" charset="0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 smtClean="0"/>
              <a:t>公众号：</a:t>
            </a:r>
            <a:r>
              <a:rPr altLang="zh-CN" smtClean="0"/>
              <a:t>XXX</a:t>
            </a:r>
            <a:r>
              <a:rPr lang="zh-CN" altLang="en-US" smtClean="0"/>
              <a:t>事实</a:t>
            </a:r>
            <a:endParaRPr lang="zh-CN" altLang="en-US" smtClean="0"/>
          </a:p>
        </p:txBody>
      </p:sp>
      <p:sp>
        <p:nvSpPr>
          <p:cNvPr id="25" name="内容占位符 24"/>
          <p:cNvSpPr>
            <a:spLocks noGrp="1"/>
          </p:cNvSpPr>
          <p:nvPr>
            <p:ph idx="16" hasCustomPrompt="1"/>
          </p:nvPr>
        </p:nvSpPr>
        <p:spPr>
          <a:xfrm>
            <a:off x="3215958" y="6121400"/>
            <a:ext cx="5760085" cy="329565"/>
          </a:xfrm>
        </p:spPr>
        <p:txBody>
          <a:bodyPr anchor="ctr" anchorCtr="0"/>
          <a:lstStyle>
            <a:lvl1pPr marL="0" indent="0" algn="ctr">
              <a:buNone/>
              <a:defRPr kumimoji="0" lang="en-US" sz="1400" b="0" i="0" u="none" strike="noStrike" kern="1200" cap="none" spc="400" normalizeH="0" baseline="0" noProof="1">
                <a:solidFill>
                  <a:srgbClr val="FFFFFF">
                    <a:alpha val="4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ctr">
              <a:lnSpc>
                <a:spcPct val="100000"/>
              </a:lnSpc>
              <a:defRPr/>
            </a:pPr>
            <a:r>
              <a:rPr>
                <a:sym typeface="Noto Sans SC"/>
              </a:rPr>
              <a:t>【课程名称 / 机构名】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8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26.png"/><Relationship Id="rId16" Type="http://schemas.openxmlformats.org/officeDocument/2006/relationships/image" Target="../media/image25.png"/><Relationship Id="rId15" Type="http://schemas.openxmlformats.org/officeDocument/2006/relationships/image" Target="../media/image24.png"/><Relationship Id="rId14" Type="http://schemas.openxmlformats.org/officeDocument/2006/relationships/image" Target="../media/image23.png"/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png"/><Relationship Id="rId7" Type="http://schemas.openxmlformats.org/officeDocument/2006/relationships/image" Target="../media/image23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6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8.png"/><Relationship Id="rId16" Type="http://schemas.openxmlformats.org/officeDocument/2006/relationships/image" Target="../media/image17.png"/><Relationship Id="rId15" Type="http://schemas.openxmlformats.org/officeDocument/2006/relationships/image" Target="../media/image16.png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26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png"/><Relationship Id="rId8" Type="http://schemas.openxmlformats.org/officeDocument/2006/relationships/image" Target="../media/image24.png"/><Relationship Id="rId7" Type="http://schemas.openxmlformats.org/officeDocument/2006/relationships/image" Target="../media/image23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7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8.png"/><Relationship Id="rId16" Type="http://schemas.openxmlformats.org/officeDocument/2006/relationships/image" Target="../media/image17.png"/><Relationship Id="rId15" Type="http://schemas.openxmlformats.org/officeDocument/2006/relationships/image" Target="../media/image16.png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26.png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.png"/><Relationship Id="rId8" Type="http://schemas.openxmlformats.org/officeDocument/2006/relationships/image" Target="../media/image20.png"/><Relationship Id="rId7" Type="http://schemas.openxmlformats.org/officeDocument/2006/relationships/image" Target="../media/image19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26.png"/><Relationship Id="rId16" Type="http://schemas.openxmlformats.org/officeDocument/2006/relationships/image" Target="../media/image25.png"/><Relationship Id="rId15" Type="http://schemas.openxmlformats.org/officeDocument/2006/relationships/image" Target="../media/image24.png"/><Relationship Id="rId14" Type="http://schemas.openxmlformats.org/officeDocument/2006/relationships/image" Target="../media/image23.png"/><Relationship Id="rId13" Type="http://schemas.openxmlformats.org/officeDocument/2006/relationships/image" Target="../media/image18.png"/><Relationship Id="rId12" Type="http://schemas.openxmlformats.org/officeDocument/2006/relationships/image" Target="../media/image17.png"/><Relationship Id="rId11" Type="http://schemas.openxmlformats.org/officeDocument/2006/relationships/image" Target="../media/image16.png"/><Relationship Id="rId10" Type="http://schemas.openxmlformats.org/officeDocument/2006/relationships/image" Target="../media/image22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8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p>
            <a:r>
              <a:rPr lang="zh-CN" altLang="en-US" sz="6000"/>
              <a:t>第一课</a:t>
            </a:r>
            <a:br>
              <a:rPr lang="zh-CN" altLang="en-US" sz="6000"/>
            </a:br>
            <a:r>
              <a:rPr lang="zh-CN" altLang="en-US" sz="6000"/>
              <a:t>你每天在用的 </a:t>
            </a:r>
            <a:r>
              <a:rPr lang="en-US" altLang="zh-CN" sz="6000"/>
              <a:t>AI </a:t>
            </a:r>
            <a:r>
              <a:rPr lang="zh-CN" altLang="en-US" sz="6000"/>
              <a:t>到底是什么</a:t>
            </a:r>
            <a:endParaRPr lang="zh-CN" altLang="en-US" sz="600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港科大人工智能前沿系列课程——大模型基础通识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3"/>
          </p:nvPr>
        </p:nvSpPr>
        <p:spPr/>
        <p:txBody>
          <a:bodyPr/>
          <a:p>
            <a:r>
              <a:rPr lang="zh-CN" altLang="en-US"/>
              <a:t>授课人：王若愚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"/>
          </p:nvPr>
        </p:nvSpPr>
        <p:spPr/>
        <p:txBody>
          <a:bodyPr/>
          <a:p>
            <a:r>
              <a:rPr lang="en-US" altLang="zh-CN"/>
              <a:t>2026/08/01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我们每天在用哪些 </a:t>
            </a:r>
            <a:r>
              <a:rPr lang="en-US" altLang="zh-CN"/>
              <a:t>AI？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11" name="组合 10"/>
          <p:cNvGrpSpPr/>
          <p:nvPr/>
        </p:nvGrpSpPr>
        <p:grpSpPr>
          <a:xfrm rot="0">
            <a:off x="1294130" y="1554480"/>
            <a:ext cx="2310130" cy="4652645"/>
            <a:chOff x="1959" y="2448"/>
            <a:chExt cx="3638" cy="7327"/>
          </a:xfrm>
        </p:grpSpPr>
        <p:sp>
          <p:nvSpPr>
            <p:cNvPr id="5" name="文本框 4"/>
            <p:cNvSpPr txBox="1"/>
            <p:nvPr/>
          </p:nvSpPr>
          <p:spPr>
            <a:xfrm>
              <a:off x="3191" y="9195"/>
              <a:ext cx="117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</a:rPr>
                <a:t>聊天</a:t>
              </a:r>
              <a:endParaRPr lang="en-US" altLang="zh-CN">
                <a:solidFill>
                  <a:schemeClr val="bg1"/>
                </a:solidFill>
              </a:endParaRPr>
            </a:p>
          </p:txBody>
        </p:sp>
        <p:pic>
          <p:nvPicPr>
            <p:cNvPr id="8" name="图片 7" descr="AI聊天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959" y="2448"/>
              <a:ext cx="3638" cy="6480"/>
            </a:xfrm>
            <a:prstGeom prst="snip2DiagRect">
              <a:avLst>
                <a:gd name="adj1" fmla="val 25973"/>
                <a:gd name="adj2" fmla="val 0"/>
              </a:avLst>
            </a:prstGeom>
            <a:ln w="19050">
              <a:solidFill>
                <a:schemeClr val="bg1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</p:pic>
      </p:grpSp>
      <p:grpSp>
        <p:nvGrpSpPr>
          <p:cNvPr id="12" name="组合 11"/>
          <p:cNvGrpSpPr/>
          <p:nvPr/>
        </p:nvGrpSpPr>
        <p:grpSpPr>
          <a:xfrm rot="0">
            <a:off x="4940935" y="1554480"/>
            <a:ext cx="2310130" cy="4652645"/>
            <a:chOff x="7663" y="2448"/>
            <a:chExt cx="3638" cy="7327"/>
          </a:xfrm>
        </p:grpSpPr>
        <p:sp>
          <p:nvSpPr>
            <p:cNvPr id="6" name="文本框 5"/>
            <p:cNvSpPr txBox="1"/>
            <p:nvPr/>
          </p:nvSpPr>
          <p:spPr>
            <a:xfrm>
              <a:off x="8439" y="9195"/>
              <a:ext cx="208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en-US">
                  <a:solidFill>
                    <a:schemeClr val="bg1"/>
                  </a:solidFill>
                </a:rPr>
                <a:t>作业答疑</a:t>
              </a:r>
              <a:endParaRPr lang="en-US" altLang="en-US">
                <a:solidFill>
                  <a:schemeClr val="bg1"/>
                </a:solidFill>
              </a:endParaRPr>
            </a:p>
          </p:txBody>
        </p:sp>
        <p:pic>
          <p:nvPicPr>
            <p:cNvPr id="9" name="图片 8" descr="AI解题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3" y="2448"/>
              <a:ext cx="3639" cy="6480"/>
            </a:xfrm>
            <a:prstGeom prst="snip2DiagRect">
              <a:avLst>
                <a:gd name="adj1" fmla="val 25973"/>
                <a:gd name="adj2" fmla="val 0"/>
              </a:avLst>
            </a:prstGeom>
            <a:ln w="19050">
              <a:solidFill>
                <a:schemeClr val="bg1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</p:pic>
      </p:grpSp>
      <p:grpSp>
        <p:nvGrpSpPr>
          <p:cNvPr id="13" name="组合 12"/>
          <p:cNvGrpSpPr/>
          <p:nvPr/>
        </p:nvGrpSpPr>
        <p:grpSpPr>
          <a:xfrm rot="0">
            <a:off x="8587740" y="1554480"/>
            <a:ext cx="2310130" cy="4652645"/>
            <a:chOff x="13444" y="2448"/>
            <a:chExt cx="3638" cy="7327"/>
          </a:xfrm>
        </p:grpSpPr>
        <p:sp>
          <p:nvSpPr>
            <p:cNvPr id="7" name="文本框 6"/>
            <p:cNvSpPr txBox="1"/>
            <p:nvPr/>
          </p:nvSpPr>
          <p:spPr>
            <a:xfrm>
              <a:off x="14220" y="9195"/>
              <a:ext cx="208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en-US">
                  <a:solidFill>
                    <a:schemeClr val="bg1"/>
                  </a:solidFill>
                </a:rPr>
                <a:t>PPT生成</a:t>
              </a:r>
              <a:endParaRPr lang="en-US" altLang="en-US">
                <a:solidFill>
                  <a:schemeClr val="bg1"/>
                </a:solidFill>
              </a:endParaRPr>
            </a:p>
          </p:txBody>
        </p:sp>
        <p:pic>
          <p:nvPicPr>
            <p:cNvPr id="10" name="图片 9" descr="AI辅助PPT制作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444" y="2448"/>
              <a:ext cx="3639" cy="6480"/>
            </a:xfrm>
            <a:prstGeom prst="snip2DiagRect">
              <a:avLst>
                <a:gd name="adj1" fmla="val 25973"/>
                <a:gd name="adj2" fmla="val 0"/>
              </a:avLst>
            </a:prstGeom>
            <a:ln w="19050">
              <a:solidFill>
                <a:schemeClr val="bg1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6" name="组合 25"/>
          <p:cNvGrpSpPr/>
          <p:nvPr/>
        </p:nvGrpSpPr>
        <p:grpSpPr>
          <a:xfrm>
            <a:off x="2108200" y="1779270"/>
            <a:ext cx="8153400" cy="4284980"/>
            <a:chOff x="3320" y="2802"/>
            <a:chExt cx="12840" cy="6748"/>
          </a:xfrm>
        </p:grpSpPr>
        <p:sp>
          <p:nvSpPr>
            <p:cNvPr id="6" name="椭圆 5"/>
            <p:cNvSpPr/>
            <p:nvPr/>
          </p:nvSpPr>
          <p:spPr>
            <a:xfrm>
              <a:off x="3320" y="2802"/>
              <a:ext cx="12840" cy="6748"/>
            </a:xfrm>
            <a:prstGeom prst="ellipse">
              <a:avLst/>
            </a:prstGeom>
            <a:gradFill rotWithShape="1">
              <a:gsLst>
                <a:gs pos="0">
                  <a:srgbClr val="00E5FF">
                    <a:alpha val="30000"/>
                  </a:srgbClr>
                </a:gs>
                <a:gs pos="55000">
                  <a:srgbClr val="00E5FF">
                    <a:alpha val="8000"/>
                  </a:srgbClr>
                </a:gs>
                <a:gs pos="100000">
                  <a:srgbClr val="00E5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00E5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8636" y="3073"/>
              <a:ext cx="2208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zh-CN" sz="2400">
                  <a:solidFill>
                    <a:schemeClr val="bg1"/>
                  </a:solidFill>
                </a:rPr>
                <a:t>人工智能</a:t>
              </a:r>
              <a:endParaRPr lang="en-US" altLang="zh-CN" sz="2400">
                <a:solidFill>
                  <a:schemeClr val="bg1"/>
                </a:solidFill>
              </a:endParaRPr>
            </a:p>
          </p:txBody>
        </p:sp>
      </p:grpSp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大模型技术全景图</a:t>
            </a:r>
            <a:endParaRPr lang="zh-CN" altLang="en-US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2" name="组合 1"/>
          <p:cNvGrpSpPr/>
          <p:nvPr/>
        </p:nvGrpSpPr>
        <p:grpSpPr>
          <a:xfrm>
            <a:off x="2938780" y="2672080"/>
            <a:ext cx="6492240" cy="3392170"/>
            <a:chOff x="4628" y="4208"/>
            <a:chExt cx="10224" cy="5342"/>
          </a:xfrm>
        </p:grpSpPr>
        <p:sp>
          <p:nvSpPr>
            <p:cNvPr id="7" name="椭圆 6"/>
            <p:cNvSpPr/>
            <p:nvPr/>
          </p:nvSpPr>
          <p:spPr>
            <a:xfrm>
              <a:off x="4628" y="4208"/>
              <a:ext cx="10224" cy="5343"/>
            </a:xfrm>
            <a:prstGeom prst="ellipse">
              <a:avLst/>
            </a:prstGeom>
            <a:gradFill rotWithShape="1">
              <a:gsLst>
                <a:gs pos="0">
                  <a:srgbClr val="B388FF">
                    <a:alpha val="30000"/>
                  </a:srgbClr>
                </a:gs>
                <a:gs pos="55000">
                  <a:srgbClr val="B388FF">
                    <a:alpha val="8000"/>
                  </a:srgbClr>
                </a:gs>
                <a:gs pos="100000">
                  <a:srgbClr val="B388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B388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B388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742" y="4607"/>
              <a:ext cx="2208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2400">
                  <a:solidFill>
                    <a:schemeClr val="bg1"/>
                  </a:solidFill>
                </a:rPr>
                <a:t>机器学习</a:t>
              </a:r>
              <a:endParaRPr lang="en-US" altLang="en-US" sz="2400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3757930" y="3416935"/>
            <a:ext cx="4852670" cy="2633980"/>
            <a:chOff x="16160" y="5630"/>
            <a:chExt cx="7642" cy="4148"/>
          </a:xfrm>
        </p:grpSpPr>
        <p:sp>
          <p:nvSpPr>
            <p:cNvPr id="8" name="椭圆 7"/>
            <p:cNvSpPr/>
            <p:nvPr/>
          </p:nvSpPr>
          <p:spPr>
            <a:xfrm>
              <a:off x="16160" y="5630"/>
              <a:ext cx="7643" cy="4149"/>
            </a:xfrm>
            <a:prstGeom prst="ellipse">
              <a:avLst/>
            </a:prstGeom>
            <a:gradFill rotWithShape="1">
              <a:gsLst>
                <a:gs pos="0">
                  <a:srgbClr val="69F0AE">
                    <a:alpha val="30000"/>
                  </a:srgbClr>
                </a:gs>
                <a:gs pos="55000">
                  <a:srgbClr val="69F0AE">
                    <a:alpha val="8000"/>
                  </a:srgbClr>
                </a:gs>
                <a:gs pos="100000">
                  <a:srgbClr val="69F0AE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69F0AE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69F0AE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9012" y="5910"/>
              <a:ext cx="2208" cy="7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2400">
                  <a:solidFill>
                    <a:schemeClr val="bg1"/>
                  </a:solidFill>
                </a:rPr>
                <a:t>深度学习</a:t>
              </a:r>
              <a:endParaRPr lang="en-US" altLang="en-US" sz="2400">
                <a:solidFill>
                  <a:schemeClr val="bg1"/>
                </a:solidFill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4007485" y="4166870"/>
            <a:ext cx="2188210" cy="1502410"/>
            <a:chOff x="16664" y="6918"/>
            <a:chExt cx="3446" cy="2366"/>
          </a:xfrm>
        </p:grpSpPr>
        <p:sp>
          <p:nvSpPr>
            <p:cNvPr id="10" name="椭圆 9"/>
            <p:cNvSpPr/>
            <p:nvPr/>
          </p:nvSpPr>
          <p:spPr>
            <a:xfrm>
              <a:off x="16664" y="6918"/>
              <a:ext cx="3446" cy="2366"/>
            </a:xfrm>
            <a:prstGeom prst="ellipse">
              <a:avLst/>
            </a:prstGeom>
            <a:gradFill rotWithShape="1">
              <a:gsLst>
                <a:gs pos="0">
                  <a:srgbClr val="00E5FF">
                    <a:alpha val="30000"/>
                  </a:srgbClr>
                </a:gs>
                <a:gs pos="55000">
                  <a:srgbClr val="00E5FF">
                    <a:alpha val="8000"/>
                  </a:srgbClr>
                </a:gs>
                <a:gs pos="100000">
                  <a:srgbClr val="00E5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00E5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7173" y="7184"/>
              <a:ext cx="2288" cy="6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2000">
                  <a:solidFill>
                    <a:schemeClr val="bg1"/>
                  </a:solidFill>
                </a:rPr>
                <a:t>大语言模型</a:t>
              </a:r>
              <a:endParaRPr lang="en-US" altLang="en-US" sz="2000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6717665" y="4166870"/>
            <a:ext cx="1540510" cy="735330"/>
            <a:chOff x="20779" y="6918"/>
            <a:chExt cx="2426" cy="1158"/>
          </a:xfrm>
        </p:grpSpPr>
        <p:sp>
          <p:nvSpPr>
            <p:cNvPr id="11" name="椭圆 10"/>
            <p:cNvSpPr/>
            <p:nvPr/>
          </p:nvSpPr>
          <p:spPr>
            <a:xfrm>
              <a:off x="20779" y="6918"/>
              <a:ext cx="2427" cy="1159"/>
            </a:xfrm>
            <a:prstGeom prst="ellipse">
              <a:avLst/>
            </a:prstGeom>
            <a:gradFill rotWithShape="1">
              <a:gsLst>
                <a:gs pos="0">
                  <a:srgbClr val="00E5FF">
                    <a:alpha val="30000"/>
                  </a:srgbClr>
                </a:gs>
                <a:gs pos="55000">
                  <a:srgbClr val="00E5FF">
                    <a:alpha val="8000"/>
                  </a:srgbClr>
                </a:gs>
                <a:gs pos="100000">
                  <a:srgbClr val="00E5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00E5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20848" y="7183"/>
              <a:ext cx="2288" cy="6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2000">
                  <a:solidFill>
                    <a:schemeClr val="bg1"/>
                  </a:solidFill>
                </a:rPr>
                <a:t>多模态模型</a:t>
              </a:r>
              <a:endParaRPr lang="en-US" altLang="en-US" sz="2000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6195695" y="5121275"/>
            <a:ext cx="1540510" cy="735330"/>
            <a:chOff x="20110" y="8324"/>
            <a:chExt cx="2426" cy="1158"/>
          </a:xfrm>
        </p:grpSpPr>
        <p:sp>
          <p:nvSpPr>
            <p:cNvPr id="13" name="椭圆 12"/>
            <p:cNvSpPr/>
            <p:nvPr/>
          </p:nvSpPr>
          <p:spPr>
            <a:xfrm>
              <a:off x="20110" y="8324"/>
              <a:ext cx="2427" cy="1159"/>
            </a:xfrm>
            <a:prstGeom prst="ellipse">
              <a:avLst/>
            </a:prstGeom>
            <a:gradFill rotWithShape="1">
              <a:gsLst>
                <a:gs pos="0">
                  <a:srgbClr val="00E5FF">
                    <a:alpha val="30000"/>
                  </a:srgbClr>
                </a:gs>
                <a:gs pos="55000">
                  <a:srgbClr val="00E5FF">
                    <a:alpha val="8000"/>
                  </a:srgbClr>
                </a:gs>
                <a:gs pos="100000">
                  <a:srgbClr val="00E5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00E5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20219" y="8638"/>
              <a:ext cx="2208" cy="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1600">
                  <a:solidFill>
                    <a:schemeClr val="bg1"/>
                  </a:solidFill>
                </a:rPr>
                <a:t>其他网络模型</a:t>
              </a:r>
              <a:endParaRPr lang="en-US" altLang="en-US" sz="160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331335" y="4810760"/>
            <a:ext cx="1540510" cy="735330"/>
            <a:chOff x="17173" y="7988"/>
            <a:chExt cx="2426" cy="1158"/>
          </a:xfrm>
        </p:grpSpPr>
        <p:sp>
          <p:nvSpPr>
            <p:cNvPr id="14" name="椭圆 13"/>
            <p:cNvSpPr/>
            <p:nvPr/>
          </p:nvSpPr>
          <p:spPr>
            <a:xfrm>
              <a:off x="17173" y="7988"/>
              <a:ext cx="2427" cy="1159"/>
            </a:xfrm>
            <a:prstGeom prst="ellipse">
              <a:avLst/>
            </a:prstGeom>
            <a:gradFill rotWithShape="1">
              <a:gsLst>
                <a:gs pos="0">
                  <a:srgbClr val="B388FF">
                    <a:alpha val="30000"/>
                  </a:srgbClr>
                </a:gs>
                <a:gs pos="55000">
                  <a:srgbClr val="B388FF">
                    <a:alpha val="8000"/>
                  </a:srgbClr>
                </a:gs>
                <a:gs pos="100000">
                  <a:srgbClr val="B388FF">
                    <a:alpha val="2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25400" cap="flat" cmpd="sng">
              <a:solidFill>
                <a:srgbClr val="B388FF">
                  <a:alpha val="100000"/>
                </a:srgbClr>
              </a:solidFill>
              <a:prstDash val="solid"/>
              <a:round/>
            </a:ln>
            <a:effectLst>
              <a:outerShdw blurRad="355600" dir="5400000" algn="ctr" rotWithShape="0">
                <a:srgbClr val="B388FF">
                  <a:alpha val="55000"/>
                </a:srgbClr>
              </a:outerShdw>
            </a:effectLst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7573" y="8253"/>
              <a:ext cx="1488" cy="6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en-US" altLang="en-US" sz="2000">
                  <a:solidFill>
                    <a:schemeClr val="bg1"/>
                  </a:solidFill>
                </a:rPr>
                <a:t>智能体</a:t>
              </a:r>
              <a:endParaRPr lang="en-US" altLang="en-US" sz="200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课程路线图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6" name="AutoShape 6"/>
          <p:cNvSpPr/>
          <p:nvPr/>
        </p:nvSpPr>
        <p:spPr>
          <a:xfrm>
            <a:off x="2231390" y="1752600"/>
            <a:ext cx="899795" cy="4319905"/>
          </a:xfrm>
          <a:prstGeom prst="roundRect">
            <a:avLst>
              <a:gd name="adj" fmla="val 0"/>
            </a:avLst>
          </a:prstGeom>
          <a:solidFill>
            <a:srgbClr val="00E5FF">
              <a:alpha val="8000"/>
            </a:srgbClr>
          </a:solidFill>
          <a:ln w="254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0E5FF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</a:t>
            </a:r>
            <a:endParaRPr lang="zh-CN" altLang="en-US" sz="32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模</a:t>
            </a:r>
            <a:endParaRPr lang="zh-CN" altLang="en-US" sz="32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型</a:t>
            </a:r>
            <a:endParaRPr lang="zh-CN" altLang="en-US" sz="32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产</a:t>
            </a:r>
            <a:endParaRPr lang="zh-CN" altLang="en-US" sz="32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32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品</a:t>
            </a:r>
            <a:endParaRPr lang="zh-CN" altLang="en-US" sz="32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5" name="AutoShape 6"/>
          <p:cNvSpPr/>
          <p:nvPr/>
        </p:nvSpPr>
        <p:spPr>
          <a:xfrm>
            <a:off x="3395980" y="1753235"/>
            <a:ext cx="899795" cy="154305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模型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marL="0" indent="0" algn="ctr">
              <a:lnSpc>
                <a:spcPct val="125000"/>
              </a:lnSpc>
              <a:defRPr/>
            </a:pPr>
            <a:r>
              <a:rPr lang="zh-CN" altLang="en-US" sz="2400" b="1" i="0" u="none" strike="noStrike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原理</a:t>
            </a:r>
            <a:endParaRPr lang="zh-CN" altLang="en-US" sz="2400" b="1" i="0" u="none" strike="noStrike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7" name="AutoShape 6"/>
          <p:cNvSpPr/>
          <p:nvPr/>
        </p:nvSpPr>
        <p:spPr>
          <a:xfrm>
            <a:off x="3395980" y="3416935"/>
            <a:ext cx="899795" cy="990600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模型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应用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8" name="AutoShape 6"/>
          <p:cNvSpPr/>
          <p:nvPr/>
        </p:nvSpPr>
        <p:spPr>
          <a:xfrm>
            <a:off x="3395980" y="4527550"/>
            <a:ext cx="899795" cy="1548765"/>
          </a:xfrm>
          <a:prstGeom prst="roundRect">
            <a:avLst>
              <a:gd name="adj" fmla="val 0"/>
            </a:avLst>
          </a:prstGeom>
          <a:solidFill>
            <a:srgbClr val="B388FF">
              <a:alpha val="8000"/>
            </a:srgbClr>
          </a:solidFill>
          <a:ln w="25400" cap="flat" cmpd="sng">
            <a:solidFill>
              <a:srgbClr val="B388FF">
                <a:alpha val="100000"/>
              </a:srgbClr>
            </a:solidFill>
            <a:prstDash val="solid"/>
            <a:round/>
          </a:ln>
          <a:effectLst>
            <a:outerShdw blurRad="152400" dir="2700000" algn="tl" rotWithShape="0">
              <a:srgbClr val="06F0D2">
                <a:alpha val="40000"/>
              </a:srgbClr>
            </a:outerShdw>
          </a:effec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型智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  <a:p>
            <a:pPr lvl="0" algn="ctr">
              <a:lnSpc>
                <a:spcPct val="125000"/>
              </a:lnSpc>
              <a:buClrTx/>
              <a:buSzTx/>
              <a:buFontTx/>
              <a:defRPr/>
            </a:pPr>
            <a:r>
              <a:rPr lang="zh-CN" altLang="en-US" sz="2400" b="1">
                <a:solidFill>
                  <a:srgbClr val="FFFFFF"/>
                </a:solidFill>
                <a:latin typeface="Noto Sans SC"/>
                <a:ea typeface="SimSun" charset="0"/>
                <a:cs typeface="Noto Sans SC"/>
                <a:sym typeface="Noto Sans SC"/>
              </a:rPr>
              <a:t>能体</a:t>
            </a:r>
            <a:endParaRPr lang="zh-CN" altLang="en-US" sz="2400" b="1">
              <a:solidFill>
                <a:srgbClr val="FFFFFF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grpSp>
        <p:nvGrpSpPr>
          <p:cNvPr id="17" name="组合 16"/>
          <p:cNvGrpSpPr/>
          <p:nvPr/>
        </p:nvGrpSpPr>
        <p:grpSpPr>
          <a:xfrm rot="0">
            <a:off x="4561205" y="1752600"/>
            <a:ext cx="5400040" cy="431800"/>
            <a:chOff x="7140" y="2760"/>
            <a:chExt cx="8504" cy="680"/>
          </a:xfrm>
        </p:grpSpPr>
        <p:sp>
          <p:nvSpPr>
            <p:cNvPr id="10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1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01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模型定位和介绍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 rot="0">
            <a:off x="4561205" y="3975100"/>
            <a:ext cx="5400040" cy="431800"/>
            <a:chOff x="7140" y="2760"/>
            <a:chExt cx="8504" cy="680"/>
          </a:xfrm>
        </p:grpSpPr>
        <p:sp>
          <p:nvSpPr>
            <p:cNvPr id="1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2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05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模型训练、选型与评估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 rot="0">
            <a:off x="4561205" y="5086350"/>
            <a:ext cx="5400040" cy="431800"/>
            <a:chOff x="7140" y="2760"/>
            <a:chExt cx="8504" cy="680"/>
          </a:xfrm>
        </p:grpSpPr>
        <p:sp>
          <p:nvSpPr>
            <p:cNvPr id="2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2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07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智能体框架与工具使用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 rot="0">
            <a:off x="4561205" y="2308225"/>
            <a:ext cx="5400040" cy="431800"/>
            <a:chOff x="7140" y="2760"/>
            <a:chExt cx="8504" cy="680"/>
          </a:xfrm>
        </p:grpSpPr>
        <p:sp>
          <p:nvSpPr>
            <p:cNvPr id="2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02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生成机制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 rot="0">
            <a:off x="4561205" y="2863850"/>
            <a:ext cx="5400040" cy="431800"/>
            <a:chOff x="7140" y="2760"/>
            <a:chExt cx="8504" cy="680"/>
          </a:xfrm>
        </p:grpSpPr>
        <p:sp>
          <p:nvSpPr>
            <p:cNvPr id="3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03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token、embedding </a:t>
              </a:r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和上下文窗口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 rot="0">
            <a:off x="4561205" y="3419475"/>
            <a:ext cx="5400040" cy="431800"/>
            <a:chOff x="7140" y="2760"/>
            <a:chExt cx="8504" cy="680"/>
          </a:xfrm>
        </p:grpSpPr>
        <p:sp>
          <p:nvSpPr>
            <p:cNvPr id="3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04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注意力、算力和模型大小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 rot="0">
            <a:off x="4561205" y="4530725"/>
            <a:ext cx="5400040" cy="431800"/>
            <a:chOff x="7140" y="2760"/>
            <a:chExt cx="8504" cy="680"/>
          </a:xfrm>
        </p:grpSpPr>
        <p:sp>
          <p:nvSpPr>
            <p:cNvPr id="44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5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06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提示词技术</a:t>
              </a:r>
              <a:endParaRPr lang="en-US" altLang="zh-CN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 rot="0">
            <a:off x="4561205" y="5641975"/>
            <a:ext cx="5400040" cy="431800"/>
            <a:chOff x="7140" y="2760"/>
            <a:chExt cx="8504" cy="680"/>
          </a:xfrm>
        </p:grpSpPr>
        <p:sp>
          <p:nvSpPr>
            <p:cNvPr id="49" name="AutoShape 6"/>
            <p:cNvSpPr/>
            <p:nvPr/>
          </p:nvSpPr>
          <p:spPr>
            <a:xfrm>
              <a:off x="7140" y="2760"/>
              <a:ext cx="8504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8000"/>
              </a:srgbClr>
            </a:solidFill>
            <a:ln w="12700" cap="flat" cmpd="sng">
              <a:solidFill>
                <a:srgbClr val="69F0A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50" name="AutoShape 7"/>
            <p:cNvSpPr/>
            <p:nvPr/>
          </p:nvSpPr>
          <p:spPr>
            <a:xfrm>
              <a:off x="7140" y="276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7140" y="2760"/>
              <a:ext cx="850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08</a:t>
              </a:r>
              <a:endParaRPr 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7990" y="2760"/>
              <a:ext cx="7654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智能体记忆与案例剖析</a:t>
              </a:r>
              <a:endParaRPr lang="zh-CN" altLang="en-US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5" grpId="0" animBg="1"/>
      <p:bldP spid="7" grpId="0" animBg="1"/>
      <p:bldP spid="8" grpId="0" animBg="1"/>
      <p:bldP spid="5" grpId="1" animBg="1"/>
      <p:bldP spid="7" grpId="1" animBg="1"/>
      <p:bldP spid="8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一个产品中包含的技术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pic>
        <p:nvPicPr>
          <p:cNvPr id="7" name="图片 6" descr="AI解题"/>
          <p:cNvPicPr>
            <a:picLocks noChangeAspect="1"/>
          </p:cNvPicPr>
          <p:nvPr/>
        </p:nvPicPr>
        <p:blipFill>
          <a:blip r:embed="rId1"/>
          <a:srcRect t="21922" b="21922"/>
          <a:stretch>
            <a:fillRect/>
          </a:stretch>
        </p:blipFill>
        <p:spPr>
          <a:xfrm>
            <a:off x="4200525" y="1887220"/>
            <a:ext cx="3791585" cy="3791585"/>
          </a:xfrm>
          <a:prstGeom prst="rect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  <p:sp>
        <p:nvSpPr>
          <p:cNvPr id="17" name="任意多边形: 形状 11"/>
          <p:cNvSpPr/>
          <p:nvPr/>
        </p:nvSpPr>
        <p:spPr>
          <a:xfrm flipV="1">
            <a:off x="7388860" y="3223260"/>
            <a:ext cx="1111250" cy="44577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任意多边形: 形状 11"/>
          <p:cNvSpPr/>
          <p:nvPr/>
        </p:nvSpPr>
        <p:spPr>
          <a:xfrm>
            <a:off x="7388860" y="4027170"/>
            <a:ext cx="1112520" cy="309245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9" name="任意多边形: 形状 11"/>
          <p:cNvSpPr/>
          <p:nvPr/>
        </p:nvSpPr>
        <p:spPr>
          <a:xfrm flipH="1" flipV="1">
            <a:off x="3691890" y="2114550"/>
            <a:ext cx="1306830" cy="170561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0" name="任意多边形: 形状 11"/>
          <p:cNvSpPr/>
          <p:nvPr/>
        </p:nvSpPr>
        <p:spPr>
          <a:xfrm flipH="1" flipV="1">
            <a:off x="3691890" y="3222625"/>
            <a:ext cx="1424305" cy="104140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1" name="任意多边形: 形状 11"/>
          <p:cNvSpPr/>
          <p:nvPr/>
        </p:nvSpPr>
        <p:spPr>
          <a:xfrm flipV="1">
            <a:off x="6614795" y="2118995"/>
            <a:ext cx="1886585" cy="105537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任意多边形: 形状 11"/>
          <p:cNvSpPr/>
          <p:nvPr/>
        </p:nvSpPr>
        <p:spPr>
          <a:xfrm flipH="1" flipV="1">
            <a:off x="3691890" y="4336415"/>
            <a:ext cx="1122045" cy="17399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3" name="任意多边形: 形状 11"/>
          <p:cNvSpPr/>
          <p:nvPr/>
        </p:nvSpPr>
        <p:spPr>
          <a:xfrm>
            <a:off x="5796915" y="4690110"/>
            <a:ext cx="2703830" cy="75565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4" name="任意多边形: 形状 11"/>
          <p:cNvSpPr/>
          <p:nvPr/>
        </p:nvSpPr>
        <p:spPr>
          <a:xfrm flipH="1">
            <a:off x="3692525" y="4958715"/>
            <a:ext cx="1532890" cy="48768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gradFill>
              <a:gsLst>
                <a:gs pos="25000">
                  <a:srgbClr val="B388FF"/>
                </a:gs>
                <a:gs pos="75000">
                  <a:srgbClr val="69F0AE"/>
                </a:gs>
              </a:gsLst>
              <a:lin ang="5400000" scaled="1"/>
            </a:gra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33" name="组合 32"/>
          <p:cNvGrpSpPr/>
          <p:nvPr/>
        </p:nvGrpSpPr>
        <p:grpSpPr>
          <a:xfrm rot="10800000">
            <a:off x="812165" y="1888490"/>
            <a:ext cx="2879725" cy="431800"/>
            <a:chOff x="14463" y="2972"/>
            <a:chExt cx="4535" cy="680"/>
          </a:xfrm>
        </p:grpSpPr>
        <p:sp>
          <p:nvSpPr>
            <p:cNvPr id="34" name="AutoShape 6"/>
            <p:cNvSpPr/>
            <p:nvPr/>
          </p:nvSpPr>
          <p:spPr>
            <a:xfrm>
              <a:off x="14463" y="2972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5" name="AutoShape 7"/>
            <p:cNvSpPr/>
            <p:nvPr/>
          </p:nvSpPr>
          <p:spPr>
            <a:xfrm>
              <a:off x="14463" y="2972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6" name="文本框 35"/>
            <p:cNvSpPr txBox="1"/>
            <p:nvPr/>
          </p:nvSpPr>
          <p:spPr>
            <a:xfrm rot="10800000">
              <a:off x="14548" y="2972"/>
              <a:ext cx="4449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r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SimSun" charset="0"/>
                  <a:cs typeface="Noto Sans SC"/>
                </a:rPr>
                <a:t>知识图谱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SimSun" charset="0"/>
                <a:cs typeface="Noto Sans SC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 rot="10800000">
            <a:off x="812165" y="3007995"/>
            <a:ext cx="2879725" cy="431800"/>
            <a:chOff x="14463" y="2972"/>
            <a:chExt cx="4535" cy="680"/>
          </a:xfrm>
        </p:grpSpPr>
        <p:sp>
          <p:nvSpPr>
            <p:cNvPr id="38" name="AutoShape 6"/>
            <p:cNvSpPr/>
            <p:nvPr/>
          </p:nvSpPr>
          <p:spPr>
            <a:xfrm>
              <a:off x="14463" y="2972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9" name="AutoShape 7"/>
            <p:cNvSpPr/>
            <p:nvPr/>
          </p:nvSpPr>
          <p:spPr>
            <a:xfrm>
              <a:off x="14463" y="2972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0" name="文本框 39"/>
            <p:cNvSpPr txBox="1"/>
            <p:nvPr/>
          </p:nvSpPr>
          <p:spPr>
            <a:xfrm rot="10800000">
              <a:off x="14548" y="2972"/>
              <a:ext cx="4449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r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逻辑推理/深度思考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10800000">
            <a:off x="812165" y="4127500"/>
            <a:ext cx="2879725" cy="431800"/>
            <a:chOff x="14463" y="2972"/>
            <a:chExt cx="4535" cy="680"/>
          </a:xfrm>
        </p:grpSpPr>
        <p:sp>
          <p:nvSpPr>
            <p:cNvPr id="42" name="AutoShape 6"/>
            <p:cNvSpPr/>
            <p:nvPr/>
          </p:nvSpPr>
          <p:spPr>
            <a:xfrm>
              <a:off x="14463" y="2972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3" name="AutoShape 7"/>
            <p:cNvSpPr/>
            <p:nvPr/>
          </p:nvSpPr>
          <p:spPr>
            <a:xfrm>
              <a:off x="14463" y="2972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4" name="文本框 43"/>
            <p:cNvSpPr txBox="1"/>
            <p:nvPr/>
          </p:nvSpPr>
          <p:spPr>
            <a:xfrm rot="10800000">
              <a:off x="14548" y="2972"/>
              <a:ext cx="4449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r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检索增强问答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 rot="10800000">
            <a:off x="812165" y="5247005"/>
            <a:ext cx="2879725" cy="431800"/>
            <a:chOff x="14463" y="2972"/>
            <a:chExt cx="4535" cy="680"/>
          </a:xfrm>
        </p:grpSpPr>
        <p:sp>
          <p:nvSpPr>
            <p:cNvPr id="46" name="AutoShape 6"/>
            <p:cNvSpPr/>
            <p:nvPr/>
          </p:nvSpPr>
          <p:spPr>
            <a:xfrm>
              <a:off x="14463" y="2972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7" name="AutoShape 7"/>
            <p:cNvSpPr/>
            <p:nvPr/>
          </p:nvSpPr>
          <p:spPr>
            <a:xfrm>
              <a:off x="14463" y="2972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48" name="文本框 47"/>
            <p:cNvSpPr txBox="1"/>
            <p:nvPr/>
          </p:nvSpPr>
          <p:spPr>
            <a:xfrm rot="10800000">
              <a:off x="14548" y="2972"/>
              <a:ext cx="4449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r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代码生成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 rot="0">
            <a:off x="8501380" y="5247640"/>
            <a:ext cx="2879090" cy="431800"/>
            <a:chOff x="13387" y="8264"/>
            <a:chExt cx="4534" cy="680"/>
          </a:xfrm>
        </p:grpSpPr>
        <p:sp>
          <p:nvSpPr>
            <p:cNvPr id="12" name="AutoShape 6"/>
            <p:cNvSpPr/>
            <p:nvPr/>
          </p:nvSpPr>
          <p:spPr>
            <a:xfrm>
              <a:off x="13387" y="8264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14" name="AutoShape 7"/>
            <p:cNvSpPr/>
            <p:nvPr/>
          </p:nvSpPr>
          <p:spPr>
            <a:xfrm>
              <a:off x="13387" y="8264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472" y="8264"/>
              <a:ext cx="4442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l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工具调用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 rot="0">
            <a:off x="8501380" y="3007360"/>
            <a:ext cx="2879725" cy="431800"/>
            <a:chOff x="13387" y="4736"/>
            <a:chExt cx="4535" cy="680"/>
          </a:xfrm>
        </p:grpSpPr>
        <p:sp>
          <p:nvSpPr>
            <p:cNvPr id="26" name="AutoShape 6"/>
            <p:cNvSpPr/>
            <p:nvPr/>
          </p:nvSpPr>
          <p:spPr>
            <a:xfrm>
              <a:off x="13387" y="4736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27" name="AutoShape 7"/>
            <p:cNvSpPr/>
            <p:nvPr/>
          </p:nvSpPr>
          <p:spPr>
            <a:xfrm>
              <a:off x="13387" y="4736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3472" y="4736"/>
              <a:ext cx="4451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l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自然语言对话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 rot="0">
            <a:off x="8501380" y="4127500"/>
            <a:ext cx="2879090" cy="431800"/>
            <a:chOff x="13387" y="6500"/>
            <a:chExt cx="4534" cy="680"/>
          </a:xfrm>
        </p:grpSpPr>
        <p:sp>
          <p:nvSpPr>
            <p:cNvPr id="30" name="AutoShape 6"/>
            <p:cNvSpPr/>
            <p:nvPr/>
          </p:nvSpPr>
          <p:spPr>
            <a:xfrm>
              <a:off x="13387" y="6500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>
              <a:noAutofit/>
            </a:bodyPr>
            <a:lstStyle/>
            <a:p>
              <a:pPr lvl="0" algn="ctr">
                <a:buClrTx/>
                <a:buSzTx/>
                <a:buFontTx/>
                <a:defRPr/>
              </a:pPr>
              <a:endParaRPr>
                <a:sym typeface="+mn-ea"/>
              </a:endParaRPr>
            </a:p>
          </p:txBody>
        </p:sp>
        <p:sp>
          <p:nvSpPr>
            <p:cNvPr id="31" name="AutoShape 7"/>
            <p:cNvSpPr/>
            <p:nvPr/>
          </p:nvSpPr>
          <p:spPr>
            <a:xfrm>
              <a:off x="13387" y="6500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3472" y="6500"/>
              <a:ext cx="4442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l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上下文记忆</a:t>
              </a:r>
              <a:endParaRPr lang="en-US" altLang="zh-CN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 rot="0">
            <a:off x="8501380" y="1887220"/>
            <a:ext cx="2879725" cy="431800"/>
            <a:chOff x="14463" y="2972"/>
            <a:chExt cx="4535" cy="680"/>
          </a:xfrm>
        </p:grpSpPr>
        <p:sp>
          <p:nvSpPr>
            <p:cNvPr id="10" name="AutoShape 6"/>
            <p:cNvSpPr/>
            <p:nvPr/>
          </p:nvSpPr>
          <p:spPr>
            <a:xfrm>
              <a:off x="14463" y="2972"/>
              <a:ext cx="4535" cy="680"/>
            </a:xfrm>
            <a:prstGeom prst="roundRect">
              <a:avLst>
                <a:gd name="adj" fmla="val 0"/>
              </a:avLst>
            </a:prstGeom>
            <a:gradFill>
              <a:gsLst>
                <a:gs pos="50000">
                  <a:srgbClr val="69F0AE">
                    <a:alpha val="15000"/>
                  </a:srgbClr>
                </a:gs>
                <a:gs pos="100000">
                  <a:srgbClr val="69F0AE">
                    <a:alpha val="0"/>
                  </a:srgbClr>
                </a:gs>
              </a:gsLst>
              <a:lin ang="0"/>
            </a:gradFill>
            <a:ln w="127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1" name="AutoShape 7"/>
            <p:cNvSpPr/>
            <p:nvPr/>
          </p:nvSpPr>
          <p:spPr>
            <a:xfrm>
              <a:off x="14463" y="2972"/>
              <a:ext cx="85" cy="680"/>
            </a:xfrm>
            <a:prstGeom prst="roundRect">
              <a:avLst>
                <a:gd name="adj" fmla="val 0"/>
              </a:avLst>
            </a:prstGeom>
            <a:solidFill>
              <a:srgbClr val="69F0AE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4548" y="2972"/>
              <a:ext cx="4449" cy="68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l"/>
              <a:r>
                <a:rPr lang="zh-CN" altLang="en-US" sz="1400" b="1" kern="0">
                  <a:solidFill>
                    <a:srgbClr val="69F0AE"/>
                  </a:solidFill>
                  <a:latin typeface="Noto Sans SC"/>
                  <a:ea typeface="Noto Sans SC"/>
                  <a:cs typeface="Noto Sans SC"/>
                </a:rPr>
                <a:t>多模态识别（音频、图像……）</a:t>
              </a:r>
              <a:endParaRPr lang="zh-CN" altLang="en-US" sz="1400" b="1" kern="0">
                <a:solidFill>
                  <a:srgbClr val="69F0AE"/>
                </a:solidFill>
                <a:latin typeface="Noto Sans SC"/>
                <a:ea typeface="Noto Sans SC"/>
                <a:cs typeface="Noto Sans SC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7" grpId="0" animBg="1"/>
      <p:bldP spid="18" grpId="0" animBg="1"/>
      <p:bldP spid="23" grpId="0" animBg="1"/>
      <p:bldP spid="21" grpId="1" animBg="1"/>
      <p:bldP spid="17" grpId="1" animBg="1"/>
      <p:bldP spid="18" grpId="1" animBg="1"/>
      <p:bldP spid="23" grpId="1" animBg="1"/>
      <p:bldP spid="19" grpId="0" animBg="1"/>
      <p:bldP spid="20" grpId="0" animBg="1"/>
      <p:bldP spid="22" grpId="0" animBg="1"/>
      <p:bldP spid="24" grpId="0" animBg="1"/>
      <p:bldP spid="19" grpId="1" animBg="1"/>
      <p:bldP spid="20" grpId="1" animBg="1"/>
      <p:bldP spid="22" grpId="1" animBg="1"/>
      <p:bldP spid="24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大模型产品谱系图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24" name="组合 23"/>
          <p:cNvGrpSpPr/>
          <p:nvPr/>
        </p:nvGrpSpPr>
        <p:grpSpPr>
          <a:xfrm>
            <a:off x="762000" y="1741805"/>
            <a:ext cx="10400030" cy="1717040"/>
            <a:chOff x="1200" y="2743"/>
            <a:chExt cx="16378" cy="2704"/>
          </a:xfrm>
        </p:grpSpPr>
        <p:grpSp>
          <p:nvGrpSpPr>
            <p:cNvPr id="12" name="组合 11"/>
            <p:cNvGrpSpPr/>
            <p:nvPr/>
          </p:nvGrpSpPr>
          <p:grpSpPr>
            <a:xfrm>
              <a:off x="1200" y="2743"/>
              <a:ext cx="16379" cy="2704"/>
              <a:chOff x="1272" y="6427"/>
              <a:chExt cx="16379" cy="3118"/>
            </a:xfrm>
          </p:grpSpPr>
          <p:sp>
            <p:nvSpPr>
              <p:cNvPr id="13" name="AutoShape 6"/>
              <p:cNvSpPr/>
              <p:nvPr/>
            </p:nvSpPr>
            <p:spPr>
              <a:xfrm>
                <a:off x="1272" y="6427"/>
                <a:ext cx="16379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>
                  <a:alpha val="8000"/>
                </a:srgbClr>
              </a:solidFill>
              <a:ln w="12700" cap="flat" cmpd="sng">
                <a:solidFill>
                  <a:srgbClr val="00E5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6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7" name="文本框 16"/>
            <p:cNvSpPr txBox="1"/>
            <p:nvPr/>
          </p:nvSpPr>
          <p:spPr>
            <a:xfrm>
              <a:off x="1313" y="2758"/>
              <a:ext cx="869" cy="2689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altLang="en-US" sz="2400">
                  <a:solidFill>
                    <a:srgbClr val="00E5FF"/>
                  </a:solidFill>
                </a:rPr>
                <a:t>编 排 层</a:t>
              </a:r>
              <a:endParaRPr lang="en-US" altLang="en-US" sz="2400">
                <a:solidFill>
                  <a:srgbClr val="00E5FF"/>
                </a:solidFill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618615" y="2064385"/>
            <a:ext cx="1567815" cy="1085215"/>
            <a:chOff x="2751" y="3122"/>
            <a:chExt cx="2469" cy="1709"/>
          </a:xfrm>
        </p:grpSpPr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608" y="4111"/>
              <a:ext cx="720" cy="720"/>
            </a:xfrm>
            <a:prstGeom prst="rect">
              <a:avLst/>
            </a:prstGeom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01" y="4111"/>
              <a:ext cx="718" cy="720"/>
            </a:xfrm>
            <a:prstGeom prst="rect">
              <a:avLst/>
            </a:prstGeom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00" y="3122"/>
              <a:ext cx="720" cy="720"/>
            </a:xfrm>
            <a:prstGeom prst="rect">
              <a:avLst/>
            </a:prstGeom>
          </p:spPr>
        </p:pic>
        <p:pic>
          <p:nvPicPr>
            <p:cNvPr id="49" name="图片 4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1" y="4111"/>
              <a:ext cx="720" cy="720"/>
            </a:xfrm>
            <a:prstGeom prst="rect">
              <a:avLst/>
            </a:prstGeom>
          </p:spPr>
        </p:pic>
        <p:pic>
          <p:nvPicPr>
            <p:cNvPr id="51" name="图片 5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8" y="3122"/>
              <a:ext cx="720" cy="720"/>
            </a:xfrm>
            <a:prstGeom prst="rect">
              <a:avLst/>
            </a:prstGeom>
          </p:spPr>
        </p:pic>
        <p:pic>
          <p:nvPicPr>
            <p:cNvPr id="53" name="图片 5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1" y="3122"/>
              <a:ext cx="720" cy="720"/>
            </a:xfrm>
            <a:prstGeom prst="rect">
              <a:avLst/>
            </a:prstGeom>
          </p:spPr>
        </p:pic>
      </p:grpSp>
      <p:sp>
        <p:nvSpPr>
          <p:cNvPr id="37" name="文本框 36"/>
          <p:cNvSpPr txBox="1"/>
          <p:nvPr/>
        </p:nvSpPr>
        <p:spPr>
          <a:xfrm>
            <a:off x="3419475" y="1755140"/>
            <a:ext cx="7748905" cy="170370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just">
              <a:lnSpc>
                <a:spcPct val="150000"/>
              </a:lnSpc>
            </a:pPr>
            <a:r>
              <a:rPr lang="en-US" altLang="zh-CN">
                <a:solidFill>
                  <a:srgbClr val="00E5FF"/>
                </a:solidFill>
                <a:sym typeface="+mn-ea"/>
              </a:rPr>
              <a:t>把模型、工具、资料和流程组织成可直接使用的产品或系统，例如知识库、智能体和工作流平台。它决定 AI 如何完成多步骤任务、何时调用工具，以及如何控制权限与流程。</a:t>
            </a:r>
            <a:endParaRPr lang="en-US" altLang="zh-CN">
              <a:solidFill>
                <a:srgbClr val="00E5FF"/>
              </a:solidFill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762000" y="3735070"/>
            <a:ext cx="7199630" cy="2344420"/>
            <a:chOff x="1200" y="5882"/>
            <a:chExt cx="11338" cy="3692"/>
          </a:xfrm>
        </p:grpSpPr>
        <p:grpSp>
          <p:nvGrpSpPr>
            <p:cNvPr id="8" name="组合 7"/>
            <p:cNvGrpSpPr/>
            <p:nvPr/>
          </p:nvGrpSpPr>
          <p:grpSpPr>
            <a:xfrm>
              <a:off x="1200" y="5886"/>
              <a:ext cx="11338" cy="3685"/>
              <a:chOff x="1272" y="6427"/>
              <a:chExt cx="11338" cy="3118"/>
            </a:xfrm>
          </p:grpSpPr>
          <p:sp>
            <p:nvSpPr>
              <p:cNvPr id="6" name="AutoShape 6"/>
              <p:cNvSpPr/>
              <p:nvPr/>
            </p:nvSpPr>
            <p:spPr>
              <a:xfrm>
                <a:off x="1272" y="6427"/>
                <a:ext cx="11339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>
                  <a:alpha val="8000"/>
                </a:srgbClr>
              </a:solidFill>
              <a:ln w="12700" cap="flat" cmpd="sng">
                <a:solidFill>
                  <a:srgbClr val="69F0AE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7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1313" y="5882"/>
              <a:ext cx="869" cy="3692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模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型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69F0AE"/>
                </a:solidFill>
                <a:sym typeface="+mn-ea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2407920" y="3901440"/>
            <a:ext cx="4765040" cy="457200"/>
            <a:chOff x="3375" y="6144"/>
            <a:chExt cx="7504" cy="720"/>
          </a:xfrm>
        </p:grpSpPr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05" y="6144"/>
              <a:ext cx="720" cy="720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159" y="6144"/>
              <a:ext cx="720" cy="720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10" y="6144"/>
              <a:ext cx="864" cy="720"/>
            </a:xfrm>
            <a:prstGeom prst="rect">
              <a:avLst/>
            </a:prstGeom>
          </p:spPr>
        </p:pic>
        <p:pic>
          <p:nvPicPr>
            <p:cNvPr id="28" name="图片 27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90" y="6144"/>
              <a:ext cx="720" cy="720"/>
            </a:xfrm>
            <a:prstGeom prst="rect">
              <a:avLst/>
            </a:prstGeom>
          </p:spPr>
        </p:pic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75" y="6144"/>
              <a:ext cx="730" cy="720"/>
            </a:xfrm>
            <a:prstGeom prst="rect">
              <a:avLst/>
            </a:prstGeom>
          </p:spPr>
        </p:pic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595" y="6144"/>
              <a:ext cx="720" cy="720"/>
            </a:xfrm>
            <a:prstGeom prst="rect">
              <a:avLst/>
            </a:prstGeom>
          </p:spPr>
        </p:pic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0" y="6144"/>
              <a:ext cx="720" cy="720"/>
            </a:xfrm>
            <a:prstGeom prst="rect">
              <a:avLst/>
            </a:prstGeom>
          </p:spPr>
        </p:pic>
      </p:grpSp>
      <p:sp>
        <p:nvSpPr>
          <p:cNvPr id="32" name="文本框 31"/>
          <p:cNvSpPr txBox="1"/>
          <p:nvPr/>
        </p:nvSpPr>
        <p:spPr>
          <a:xfrm>
            <a:off x="1619250" y="4349750"/>
            <a:ext cx="6342380" cy="17278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just">
              <a:lnSpc>
                <a:spcPct val="150000"/>
              </a:lnSpc>
            </a:pPr>
            <a:r>
              <a:rPr lang="en-US" altLang="zh-CN">
                <a:solidFill>
                  <a:srgbClr val="69F0AE"/>
                </a:solidFill>
                <a:sym typeface="+mn-ea"/>
              </a:rPr>
              <a:t>提供文字、图片、语音、代码等内容的基础理解、生成与推理能力，是 AI“会思考和表达”的核心。它们直接运行在底层的硬件上，根据输入的文本（或多媒体）内容生成输出的文字（或多媒体数据）</a:t>
            </a:r>
            <a:endParaRPr lang="en-US" altLang="zh-CN">
              <a:solidFill>
                <a:srgbClr val="69F0AE"/>
              </a:solidFill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8110220" y="3735070"/>
            <a:ext cx="3053080" cy="2344420"/>
            <a:chOff x="12772" y="5882"/>
            <a:chExt cx="4808" cy="3692"/>
          </a:xfrm>
        </p:grpSpPr>
        <p:grpSp>
          <p:nvGrpSpPr>
            <p:cNvPr id="9" name="组合 8"/>
            <p:cNvGrpSpPr/>
            <p:nvPr/>
          </p:nvGrpSpPr>
          <p:grpSpPr>
            <a:xfrm>
              <a:off x="12772" y="5886"/>
              <a:ext cx="4808" cy="3688"/>
              <a:chOff x="1103" y="3557"/>
              <a:chExt cx="2976" cy="3688"/>
            </a:xfrm>
          </p:grpSpPr>
          <p:sp>
            <p:nvSpPr>
              <p:cNvPr id="10" name="AutoShape 10"/>
              <p:cNvSpPr/>
              <p:nvPr/>
            </p:nvSpPr>
            <p:spPr>
              <a:xfrm>
                <a:off x="1103" y="3557"/>
                <a:ext cx="2976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8000"/>
                </a:srgbClr>
              </a:solidFill>
              <a:ln w="12700" cap="flat" cmpd="sng">
                <a:solidFill>
                  <a:srgbClr val="B388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" name="AutoShape 11"/>
              <p:cNvSpPr/>
              <p:nvPr/>
            </p:nvSpPr>
            <p:spPr>
              <a:xfrm>
                <a:off x="1103" y="3560"/>
                <a:ext cx="70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100000"/>
                </a:srgbClr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2788" y="5882"/>
              <a:ext cx="711" cy="3690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工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具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B388FF"/>
                </a:solidFill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8770620" y="3892550"/>
            <a:ext cx="2292985" cy="457200"/>
            <a:chOff x="13657" y="5403"/>
            <a:chExt cx="3611" cy="720"/>
          </a:xfrm>
        </p:grpSpPr>
        <p:pic>
          <p:nvPicPr>
            <p:cNvPr id="33" name="图片 32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657" y="5403"/>
              <a:ext cx="720" cy="720"/>
            </a:xfrm>
            <a:prstGeom prst="rect">
              <a:avLst/>
            </a:prstGeom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4624" y="5403"/>
              <a:ext cx="710" cy="720"/>
            </a:xfrm>
            <a:prstGeom prst="rect">
              <a:avLst/>
            </a:prstGeom>
          </p:spPr>
        </p:pic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581" y="5403"/>
              <a:ext cx="720" cy="720"/>
            </a:xfrm>
            <a:prstGeom prst="rect">
              <a:avLst/>
            </a:prstGeom>
          </p:spPr>
        </p:pic>
        <p:pic>
          <p:nvPicPr>
            <p:cNvPr id="38" name="图片 37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6548" y="5403"/>
              <a:ext cx="720" cy="720"/>
            </a:xfrm>
            <a:prstGeom prst="rect">
              <a:avLst/>
            </a:prstGeom>
          </p:spPr>
        </p:pic>
      </p:grpSp>
      <p:sp>
        <p:nvSpPr>
          <p:cNvPr id="34" name="文本框 33"/>
          <p:cNvSpPr txBox="1"/>
          <p:nvPr/>
        </p:nvSpPr>
        <p:spPr>
          <a:xfrm>
            <a:off x="8679180" y="4456430"/>
            <a:ext cx="2475865" cy="16211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just" fontAlgn="auto">
              <a:lnSpc>
                <a:spcPts val="2000"/>
              </a:lnSpc>
            </a:pPr>
            <a:r>
              <a:rPr lang="en-US" altLang="zh-CN" sz="1400">
                <a:solidFill>
                  <a:srgbClr val="B388FF"/>
                </a:solidFill>
                <a:sym typeface="+mn-ea"/>
              </a:rPr>
              <a:t>为模型补充检索资料、解析文档、运行代码、访问日历等单一环节能力的后台组件。它们一般不能独立完成面向用户的任务，而是被上层产品按需调用。</a:t>
            </a:r>
            <a:endParaRPr lang="en-US" altLang="zh-CN" sz="1400">
              <a:solidFill>
                <a:srgbClr val="B388FF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2" grpId="1"/>
      <p:bldP spid="34" grpId="0"/>
      <p:bldP spid="34" grpId="1"/>
      <p:bldP spid="37" grpId="0"/>
      <p:bldP spid="3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大模型产品谱系图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24" name="组合 23"/>
          <p:cNvGrpSpPr/>
          <p:nvPr/>
        </p:nvGrpSpPr>
        <p:grpSpPr>
          <a:xfrm>
            <a:off x="762000" y="1741805"/>
            <a:ext cx="10400030" cy="1717040"/>
            <a:chOff x="1200" y="2743"/>
            <a:chExt cx="16378" cy="2704"/>
          </a:xfrm>
        </p:grpSpPr>
        <p:grpSp>
          <p:nvGrpSpPr>
            <p:cNvPr id="12" name="组合 11"/>
            <p:cNvGrpSpPr/>
            <p:nvPr/>
          </p:nvGrpSpPr>
          <p:grpSpPr>
            <a:xfrm>
              <a:off x="1200" y="2743"/>
              <a:ext cx="16379" cy="2704"/>
              <a:chOff x="1272" y="6427"/>
              <a:chExt cx="16379" cy="3118"/>
            </a:xfrm>
          </p:grpSpPr>
          <p:sp>
            <p:nvSpPr>
              <p:cNvPr id="13" name="AutoShape 6"/>
              <p:cNvSpPr/>
              <p:nvPr/>
            </p:nvSpPr>
            <p:spPr>
              <a:xfrm>
                <a:off x="1272" y="6427"/>
                <a:ext cx="16379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>
                  <a:alpha val="8000"/>
                </a:srgbClr>
              </a:solidFill>
              <a:ln w="12700" cap="flat" cmpd="sng">
                <a:solidFill>
                  <a:srgbClr val="00E5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6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7" name="文本框 16"/>
            <p:cNvSpPr txBox="1"/>
            <p:nvPr/>
          </p:nvSpPr>
          <p:spPr>
            <a:xfrm>
              <a:off x="1313" y="2758"/>
              <a:ext cx="869" cy="2689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altLang="en-US" sz="2400">
                  <a:solidFill>
                    <a:srgbClr val="00E5FF"/>
                  </a:solidFill>
                </a:rPr>
                <a:t>编 排 层</a:t>
              </a:r>
              <a:endParaRPr lang="en-US" altLang="en-US" sz="2400">
                <a:solidFill>
                  <a:srgbClr val="00E5FF"/>
                </a:solidFill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618615" y="2064385"/>
            <a:ext cx="1567815" cy="1085215"/>
            <a:chOff x="2751" y="3122"/>
            <a:chExt cx="2469" cy="1709"/>
          </a:xfrm>
        </p:grpSpPr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608" y="4111"/>
              <a:ext cx="720" cy="720"/>
            </a:xfrm>
            <a:prstGeom prst="rect">
              <a:avLst/>
            </a:prstGeom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01" y="4111"/>
              <a:ext cx="718" cy="720"/>
            </a:xfrm>
            <a:prstGeom prst="rect">
              <a:avLst/>
            </a:prstGeom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00" y="3122"/>
              <a:ext cx="720" cy="720"/>
            </a:xfrm>
            <a:prstGeom prst="rect">
              <a:avLst/>
            </a:prstGeom>
          </p:spPr>
        </p:pic>
        <p:pic>
          <p:nvPicPr>
            <p:cNvPr id="49" name="图片 4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1" y="4111"/>
              <a:ext cx="720" cy="720"/>
            </a:xfrm>
            <a:prstGeom prst="rect">
              <a:avLst/>
            </a:prstGeom>
          </p:spPr>
        </p:pic>
        <p:pic>
          <p:nvPicPr>
            <p:cNvPr id="51" name="图片 5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8" y="3122"/>
              <a:ext cx="720" cy="720"/>
            </a:xfrm>
            <a:prstGeom prst="rect">
              <a:avLst/>
            </a:prstGeom>
          </p:spPr>
        </p:pic>
        <p:pic>
          <p:nvPicPr>
            <p:cNvPr id="53" name="图片 5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1" y="3122"/>
              <a:ext cx="720" cy="720"/>
            </a:xfrm>
            <a:prstGeom prst="rect">
              <a:avLst/>
            </a:prstGeom>
          </p:spPr>
        </p:pic>
      </p:grpSp>
      <p:sp>
        <p:nvSpPr>
          <p:cNvPr id="37" name="文本框 36"/>
          <p:cNvSpPr txBox="1"/>
          <p:nvPr/>
        </p:nvSpPr>
        <p:spPr>
          <a:xfrm>
            <a:off x="3419475" y="1755140"/>
            <a:ext cx="7748905" cy="170370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just">
              <a:lnSpc>
                <a:spcPct val="150000"/>
              </a:lnSpc>
            </a:pPr>
            <a:r>
              <a:rPr lang="en-US" altLang="zh-CN">
                <a:solidFill>
                  <a:srgbClr val="00E5FF"/>
                </a:solidFill>
                <a:sym typeface="+mn-ea"/>
              </a:rPr>
              <a:t>把模型、工具、资料和流程组织成可直接使用的产品或系统，例如知识库、智能体和工作流平台。它决定 AI 如何完成多步骤任务、何时调用工具，以及如何控制权限与流程。</a:t>
            </a:r>
            <a:endParaRPr lang="en-US" altLang="zh-CN">
              <a:solidFill>
                <a:srgbClr val="00E5FF"/>
              </a:solidFill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762000" y="3735070"/>
            <a:ext cx="7199630" cy="2344420"/>
            <a:chOff x="1200" y="5882"/>
            <a:chExt cx="11338" cy="3692"/>
          </a:xfrm>
        </p:grpSpPr>
        <p:grpSp>
          <p:nvGrpSpPr>
            <p:cNvPr id="8" name="组合 7"/>
            <p:cNvGrpSpPr/>
            <p:nvPr/>
          </p:nvGrpSpPr>
          <p:grpSpPr>
            <a:xfrm>
              <a:off x="1200" y="5886"/>
              <a:ext cx="11338" cy="3685"/>
              <a:chOff x="1272" y="6427"/>
              <a:chExt cx="11338" cy="3118"/>
            </a:xfrm>
          </p:grpSpPr>
          <p:sp>
            <p:nvSpPr>
              <p:cNvPr id="6" name="AutoShape 6"/>
              <p:cNvSpPr/>
              <p:nvPr/>
            </p:nvSpPr>
            <p:spPr>
              <a:xfrm>
                <a:off x="1272" y="6427"/>
                <a:ext cx="11339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>
                  <a:alpha val="8000"/>
                </a:srgbClr>
              </a:solidFill>
              <a:ln w="12700" cap="flat" cmpd="sng">
                <a:solidFill>
                  <a:srgbClr val="69F0AE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7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1313" y="5882"/>
              <a:ext cx="869" cy="3692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模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型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69F0AE"/>
                </a:solidFill>
                <a:sym typeface="+mn-ea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8110220" y="3735070"/>
            <a:ext cx="3053080" cy="2344420"/>
            <a:chOff x="12772" y="5882"/>
            <a:chExt cx="4808" cy="3692"/>
          </a:xfrm>
        </p:grpSpPr>
        <p:grpSp>
          <p:nvGrpSpPr>
            <p:cNvPr id="9" name="组合 8"/>
            <p:cNvGrpSpPr/>
            <p:nvPr/>
          </p:nvGrpSpPr>
          <p:grpSpPr>
            <a:xfrm>
              <a:off x="12772" y="5886"/>
              <a:ext cx="4808" cy="3688"/>
              <a:chOff x="1103" y="3557"/>
              <a:chExt cx="2976" cy="3688"/>
            </a:xfrm>
          </p:grpSpPr>
          <p:sp>
            <p:nvSpPr>
              <p:cNvPr id="10" name="AutoShape 10"/>
              <p:cNvSpPr/>
              <p:nvPr/>
            </p:nvSpPr>
            <p:spPr>
              <a:xfrm>
                <a:off x="1103" y="3557"/>
                <a:ext cx="2976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8000"/>
                </a:srgbClr>
              </a:solidFill>
              <a:ln w="12700" cap="flat" cmpd="sng">
                <a:solidFill>
                  <a:srgbClr val="B388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" name="AutoShape 11"/>
              <p:cNvSpPr/>
              <p:nvPr/>
            </p:nvSpPr>
            <p:spPr>
              <a:xfrm>
                <a:off x="1103" y="3560"/>
                <a:ext cx="70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100000"/>
                </a:srgbClr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2788" y="5882"/>
              <a:ext cx="711" cy="3690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工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具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B388FF"/>
                </a:solidFill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8770620" y="3892550"/>
            <a:ext cx="2292985" cy="457200"/>
            <a:chOff x="13657" y="5403"/>
            <a:chExt cx="3611" cy="720"/>
          </a:xfrm>
        </p:grpSpPr>
        <p:pic>
          <p:nvPicPr>
            <p:cNvPr id="33" name="图片 32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657" y="5403"/>
              <a:ext cx="720" cy="720"/>
            </a:xfrm>
            <a:prstGeom prst="rect">
              <a:avLst/>
            </a:prstGeom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624" y="5403"/>
              <a:ext cx="710" cy="720"/>
            </a:xfrm>
            <a:prstGeom prst="rect">
              <a:avLst/>
            </a:prstGeom>
          </p:spPr>
        </p:pic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5581" y="5403"/>
              <a:ext cx="720" cy="720"/>
            </a:xfrm>
            <a:prstGeom prst="rect">
              <a:avLst/>
            </a:prstGeom>
          </p:spPr>
        </p:pic>
        <p:pic>
          <p:nvPicPr>
            <p:cNvPr id="38" name="图片 37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548" y="5403"/>
              <a:ext cx="720" cy="720"/>
            </a:xfrm>
            <a:prstGeom prst="rect">
              <a:avLst/>
            </a:prstGeom>
          </p:spPr>
        </p:pic>
      </p:grpSp>
      <p:sp>
        <p:nvSpPr>
          <p:cNvPr id="34" name="文本框 33"/>
          <p:cNvSpPr txBox="1"/>
          <p:nvPr/>
        </p:nvSpPr>
        <p:spPr>
          <a:xfrm>
            <a:off x="8679180" y="4456430"/>
            <a:ext cx="2475865" cy="16211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just" fontAlgn="auto">
              <a:lnSpc>
                <a:spcPts val="2000"/>
              </a:lnSpc>
            </a:pPr>
            <a:r>
              <a:rPr lang="en-US" altLang="zh-CN" sz="1400">
                <a:solidFill>
                  <a:srgbClr val="B388FF"/>
                </a:solidFill>
                <a:sym typeface="+mn-ea"/>
              </a:rPr>
              <a:t>为模型补充检索资料、解析文档、运行代码、访问日历等单一环节能力的后台组件。它们一般不能独立完成面向用户的任务，而是被上层产品按需调用。</a:t>
            </a:r>
            <a:endParaRPr lang="en-US" altLang="zh-CN" sz="1400">
              <a:solidFill>
                <a:srgbClr val="B388FF"/>
              </a:solidFill>
              <a:sym typeface="+mn-ea"/>
            </a:endParaRPr>
          </a:p>
        </p:txBody>
      </p:sp>
      <p:grpSp>
        <p:nvGrpSpPr>
          <p:cNvPr id="63" name="组合 62"/>
          <p:cNvGrpSpPr/>
          <p:nvPr/>
        </p:nvGrpSpPr>
        <p:grpSpPr>
          <a:xfrm>
            <a:off x="1618615" y="3917315"/>
            <a:ext cx="2880360" cy="1979930"/>
            <a:chOff x="2549" y="6169"/>
            <a:chExt cx="4536" cy="3118"/>
          </a:xfrm>
        </p:grpSpPr>
        <p:grpSp>
          <p:nvGrpSpPr>
            <p:cNvPr id="44" name="组合 43"/>
            <p:cNvGrpSpPr/>
            <p:nvPr/>
          </p:nvGrpSpPr>
          <p:grpSpPr>
            <a:xfrm>
              <a:off x="2549" y="6169"/>
              <a:ext cx="4536" cy="3118"/>
              <a:chOff x="2549" y="6169"/>
              <a:chExt cx="4536" cy="3118"/>
            </a:xfrm>
          </p:grpSpPr>
          <p:grpSp>
            <p:nvGrpSpPr>
              <p:cNvPr id="5" name="组合 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14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15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41" name="文本框 40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文本模型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48" name="组合 47"/>
            <p:cNvGrpSpPr/>
            <p:nvPr/>
          </p:nvGrpSpPr>
          <p:grpSpPr>
            <a:xfrm>
              <a:off x="5273" y="6861"/>
              <a:ext cx="1248" cy="1125"/>
              <a:chOff x="5273" y="6861"/>
              <a:chExt cx="1248" cy="1125"/>
            </a:xfrm>
          </p:grpSpPr>
          <p:sp>
            <p:nvSpPr>
              <p:cNvPr id="82" name="文本框 81"/>
              <p:cNvSpPr txBox="1"/>
              <p:nvPr/>
            </p:nvSpPr>
            <p:spPr>
              <a:xfrm>
                <a:off x="5273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推理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0" name="图片 89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4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46" name="组合 45"/>
            <p:cNvGrpSpPr/>
            <p:nvPr/>
          </p:nvGrpSpPr>
          <p:grpSpPr>
            <a:xfrm>
              <a:off x="2902" y="6861"/>
              <a:ext cx="1728" cy="1125"/>
              <a:chOff x="2902" y="6861"/>
              <a:chExt cx="1728" cy="1125"/>
            </a:xfrm>
          </p:grpSpPr>
          <p:sp>
            <p:nvSpPr>
              <p:cNvPr id="81" name="文本框 80"/>
              <p:cNvSpPr txBox="1"/>
              <p:nvPr/>
            </p:nvSpPr>
            <p:spPr>
              <a:xfrm>
                <a:off x="2902" y="7552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通用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文本模型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1" name="图片 90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9" y="6861"/>
                <a:ext cx="575" cy="567"/>
              </a:xfrm>
              <a:prstGeom prst="rect">
                <a:avLst/>
              </a:prstGeom>
            </p:spPr>
          </p:pic>
        </p:grpSp>
        <p:grpSp>
          <p:nvGrpSpPr>
            <p:cNvPr id="50" name="组合 49"/>
            <p:cNvGrpSpPr/>
            <p:nvPr/>
          </p:nvGrpSpPr>
          <p:grpSpPr>
            <a:xfrm>
              <a:off x="3142" y="8110"/>
              <a:ext cx="1248" cy="1124"/>
              <a:chOff x="3142" y="8110"/>
              <a:chExt cx="1248" cy="1124"/>
            </a:xfrm>
          </p:grpSpPr>
          <p:sp>
            <p:nvSpPr>
              <p:cNvPr id="83" name="文本框 82"/>
              <p:cNvSpPr txBox="1"/>
              <p:nvPr/>
            </p:nvSpPr>
            <p:spPr>
              <a:xfrm>
                <a:off x="3142" y="8800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代码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2" name="图片 91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483" y="8110"/>
                <a:ext cx="567" cy="566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5033" y="8110"/>
              <a:ext cx="1728" cy="1124"/>
              <a:chOff x="5033" y="8110"/>
              <a:chExt cx="1728" cy="1124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5033" y="8800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视觉语言模型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3" name="图片 92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14" y="8110"/>
                <a:ext cx="567" cy="566"/>
              </a:xfrm>
              <a:prstGeom prst="rect">
                <a:avLst/>
              </a:prstGeom>
            </p:spPr>
          </p:pic>
        </p:grpSp>
      </p:grpSp>
      <p:grpSp>
        <p:nvGrpSpPr>
          <p:cNvPr id="64" name="组合 63"/>
          <p:cNvGrpSpPr/>
          <p:nvPr/>
        </p:nvGrpSpPr>
        <p:grpSpPr>
          <a:xfrm>
            <a:off x="4803140" y="3930650"/>
            <a:ext cx="2880360" cy="1979930"/>
            <a:chOff x="7564" y="6190"/>
            <a:chExt cx="4536" cy="3118"/>
          </a:xfrm>
        </p:grpSpPr>
        <p:grpSp>
          <p:nvGrpSpPr>
            <p:cNvPr id="54" name="组合 53"/>
            <p:cNvGrpSpPr/>
            <p:nvPr/>
          </p:nvGrpSpPr>
          <p:grpSpPr>
            <a:xfrm>
              <a:off x="7564" y="6190"/>
              <a:ext cx="4536" cy="3118"/>
              <a:chOff x="2549" y="6169"/>
              <a:chExt cx="4536" cy="3118"/>
            </a:xfrm>
          </p:grpSpPr>
          <p:grpSp>
            <p:nvGrpSpPr>
              <p:cNvPr id="55" name="组合 5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56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57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58" name="文本框 57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多模态模型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7829" y="6861"/>
              <a:ext cx="1248" cy="1125"/>
              <a:chOff x="7829" y="6861"/>
              <a:chExt cx="1248" cy="1125"/>
            </a:xfrm>
          </p:grpSpPr>
          <p:sp>
            <p:nvSpPr>
              <p:cNvPr id="87" name="文本框 86"/>
              <p:cNvSpPr txBox="1"/>
              <p:nvPr/>
            </p:nvSpPr>
            <p:spPr>
              <a:xfrm>
                <a:off x="7829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语音模型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4" name="图片 93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70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0" name="组合 59"/>
            <p:cNvGrpSpPr/>
            <p:nvPr/>
          </p:nvGrpSpPr>
          <p:grpSpPr>
            <a:xfrm>
              <a:off x="8687" y="8110"/>
              <a:ext cx="2288" cy="1124"/>
              <a:chOff x="8736" y="8110"/>
              <a:chExt cx="2288" cy="1124"/>
            </a:xfrm>
          </p:grpSpPr>
          <p:sp>
            <p:nvSpPr>
              <p:cNvPr id="89" name="文本框 88"/>
              <p:cNvSpPr txBox="1"/>
              <p:nvPr/>
            </p:nvSpPr>
            <p:spPr>
              <a:xfrm>
                <a:off x="8736" y="8800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视频生成/编辑模型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5" name="图片 94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597" y="8110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2" name="组合 61"/>
            <p:cNvGrpSpPr/>
            <p:nvPr/>
          </p:nvGrpSpPr>
          <p:grpSpPr>
            <a:xfrm>
              <a:off x="9428" y="6861"/>
              <a:ext cx="2288" cy="1125"/>
              <a:chOff x="9428" y="6861"/>
              <a:chExt cx="2288" cy="1125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9428" y="7552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图像生成/编辑模型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6" name="图片 95"/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232" y="6861"/>
                <a:ext cx="680" cy="567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1"/>
      <p:bldP spid="37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大模型产品谱系图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24" name="组合 23"/>
          <p:cNvGrpSpPr/>
          <p:nvPr/>
        </p:nvGrpSpPr>
        <p:grpSpPr>
          <a:xfrm>
            <a:off x="762000" y="1741805"/>
            <a:ext cx="10400030" cy="1717040"/>
            <a:chOff x="1200" y="2743"/>
            <a:chExt cx="16378" cy="2704"/>
          </a:xfrm>
        </p:grpSpPr>
        <p:grpSp>
          <p:nvGrpSpPr>
            <p:cNvPr id="12" name="组合 11"/>
            <p:cNvGrpSpPr/>
            <p:nvPr/>
          </p:nvGrpSpPr>
          <p:grpSpPr>
            <a:xfrm>
              <a:off x="1200" y="2743"/>
              <a:ext cx="16379" cy="2704"/>
              <a:chOff x="1272" y="6427"/>
              <a:chExt cx="16379" cy="3118"/>
            </a:xfrm>
          </p:grpSpPr>
          <p:sp>
            <p:nvSpPr>
              <p:cNvPr id="13" name="AutoShape 6"/>
              <p:cNvSpPr/>
              <p:nvPr/>
            </p:nvSpPr>
            <p:spPr>
              <a:xfrm>
                <a:off x="1272" y="6427"/>
                <a:ext cx="16379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>
                  <a:alpha val="8000"/>
                </a:srgbClr>
              </a:solidFill>
              <a:ln w="12700" cap="flat" cmpd="sng">
                <a:solidFill>
                  <a:srgbClr val="00E5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6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7" name="文本框 16"/>
            <p:cNvSpPr txBox="1"/>
            <p:nvPr/>
          </p:nvSpPr>
          <p:spPr>
            <a:xfrm>
              <a:off x="1313" y="2758"/>
              <a:ext cx="869" cy="2689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altLang="en-US" sz="2400">
                  <a:solidFill>
                    <a:srgbClr val="00E5FF"/>
                  </a:solidFill>
                </a:rPr>
                <a:t>编 排 层</a:t>
              </a:r>
              <a:endParaRPr lang="en-US" altLang="en-US" sz="2400">
                <a:solidFill>
                  <a:srgbClr val="00E5FF"/>
                </a:solidFill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618615" y="2064385"/>
            <a:ext cx="1567815" cy="1085215"/>
            <a:chOff x="2751" y="3122"/>
            <a:chExt cx="2469" cy="1709"/>
          </a:xfrm>
        </p:grpSpPr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608" y="4111"/>
              <a:ext cx="720" cy="720"/>
            </a:xfrm>
            <a:prstGeom prst="rect">
              <a:avLst/>
            </a:prstGeom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01" y="4111"/>
              <a:ext cx="718" cy="720"/>
            </a:xfrm>
            <a:prstGeom prst="rect">
              <a:avLst/>
            </a:prstGeom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00" y="3122"/>
              <a:ext cx="720" cy="720"/>
            </a:xfrm>
            <a:prstGeom prst="rect">
              <a:avLst/>
            </a:prstGeom>
          </p:spPr>
        </p:pic>
        <p:pic>
          <p:nvPicPr>
            <p:cNvPr id="49" name="图片 4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1" y="4111"/>
              <a:ext cx="720" cy="720"/>
            </a:xfrm>
            <a:prstGeom prst="rect">
              <a:avLst/>
            </a:prstGeom>
          </p:spPr>
        </p:pic>
        <p:pic>
          <p:nvPicPr>
            <p:cNvPr id="51" name="图片 5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8" y="3122"/>
              <a:ext cx="720" cy="720"/>
            </a:xfrm>
            <a:prstGeom prst="rect">
              <a:avLst/>
            </a:prstGeom>
          </p:spPr>
        </p:pic>
        <p:pic>
          <p:nvPicPr>
            <p:cNvPr id="53" name="图片 5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1" y="3122"/>
              <a:ext cx="720" cy="720"/>
            </a:xfrm>
            <a:prstGeom prst="rect">
              <a:avLst/>
            </a:prstGeom>
          </p:spPr>
        </p:pic>
      </p:grpSp>
      <p:sp>
        <p:nvSpPr>
          <p:cNvPr id="37" name="文本框 36"/>
          <p:cNvSpPr txBox="1"/>
          <p:nvPr/>
        </p:nvSpPr>
        <p:spPr>
          <a:xfrm>
            <a:off x="3419475" y="1755140"/>
            <a:ext cx="7748905" cy="170370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just">
              <a:lnSpc>
                <a:spcPct val="150000"/>
              </a:lnSpc>
            </a:pPr>
            <a:r>
              <a:rPr lang="en-US" altLang="zh-CN">
                <a:solidFill>
                  <a:srgbClr val="00E5FF"/>
                </a:solidFill>
                <a:sym typeface="+mn-ea"/>
              </a:rPr>
              <a:t>把模型、工具、资料和流程组织成可直接使用的产品或系统，例如知识库、智能体和工作流平台。它决定 AI 如何完成多步骤任务、何时调用工具，以及如何控制权限与流程。</a:t>
            </a:r>
            <a:endParaRPr lang="en-US" altLang="zh-CN">
              <a:solidFill>
                <a:srgbClr val="00E5FF"/>
              </a:solidFill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762000" y="3735070"/>
            <a:ext cx="7199630" cy="2344420"/>
            <a:chOff x="1200" y="5882"/>
            <a:chExt cx="11338" cy="3692"/>
          </a:xfrm>
        </p:grpSpPr>
        <p:grpSp>
          <p:nvGrpSpPr>
            <p:cNvPr id="8" name="组合 7"/>
            <p:cNvGrpSpPr/>
            <p:nvPr/>
          </p:nvGrpSpPr>
          <p:grpSpPr>
            <a:xfrm>
              <a:off x="1200" y="5886"/>
              <a:ext cx="11338" cy="3685"/>
              <a:chOff x="1272" y="6427"/>
              <a:chExt cx="11338" cy="3118"/>
            </a:xfrm>
          </p:grpSpPr>
          <p:sp>
            <p:nvSpPr>
              <p:cNvPr id="6" name="AutoShape 6"/>
              <p:cNvSpPr/>
              <p:nvPr/>
            </p:nvSpPr>
            <p:spPr>
              <a:xfrm>
                <a:off x="1272" y="6427"/>
                <a:ext cx="11339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>
                  <a:alpha val="8000"/>
                </a:srgbClr>
              </a:solidFill>
              <a:ln w="12700" cap="flat" cmpd="sng">
                <a:solidFill>
                  <a:srgbClr val="69F0AE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7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1313" y="5882"/>
              <a:ext cx="869" cy="3692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模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型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69F0AE"/>
                </a:solidFill>
                <a:sym typeface="+mn-ea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8110220" y="3735070"/>
            <a:ext cx="3053080" cy="2344420"/>
            <a:chOff x="12772" y="5882"/>
            <a:chExt cx="4808" cy="3692"/>
          </a:xfrm>
        </p:grpSpPr>
        <p:grpSp>
          <p:nvGrpSpPr>
            <p:cNvPr id="9" name="组合 8"/>
            <p:cNvGrpSpPr/>
            <p:nvPr/>
          </p:nvGrpSpPr>
          <p:grpSpPr>
            <a:xfrm>
              <a:off x="12772" y="5886"/>
              <a:ext cx="4808" cy="3688"/>
              <a:chOff x="1103" y="3557"/>
              <a:chExt cx="2976" cy="3688"/>
            </a:xfrm>
          </p:grpSpPr>
          <p:sp>
            <p:nvSpPr>
              <p:cNvPr id="10" name="AutoShape 10"/>
              <p:cNvSpPr/>
              <p:nvPr/>
            </p:nvSpPr>
            <p:spPr>
              <a:xfrm>
                <a:off x="1103" y="3557"/>
                <a:ext cx="2976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8000"/>
                </a:srgbClr>
              </a:solidFill>
              <a:ln w="12700" cap="flat" cmpd="sng">
                <a:solidFill>
                  <a:srgbClr val="B388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" name="AutoShape 11"/>
              <p:cNvSpPr/>
              <p:nvPr/>
            </p:nvSpPr>
            <p:spPr>
              <a:xfrm>
                <a:off x="1103" y="3560"/>
                <a:ext cx="70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100000"/>
                </a:srgbClr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2788" y="5882"/>
              <a:ext cx="711" cy="3690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工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具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B388FF"/>
                </a:solidFill>
                <a:sym typeface="+mn-ea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8679180" y="3892550"/>
            <a:ext cx="2475230" cy="2184400"/>
            <a:chOff x="13668" y="6130"/>
            <a:chExt cx="3898" cy="3440"/>
          </a:xfrm>
        </p:grpSpPr>
        <p:grpSp>
          <p:nvGrpSpPr>
            <p:cNvPr id="22" name="组合 21"/>
            <p:cNvGrpSpPr/>
            <p:nvPr/>
          </p:nvGrpSpPr>
          <p:grpSpPr>
            <a:xfrm>
              <a:off x="13812" y="6130"/>
              <a:ext cx="3611" cy="720"/>
              <a:chOff x="13657" y="5403"/>
              <a:chExt cx="3611" cy="720"/>
            </a:xfrm>
          </p:grpSpPr>
          <p:pic>
            <p:nvPicPr>
              <p:cNvPr id="33" name="图片 3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657" y="5403"/>
                <a:ext cx="720" cy="720"/>
              </a:xfrm>
              <a:prstGeom prst="rect">
                <a:avLst/>
              </a:prstGeom>
            </p:spPr>
          </p:pic>
          <p:pic>
            <p:nvPicPr>
              <p:cNvPr id="35" name="图片 34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24" y="5403"/>
                <a:ext cx="710" cy="720"/>
              </a:xfrm>
              <a:prstGeom prst="rect">
                <a:avLst/>
              </a:prstGeom>
            </p:spPr>
          </p:pic>
          <p:pic>
            <p:nvPicPr>
              <p:cNvPr id="36" name="图片 3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5581" y="5403"/>
                <a:ext cx="720" cy="720"/>
              </a:xfrm>
              <a:prstGeom prst="rect">
                <a:avLst/>
              </a:prstGeom>
            </p:spPr>
          </p:pic>
          <p:pic>
            <p:nvPicPr>
              <p:cNvPr id="38" name="图片 37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6548" y="5403"/>
                <a:ext cx="720" cy="720"/>
              </a:xfrm>
              <a:prstGeom prst="rect">
                <a:avLst/>
              </a:prstGeom>
            </p:spPr>
          </p:pic>
        </p:grpSp>
        <p:sp>
          <p:nvSpPr>
            <p:cNvPr id="34" name="文本框 33"/>
            <p:cNvSpPr txBox="1"/>
            <p:nvPr/>
          </p:nvSpPr>
          <p:spPr>
            <a:xfrm>
              <a:off x="13668" y="7018"/>
              <a:ext cx="3899" cy="255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indent="0" algn="just" fontAlgn="auto">
                <a:lnSpc>
                  <a:spcPts val="2000"/>
                </a:lnSpc>
              </a:pPr>
              <a:r>
                <a:rPr lang="en-US" altLang="zh-CN" sz="1400">
                  <a:solidFill>
                    <a:srgbClr val="B388FF"/>
                  </a:solidFill>
                  <a:sym typeface="+mn-ea"/>
                </a:rPr>
                <a:t>为模型补充检索资料、解析文档、运行代码、访问日历等单一环节能力的后台组件。它们一般不能独立完成面向用户的任务，而是被上层产品按需调用。</a:t>
              </a:r>
              <a:endParaRPr lang="en-US" altLang="zh-CN" sz="1400">
                <a:solidFill>
                  <a:srgbClr val="B388FF"/>
                </a:solidFill>
                <a:sym typeface="+mn-ea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>
            <a:off x="1618615" y="3917315"/>
            <a:ext cx="2880360" cy="1979930"/>
            <a:chOff x="2549" y="6169"/>
            <a:chExt cx="4536" cy="3118"/>
          </a:xfrm>
        </p:grpSpPr>
        <p:grpSp>
          <p:nvGrpSpPr>
            <p:cNvPr id="44" name="组合 43"/>
            <p:cNvGrpSpPr/>
            <p:nvPr/>
          </p:nvGrpSpPr>
          <p:grpSpPr>
            <a:xfrm>
              <a:off x="2549" y="6169"/>
              <a:ext cx="4536" cy="3118"/>
              <a:chOff x="2549" y="6169"/>
              <a:chExt cx="4536" cy="3118"/>
            </a:xfrm>
          </p:grpSpPr>
          <p:grpSp>
            <p:nvGrpSpPr>
              <p:cNvPr id="5" name="组合 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14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15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41" name="文本框 40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文本模型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48" name="组合 47"/>
            <p:cNvGrpSpPr/>
            <p:nvPr/>
          </p:nvGrpSpPr>
          <p:grpSpPr>
            <a:xfrm>
              <a:off x="5273" y="6861"/>
              <a:ext cx="1248" cy="1125"/>
              <a:chOff x="5273" y="6861"/>
              <a:chExt cx="1248" cy="1125"/>
            </a:xfrm>
          </p:grpSpPr>
          <p:sp>
            <p:nvSpPr>
              <p:cNvPr id="82" name="文本框 81"/>
              <p:cNvSpPr txBox="1"/>
              <p:nvPr/>
            </p:nvSpPr>
            <p:spPr>
              <a:xfrm>
                <a:off x="5273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推理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0" name="图片 89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4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46" name="组合 45"/>
            <p:cNvGrpSpPr/>
            <p:nvPr/>
          </p:nvGrpSpPr>
          <p:grpSpPr>
            <a:xfrm>
              <a:off x="2902" y="6861"/>
              <a:ext cx="1728" cy="1125"/>
              <a:chOff x="2902" y="6861"/>
              <a:chExt cx="1728" cy="1125"/>
            </a:xfrm>
          </p:grpSpPr>
          <p:sp>
            <p:nvSpPr>
              <p:cNvPr id="81" name="文本框 80"/>
              <p:cNvSpPr txBox="1"/>
              <p:nvPr/>
            </p:nvSpPr>
            <p:spPr>
              <a:xfrm>
                <a:off x="2902" y="7552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通用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文本模型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1" name="图片 90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79" y="6861"/>
                <a:ext cx="575" cy="567"/>
              </a:xfrm>
              <a:prstGeom prst="rect">
                <a:avLst/>
              </a:prstGeom>
            </p:spPr>
          </p:pic>
        </p:grpSp>
        <p:grpSp>
          <p:nvGrpSpPr>
            <p:cNvPr id="50" name="组合 49"/>
            <p:cNvGrpSpPr/>
            <p:nvPr/>
          </p:nvGrpSpPr>
          <p:grpSpPr>
            <a:xfrm>
              <a:off x="3142" y="8110"/>
              <a:ext cx="1248" cy="1124"/>
              <a:chOff x="3142" y="8110"/>
              <a:chExt cx="1248" cy="1124"/>
            </a:xfrm>
          </p:grpSpPr>
          <p:sp>
            <p:nvSpPr>
              <p:cNvPr id="83" name="文本框 82"/>
              <p:cNvSpPr txBox="1"/>
              <p:nvPr/>
            </p:nvSpPr>
            <p:spPr>
              <a:xfrm>
                <a:off x="3142" y="8800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代码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2" name="图片 91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483" y="8110"/>
                <a:ext cx="567" cy="566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5033" y="8110"/>
              <a:ext cx="1728" cy="1124"/>
              <a:chOff x="5033" y="8110"/>
              <a:chExt cx="1728" cy="1124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5033" y="8800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视觉语言模型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3" name="图片 92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14" y="8110"/>
                <a:ext cx="567" cy="566"/>
              </a:xfrm>
              <a:prstGeom prst="rect">
                <a:avLst/>
              </a:prstGeom>
            </p:spPr>
          </p:pic>
        </p:grpSp>
      </p:grpSp>
      <p:grpSp>
        <p:nvGrpSpPr>
          <p:cNvPr id="64" name="组合 63"/>
          <p:cNvGrpSpPr/>
          <p:nvPr/>
        </p:nvGrpSpPr>
        <p:grpSpPr>
          <a:xfrm>
            <a:off x="4803140" y="3930650"/>
            <a:ext cx="2880360" cy="1979930"/>
            <a:chOff x="7564" y="6190"/>
            <a:chExt cx="4536" cy="3118"/>
          </a:xfrm>
        </p:grpSpPr>
        <p:grpSp>
          <p:nvGrpSpPr>
            <p:cNvPr id="54" name="组合 53"/>
            <p:cNvGrpSpPr/>
            <p:nvPr/>
          </p:nvGrpSpPr>
          <p:grpSpPr>
            <a:xfrm>
              <a:off x="7564" y="6190"/>
              <a:ext cx="4536" cy="3118"/>
              <a:chOff x="2549" y="6169"/>
              <a:chExt cx="4536" cy="3118"/>
            </a:xfrm>
          </p:grpSpPr>
          <p:grpSp>
            <p:nvGrpSpPr>
              <p:cNvPr id="55" name="组合 5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56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57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58" name="文本框 57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多模态模型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7829" y="6861"/>
              <a:ext cx="1248" cy="1125"/>
              <a:chOff x="7829" y="6861"/>
              <a:chExt cx="1248" cy="1125"/>
            </a:xfrm>
          </p:grpSpPr>
          <p:sp>
            <p:nvSpPr>
              <p:cNvPr id="87" name="文本框 86"/>
              <p:cNvSpPr txBox="1"/>
              <p:nvPr/>
            </p:nvSpPr>
            <p:spPr>
              <a:xfrm>
                <a:off x="7829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语音模型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4" name="图片 93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70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0" name="组合 59"/>
            <p:cNvGrpSpPr/>
            <p:nvPr/>
          </p:nvGrpSpPr>
          <p:grpSpPr>
            <a:xfrm>
              <a:off x="8687" y="8110"/>
              <a:ext cx="2288" cy="1124"/>
              <a:chOff x="8736" y="8110"/>
              <a:chExt cx="2288" cy="1124"/>
            </a:xfrm>
          </p:grpSpPr>
          <p:sp>
            <p:nvSpPr>
              <p:cNvPr id="89" name="文本框 88"/>
              <p:cNvSpPr txBox="1"/>
              <p:nvPr/>
            </p:nvSpPr>
            <p:spPr>
              <a:xfrm>
                <a:off x="8736" y="8800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视频生成/编辑模型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5" name="图片 94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597" y="8110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2" name="组合 61"/>
            <p:cNvGrpSpPr/>
            <p:nvPr/>
          </p:nvGrpSpPr>
          <p:grpSpPr>
            <a:xfrm>
              <a:off x="9428" y="6861"/>
              <a:ext cx="2288" cy="1125"/>
              <a:chOff x="9428" y="6861"/>
              <a:chExt cx="2288" cy="1125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9428" y="7552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图像生成/编辑模型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6" name="图片 95"/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232" y="6861"/>
                <a:ext cx="680" cy="567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大模型产品谱系图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24" name="组合 23"/>
          <p:cNvGrpSpPr/>
          <p:nvPr/>
        </p:nvGrpSpPr>
        <p:grpSpPr>
          <a:xfrm>
            <a:off x="762000" y="1741805"/>
            <a:ext cx="10400030" cy="1717040"/>
            <a:chOff x="1200" y="2743"/>
            <a:chExt cx="16378" cy="2704"/>
          </a:xfrm>
        </p:grpSpPr>
        <p:grpSp>
          <p:nvGrpSpPr>
            <p:cNvPr id="12" name="组合 11"/>
            <p:cNvGrpSpPr/>
            <p:nvPr/>
          </p:nvGrpSpPr>
          <p:grpSpPr>
            <a:xfrm>
              <a:off x="1200" y="2743"/>
              <a:ext cx="16379" cy="2704"/>
              <a:chOff x="1272" y="6427"/>
              <a:chExt cx="16379" cy="3118"/>
            </a:xfrm>
          </p:grpSpPr>
          <p:sp>
            <p:nvSpPr>
              <p:cNvPr id="13" name="AutoShape 6"/>
              <p:cNvSpPr/>
              <p:nvPr/>
            </p:nvSpPr>
            <p:spPr>
              <a:xfrm>
                <a:off x="1272" y="6427"/>
                <a:ext cx="16379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>
                  <a:alpha val="8000"/>
                </a:srgbClr>
              </a:solidFill>
              <a:ln w="12700" cap="flat" cmpd="sng">
                <a:solidFill>
                  <a:srgbClr val="00E5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6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00E5FF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7" name="文本框 16"/>
            <p:cNvSpPr txBox="1"/>
            <p:nvPr/>
          </p:nvSpPr>
          <p:spPr>
            <a:xfrm>
              <a:off x="1313" y="2758"/>
              <a:ext cx="869" cy="2689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altLang="en-US" sz="2400">
                  <a:solidFill>
                    <a:srgbClr val="00E5FF"/>
                  </a:solidFill>
                </a:rPr>
                <a:t>编 排 层</a:t>
              </a:r>
              <a:endParaRPr lang="en-US" altLang="en-US" sz="2400">
                <a:solidFill>
                  <a:srgbClr val="00E5FF"/>
                </a:solidFill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1618615" y="2064385"/>
            <a:ext cx="1567815" cy="1085215"/>
            <a:chOff x="2751" y="3122"/>
            <a:chExt cx="2469" cy="1709"/>
          </a:xfrm>
        </p:grpSpPr>
        <p:pic>
          <p:nvPicPr>
            <p:cNvPr id="43" name="图片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608" y="4111"/>
              <a:ext cx="720" cy="720"/>
            </a:xfrm>
            <a:prstGeom prst="rect">
              <a:avLst/>
            </a:prstGeom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01" y="4111"/>
              <a:ext cx="718" cy="720"/>
            </a:xfrm>
            <a:prstGeom prst="rect">
              <a:avLst/>
            </a:prstGeom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00" y="3122"/>
              <a:ext cx="720" cy="720"/>
            </a:xfrm>
            <a:prstGeom prst="rect">
              <a:avLst/>
            </a:prstGeom>
          </p:spPr>
        </p:pic>
        <p:pic>
          <p:nvPicPr>
            <p:cNvPr id="49" name="图片 4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1" y="4111"/>
              <a:ext cx="720" cy="720"/>
            </a:xfrm>
            <a:prstGeom prst="rect">
              <a:avLst/>
            </a:prstGeom>
          </p:spPr>
        </p:pic>
        <p:pic>
          <p:nvPicPr>
            <p:cNvPr id="51" name="图片 5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8" y="3122"/>
              <a:ext cx="720" cy="720"/>
            </a:xfrm>
            <a:prstGeom prst="rect">
              <a:avLst/>
            </a:prstGeom>
          </p:spPr>
        </p:pic>
        <p:pic>
          <p:nvPicPr>
            <p:cNvPr id="53" name="图片 5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1" y="3122"/>
              <a:ext cx="720" cy="720"/>
            </a:xfrm>
            <a:prstGeom prst="rect">
              <a:avLst/>
            </a:prstGeom>
          </p:spPr>
        </p:pic>
      </p:grpSp>
      <p:sp>
        <p:nvSpPr>
          <p:cNvPr id="37" name="文本框 36"/>
          <p:cNvSpPr txBox="1"/>
          <p:nvPr/>
        </p:nvSpPr>
        <p:spPr>
          <a:xfrm>
            <a:off x="3419475" y="1755140"/>
            <a:ext cx="7748905" cy="170370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just">
              <a:lnSpc>
                <a:spcPct val="150000"/>
              </a:lnSpc>
            </a:pPr>
            <a:r>
              <a:rPr lang="en-US" altLang="zh-CN">
                <a:solidFill>
                  <a:srgbClr val="00E5FF"/>
                </a:solidFill>
                <a:sym typeface="+mn-ea"/>
              </a:rPr>
              <a:t>把模型、工具、资料和流程组织成可直接使用的产品或系统，例如知识库、智能体和工作流平台。它决定 AI 如何完成多步骤任务、何时调用工具，以及如何控制权限与流程。</a:t>
            </a:r>
            <a:endParaRPr lang="en-US" altLang="zh-CN">
              <a:solidFill>
                <a:srgbClr val="00E5FF"/>
              </a:solidFill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762000" y="3735070"/>
            <a:ext cx="7199630" cy="2344420"/>
            <a:chOff x="1200" y="5882"/>
            <a:chExt cx="11338" cy="3692"/>
          </a:xfrm>
        </p:grpSpPr>
        <p:grpSp>
          <p:nvGrpSpPr>
            <p:cNvPr id="8" name="组合 7"/>
            <p:cNvGrpSpPr/>
            <p:nvPr/>
          </p:nvGrpSpPr>
          <p:grpSpPr>
            <a:xfrm>
              <a:off x="1200" y="5886"/>
              <a:ext cx="11338" cy="3685"/>
              <a:chOff x="1272" y="6427"/>
              <a:chExt cx="11338" cy="3118"/>
            </a:xfrm>
          </p:grpSpPr>
          <p:sp>
            <p:nvSpPr>
              <p:cNvPr id="6" name="AutoShape 6"/>
              <p:cNvSpPr/>
              <p:nvPr/>
            </p:nvSpPr>
            <p:spPr>
              <a:xfrm>
                <a:off x="1272" y="6427"/>
                <a:ext cx="11339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>
                  <a:alpha val="8000"/>
                </a:srgbClr>
              </a:solidFill>
              <a:ln w="12700" cap="flat" cmpd="sng">
                <a:solidFill>
                  <a:srgbClr val="69F0AE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7" name="AutoShape 7"/>
              <p:cNvSpPr/>
              <p:nvPr/>
            </p:nvSpPr>
            <p:spPr>
              <a:xfrm>
                <a:off x="1272" y="6427"/>
                <a:ext cx="113" cy="3118"/>
              </a:xfrm>
              <a:prstGeom prst="roundRect">
                <a:avLst>
                  <a:gd name="adj" fmla="val 0"/>
                </a:avLst>
              </a:prstGeom>
              <a:solidFill>
                <a:srgbClr val="69F0AE"/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1313" y="5882"/>
              <a:ext cx="869" cy="3692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模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型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69F0AE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69F0AE"/>
                </a:solidFill>
                <a:sym typeface="+mn-ea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8110220" y="3735070"/>
            <a:ext cx="3053080" cy="2344420"/>
            <a:chOff x="12772" y="5882"/>
            <a:chExt cx="4808" cy="3692"/>
          </a:xfrm>
        </p:grpSpPr>
        <p:grpSp>
          <p:nvGrpSpPr>
            <p:cNvPr id="9" name="组合 8"/>
            <p:cNvGrpSpPr/>
            <p:nvPr/>
          </p:nvGrpSpPr>
          <p:grpSpPr>
            <a:xfrm>
              <a:off x="12772" y="5886"/>
              <a:ext cx="4808" cy="3688"/>
              <a:chOff x="1103" y="3557"/>
              <a:chExt cx="2976" cy="3688"/>
            </a:xfrm>
          </p:grpSpPr>
          <p:sp>
            <p:nvSpPr>
              <p:cNvPr id="10" name="AutoShape 10"/>
              <p:cNvSpPr/>
              <p:nvPr/>
            </p:nvSpPr>
            <p:spPr>
              <a:xfrm>
                <a:off x="1103" y="3557"/>
                <a:ext cx="2976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8000"/>
                </a:srgbClr>
              </a:solidFill>
              <a:ln w="12700" cap="flat" cmpd="sng">
                <a:solidFill>
                  <a:srgbClr val="B388FF">
                    <a:alpha val="40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" name="AutoShape 11"/>
              <p:cNvSpPr/>
              <p:nvPr/>
            </p:nvSpPr>
            <p:spPr>
              <a:xfrm>
                <a:off x="1103" y="3560"/>
                <a:ext cx="70" cy="3685"/>
              </a:xfrm>
              <a:prstGeom prst="roundRect">
                <a:avLst>
                  <a:gd name="adj" fmla="val 0"/>
                </a:avLst>
              </a:prstGeom>
              <a:solidFill>
                <a:srgbClr val="B388FF">
                  <a:alpha val="100000"/>
                </a:srgbClr>
              </a:solidFill>
              <a:ln w="25400" cap="flat" cmpd="sng">
                <a:noFill/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12788" y="5882"/>
              <a:ext cx="711" cy="3690"/>
            </a:xfrm>
            <a:prstGeom prst="rect">
              <a:avLst/>
            </a:prstGeom>
            <a:noFill/>
          </p:spPr>
          <p:txBody>
            <a:bodyPr vert="eaVert"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工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具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 </a:t>
              </a:r>
              <a:r>
                <a:rPr lang="en-US" altLang="en-US" sz="2400">
                  <a:solidFill>
                    <a:srgbClr val="B388FF"/>
                  </a:solidFill>
                  <a:sym typeface="+mn-ea"/>
                </a:rPr>
                <a:t>层</a:t>
              </a:r>
              <a:endParaRPr lang="en-US" altLang="en-US" sz="2400">
                <a:solidFill>
                  <a:srgbClr val="B388FF"/>
                </a:solidFill>
                <a:sym typeface="+mn-ea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>
            <a:off x="1618615" y="3917315"/>
            <a:ext cx="2880360" cy="1979930"/>
            <a:chOff x="2549" y="6169"/>
            <a:chExt cx="4536" cy="3118"/>
          </a:xfrm>
        </p:grpSpPr>
        <p:grpSp>
          <p:nvGrpSpPr>
            <p:cNvPr id="44" name="组合 43"/>
            <p:cNvGrpSpPr/>
            <p:nvPr/>
          </p:nvGrpSpPr>
          <p:grpSpPr>
            <a:xfrm>
              <a:off x="2549" y="6169"/>
              <a:ext cx="4536" cy="3118"/>
              <a:chOff x="2549" y="6169"/>
              <a:chExt cx="4536" cy="3118"/>
            </a:xfrm>
          </p:grpSpPr>
          <p:grpSp>
            <p:nvGrpSpPr>
              <p:cNvPr id="5" name="组合 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14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15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41" name="文本框 40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文本模型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48" name="组合 47"/>
            <p:cNvGrpSpPr/>
            <p:nvPr/>
          </p:nvGrpSpPr>
          <p:grpSpPr>
            <a:xfrm>
              <a:off x="5273" y="6861"/>
              <a:ext cx="1248" cy="1125"/>
              <a:chOff x="5273" y="6861"/>
              <a:chExt cx="1248" cy="1125"/>
            </a:xfrm>
          </p:grpSpPr>
          <p:sp>
            <p:nvSpPr>
              <p:cNvPr id="82" name="文本框 81"/>
              <p:cNvSpPr txBox="1"/>
              <p:nvPr/>
            </p:nvSpPr>
            <p:spPr>
              <a:xfrm>
                <a:off x="5273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推理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0" name="图片 89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614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46" name="组合 45"/>
            <p:cNvGrpSpPr/>
            <p:nvPr/>
          </p:nvGrpSpPr>
          <p:grpSpPr>
            <a:xfrm>
              <a:off x="2902" y="6861"/>
              <a:ext cx="1728" cy="1125"/>
              <a:chOff x="2902" y="6861"/>
              <a:chExt cx="1728" cy="1125"/>
            </a:xfrm>
          </p:grpSpPr>
          <p:sp>
            <p:nvSpPr>
              <p:cNvPr id="81" name="文本框 80"/>
              <p:cNvSpPr txBox="1"/>
              <p:nvPr/>
            </p:nvSpPr>
            <p:spPr>
              <a:xfrm>
                <a:off x="2902" y="7552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通用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文本模型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1" name="图片 90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79" y="6861"/>
                <a:ext cx="575" cy="567"/>
              </a:xfrm>
              <a:prstGeom prst="rect">
                <a:avLst/>
              </a:prstGeom>
            </p:spPr>
          </p:pic>
        </p:grpSp>
        <p:grpSp>
          <p:nvGrpSpPr>
            <p:cNvPr id="50" name="组合 49"/>
            <p:cNvGrpSpPr/>
            <p:nvPr/>
          </p:nvGrpSpPr>
          <p:grpSpPr>
            <a:xfrm>
              <a:off x="3142" y="8110"/>
              <a:ext cx="1248" cy="1124"/>
              <a:chOff x="3142" y="8110"/>
              <a:chExt cx="1248" cy="1124"/>
            </a:xfrm>
          </p:grpSpPr>
          <p:sp>
            <p:nvSpPr>
              <p:cNvPr id="83" name="文本框 82"/>
              <p:cNvSpPr txBox="1"/>
              <p:nvPr/>
            </p:nvSpPr>
            <p:spPr>
              <a:xfrm>
                <a:off x="3142" y="8800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代码</a:t>
                </a:r>
                <a:r>
                  <a:rPr lang="en-US" altLang="zh-CN" sz="1200">
                    <a:solidFill>
                      <a:srgbClr val="69F0AE"/>
                    </a:solidFill>
                  </a:rPr>
                  <a:t>模型</a:t>
                </a:r>
                <a:endParaRPr lang="en-US" altLang="zh-CN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2" name="图片 91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483" y="8110"/>
                <a:ext cx="567" cy="566"/>
              </a:xfrm>
              <a:prstGeom prst="rect">
                <a:avLst/>
              </a:prstGeom>
            </p:spPr>
          </p:pic>
        </p:grpSp>
        <p:grpSp>
          <p:nvGrpSpPr>
            <p:cNvPr id="52" name="组合 51"/>
            <p:cNvGrpSpPr/>
            <p:nvPr/>
          </p:nvGrpSpPr>
          <p:grpSpPr>
            <a:xfrm>
              <a:off x="5033" y="8110"/>
              <a:ext cx="1728" cy="1124"/>
              <a:chOff x="5033" y="8110"/>
              <a:chExt cx="1728" cy="1124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5033" y="8800"/>
                <a:ext cx="172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视觉语言模型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3" name="图片 92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14" y="8110"/>
                <a:ext cx="567" cy="566"/>
              </a:xfrm>
              <a:prstGeom prst="rect">
                <a:avLst/>
              </a:prstGeom>
            </p:spPr>
          </p:pic>
        </p:grpSp>
      </p:grpSp>
      <p:grpSp>
        <p:nvGrpSpPr>
          <p:cNvPr id="64" name="组合 63"/>
          <p:cNvGrpSpPr/>
          <p:nvPr/>
        </p:nvGrpSpPr>
        <p:grpSpPr>
          <a:xfrm>
            <a:off x="4803140" y="3930650"/>
            <a:ext cx="2880360" cy="1979930"/>
            <a:chOff x="7564" y="6190"/>
            <a:chExt cx="4536" cy="3118"/>
          </a:xfrm>
        </p:grpSpPr>
        <p:grpSp>
          <p:nvGrpSpPr>
            <p:cNvPr id="54" name="组合 53"/>
            <p:cNvGrpSpPr/>
            <p:nvPr/>
          </p:nvGrpSpPr>
          <p:grpSpPr>
            <a:xfrm>
              <a:off x="7564" y="6190"/>
              <a:ext cx="4536" cy="3118"/>
              <a:chOff x="2549" y="6169"/>
              <a:chExt cx="4536" cy="3118"/>
            </a:xfrm>
          </p:grpSpPr>
          <p:grpSp>
            <p:nvGrpSpPr>
              <p:cNvPr id="55" name="组合 54"/>
              <p:cNvGrpSpPr/>
              <p:nvPr/>
            </p:nvGrpSpPr>
            <p:grpSpPr>
              <a:xfrm rot="0">
                <a:off x="2549" y="6169"/>
                <a:ext cx="4535" cy="3118"/>
                <a:chOff x="1272" y="6427"/>
                <a:chExt cx="4535" cy="3118"/>
              </a:xfrm>
            </p:grpSpPr>
            <p:sp>
              <p:nvSpPr>
                <p:cNvPr id="56" name="AutoShape 6"/>
                <p:cNvSpPr/>
                <p:nvPr/>
              </p:nvSpPr>
              <p:spPr>
                <a:xfrm>
                  <a:off x="1272" y="6427"/>
                  <a:ext cx="4535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>
                    <a:alpha val="8000"/>
                  </a:srgbClr>
                </a:solidFill>
                <a:ln w="12700" cap="flat" cmpd="sng">
                  <a:solidFill>
                    <a:srgbClr val="69F0AE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  <p:sp>
              <p:nvSpPr>
                <p:cNvPr id="57" name="AutoShape 7"/>
                <p:cNvSpPr/>
                <p:nvPr/>
              </p:nvSpPr>
              <p:spPr>
                <a:xfrm>
                  <a:off x="1272" y="6427"/>
                  <a:ext cx="113" cy="3118"/>
                </a:xfrm>
                <a:prstGeom prst="roundRect">
                  <a:avLst>
                    <a:gd name="adj" fmla="val 0"/>
                  </a:avLst>
                </a:prstGeom>
                <a:solidFill>
                  <a:srgbClr val="69F0AE"/>
                </a:solidFill>
                <a:ln w="25400" cap="flat" cmpd="sng">
                  <a:noFill/>
                  <a:prstDash val="solid"/>
                  <a:round/>
                </a:ln>
              </p:spPr>
              <p:txBody>
                <a:bodyPr vert="horz" wrap="square" lIns="63500" tIns="63500" rIns="63500" bIns="63500" rtlCol="0" anchor="ctr"/>
                <a:lstStyle/>
                <a:p>
                  <a:pPr algn="ctr">
                    <a:defRPr/>
                  </a:pPr>
                </a:p>
              </p:txBody>
            </p:sp>
          </p:grpSp>
          <p:sp>
            <p:nvSpPr>
              <p:cNvPr id="58" name="文本框 57"/>
              <p:cNvSpPr txBox="1"/>
              <p:nvPr/>
            </p:nvSpPr>
            <p:spPr>
              <a:xfrm>
                <a:off x="2661" y="6190"/>
                <a:ext cx="4424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>
                    <a:solidFill>
                      <a:srgbClr val="69F0AE"/>
                    </a:solidFill>
                  </a:rPr>
                  <a:t>多模态模型</a:t>
                </a:r>
                <a:endParaRPr lang="zh-CN" altLang="en-US">
                  <a:solidFill>
                    <a:srgbClr val="69F0AE"/>
                  </a:solidFill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7829" y="6861"/>
              <a:ext cx="1248" cy="1125"/>
              <a:chOff x="7829" y="6861"/>
              <a:chExt cx="1248" cy="1125"/>
            </a:xfrm>
          </p:grpSpPr>
          <p:sp>
            <p:nvSpPr>
              <p:cNvPr id="87" name="文本框 86"/>
              <p:cNvSpPr txBox="1"/>
              <p:nvPr/>
            </p:nvSpPr>
            <p:spPr>
              <a:xfrm>
                <a:off x="7829" y="7552"/>
                <a:ext cx="1248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语音模型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4" name="图片 93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170" y="6861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0" name="组合 59"/>
            <p:cNvGrpSpPr/>
            <p:nvPr/>
          </p:nvGrpSpPr>
          <p:grpSpPr>
            <a:xfrm>
              <a:off x="8687" y="8110"/>
              <a:ext cx="2288" cy="1124"/>
              <a:chOff x="8736" y="8110"/>
              <a:chExt cx="2288" cy="1124"/>
            </a:xfrm>
          </p:grpSpPr>
          <p:sp>
            <p:nvSpPr>
              <p:cNvPr id="89" name="文本框 88"/>
              <p:cNvSpPr txBox="1"/>
              <p:nvPr/>
            </p:nvSpPr>
            <p:spPr>
              <a:xfrm>
                <a:off x="8736" y="8800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视频生成/编辑模型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5" name="图片 94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597" y="8110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62" name="组合 61"/>
            <p:cNvGrpSpPr/>
            <p:nvPr/>
          </p:nvGrpSpPr>
          <p:grpSpPr>
            <a:xfrm>
              <a:off x="9428" y="6861"/>
              <a:ext cx="2288" cy="1125"/>
              <a:chOff x="9428" y="6861"/>
              <a:chExt cx="2288" cy="1125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9428" y="7552"/>
                <a:ext cx="2289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69F0AE"/>
                    </a:solidFill>
                  </a:rPr>
                  <a:t>图像生成/编辑模型</a:t>
                </a:r>
                <a:endParaRPr lang="en-US" altLang="en-US" sz="1200">
                  <a:solidFill>
                    <a:srgbClr val="69F0AE"/>
                  </a:solidFill>
                </a:endParaRPr>
              </a:p>
            </p:txBody>
          </p:sp>
          <p:pic>
            <p:nvPicPr>
              <p:cNvPr id="96" name="图片 95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232" y="6861"/>
                <a:ext cx="680" cy="567"/>
              </a:xfrm>
              <a:prstGeom prst="rect">
                <a:avLst/>
              </a:prstGeom>
            </p:spPr>
          </p:pic>
        </p:grpSp>
      </p:grpSp>
      <p:grpSp>
        <p:nvGrpSpPr>
          <p:cNvPr id="67" name="组合 66"/>
          <p:cNvGrpSpPr/>
          <p:nvPr/>
        </p:nvGrpSpPr>
        <p:grpSpPr>
          <a:xfrm>
            <a:off x="8959215" y="3917315"/>
            <a:ext cx="1690370" cy="1991995"/>
            <a:chOff x="14109" y="6169"/>
            <a:chExt cx="2662" cy="3137"/>
          </a:xfrm>
        </p:grpSpPr>
        <p:grpSp>
          <p:nvGrpSpPr>
            <p:cNvPr id="42" name="组合 41"/>
            <p:cNvGrpSpPr/>
            <p:nvPr/>
          </p:nvGrpSpPr>
          <p:grpSpPr>
            <a:xfrm>
              <a:off x="14109" y="6169"/>
              <a:ext cx="2658" cy="566"/>
              <a:chOff x="13243" y="5479"/>
              <a:chExt cx="2658" cy="566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917" y="5546"/>
                <a:ext cx="1984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B388FF"/>
                    </a:solidFill>
                  </a:rPr>
                  <a:t>向量嵌入模型</a:t>
                </a:r>
                <a:endParaRPr lang="en-US" altLang="en-US" sz="1200">
                  <a:solidFill>
                    <a:srgbClr val="B388FF"/>
                  </a:solidFill>
                </a:endParaRPr>
              </a:p>
            </p:txBody>
          </p:sp>
          <p:pic>
            <p:nvPicPr>
              <p:cNvPr id="25" name="图片 24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3243" y="5479"/>
                <a:ext cx="567" cy="567"/>
              </a:xfrm>
              <a:prstGeom prst="rect">
                <a:avLst/>
              </a:prstGeom>
            </p:spPr>
          </p:pic>
        </p:grpSp>
        <p:grpSp>
          <p:nvGrpSpPr>
            <p:cNvPr id="59" name="组合 58"/>
            <p:cNvGrpSpPr/>
            <p:nvPr/>
          </p:nvGrpSpPr>
          <p:grpSpPr>
            <a:xfrm>
              <a:off x="14117" y="7026"/>
              <a:ext cx="2654" cy="566"/>
              <a:chOff x="13247" y="6574"/>
              <a:chExt cx="2654" cy="566"/>
            </a:xfrm>
          </p:grpSpPr>
          <p:sp>
            <p:nvSpPr>
              <p:cNvPr id="26" name="文本框 25"/>
              <p:cNvSpPr txBox="1"/>
              <p:nvPr/>
            </p:nvSpPr>
            <p:spPr>
              <a:xfrm>
                <a:off x="13917" y="6641"/>
                <a:ext cx="1984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B388FF"/>
                    </a:solidFill>
                  </a:rPr>
                  <a:t>向量数据库</a:t>
                </a:r>
                <a:endParaRPr lang="en-US" altLang="en-US" sz="1200">
                  <a:solidFill>
                    <a:srgbClr val="B388FF"/>
                  </a:solidFill>
                </a:endParaRPr>
              </a:p>
            </p:txBody>
          </p:sp>
          <p:pic>
            <p:nvPicPr>
              <p:cNvPr id="27" name="图片 26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3247" y="6574"/>
                <a:ext cx="559" cy="567"/>
              </a:xfrm>
              <a:prstGeom prst="rect">
                <a:avLst/>
              </a:prstGeom>
            </p:spPr>
          </p:pic>
        </p:grpSp>
        <p:grpSp>
          <p:nvGrpSpPr>
            <p:cNvPr id="65" name="组合 64"/>
            <p:cNvGrpSpPr/>
            <p:nvPr/>
          </p:nvGrpSpPr>
          <p:grpSpPr>
            <a:xfrm>
              <a:off x="14113" y="7883"/>
              <a:ext cx="2658" cy="566"/>
              <a:chOff x="13243" y="7669"/>
              <a:chExt cx="2658" cy="566"/>
            </a:xfrm>
          </p:grpSpPr>
          <p:pic>
            <p:nvPicPr>
              <p:cNvPr id="28" name="图片 2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3243" y="7669"/>
                <a:ext cx="567" cy="567"/>
              </a:xfrm>
              <a:prstGeom prst="rect">
                <a:avLst/>
              </a:prstGeom>
            </p:spPr>
          </p:pic>
          <p:sp>
            <p:nvSpPr>
              <p:cNvPr id="29" name="文本框 28"/>
              <p:cNvSpPr txBox="1"/>
              <p:nvPr/>
            </p:nvSpPr>
            <p:spPr>
              <a:xfrm>
                <a:off x="13917" y="7736"/>
                <a:ext cx="1984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B388FF"/>
                    </a:solidFill>
                  </a:rPr>
                  <a:t>文档识别模型</a:t>
                </a:r>
                <a:endParaRPr lang="en-US" altLang="en-US" sz="1200">
                  <a:solidFill>
                    <a:srgbClr val="B388FF"/>
                  </a:solidFill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14113" y="8740"/>
              <a:ext cx="2658" cy="566"/>
              <a:chOff x="13243" y="8771"/>
              <a:chExt cx="2658" cy="566"/>
            </a:xfrm>
          </p:grpSpPr>
          <p:pic>
            <p:nvPicPr>
              <p:cNvPr id="30" name="图片 29"/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3243" y="8771"/>
                <a:ext cx="567" cy="567"/>
              </a:xfrm>
              <a:prstGeom prst="rect">
                <a:avLst/>
              </a:prstGeom>
            </p:spPr>
          </p:pic>
          <p:sp>
            <p:nvSpPr>
              <p:cNvPr id="31" name="文本框 30"/>
              <p:cNvSpPr txBox="1"/>
              <p:nvPr/>
            </p:nvSpPr>
            <p:spPr>
              <a:xfrm>
                <a:off x="13917" y="8837"/>
                <a:ext cx="1984" cy="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p>
                <a:pPr algn="ctr"/>
                <a:r>
                  <a:rPr lang="en-US" altLang="en-US" sz="1200">
                    <a:solidFill>
                      <a:srgbClr val="B388FF"/>
                    </a:solidFill>
                  </a:rPr>
                  <a:t>工具调用服务</a:t>
                </a:r>
                <a:endParaRPr lang="en-US" altLang="en-US" sz="1200">
                  <a:solidFill>
                    <a:srgbClr val="B388FF"/>
                  </a:solidFill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提示词的基本技巧（第2课）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四要素：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/>
          <a:p>
            <a:pPr>
              <a:buClr>
                <a:srgbClr val="00E5FF"/>
              </a:buClr>
            </a:pPr>
            <a:r>
              <a:rPr lang="zh-CN" altLang="en-US"/>
              <a:t>任务：要 </a:t>
            </a:r>
            <a:r>
              <a:rPr lang="en-US" altLang="zh-CN"/>
              <a:t>AI </a:t>
            </a:r>
            <a:r>
              <a:rPr lang="zh-CN" altLang="en-US"/>
              <a:t>做什么？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要求：必须遵守哪些限制？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格式：输出长什么样？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场景：用户是谁、背景是什么？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r>
              <a:rPr lang="zh-CN" altLang="en-US"/>
              <a:t>四原则：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sz="quarter" idx="4"/>
          </p:nvPr>
        </p:nvSpPr>
        <p:spPr/>
        <p:txBody>
          <a:bodyPr/>
          <a:p>
            <a:r>
              <a:rPr lang="zh-CN" altLang="en-US"/>
              <a:t>全面性：不要遗漏</a:t>
            </a:r>
            <a:endParaRPr lang="zh-CN" altLang="en-US"/>
          </a:p>
          <a:p>
            <a:r>
              <a:rPr lang="zh-CN" altLang="en-US"/>
              <a:t>一致性：不要前后矛盾</a:t>
            </a:r>
            <a:endParaRPr lang="zh-CN" altLang="en-US"/>
          </a:p>
          <a:p>
            <a:r>
              <a:rPr lang="zh-CN" altLang="en-US"/>
              <a:t>简洁性：不要引入无关内容</a:t>
            </a:r>
            <a:endParaRPr lang="zh-CN" altLang="en-US"/>
          </a:p>
          <a:p>
            <a:r>
              <a:rPr lang="zh-CN" altLang="en-US"/>
              <a:t>合理性：不要引入实事错误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build="p"/>
      <p:bldP spid="7" grpId="0" build="p"/>
      <p:bldP spid="8" grpId="0" build="p"/>
      <p:bldP spid="5" grpId="1" build="p"/>
      <p:bldP spid="6" grpId="1" build="p"/>
      <p:bldP spid="7" grpId="1" build="p"/>
      <p:bldP spid="8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体验一下</a:t>
            </a:r>
            <a:r>
              <a:rPr altLang="zh-CN"/>
              <a:t> DeepSeek V4</a:t>
            </a:r>
            <a:endParaRPr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600" y="1690370"/>
            <a:ext cx="6896800" cy="432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提示词进阶技巧#1：样例提示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b="1">
                <a:solidFill>
                  <a:srgbClr val="00E5FA"/>
                </a:solidFill>
              </a:rPr>
              <a:t>利用大模型 的“模仿”特长</a:t>
            </a:r>
            <a:r>
              <a:rPr lang="zh-CN" altLang="en-US" b="1"/>
              <a:t>：</a:t>
            </a:r>
            <a:r>
              <a:rPr lang="zh-CN" altLang="en-US"/>
              <a:t>给它看到你期望的输入和输出示例，它就会在新任务中复制结构、语气与逻辑。</a:t>
            </a:r>
            <a:endParaRPr lang="zh-CN" altLang="en-US"/>
          </a:p>
          <a:p>
            <a:r>
              <a:rPr lang="zh-CN" altLang="en-US" b="1">
                <a:solidFill>
                  <a:srgbClr val="00E5FA"/>
                </a:solidFill>
              </a:rPr>
              <a:t>弥补显式指令的不足</a:t>
            </a:r>
            <a:r>
              <a:rPr lang="zh-CN" altLang="en-US" b="1"/>
              <a:t>：</a:t>
            </a:r>
            <a:r>
              <a:rPr lang="zh-CN" altLang="en-US"/>
              <a:t>示例让模型明确你要的格式、深度、细节程度，而不用推测。</a:t>
            </a:r>
            <a:endParaRPr lang="zh-CN" altLang="en-US"/>
          </a:p>
          <a:p>
            <a:r>
              <a:rPr lang="zh-CN" altLang="en-US"/>
              <a:t>对于复杂任务，可提高稳定性与一致性，尤其适合结构化文本生成、数据提取、分类等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在给大模型布置了任务之后，选择</a:t>
            </a:r>
            <a:r>
              <a:rPr lang="en-US" altLang="zh-CN"/>
              <a:t> </a:t>
            </a:r>
            <a:r>
              <a:rPr lang="zh-CN" altLang="en-US"/>
              <a:t>1-3</a:t>
            </a:r>
            <a:r>
              <a:rPr lang="en-US" altLang="zh-CN"/>
              <a:t> </a:t>
            </a:r>
            <a:r>
              <a:rPr lang="zh-CN" altLang="en-US"/>
              <a:t>个高质量的示例，展示</a:t>
            </a:r>
            <a:endParaRPr lang="zh-CN" altLang="en-US"/>
          </a:p>
          <a:p>
            <a:r>
              <a:rPr lang="zh-CN" altLang="en-US"/>
              <a:t>清晰的输入和输出关系，让大模型仿照示例进行操作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9" grpId="0" build="p"/>
      <p:bldP spid="10" grpId="1" build="p"/>
      <p:bldP spid="9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提示词进阶技巧#2：分步提示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AI </a:t>
            </a:r>
            <a:r>
              <a:rPr lang="zh-CN" altLang="en-US"/>
              <a:t>不擅长 “跳跃式思考”：复杂问题直接丢给 </a:t>
            </a:r>
            <a:r>
              <a:rPr lang="en-US" altLang="zh-CN"/>
              <a:t>AI，</a:t>
            </a:r>
            <a:r>
              <a:rPr lang="zh-CN" altLang="en-US"/>
              <a:t>容易出现逻辑断层、答案遗漏</a:t>
            </a:r>
            <a:endParaRPr lang="zh-CN" altLang="en-US"/>
          </a:p>
          <a:p>
            <a:r>
              <a:rPr lang="zh-CN" altLang="en-US"/>
              <a:t>让模型显式地先推理再回答，推理的内容会影响后续生成的文本，结果通常更准确、更少遗漏。</a:t>
            </a:r>
            <a:endParaRPr lang="zh-CN" altLang="en-US"/>
          </a:p>
          <a:p>
            <a:r>
              <a:rPr lang="zh-CN" altLang="en-US"/>
              <a:t>适合逻辑推理、数学、需求分析、决策相关的任务。</a:t>
            </a:r>
            <a:endParaRPr lang="zh-CN" altLang="en-US"/>
          </a:p>
          <a:p>
            <a:r>
              <a:rPr lang="zh-CN" altLang="en-US"/>
              <a:t>避免模型只给出肤浅或表面化的回答。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按人类思考逻辑拆分解决问题的步骤，给每个步骤定义“明确要求”，</a:t>
            </a:r>
            <a:endParaRPr lang="zh-CN" altLang="en-US"/>
          </a:p>
          <a:p>
            <a:r>
              <a:rPr lang="zh-CN" altLang="en-US"/>
              <a:t>然后用序号串联这些步骤，最后明确要求大模型先推理再回答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</a:t>
            </a:r>
            <a:r>
              <a:rPr altLang="zh-CN"/>
              <a:t>3</a:t>
            </a:r>
            <a:r>
              <a:rPr lang="zh-CN" altLang="en-US"/>
              <a:t>：结构化输出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大模型输出是有“</a:t>
            </a:r>
            <a:r>
              <a:rPr lang="zh-CN" altLang="en-US" b="1">
                <a:solidFill>
                  <a:srgbClr val="00E5FA"/>
                </a:solidFill>
              </a:rPr>
              <a:t>温度（</a:t>
            </a:r>
            <a:r>
              <a:rPr lang="en-US" altLang="zh-CN" b="1">
                <a:solidFill>
                  <a:srgbClr val="00E5FA"/>
                </a:solidFill>
              </a:rPr>
              <a:t>Temperature）</a:t>
            </a:r>
            <a:r>
              <a:rPr lang="en-US" altLang="zh-CN"/>
              <a:t>”</a:t>
            </a:r>
            <a:r>
              <a:rPr lang="zh-CN" altLang="en-US"/>
              <a:t>的：输出的内容就像在做布朗运动一样，温度越高，越会变得杂乱无章</a:t>
            </a:r>
            <a:endParaRPr lang="zh-CN" altLang="en-US"/>
          </a:p>
          <a:p>
            <a:r>
              <a:rPr lang="zh-CN" altLang="en-US"/>
              <a:t>避免模型生成多余语言或解释，让输出更可控、更一致</a:t>
            </a:r>
            <a:endParaRPr lang="zh-CN" altLang="en-US"/>
          </a:p>
          <a:p>
            <a:r>
              <a:rPr lang="zh-CN" altLang="en-US"/>
              <a:t>大模型默认输出大段文字，但结构化要求能让输出逻辑可视化、信息易提取</a:t>
            </a:r>
            <a:endParaRPr lang="zh-CN" altLang="en-US"/>
          </a:p>
          <a:p>
            <a:r>
              <a:rPr lang="zh-CN" altLang="en-US"/>
              <a:t>常用的结构：列表、</a:t>
            </a:r>
            <a:r>
              <a:rPr lang="en-US" altLang="zh-CN"/>
              <a:t>JSON、Markdown</a:t>
            </a:r>
            <a:endParaRPr lang="en-US" altLang="zh-CN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p>
            <a:r>
              <a:rPr lang="zh-CN" altLang="en-US"/>
              <a:t>向大模型明确它的角色定位（如：资深中学语文教师），设定</a:t>
            </a:r>
            <a:endParaRPr lang="zh-CN" altLang="en-US"/>
          </a:p>
          <a:p>
            <a:r>
              <a:rPr lang="zh-CN" altLang="en-US"/>
              <a:t>角色的技能属性（如：善于分析故事中的人物性格特点），</a:t>
            </a:r>
            <a:endParaRPr lang="zh-CN" altLang="en-US"/>
          </a:p>
          <a:p>
            <a:r>
              <a:rPr lang="zh-CN" altLang="en-US"/>
              <a:t>限定场景和受众，给出输出约束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</a:t>
            </a:r>
            <a:r>
              <a:rPr altLang="zh-CN"/>
              <a:t>4</a:t>
            </a:r>
            <a:r>
              <a:rPr lang="zh-CN" altLang="en-US"/>
              <a:t>：角色扮演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用简单高效的方式限定模型的语言风格、专业视角与内容范围。</a:t>
            </a:r>
            <a:endParaRPr lang="zh-CN" altLang="en-US"/>
          </a:p>
          <a:p>
            <a:r>
              <a:rPr lang="zh-CN" altLang="en-US"/>
              <a:t>模型在“扮演某个专家”时会更聚焦、更专业，减少偏题内容。</a:t>
            </a:r>
            <a:endParaRPr lang="zh-CN" altLang="en-US"/>
          </a:p>
          <a:p>
            <a:r>
              <a:rPr lang="zh-CN" altLang="en-US"/>
              <a:t>易于控制写作语气（正式、教学、咨询、法律、技术等）。</a:t>
            </a:r>
            <a:endParaRPr lang="zh-CN" altLang="en-US"/>
          </a:p>
          <a:p>
            <a:r>
              <a:rPr lang="zh-CN" altLang="en-US"/>
              <a:t>区分系统提示词（</a:t>
            </a:r>
            <a:r>
              <a:rPr lang="en-US" altLang="zh-CN"/>
              <a:t>System Prompt）</a:t>
            </a:r>
            <a:r>
              <a:rPr lang="zh-CN" altLang="en-US"/>
              <a:t>与用户提示词（</a:t>
            </a:r>
            <a:r>
              <a:rPr lang="en-US" altLang="zh-CN"/>
              <a:t>User Prompt）：</a:t>
            </a:r>
            <a:r>
              <a:rPr lang="zh-CN" altLang="en-US"/>
              <a:t>系统提示词用于严格限制大模型的输出和思考风格，用户提示词直接发布任务内容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明确任务的输出格式（表格、分点等），写出一个具体的模板</a:t>
            </a:r>
            <a:endParaRPr lang="zh-CN" altLang="en-US"/>
          </a:p>
          <a:p>
            <a:r>
              <a:rPr lang="zh-CN" altLang="en-US"/>
              <a:t>范例，详细解释给定结构的每个部分包含的信息（可以给每个</a:t>
            </a:r>
            <a:endParaRPr lang="zh-CN" altLang="en-US"/>
          </a:p>
          <a:p>
            <a:r>
              <a:rPr lang="zh-CN" altLang="en-US"/>
              <a:t>部分命名），并强制要求大模型按照给定格式输出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提示词进阶技巧#5：选择对话上下文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>
            <a:normAutofit fontScale="90000"/>
          </a:bodyPr>
          <a:p>
            <a:r>
              <a:rPr lang="zh-CN" altLang="en-US"/>
              <a:t>根本原因：在同一个上下文中，任意一条新的对话都可以看做是承接前面所有对话的“续写”</a:t>
            </a:r>
            <a:endParaRPr lang="zh-CN" altLang="en-US"/>
          </a:p>
          <a:p>
            <a:pPr lvl="1"/>
            <a:r>
              <a:rPr lang="zh-CN" altLang="en-US"/>
              <a:t>模型会极力“保持连贯与一致”</a:t>
            </a:r>
            <a:endParaRPr lang="zh-CN" altLang="en-US"/>
          </a:p>
          <a:p>
            <a:pPr lvl="1"/>
            <a:r>
              <a:rPr lang="zh-CN" altLang="en-US"/>
              <a:t>前文的指令会一直对后续对话起作用</a:t>
            </a:r>
            <a:endParaRPr lang="zh-CN" altLang="en-US"/>
          </a:p>
          <a:p>
            <a:r>
              <a:rPr lang="zh-CN" altLang="en-US"/>
              <a:t>上下文对新生成的内容的影响力“近大远小” </a:t>
            </a:r>
            <a:endParaRPr lang="zh-CN" altLang="en-US"/>
          </a:p>
          <a:p>
            <a:r>
              <a:rPr lang="zh-CN" altLang="en-US"/>
              <a:t>上下文里的错误会级联放大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p>
            <a:r>
              <a:rPr lang="zh-CN" altLang="en-US"/>
              <a:t>如果当前的问题需要依赖前面说过的东西，则保持在当前</a:t>
            </a:r>
            <a:endParaRPr lang="zh-CN" altLang="en-US"/>
          </a:p>
          <a:p>
            <a:r>
              <a:rPr lang="zh-CN" altLang="en-US"/>
              <a:t>上下文（对话窗口）中对话；否则应当使用新的上下文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提示词进阶技巧#5：选择对话上下文</a:t>
            </a:r>
            <a:br>
              <a:rPr lang="zh-CN" altLang="en-US"/>
            </a:b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同一个上下文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p>
            <a:pPr marL="342900" indent="-342900">
              <a:buAutoNum type="arabicPeriod"/>
            </a:pPr>
            <a:r>
              <a:rPr lang="zh-CN" altLang="en-US" sz="2000"/>
              <a:t>大模型能 “记住” 所有修改痕迹，避免每次都重新说明，适合多轮对话解决复杂任务。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适合对同一内容进行多次调整（修改、补充、细化）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多轮追问同一主题，保持回答的连贯性。</a:t>
            </a:r>
            <a:endParaRPr lang="zh-CN" altLang="en-US" sz="20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r>
              <a:rPr lang="zh-CN" altLang="en-US"/>
              <a:t>新的上下文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/>
        <p:txBody>
          <a:bodyPr/>
          <a:p>
            <a:pPr marL="342900" indent="-342900">
              <a:buAutoNum type="arabicPeriod"/>
            </a:pPr>
            <a:r>
              <a:rPr lang="zh-CN" altLang="en-US" sz="2000"/>
              <a:t>切换完全不同的主题或任务时避免之前的信息干扰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出现了和之前不一致的要求，切换上下文能避免逻辑冲突。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>
                <a:sym typeface="+mn-ea"/>
              </a:rPr>
              <a:t>之前的上下文过于冗长，早期的细节可能被遗忘，导致后续输出出错。</a:t>
            </a:r>
            <a:endParaRPr lang="zh-CN" altLang="en-US" sz="200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  <p:bldP spid="6" grpId="0" build="p"/>
      <p:bldP spid="3" grpId="1" build="p"/>
      <p:bldP spid="4" grpId="1" build="p"/>
      <p:bldP spid="5" grpId="1" build="p"/>
      <p:bldP spid="6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不断更新和迭代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小步迭代：每次只修改 1 个问题（比如先改格式，再改风格），避免同时改多个地方，不知道哪个修改起作用；</a:t>
            </a:r>
            <a:endParaRPr lang="zh-CN" altLang="en-US"/>
          </a:p>
          <a:p>
            <a:r>
              <a:rPr lang="zh-CN" altLang="en-US"/>
              <a:t>保留有效信息：调试时不删除之前的合理要求，只补充 / 修正问题部分；</a:t>
            </a:r>
            <a:endParaRPr lang="zh-CN" altLang="en-US"/>
          </a:p>
          <a:p>
            <a:r>
              <a:rPr lang="zh-CN" altLang="en-US"/>
              <a:t>加入失败处理机制：让模型在不确定的时候明确表示不确定，在无法明确处理问题的时候给出默认反馈</a:t>
            </a:r>
            <a:endParaRPr lang="zh-CN" altLang="en-US"/>
          </a:p>
        </p:txBody>
      </p:sp>
      <p:sp>
        <p:nvSpPr>
          <p:cNvPr id="11" name="内容占位符 10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先找到 </a:t>
            </a:r>
            <a:r>
              <a:rPr lang="en-US" altLang="zh-CN"/>
              <a:t>AI </a:t>
            </a:r>
            <a:r>
              <a:rPr lang="zh-CN" altLang="en-US"/>
              <a:t>输出的问题所在（如答非所问、格式错误、信息不全），</a:t>
            </a:r>
            <a:endParaRPr lang="zh-CN" altLang="en-US"/>
          </a:p>
          <a:p>
            <a:r>
              <a:rPr lang="zh-CN" altLang="en-US"/>
              <a:t>再针对性调整提示词（补充信息、明确要求、修正逻辑），通过 </a:t>
            </a:r>
            <a:endParaRPr lang="zh-CN" altLang="en-US"/>
          </a:p>
          <a:p>
            <a:r>
              <a:rPr lang="zh-CN" altLang="en-US"/>
              <a:t>“提问→反馈→修改→再提问” 的循环，逐步逼近理想结果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1" grpId="1" build="p"/>
      <p:bldP spid="10" grpId="0" build="p"/>
      <p:bldP spid="10" grpI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【思考】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如何快速地撰写复杂的提示词？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“偷懒”妙招：提示词生成提示词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cxnSp>
        <p:nvCxnSpPr>
          <p:cNvPr id="8" name="Connector 6"/>
          <p:cNvCxnSpPr/>
          <p:nvPr/>
        </p:nvCxnSpPr>
        <p:spPr>
          <a:xfrm rot="-4297">
            <a:off x="1016004" y="320548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gradFill>
              <a:gsLst>
                <a:gs pos="25000">
                  <a:srgbClr val="5A5A5A"/>
                </a:gs>
                <a:gs pos="100000">
                  <a:srgbClr val="5A5A5A">
                    <a:alpha val="0"/>
                  </a:srgbClr>
                </a:gs>
                <a:gs pos="0">
                  <a:srgbClr val="5A5A5A">
                    <a:alpha val="0"/>
                  </a:srgbClr>
                </a:gs>
                <a:gs pos="75000">
                  <a:srgbClr val="5A5A5A"/>
                </a:gs>
              </a:gsLst>
              <a:lin ang="0" scaled="0"/>
            </a:gradFill>
            <a:prstDash val="sysDash"/>
            <a:round/>
            <a:headEnd type="none" w="lg" len="lg"/>
            <a:tailEnd type="none" w="lg" len="lg"/>
          </a:ln>
        </p:spPr>
      </p:cxnSp>
      <p:sp>
        <p:nvSpPr>
          <p:cNvPr id="15" name="AutoShape 13"/>
          <p:cNvSpPr/>
          <p:nvPr/>
        </p:nvSpPr>
        <p:spPr>
          <a:xfrm>
            <a:off x="130175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以润色提示词为本轮大模型的任务，以实际任务说明为要求，人工撰写提示词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31" name="AutoShape 29"/>
          <p:cNvSpPr/>
          <p:nvPr/>
        </p:nvSpPr>
        <p:spPr>
          <a:xfrm>
            <a:off x="4769485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大模型根据提示词要求生成真正用于执行实际任务的完整的、精细化提示词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pic>
        <p:nvPicPr>
          <p:cNvPr id="68" name="图片 67" descr="目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941955"/>
            <a:ext cx="540000" cy="540000"/>
          </a:xfrm>
          <a:prstGeom prst="rect">
            <a:avLst/>
          </a:prstGeom>
        </p:spPr>
      </p:pic>
      <p:pic>
        <p:nvPicPr>
          <p:cNvPr id="74" name="图片 73" descr="/home/ruoyu/Intro2AITechs/1-基础通识部分/8课时/assets/对话框（紫）.png对话框（紫）"/>
          <p:cNvPicPr>
            <a:picLocks noChangeAspect="1"/>
          </p:cNvPicPr>
          <p:nvPr/>
        </p:nvPicPr>
        <p:blipFill>
          <a:blip r:embed="rId2"/>
          <a:srcRect l="23" r="23"/>
          <a:stretch>
            <a:fillRect/>
          </a:stretch>
        </p:blipFill>
        <p:spPr>
          <a:xfrm>
            <a:off x="7523730" y="2941955"/>
            <a:ext cx="539750" cy="540000"/>
          </a:xfrm>
          <a:prstGeom prst="rect">
            <a:avLst/>
          </a:prstGeom>
        </p:spPr>
      </p:pic>
      <p:pic>
        <p:nvPicPr>
          <p:cNvPr id="77" name="图片 76" descr="记录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990" y="2941955"/>
            <a:ext cx="539750" cy="540000"/>
          </a:xfrm>
          <a:prstGeom prst="rect">
            <a:avLst/>
          </a:prstGeom>
        </p:spPr>
      </p:pic>
      <p:pic>
        <p:nvPicPr>
          <p:cNvPr id="69" name="图片 68" descr="产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470" y="2941955"/>
            <a:ext cx="539750" cy="540000"/>
          </a:xfrm>
          <a:prstGeom prst="rect">
            <a:avLst/>
          </a:prstGeom>
        </p:spPr>
      </p:pic>
      <p:pic>
        <p:nvPicPr>
          <p:cNvPr id="90" name="图片 89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2620" y="2945130"/>
            <a:ext cx="539750" cy="540000"/>
          </a:xfrm>
          <a:prstGeom prst="rect">
            <a:avLst/>
          </a:prstGeom>
        </p:spPr>
      </p:pic>
      <p:pic>
        <p:nvPicPr>
          <p:cNvPr id="91" name="图片 90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360" y="2945130"/>
            <a:ext cx="539750" cy="540000"/>
          </a:xfrm>
          <a:prstGeom prst="rect">
            <a:avLst/>
          </a:prstGeom>
        </p:spPr>
      </p:pic>
      <p:pic>
        <p:nvPicPr>
          <p:cNvPr id="92" name="图片 91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4100" y="2945130"/>
            <a:ext cx="539750" cy="540000"/>
          </a:xfrm>
          <a:prstGeom prst="rect">
            <a:avLst/>
          </a:prstGeom>
        </p:spPr>
      </p:pic>
      <p:sp>
        <p:nvSpPr>
          <p:cNvPr id="93" name="AutoShape 29"/>
          <p:cNvSpPr/>
          <p:nvPr/>
        </p:nvSpPr>
        <p:spPr>
          <a:xfrm>
            <a:off x="823722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大模型根据优化后的提示词执行任务，得到最终结果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 useBgFill="1">
        <p:nvSpPr>
          <p:cNvPr id="97" name="矩形 96"/>
          <p:cNvSpPr/>
          <p:nvPr/>
        </p:nvSpPr>
        <p:spPr>
          <a:xfrm>
            <a:off x="113601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98" name="矩形 97"/>
          <p:cNvSpPr/>
          <p:nvPr/>
        </p:nvSpPr>
        <p:spPr>
          <a:xfrm>
            <a:off x="2839720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99" name="矩形 98"/>
          <p:cNvSpPr/>
          <p:nvPr/>
        </p:nvSpPr>
        <p:spPr>
          <a:xfrm>
            <a:off x="45434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0" name="矩形 99"/>
          <p:cNvSpPr/>
          <p:nvPr/>
        </p:nvSpPr>
        <p:spPr>
          <a:xfrm>
            <a:off x="621601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1" name="矩形 100"/>
          <p:cNvSpPr/>
          <p:nvPr/>
        </p:nvSpPr>
        <p:spPr>
          <a:xfrm>
            <a:off x="788860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2" name="矩形 101"/>
          <p:cNvSpPr/>
          <p:nvPr/>
        </p:nvSpPr>
        <p:spPr>
          <a:xfrm>
            <a:off x="962215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3" name="矩形 102"/>
          <p:cNvSpPr/>
          <p:nvPr/>
        </p:nvSpPr>
        <p:spPr>
          <a:xfrm>
            <a:off x="113125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1301750" y="1687195"/>
            <a:ext cx="2667000" cy="1206500"/>
            <a:chOff x="2050" y="2657"/>
            <a:chExt cx="4200" cy="1900"/>
          </a:xfrm>
        </p:grpSpPr>
        <p:grpSp>
          <p:nvGrpSpPr>
            <p:cNvPr id="40" name="组合 39"/>
            <p:cNvGrpSpPr/>
            <p:nvPr/>
          </p:nvGrpSpPr>
          <p:grpSpPr>
            <a:xfrm>
              <a:off x="2050" y="2657"/>
              <a:ext cx="4201" cy="1900"/>
              <a:chOff x="1200" y="2600"/>
              <a:chExt cx="4201" cy="1900"/>
            </a:xfrm>
          </p:grpSpPr>
          <p:sp>
            <p:nvSpPr>
              <p:cNvPr id="11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2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3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01</a:t>
                </a:r>
                <a:endParaRPr lang="en-US" sz="1100"/>
              </a:p>
            </p:txBody>
          </p:sp>
          <p:sp>
            <p:nvSpPr>
              <p:cNvPr id="14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整理要点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6" name="图片 75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0" y="3573"/>
              <a:ext cx="850" cy="850"/>
            </a:xfrm>
            <a:prstGeom prst="rect">
              <a:avLst/>
            </a:prstGeom>
          </p:spPr>
        </p:pic>
        <p:sp>
          <p:nvSpPr>
            <p:cNvPr id="104" name="矩形 103"/>
            <p:cNvSpPr/>
            <p:nvPr/>
          </p:nvSpPr>
          <p:spPr>
            <a:xfrm>
              <a:off x="3016" y="4308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4768850" y="1688465"/>
            <a:ext cx="2667000" cy="1206500"/>
            <a:chOff x="7510" y="2659"/>
            <a:chExt cx="4200" cy="1900"/>
          </a:xfrm>
        </p:grpSpPr>
        <p:grpSp>
          <p:nvGrpSpPr>
            <p:cNvPr id="78" name="组合 77"/>
            <p:cNvGrpSpPr/>
            <p:nvPr/>
          </p:nvGrpSpPr>
          <p:grpSpPr>
            <a:xfrm>
              <a:off x="7510" y="2659"/>
              <a:ext cx="4201" cy="1900"/>
              <a:chOff x="1200" y="2600"/>
              <a:chExt cx="4201" cy="1900"/>
            </a:xfrm>
          </p:grpSpPr>
          <p:sp>
            <p:nvSpPr>
              <p:cNvPr id="79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0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1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02</a:t>
                </a:r>
                <a:endParaRPr lang="en-US" sz="1100"/>
              </a:p>
            </p:txBody>
          </p:sp>
          <p:sp>
            <p:nvSpPr>
              <p:cNvPr id="82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自动扩充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5" name="图片 74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30" y="3573"/>
              <a:ext cx="850" cy="850"/>
            </a:xfrm>
            <a:prstGeom prst="rect">
              <a:avLst/>
            </a:prstGeom>
          </p:spPr>
        </p:pic>
        <p:sp>
          <p:nvSpPr>
            <p:cNvPr id="105" name="矩形 104"/>
            <p:cNvSpPr/>
            <p:nvPr/>
          </p:nvSpPr>
          <p:spPr>
            <a:xfrm>
              <a:off x="8496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8235950" y="1686560"/>
            <a:ext cx="2667000" cy="1206500"/>
            <a:chOff x="12970" y="2656"/>
            <a:chExt cx="4200" cy="1900"/>
          </a:xfrm>
        </p:grpSpPr>
        <p:grpSp>
          <p:nvGrpSpPr>
            <p:cNvPr id="83" name="组合 82"/>
            <p:cNvGrpSpPr/>
            <p:nvPr/>
          </p:nvGrpSpPr>
          <p:grpSpPr>
            <a:xfrm>
              <a:off x="12970" y="2656"/>
              <a:ext cx="4201" cy="1900"/>
              <a:chOff x="1200" y="2600"/>
              <a:chExt cx="4201" cy="1900"/>
            </a:xfrm>
          </p:grpSpPr>
          <p:sp>
            <p:nvSpPr>
              <p:cNvPr id="84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5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6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03</a:t>
                </a:r>
                <a:endParaRPr lang="en-US" sz="1100"/>
              </a:p>
            </p:txBody>
          </p:sp>
          <p:sp>
            <p:nvSpPr>
              <p:cNvPr id="87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任务执行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89" name="图片 88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290" y="3573"/>
              <a:ext cx="850" cy="850"/>
            </a:xfrm>
            <a:prstGeom prst="rect">
              <a:avLst/>
            </a:prstGeom>
          </p:spPr>
        </p:pic>
        <p:sp>
          <p:nvSpPr>
            <p:cNvPr id="106" name="矩形 105"/>
            <p:cNvSpPr/>
            <p:nvPr/>
          </p:nvSpPr>
          <p:spPr>
            <a:xfrm>
              <a:off x="13923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6464300" y="4775200"/>
            <a:ext cx="2667000" cy="1206500"/>
            <a:chOff x="10180" y="7520"/>
            <a:chExt cx="4200" cy="1900"/>
          </a:xfrm>
        </p:grpSpPr>
        <p:grpSp>
          <p:nvGrpSpPr>
            <p:cNvPr id="107" name="组合 106"/>
            <p:cNvGrpSpPr/>
            <p:nvPr/>
          </p:nvGrpSpPr>
          <p:grpSpPr>
            <a:xfrm>
              <a:off x="10180" y="7520"/>
              <a:ext cx="4201" cy="1900"/>
              <a:chOff x="1200" y="2600"/>
              <a:chExt cx="4201" cy="1900"/>
            </a:xfrm>
          </p:grpSpPr>
          <p:sp>
            <p:nvSpPr>
              <p:cNvPr id="108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09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0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2.5</a:t>
                </a:r>
                <a:endParaRPr lang="en-US" sz="1100"/>
              </a:p>
            </p:txBody>
          </p:sp>
          <p:sp>
            <p:nvSpPr>
              <p:cNvPr id="111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人工校对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112" name="图片 111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00" y="8445"/>
              <a:ext cx="850" cy="850"/>
            </a:xfrm>
            <a:prstGeom prst="rect">
              <a:avLst/>
            </a:prstGeom>
          </p:spPr>
        </p:pic>
        <p:sp>
          <p:nvSpPr>
            <p:cNvPr id="113" name="矩形 112"/>
            <p:cNvSpPr/>
            <p:nvPr/>
          </p:nvSpPr>
          <p:spPr>
            <a:xfrm>
              <a:off x="11146" y="9180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14" name="图片 113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23730" y="3424555"/>
            <a:ext cx="539750" cy="540000"/>
          </a:xfrm>
          <a:prstGeom prst="rect">
            <a:avLst/>
          </a:prstGeom>
        </p:spPr>
      </p:pic>
      <p:pic>
        <p:nvPicPr>
          <p:cNvPr id="115" name="图片 114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531350" y="4180840"/>
            <a:ext cx="539750" cy="540000"/>
          </a:xfrm>
          <a:prstGeom prst="rect">
            <a:avLst/>
          </a:prstGeom>
        </p:spPr>
      </p:pic>
      <p:sp useBgFill="1">
        <p:nvSpPr>
          <p:cNvPr id="116" name="矩形 115"/>
          <p:cNvSpPr/>
          <p:nvPr/>
        </p:nvSpPr>
        <p:spPr>
          <a:xfrm rot="5400000">
            <a:off x="7962265" y="339090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17" name="矩形 116"/>
          <p:cNvSpPr/>
          <p:nvPr/>
        </p:nvSpPr>
        <p:spPr>
          <a:xfrm rot="5400000">
            <a:off x="7470140" y="46253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AutoShape 29"/>
          <p:cNvSpPr/>
          <p:nvPr/>
        </p:nvSpPr>
        <p:spPr>
          <a:xfrm>
            <a:off x="4061460" y="5018405"/>
            <a:ext cx="2311400" cy="721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人工审核自动扩充的提示词，进行必要的调整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5" grpId="1"/>
      <p:bldP spid="31" grpId="0"/>
      <p:bldP spid="31" grpId="1"/>
      <p:bldP spid="93" grpId="0"/>
      <p:bldP spid="93" grpId="1"/>
      <p:bldP spid="119" grpId="0"/>
      <p:bldP spid="119" grpId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总结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2800" b="1">
                <a:solidFill>
                  <a:srgbClr val="00E5FA"/>
                </a:solidFill>
              </a:rPr>
              <a:t>样例提示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分步说明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结构化输入/输出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角色扮演</a:t>
            </a:r>
            <a:r>
              <a:rPr lang="zh-CN" altLang="en-US" sz="2800"/>
              <a:t>都可以提升大模型输出的效果，</a:t>
            </a:r>
            <a:r>
              <a:rPr lang="zh-CN" altLang="en-US" sz="2800" b="1">
                <a:solidFill>
                  <a:srgbClr val="00E5FA"/>
                </a:solidFill>
              </a:rPr>
              <a:t>上下文</a:t>
            </a:r>
            <a:r>
              <a:rPr lang="zh-CN" altLang="en-US" sz="2800"/>
              <a:t>对结果的影响也不能忽略</a:t>
            </a:r>
            <a:endParaRPr lang="zh-CN" altLang="en-US" sz="2800"/>
          </a:p>
          <a:p>
            <a:r>
              <a:rPr lang="zh-CN" altLang="en-US" sz="2800"/>
              <a:t>提示词需要经过不断</a:t>
            </a:r>
            <a:r>
              <a:rPr lang="zh-CN" altLang="en-US" sz="2800" b="1">
                <a:solidFill>
                  <a:srgbClr val="00E5FA"/>
                </a:solidFill>
              </a:rPr>
              <a:t>迭代和修改</a:t>
            </a:r>
            <a:r>
              <a:rPr lang="zh-CN" altLang="en-US" sz="2800"/>
              <a:t>才能逐渐完善</a:t>
            </a:r>
            <a:endParaRPr lang="zh-CN" altLang="en-US" sz="2800"/>
          </a:p>
          <a:p>
            <a:r>
              <a:rPr lang="zh-CN" altLang="en-US" sz="2800"/>
              <a:t>可以通过</a:t>
            </a:r>
            <a:r>
              <a:rPr lang="zh-CN" altLang="en-US" sz="2800" b="1">
                <a:solidFill>
                  <a:srgbClr val="00E5FA"/>
                </a:solidFill>
              </a:rPr>
              <a:t>大模型生成提示词</a:t>
            </a:r>
            <a:r>
              <a:rPr lang="zh-CN" altLang="en-US" sz="2800"/>
              <a:t>来提高提示词的撰写效率</a:t>
            </a:r>
            <a:endParaRPr lang="zh-CN" altLang="en-US" sz="2800"/>
          </a:p>
          <a:p>
            <a:r>
              <a:rPr lang="zh-CN" altLang="en-US" sz="2800"/>
              <a:t>下一节课：</a:t>
            </a:r>
            <a:endParaRPr lang="zh-CN" altLang="en-US" sz="2800"/>
          </a:p>
          <a:p>
            <a:pPr lvl="1"/>
            <a:r>
              <a:rPr lang="zh-CN" altLang="en-US" sz="2400"/>
              <a:t>如何让大模型完成复杂的、非文本化的任务？</a:t>
            </a:r>
            <a:endParaRPr lang="zh-CN" altLang="en-US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3048</Words>
  <Application>WPS 演示</Application>
  <PresentationFormat>宽屏</PresentationFormat>
  <Paragraphs>385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40" baseType="lpstr">
      <vt:lpstr>Arial</vt:lpstr>
      <vt:lpstr>SimSun</vt:lpstr>
      <vt:lpstr>Wingdings</vt:lpstr>
      <vt:lpstr>DejaVu Sans</vt:lpstr>
      <vt:lpstr>Arial</vt:lpstr>
      <vt:lpstr>Noto Sans SC</vt:lpstr>
      <vt:lpstr>C059</vt:lpstr>
      <vt:lpstr>SimSun</vt:lpstr>
      <vt:lpstr>Poppins</vt:lpstr>
      <vt:lpstr>Calibri</vt:lpstr>
      <vt:lpstr>Noto Serif CJK SC</vt:lpstr>
      <vt:lpstr>Calibri Light</vt:lpstr>
      <vt:lpstr>Microsoft YaHei</vt:lpstr>
      <vt:lpstr>Droid Sans Fallback</vt:lpstr>
      <vt:lpstr>Arial Unicode MS</vt:lpstr>
      <vt:lpstr>SimSun</vt:lpstr>
      <vt:lpstr>OpenSymbol</vt:lpstr>
      <vt:lpstr>WPS</vt:lpstr>
      <vt:lpstr>第一课 你每天在用的 AI 到底是什么</vt:lpstr>
      <vt:lpstr>我们每天在用哪些 AI？</vt:lpstr>
      <vt:lpstr>大模型技术全景图</vt:lpstr>
      <vt:lpstr>课程路线图</vt:lpstr>
      <vt:lpstr>一个产品中包含的技术</vt:lpstr>
      <vt:lpstr>PowerPoint 演示文稿</vt:lpstr>
      <vt:lpstr>大模型产品谱系图</vt:lpstr>
      <vt:lpstr>大模型产品谱系图</vt:lpstr>
      <vt:lpstr>大模型产品谱系图</vt:lpstr>
      <vt:lpstr>PowerPoint 演示文稿</vt:lpstr>
      <vt:lpstr>提示词的基本技巧（第2课）</vt:lpstr>
      <vt:lpstr>体验一下 DeepSeek V4</vt:lpstr>
      <vt:lpstr>提示词进阶技巧#1：样例提示</vt:lpstr>
      <vt:lpstr>提示词进阶技巧#2：分步提示</vt:lpstr>
      <vt:lpstr>提示词进阶技巧#3：结构化输出</vt:lpstr>
      <vt:lpstr>提示词进阶技巧#4：角色扮演</vt:lpstr>
      <vt:lpstr>提示词进阶技巧#5：选择对话上下文</vt:lpstr>
      <vt:lpstr>提示词进阶技巧#5：选择对话上下文 </vt:lpstr>
      <vt:lpstr>不断更新和迭代</vt:lpstr>
      <vt:lpstr>【思考】</vt:lpstr>
      <vt:lpstr>“偷懒”妙招：提示词生成提示词</vt:lpstr>
      <vt:lpstr>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ruoyu</cp:lastModifiedBy>
  <cp:revision>177</cp:revision>
  <dcterms:created xsi:type="dcterms:W3CDTF">2026-08-06T01:22:08Z</dcterms:created>
  <dcterms:modified xsi:type="dcterms:W3CDTF">2026-08-06T01:22:08Z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2052-12.1.2.26885</vt:lpwstr>
  </property>
  <property fmtid="{D5CDD505-2E9C-101B-9397-08002B2CF9AE}" pid="3" name="ICV">
    <vt:lpwstr>AF1A490D30A00710C6B26D6AE3DED764_43</vt:lpwstr>
  </property>
</Properties>
</file>