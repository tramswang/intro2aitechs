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handoutMasterIdLst>
    <p:handoutMasterId r:id="rId19"/>
  </p:handoutMasterIdLst>
  <p:sldIdLst>
    <p:sldId id="338" r:id="rId2"/>
    <p:sldId id="339" r:id="rId3"/>
    <p:sldId id="358" r:id="rId4"/>
    <p:sldId id="356" r:id="rId5"/>
    <p:sldId id="357" r:id="rId6"/>
    <p:sldId id="359" r:id="rId7"/>
    <p:sldId id="361" r:id="rId8"/>
    <p:sldId id="362" r:id="rId9"/>
    <p:sldId id="363" r:id="rId10"/>
    <p:sldId id="364" r:id="rId11"/>
    <p:sldId id="367" r:id="rId12"/>
    <p:sldId id="365" r:id="rId13"/>
    <p:sldId id="366" r:id="rId14"/>
    <p:sldId id="368" r:id="rId15"/>
    <p:sldId id="369" r:id="rId16"/>
    <p:sldId id="355" r:id="rId17"/>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E5FF"/>
    <a:srgbClr val="69F0AE"/>
    <a:srgbClr val="B388FF"/>
    <a:srgbClr val="FFE3B1"/>
    <a:srgbClr val="061323"/>
    <a:srgbClr val="00E5FA"/>
    <a:srgbClr val="1E1E1E"/>
    <a:srgbClr val="5A5A5A"/>
    <a:srgbClr val="121212"/>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3" autoAdjust="0"/>
    <p:restoredTop sz="75338" autoAdjust="0"/>
  </p:normalViewPr>
  <p:slideViewPr>
    <p:cSldViewPr snapToGrid="0" showGuides="1">
      <p:cViewPr varScale="1">
        <p:scale>
          <a:sx n="119" d="100"/>
          <a:sy n="119" d="100"/>
        </p:scale>
        <p:origin x="3936" y="114"/>
      </p:cViewPr>
      <p:guideLst>
        <p:guide orient="horz" pos="2256"/>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2026/10/1</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2026/10/1</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【页面内容】</a:t>
            </a:r>
          </a:p>
          <a:p>
            <a:endParaRPr lang="zh-CN" altLang="en-US"/>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a:t>大家看看这几个任务应该如何编写提示词呢？</a:t>
            </a:r>
          </a:p>
          <a:p>
            <a:pPr marL="171450" indent="-171450">
              <a:buFont typeface="Arial" panose="02080604020202020204" pitchFamily="34" charset="0"/>
              <a:buChar char="•"/>
            </a:pPr>
            <a:endParaRPr lang="zh-CN" altLang="en-US"/>
          </a:p>
          <a:p>
            <a:pPr marL="171450" indent="-171450">
              <a:buFont typeface="Arial" panose="02080604020202020204" pitchFamily="34" charset="0"/>
              <a:buChar char="•"/>
            </a:pPr>
            <a:r>
              <a:rPr lang="zh-CN" altLang="en-US"/>
              <a:t>复杂度逐渐升高</a:t>
            </a:r>
          </a:p>
          <a:p>
            <a:pPr marL="171450" indent="-171450">
              <a:buFont typeface="Arial" panose="02080604020202020204" pitchFamily="34" charset="0"/>
              <a:buChar char="•"/>
            </a:pPr>
            <a:r>
              <a:rPr lang="zh-CN" altLang="en-US"/>
              <a:t>第二个还勉强可以直接回答，第三个不行</a:t>
            </a:r>
          </a:p>
          <a:p>
            <a:pPr marL="628650" lvl="1" indent="-171450">
              <a:buFont typeface="Arial" panose="02080604020202020204" pitchFamily="34" charset="0"/>
              <a:buChar char="•"/>
            </a:pPr>
            <a:r>
              <a:rPr lang="zh-CN" altLang="en-US">
                <a:sym typeface="+mn-ea"/>
              </a:rPr>
              <a:t>或者你需要手动把所有错题、讲义、课纲全都卸载提示词里</a:t>
            </a:r>
          </a:p>
          <a:p>
            <a:pPr marL="628650" lvl="1" indent="-171450">
              <a:buFont typeface="Arial" panose="02080604020202020204" pitchFamily="34" charset="0"/>
              <a:buChar char="•"/>
            </a:pPr>
            <a:r>
              <a:rPr lang="zh-CN" altLang="en-US"/>
              <a:t>还涉及数据采集、规划、反馈等等环节</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我们今天就从智能体的角度看一下复杂任务是如何处理的</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我们之前已经学习了提示词工程，所以可以先试试通过提示词的方式来引导大模型</a:t>
            </a:r>
          </a:p>
          <a:p>
            <a:endParaRPr lang="en-US" altLang="zh-CN"/>
          </a:p>
          <a:p>
            <a:r>
              <a:rPr lang="zh-CN" altLang="en-US"/>
              <a:t>我们可以直接告诉大模型一个复杂的任务应该如何按照一个固定的流程一步一步拆解执行，这个方法就是通过思维链引导大模型</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当然，对于更复杂的任务就需要通过更复杂的方式去引导。</a:t>
            </a:r>
          </a:p>
          <a:p>
            <a:endParaRPr lang="zh-CN" altLang="en-US"/>
          </a:p>
          <a:p>
            <a:pPr marL="171450" indent="-171450">
              <a:buFont typeface="Arial" panose="02080604020202020204" pitchFamily="34" charset="0"/>
              <a:buChar char="•"/>
            </a:pPr>
            <a:r>
              <a:rPr lang="zh-CN" altLang="en-US"/>
              <a:t>思维链：线性，一条路走到底，未必最优</a:t>
            </a:r>
          </a:p>
          <a:p>
            <a:pPr marL="171450" indent="-171450">
              <a:buFont typeface="Arial" panose="02080604020202020204" pitchFamily="34" charset="0"/>
              <a:buChar char="•"/>
            </a:pPr>
            <a:r>
              <a:rPr lang="zh-CN" altLang="en-US"/>
              <a:t>思维树：分支，处理多种情况</a:t>
            </a:r>
            <a:r>
              <a:rPr lang="en-US" altLang="zh-CN"/>
              <a:t> / </a:t>
            </a:r>
            <a:r>
              <a:rPr lang="zh-CN" altLang="en-US"/>
              <a:t>尝试多种方法</a:t>
            </a:r>
          </a:p>
          <a:p>
            <a:pPr marL="171450" indent="-171450">
              <a:buFont typeface="Arial" panose="02080604020202020204" pitchFamily="34" charset="0"/>
              <a:buChar char="•"/>
            </a:pPr>
            <a:r>
              <a:rPr lang="zh-CN" altLang="en-US"/>
              <a:t>思维图：无序，随状态转移，适合处理系统的状态、情况很多的任务</a:t>
            </a:r>
          </a:p>
          <a:p>
            <a:pPr marL="628650" lvl="1" indent="-171450">
              <a:buFont typeface="Arial" panose="02080604020202020204" pitchFamily="34" charset="0"/>
              <a:buChar char="•"/>
            </a:pPr>
            <a:r>
              <a:rPr lang="zh-CN" altLang="en-US"/>
              <a:t>比如：根据自己的学习情况和考试结果安排学习计划</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indent="0">
              <a:buFont typeface="Arial" panose="02080604020202020204" pitchFamily="34" charset="0"/>
              <a:buNone/>
            </a:pPr>
            <a:r>
              <a:rPr lang="zh-CN" altLang="en-US" dirty="0"/>
              <a:t>现在的很多大模型已经把引导思维的方法内置到大模型里了，这就是大家看到的“思考模式”：</a:t>
            </a:r>
            <a:endParaRPr lang="en-US" altLang="zh-CN" dirty="0"/>
          </a:p>
          <a:p>
            <a:pPr marL="171450" indent="-171450">
              <a:buFont typeface="Arial" panose="02080604020202020204" pitchFamily="34" charset="0"/>
              <a:buChar char="•"/>
            </a:pPr>
            <a:r>
              <a:rPr lang="zh-CN" altLang="en-US" dirty="0"/>
              <a:t>经过厂商的专门训练</a:t>
            </a:r>
          </a:p>
          <a:p>
            <a:pPr marL="171450" indent="-171450">
              <a:buFont typeface="Arial" panose="02080604020202020204" pitchFamily="34" charset="0"/>
              <a:buChar char="•"/>
            </a:pPr>
            <a:r>
              <a:rPr lang="zh-CN" altLang="en-US" dirty="0"/>
              <a:t>大模型自己学会拆分任务，分步思考</a:t>
            </a:r>
          </a:p>
          <a:p>
            <a:pPr marL="171450" indent="-171450">
              <a:buFont typeface="Arial" panose="02080604020202020204" pitchFamily="34" charset="0"/>
              <a:buChar char="•"/>
            </a:pPr>
            <a:r>
              <a:rPr lang="zh-CN" altLang="en-US" dirty="0"/>
              <a:t>【举例】大模型的思考模式是什么</a:t>
            </a:r>
          </a:p>
          <a:p>
            <a:pPr marL="171450" indent="-171450">
              <a:buFont typeface="Arial" panose="02080604020202020204" pitchFamily="34" charset="0"/>
              <a:buChar char="•"/>
            </a:pPr>
            <a:endParaRPr lang="zh-CN" altLang="en-US" dirty="0"/>
          </a:p>
          <a:p>
            <a:pPr marL="171450" indent="-171450">
              <a:buFont typeface="Arial" panose="02080604020202020204" pitchFamily="34" charset="0"/>
              <a:buChar char="•"/>
            </a:pPr>
            <a:r>
              <a:rPr lang="zh-CN" altLang="en-US" dirty="0"/>
              <a:t>但有时候大模型的自主思考的方式未必是我们想要的，在有些情况下还是需要手动给它一些提示</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a:t>对于一个具体的任务，比如解释一个具体的概念，我们可以手动提示大模型按照某个过程进行</a:t>
            </a:r>
          </a:p>
          <a:p>
            <a:pPr marL="171450" indent="-171450">
              <a:buFont typeface="Arial" panose="02080604020202020204" pitchFamily="34" charset="0"/>
              <a:buChar char="•"/>
            </a:pPr>
            <a:r>
              <a:rPr lang="zh-CN" altLang="en-US"/>
              <a:t>对于一类任务，比如：用户会询问一些关于人工智能的技术名词，没有提前说明可能是特定的某一个，就不能像刚才那样了，要怎么办呢</a:t>
            </a:r>
          </a:p>
          <a:p>
            <a:pPr marL="171450" indent="-171450">
              <a:buFont typeface="Arial" panose="02080604020202020204" pitchFamily="34" charset="0"/>
              <a:buChar char="•"/>
            </a:pPr>
            <a:endParaRPr lang="zh-CN" altLang="en-US"/>
          </a:p>
          <a:p>
            <a:pPr marL="171450" indent="-171450">
              <a:buFont typeface="Arial" panose="02080604020202020204" pitchFamily="34" charset="0"/>
              <a:buChar char="•"/>
            </a:pPr>
            <a:r>
              <a:rPr lang="zh-CN" altLang="en-US"/>
              <a:t>我们可以把一套通用的方法固定下来，然后用这个方法去引导大模型，启发它自己在遇到具体问题的时候具体分析，这就实现了一个智能体</a:t>
            </a:r>
          </a:p>
          <a:p>
            <a:pPr marL="171450" indent="-171450">
              <a:buFont typeface="Arial" panose="02080604020202020204" pitchFamily="34" charset="0"/>
              <a:buChar char="•"/>
            </a:pPr>
            <a:endParaRPr lang="zh-CN" altLang="en-US"/>
          </a:p>
          <a:p>
            <a:pPr marL="171450" indent="-171450">
              <a:buFont typeface="Arial" panose="02080604020202020204" pitchFamily="34" charset="0"/>
              <a:buChar char="•"/>
            </a:pPr>
            <a:r>
              <a:rPr lang="zh-CN" altLang="en-US"/>
              <a:t>比如，我们可以告诉大模型，你在遇到名词解释的任务的时候：</a:t>
            </a:r>
          </a:p>
          <a:p>
            <a:pPr marL="628650" lvl="1" indent="-171450">
              <a:buFont typeface="Arial" panose="02080604020202020204" pitchFamily="34" charset="0"/>
              <a:buChar char="•"/>
            </a:pPr>
            <a:r>
              <a:rPr lang="zh-CN" altLang="en-US"/>
              <a:t>先找到最精确的定义</a:t>
            </a:r>
          </a:p>
          <a:p>
            <a:pPr marL="628650" lvl="1" indent="-171450">
              <a:buFont typeface="Arial" panose="02080604020202020204" pitchFamily="34" charset="0"/>
              <a:buChar char="•"/>
            </a:pPr>
            <a:r>
              <a:rPr lang="zh-CN" altLang="en-US"/>
              <a:t>然后把定义转换为中学生可以理解的语言</a:t>
            </a:r>
          </a:p>
          <a:p>
            <a:pPr marL="628650" lvl="1" indent="-171450">
              <a:buFont typeface="Arial" panose="02080604020202020204" pitchFamily="34" charset="0"/>
              <a:buChar char="•"/>
            </a:pPr>
            <a:r>
              <a:rPr lang="zh-CN" altLang="en-US"/>
              <a:t>再找到一个日常生活中我们接触过的和它有关的例子</a:t>
            </a:r>
          </a:p>
          <a:p>
            <a:pPr marL="628650" lvl="1" indent="-171450">
              <a:buFont typeface="Arial" panose="02080604020202020204" pitchFamily="34" charset="0"/>
              <a:buChar char="•"/>
            </a:pPr>
            <a:r>
              <a:rPr lang="zh-CN" altLang="en-US"/>
              <a:t>再讲解这个概念的应用和影响</a:t>
            </a:r>
          </a:p>
          <a:p>
            <a:pPr marL="628650" lvl="1" indent="-171450">
              <a:buFont typeface="Arial" panose="02080604020202020204" pitchFamily="34" charset="0"/>
              <a:buChar char="•"/>
            </a:pPr>
            <a:endParaRPr lang="zh-CN" altLang="en-US"/>
          </a:p>
          <a:p>
            <a:pPr marL="171450" lvl="0" indent="-171450">
              <a:buFont typeface="Arial" panose="02080604020202020204" pitchFamily="34" charset="0"/>
              <a:buChar char="•"/>
            </a:pPr>
            <a:r>
              <a:rPr lang="zh-CN" altLang="en-US"/>
              <a:t>恭喜你，你实现了</a:t>
            </a:r>
            <a:r>
              <a:rPr lang="en-US" altLang="zh-CN"/>
              <a:t> PaE </a:t>
            </a:r>
            <a:r>
              <a:rPr lang="zh-CN" altLang="en-US"/>
              <a:t>架构的智能体</a:t>
            </a:r>
          </a:p>
          <a:p>
            <a:pPr marL="628650" lvl="1" indent="-171450">
              <a:buFont typeface="Arial" panose="02080604020202020204" pitchFamily="34" charset="0"/>
              <a:buChar char="•"/>
            </a:pPr>
            <a:r>
              <a:rPr lang="zh-CN" altLang="en-US"/>
              <a:t>引导大模型先结合具体例子规划执行过程，然后再实际执行</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dirty="0"/>
              <a:t>我们就需要再引导大模型进行反思，这个就是</a:t>
            </a:r>
            <a:r>
              <a:rPr lang="en-US" altLang="zh-CN" dirty="0"/>
              <a:t> </a:t>
            </a:r>
            <a:r>
              <a:rPr lang="en-US" altLang="zh-CN" dirty="0" err="1"/>
              <a:t>ReAct</a:t>
            </a:r>
            <a:r>
              <a:rPr lang="en-US" altLang="zh-CN" dirty="0"/>
              <a:t> </a:t>
            </a:r>
            <a:r>
              <a:rPr lang="zh-CN" altLang="en-US" dirty="0"/>
              <a:t>架构</a:t>
            </a:r>
          </a:p>
          <a:p>
            <a:pPr marL="171450" indent="-171450">
              <a:buFont typeface="Arial" panose="02080604020202020204" pitchFamily="34" charset="0"/>
              <a:buChar char="•"/>
            </a:pPr>
            <a:endParaRPr lang="zh-CN" altLang="en-US" dirty="0"/>
          </a:p>
          <a:p>
            <a:pPr marL="171450" indent="-171450">
              <a:buFont typeface="Arial" panose="02080604020202020204" pitchFamily="34" charset="0"/>
              <a:buChar char="•"/>
            </a:pPr>
            <a:r>
              <a:rPr lang="en-US" altLang="zh-CN" dirty="0"/>
              <a:t>……</a:t>
            </a:r>
          </a:p>
          <a:p>
            <a:pPr marL="171450" indent="-171450">
              <a:buFont typeface="Arial" panose="02080604020202020204" pitchFamily="34" charset="0"/>
              <a:buChar char="•"/>
            </a:pPr>
            <a:endParaRPr lang="en-US" altLang="zh-CN" dirty="0"/>
          </a:p>
          <a:p>
            <a:pPr marL="171450" indent="-171450">
              <a:buFont typeface="Arial" panose="02080604020202020204" pitchFamily="34" charset="0"/>
              <a:buChar char="•"/>
            </a:pPr>
            <a:r>
              <a:rPr lang="zh-CN" altLang="en-US" dirty="0"/>
              <a:t>从这个角度大家可以更好地理解我们在课程最开始说的：</a:t>
            </a:r>
            <a:r>
              <a:rPr lang="en-US" altLang="zh-CN" dirty="0"/>
              <a:t>Agent = </a:t>
            </a:r>
            <a:r>
              <a:rPr lang="zh-CN" altLang="en-US" dirty="0"/>
              <a:t>大模型</a:t>
            </a:r>
            <a:r>
              <a:rPr lang="en-US" altLang="zh-CN" dirty="0"/>
              <a:t> + </a:t>
            </a:r>
            <a:r>
              <a:rPr lang="zh-CN" altLang="en-US" dirty="0"/>
              <a:t>驾驭层</a:t>
            </a:r>
          </a:p>
          <a:p>
            <a:pPr marL="628650" lvl="1" indent="-171450">
              <a:buFont typeface="Arial" panose="02080604020202020204" pitchFamily="34" charset="0"/>
              <a:buChar char="•"/>
            </a:pPr>
            <a:r>
              <a:rPr lang="zh-CN" altLang="en-US" dirty="0"/>
              <a:t>这一套引导大模型进行规划、执行、评估、反思的过程就是在驾驭大模型前进的方向</a:t>
            </a:r>
          </a:p>
          <a:p>
            <a:pPr marL="628650" lvl="1" indent="-171450">
              <a:buFont typeface="Arial" panose="02080604020202020204" pitchFamily="34" charset="0"/>
              <a:buChar char="•"/>
            </a:pPr>
            <a:r>
              <a:rPr lang="zh-CN" altLang="en-US" dirty="0"/>
              <a:t>加上实际调用的大模型，就构成了一个完整的</a:t>
            </a:r>
            <a:r>
              <a:rPr lang="en-US" altLang="zh-CN" dirty="0"/>
              <a:t> Agent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a:t>有很多非文本化的任务</a:t>
            </a:r>
            <a:r>
              <a:rPr lang="en-US" altLang="zh-CN"/>
              <a:t>LLM</a:t>
            </a:r>
            <a:r>
              <a:rPr lang="zh-CN" altLang="en-US"/>
              <a:t>本体并不擅长或者根本没有办法执行：</a:t>
            </a:r>
          </a:p>
          <a:p>
            <a:pPr marL="628650" lvl="1" indent="-171450">
              <a:buFont typeface="Arial" panose="02080604020202020204" pitchFamily="34" charset="0"/>
              <a:buChar char="•"/>
            </a:pPr>
            <a:r>
              <a:rPr lang="zh-CN" altLang="en-US"/>
              <a:t>数学计算</a:t>
            </a:r>
          </a:p>
          <a:p>
            <a:pPr marL="628650" lvl="1" indent="-171450">
              <a:buFont typeface="Arial" panose="02080604020202020204" pitchFamily="34" charset="0"/>
              <a:buChar char="•"/>
            </a:pPr>
            <a:r>
              <a:rPr lang="en-US" altLang="zh-CN"/>
              <a:t>PPT </a:t>
            </a:r>
            <a:r>
              <a:rPr lang="zh-CN" altLang="en-US"/>
              <a:t>编写</a:t>
            </a:r>
          </a:p>
          <a:p>
            <a:pPr marL="171450" lvl="0" indent="-171450">
              <a:buFont typeface="Arial" panose="02080604020202020204" pitchFamily="34" charset="0"/>
              <a:buChar char="•"/>
            </a:pPr>
            <a:r>
              <a:rPr lang="zh-CN" altLang="en-US"/>
              <a:t>怎么办？可以让它们调用工具，就在执行阶段做就可以</a:t>
            </a:r>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a:t>这个过程是怎么实现的呢？</a:t>
            </a:r>
          </a:p>
          <a:p>
            <a:pPr marL="171450" indent="-171450">
              <a:buFont typeface="Arial" panose="02080604020202020204" pitchFamily="34" charset="0"/>
              <a:buChar char="•"/>
            </a:pPr>
            <a:endParaRPr lang="zh-CN" altLang="en-US"/>
          </a:p>
          <a:p>
            <a:pPr marL="171450" indent="-171450">
              <a:buFont typeface="Arial" panose="02080604020202020204" pitchFamily="34" charset="0"/>
              <a:buChar char="•"/>
            </a:pPr>
            <a:r>
              <a:rPr lang="zh-CN" altLang="en-US"/>
              <a:t>很简单，我们只需要让告诉大模型它当前有哪些可用的工具，再让它自己根据实际需求和工具说明书挑选就可以了</a:t>
            </a:r>
          </a:p>
          <a:p>
            <a:pPr marL="171450" indent="-171450">
              <a:buFont typeface="Arial" panose="02080604020202020204" pitchFamily="34" charset="0"/>
              <a:buChar char="•"/>
            </a:pPr>
            <a:endParaRPr lang="zh-CN" altLang="en-US"/>
          </a:p>
          <a:p>
            <a:pPr marL="171450" indent="-171450">
              <a:buFont typeface="Arial" panose="02080604020202020204" pitchFamily="34" charset="0"/>
              <a:buChar char="•"/>
            </a:pPr>
            <a:r>
              <a:rPr lang="zh-CN" altLang="en-US"/>
              <a:t>工具说明书长什么样？</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a:t>在选好工具之后，智能体系统一般通过一种叫</a:t>
            </a:r>
            <a:r>
              <a:rPr lang="en-US" altLang="zh-CN"/>
              <a:t> MCP </a:t>
            </a:r>
            <a:r>
              <a:rPr lang="zh-CN" altLang="en-US"/>
              <a:t>的流程和方法去实际运行这些工具</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a:t>比如：我们想查询</a:t>
            </a:r>
            <a:r>
              <a:rPr lang="en-US" altLang="zh-CN"/>
              <a:t> bilibili </a:t>
            </a:r>
            <a:r>
              <a:rPr lang="zh-CN" altLang="en-US"/>
              <a:t>中有哪些讲解</a:t>
            </a:r>
            <a:r>
              <a:rPr lang="en-US" altLang="zh-CN"/>
              <a:t> AI Agent </a:t>
            </a:r>
            <a:r>
              <a:rPr lang="zh-CN" altLang="en-US"/>
              <a:t>的视频，都讲解了哪些相关概念</a:t>
            </a:r>
          </a:p>
          <a:p>
            <a:pPr marL="171450" indent="-171450">
              <a:buFont typeface="Arial" panose="02080604020202020204" pitchFamily="34" charset="0"/>
              <a:buChar char="•"/>
            </a:pPr>
            <a:r>
              <a:rPr lang="en-US" altLang="zh-CN"/>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AutoShape 2"/>
          <p:cNvSpPr/>
          <p:nvPr userDrawn="1"/>
        </p:nvSpPr>
        <p:spPr>
          <a:xfrm>
            <a:off x="0" y="0"/>
            <a:ext cx="12192000" cy="6858000"/>
          </a:xfrm>
          <a:prstGeom prst="roundRect">
            <a:avLst>
              <a:gd name="adj" fmla="val 0"/>
            </a:avLst>
          </a:prstGeom>
          <a:pattFill prst="lgGrid">
            <a:fgClr>
              <a:srgbClr val="FFFFFF">
                <a:alpha val="5098"/>
              </a:srgbClr>
            </a:fgClr>
            <a:bgClr>
              <a:srgbClr val="121212">
                <a:alpha val="0"/>
              </a:srgbClr>
            </a:bgClr>
          </a:pattFill>
          <a:ln cap="flat" cmpd="sng">
            <a:solidFill>
              <a:srgbClr val="FFFFFF">
                <a:alpha val="0"/>
              </a:srgbClr>
            </a:solidFill>
            <a:prstDash val="solid"/>
            <a:round/>
          </a:ln>
        </p:spPr>
        <p:txBody>
          <a:bodyPr vert="horz" wrap="square" lIns="63500" tIns="63500" rIns="63500" bIns="63500" rtlCol="0" anchor="ctr"/>
          <a:lstStyle/>
          <a:p>
            <a:pPr algn="ctr">
              <a:defRPr/>
            </a:pPr>
            <a:endParaRPr/>
          </a:p>
        </p:txBody>
      </p:sp>
      <p:sp>
        <p:nvSpPr>
          <p:cNvPr id="12" name="AutoShape 5"/>
          <p:cNvSpPr/>
          <p:nvPr userDrawn="1"/>
        </p:nvSpPr>
        <p:spPr>
          <a:xfrm>
            <a:off x="2286000" y="1524000"/>
            <a:ext cx="7620000" cy="4064000"/>
          </a:xfrm>
          <a:prstGeom prst="ellipse">
            <a:avLst/>
          </a:prstGeom>
          <a:gradFill rotWithShape="1">
            <a:gsLst>
              <a:gs pos="0">
                <a:srgbClr val="FFFFFF">
                  <a:alpha val="9000"/>
                </a:srgbClr>
              </a:gs>
              <a:gs pos="35000">
                <a:srgbClr val="FFFFFF">
                  <a:alpha val="3000"/>
                </a:srgbClr>
              </a:gs>
              <a:gs pos="65000">
                <a:srgbClr val="121212">
                  <a:alpha val="0"/>
                </a:srgbClr>
              </a:gs>
            </a:gsLst>
            <a:path path="circle">
              <a:fillToRect l="50000" t="50000" r="50000" b="50000"/>
            </a:path>
            <a:tileRect/>
          </a:gradFill>
          <a:ln cap="flat" cmpd="sng">
            <a:gradFill rotWithShape="1">
              <a:gsLst>
                <a:gs pos="0">
                  <a:srgbClr val="E6CFCF">
                    <a:alpha val="9000"/>
                  </a:srgbClr>
                </a:gs>
                <a:gs pos="35000">
                  <a:srgbClr val="E6CFCF">
                    <a:alpha val="3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0" name="AutoShape 3"/>
          <p:cNvSpPr/>
          <p:nvPr userDrawn="1"/>
        </p:nvSpPr>
        <p:spPr>
          <a:xfrm>
            <a:off x="-2032000" y="-2032000"/>
            <a:ext cx="5588000" cy="5588000"/>
          </a:xfrm>
          <a:prstGeom prst="ellipse">
            <a:avLst/>
          </a:prstGeom>
          <a:gradFill rotWithShape="1">
            <a:gsLst>
              <a:gs pos="0">
                <a:srgbClr val="00E5FF">
                  <a:alpha val="20000"/>
                </a:srgbClr>
              </a:gs>
              <a:gs pos="30000">
                <a:srgbClr val="00E5FF">
                  <a:alpha val="8000"/>
                </a:srgbClr>
              </a:gs>
              <a:gs pos="65000">
                <a:srgbClr val="121212">
                  <a:alpha val="0"/>
                </a:srgbClr>
              </a:gs>
            </a:gsLst>
            <a:path path="circle">
              <a:fillToRect l="50000" t="50000" r="50000" b="50000"/>
            </a:path>
            <a:tileRect/>
          </a:gradFill>
          <a:ln cap="flat" cmpd="sng">
            <a:gradFill rotWithShape="1">
              <a:gsLst>
                <a:gs pos="0">
                  <a:srgbClr val="00CEE6">
                    <a:alpha val="20000"/>
                  </a:srgbClr>
                </a:gs>
                <a:gs pos="30000">
                  <a:srgbClr val="00CEE6">
                    <a:alpha val="8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1" name="AutoShape 4"/>
          <p:cNvSpPr/>
          <p:nvPr userDrawn="1"/>
        </p:nvSpPr>
        <p:spPr>
          <a:xfrm>
            <a:off x="8636000" y="3556000"/>
            <a:ext cx="5588000" cy="5588000"/>
          </a:xfrm>
          <a:prstGeom prst="ellipse">
            <a:avLst/>
          </a:prstGeom>
          <a:gradFill rotWithShape="1">
            <a:gsLst>
              <a:gs pos="0">
                <a:srgbClr val="B388FF">
                  <a:alpha val="20000"/>
                </a:srgbClr>
              </a:gs>
              <a:gs pos="30000">
                <a:srgbClr val="B388FF">
                  <a:alpha val="8000"/>
                </a:srgbClr>
              </a:gs>
              <a:gs pos="65000">
                <a:srgbClr val="121212">
                  <a:alpha val="0"/>
                </a:srgbClr>
              </a:gs>
            </a:gsLst>
            <a:path path="circle">
              <a:fillToRect l="50000" t="50000" r="50000" b="50000"/>
            </a:path>
            <a:tileRect/>
          </a:gradFill>
          <a:ln cap="flat" cmpd="sng">
            <a:gradFill rotWithShape="1">
              <a:gsLst>
                <a:gs pos="0">
                  <a:srgbClr val="9263E6">
                    <a:alpha val="20000"/>
                  </a:srgbClr>
                </a:gs>
                <a:gs pos="30000">
                  <a:srgbClr val="9263E6">
                    <a:alpha val="8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3" name="AutoShape 6"/>
          <p:cNvSpPr/>
          <p:nvPr userDrawn="1"/>
        </p:nvSpPr>
        <p:spPr>
          <a:xfrm>
            <a:off x="1016000" y="2159000"/>
            <a:ext cx="76200" cy="1778000"/>
          </a:xfrm>
          <a:prstGeom prst="roundRect">
            <a:avLst>
              <a:gd name="adj" fmla="val 0"/>
            </a:avLst>
          </a:prstGeom>
          <a:gradFill rotWithShape="1">
            <a:gsLst>
              <a:gs pos="0">
                <a:srgbClr val="00E5FF">
                  <a:alpha val="0"/>
                </a:srgbClr>
              </a:gs>
              <a:gs pos="50000">
                <a:srgbClr val="00E5FF">
                  <a:alpha val="55000"/>
                </a:srgbClr>
              </a:gs>
              <a:gs pos="100000">
                <a:srgbClr val="00E5FF">
                  <a:alpha val="0"/>
                </a:srgbClr>
              </a:gs>
            </a:gsLst>
            <a:lin ang="5400000"/>
          </a:gradFill>
          <a:ln cap="flat" cmpd="sng">
            <a:gradFill rotWithShape="1">
              <a:gsLst>
                <a:gs pos="0">
                  <a:srgbClr val="00CEE6">
                    <a:alpha val="0"/>
                  </a:srgbClr>
                </a:gs>
                <a:gs pos="50000">
                  <a:srgbClr val="00CEE6">
                    <a:alpha val="55000"/>
                  </a:srgbClr>
                </a:gs>
                <a:gs pos="100000">
                  <a:srgbClr val="00CEE6">
                    <a:alpha val="0"/>
                  </a:srgbClr>
                </a:gs>
              </a:gsLst>
              <a:lin ang="5400000"/>
            </a:gradFill>
            <a:prstDash val="solid"/>
            <a:round/>
          </a:ln>
        </p:spPr>
        <p:txBody>
          <a:bodyPr vert="horz" wrap="square" lIns="63500" tIns="63500" rIns="63500" bIns="63500" rtlCol="0" anchor="ctr"/>
          <a:lstStyle/>
          <a:p>
            <a:pPr algn="ctr">
              <a:defRPr/>
            </a:pPr>
            <a:endParaRPr/>
          </a:p>
        </p:txBody>
      </p:sp>
      <p:sp>
        <p:nvSpPr>
          <p:cNvPr id="14" name="AutoShape 7"/>
          <p:cNvSpPr/>
          <p:nvPr userDrawn="1"/>
        </p:nvSpPr>
        <p:spPr>
          <a:xfrm>
            <a:off x="11099800" y="2159000"/>
            <a:ext cx="76200" cy="1778000"/>
          </a:xfrm>
          <a:prstGeom prst="roundRect">
            <a:avLst>
              <a:gd name="adj" fmla="val 0"/>
            </a:avLst>
          </a:prstGeom>
          <a:gradFill rotWithShape="1">
            <a:gsLst>
              <a:gs pos="0">
                <a:srgbClr val="B388FF">
                  <a:alpha val="0"/>
                </a:srgbClr>
              </a:gs>
              <a:gs pos="50000">
                <a:srgbClr val="B388FF">
                  <a:alpha val="55000"/>
                </a:srgbClr>
              </a:gs>
              <a:gs pos="100000">
                <a:srgbClr val="B388FF">
                  <a:alpha val="0"/>
                </a:srgbClr>
              </a:gs>
            </a:gsLst>
            <a:lin ang="5400000"/>
          </a:gradFill>
          <a:ln cap="flat" cmpd="sng">
            <a:gradFill rotWithShape="1">
              <a:gsLst>
                <a:gs pos="0">
                  <a:srgbClr val="9263E6">
                    <a:alpha val="0"/>
                  </a:srgbClr>
                </a:gs>
                <a:gs pos="50000">
                  <a:srgbClr val="9263E6">
                    <a:alpha val="55000"/>
                  </a:srgbClr>
                </a:gs>
                <a:gs pos="100000">
                  <a:srgbClr val="9263E6">
                    <a:alpha val="0"/>
                  </a:srgbClr>
                </a:gs>
              </a:gsLst>
              <a:lin ang="5400000"/>
            </a:gradFill>
            <a:prstDash val="solid"/>
            <a:round/>
          </a:ln>
        </p:spPr>
        <p:txBody>
          <a:bodyPr vert="horz" wrap="square" lIns="63500" tIns="63500" rIns="63500" bIns="63500" rtlCol="0" anchor="ctr"/>
          <a:lstStyle/>
          <a:p>
            <a:pPr algn="ctr">
              <a:defRPr/>
            </a:pPr>
            <a:endParaRPr/>
          </a:p>
        </p:txBody>
      </p:sp>
      <p:sp>
        <p:nvSpPr>
          <p:cNvPr id="17" name="AutoShape 10"/>
          <p:cNvSpPr/>
          <p:nvPr userDrawn="1"/>
        </p:nvSpPr>
        <p:spPr>
          <a:xfrm>
            <a:off x="2921000" y="5207000"/>
            <a:ext cx="6350000" cy="12700"/>
          </a:xfrm>
          <a:prstGeom prst="roundRect">
            <a:avLst>
              <a:gd name="adj" fmla="val 0"/>
            </a:avLst>
          </a:prstGeom>
          <a:gradFill rotWithShape="1">
            <a:gsLst>
              <a:gs pos="0">
                <a:srgbClr val="00E5FF">
                  <a:alpha val="0"/>
                </a:srgbClr>
              </a:gs>
              <a:gs pos="28000">
                <a:srgbClr val="00E5FF">
                  <a:alpha val="55000"/>
                </a:srgbClr>
              </a:gs>
              <a:gs pos="72000">
                <a:srgbClr val="B388FF">
                  <a:alpha val="55000"/>
                </a:srgbClr>
              </a:gs>
              <a:gs pos="100000">
                <a:srgbClr val="B388FF">
                  <a:alpha val="0"/>
                </a:srgbClr>
              </a:gs>
            </a:gsLst>
            <a:lin ang="0"/>
          </a:gradFill>
          <a:ln cap="flat" cmpd="sng">
            <a:gradFill rotWithShape="1">
              <a:gsLst>
                <a:gs pos="0">
                  <a:srgbClr val="00CEE6">
                    <a:alpha val="0"/>
                  </a:srgbClr>
                </a:gs>
                <a:gs pos="28000">
                  <a:srgbClr val="00CEE6">
                    <a:alpha val="55000"/>
                  </a:srgbClr>
                </a:gs>
                <a:gs pos="72000">
                  <a:srgbClr val="9263E6">
                    <a:alpha val="55000"/>
                  </a:srgbClr>
                </a:gs>
                <a:gs pos="100000">
                  <a:srgbClr val="9263E6">
                    <a:alpha val="0"/>
                  </a:srgbClr>
                </a:gs>
              </a:gsLst>
              <a:lin ang="0"/>
            </a:gradFill>
            <a:prstDash val="solid"/>
            <a:round/>
          </a:ln>
        </p:spPr>
        <p:txBody>
          <a:bodyPr vert="horz" wrap="square" lIns="63500" tIns="63500" rIns="63500" bIns="63500" rtlCol="0" anchor="ctr"/>
          <a:lstStyle/>
          <a:p>
            <a:pPr algn="ctr">
              <a:defRPr/>
            </a:pPr>
            <a:endParaRPr/>
          </a:p>
        </p:txBody>
      </p:sp>
      <p:cxnSp>
        <p:nvCxnSpPr>
          <p:cNvPr id="19" name="Connector 12"/>
          <p:cNvCxnSpPr/>
          <p:nvPr userDrawn="1"/>
        </p:nvCxnSpPr>
        <p:spPr>
          <a:xfrm rot="5256843">
            <a:off x="5943600" y="5810382"/>
            <a:ext cx="304800" cy="12700"/>
          </a:xfrm>
          <a:prstGeom prst="straightConnector1">
            <a:avLst/>
          </a:prstGeom>
          <a:solidFill>
            <a:srgbClr val="DEE0E3">
              <a:alpha val="100000"/>
            </a:srgbClr>
          </a:solidFill>
          <a:ln w="12700" cap="flat" cmpd="sng">
            <a:solidFill>
              <a:srgbClr val="FFFFFF">
                <a:alpha val="28000"/>
              </a:srgbClr>
            </a:solidFill>
            <a:prstDash val="solid"/>
            <a:round/>
            <a:headEnd type="none" w="med" len="med"/>
            <a:tailEnd type="none" w="med" len="med"/>
          </a:ln>
        </p:spPr>
      </p:cxnSp>
      <p:sp>
        <p:nvSpPr>
          <p:cNvPr id="2" name="标题 1"/>
          <p:cNvSpPr>
            <a:spLocks noGrp="1"/>
          </p:cNvSpPr>
          <p:nvPr>
            <p:ph type="ctrTitle" hasCustomPrompt="1"/>
          </p:nvPr>
        </p:nvSpPr>
        <p:spPr>
          <a:xfrm>
            <a:off x="762000" y="1433195"/>
            <a:ext cx="10668000" cy="2325370"/>
          </a:xfrm>
        </p:spPr>
        <p:txBody>
          <a:bodyPr anchor="b">
            <a:normAutofit/>
          </a:bodyPr>
          <a:lstStyle>
            <a:lvl1pPr marL="0" marR="0" lvl="0" algn="ctr" rtl="0" eaLnBrk="1" fontAlgn="auto" latinLnBrk="0" hangingPunct="1">
              <a:lnSpc>
                <a:spcPct val="108000"/>
              </a:lnSpc>
              <a:spcBef>
                <a:spcPts val="0"/>
              </a:spcBef>
              <a:spcAft>
                <a:spcPts val="0"/>
              </a:spcAft>
              <a:buClr>
                <a:srgbClr val="000000"/>
              </a:buClr>
              <a:buSzTx/>
              <a:buFont typeface="Arial" panose="020B0604020202020204"/>
              <a:buNone/>
              <a:defRPr/>
            </a:lvl1pPr>
          </a:lstStyle>
          <a:p>
            <a:r>
              <a:rPr lang="zh-CN" altLang="en-US" dirty="0"/>
              <a:t>单击此处添加标题</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2026/10/1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762000" y="4012565"/>
            <a:ext cx="10668000" cy="1753870"/>
          </a:xfrm>
        </p:spPr>
        <p:txBody>
          <a:bodyPr>
            <a:normAutofit/>
          </a:bodyPr>
          <a:lstStyle>
            <a:lvl1pPr marL="0" indent="0" algn="ctr">
              <a:buNone/>
              <a:defRPr sz="2800">
                <a:solidFill>
                  <a:schemeClr val="bg1">
                    <a:lumMod val="7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
        <p:nvSpPr>
          <p:cNvPr id="21" name="文本占位符 20"/>
          <p:cNvSpPr>
            <a:spLocks noGrp="1"/>
          </p:cNvSpPr>
          <p:nvPr>
            <p:ph type="body" idx="13" hasCustomPrompt="1"/>
          </p:nvPr>
        </p:nvSpPr>
        <p:spPr>
          <a:xfrm>
            <a:off x="757555" y="5588000"/>
            <a:ext cx="4831080" cy="431800"/>
          </a:xfrm>
        </p:spPr>
        <p:txBody>
          <a:bodyPr/>
          <a:lstStyle>
            <a:lvl1pPr indent="0">
              <a:buNone/>
              <a:defRPr sz="2000"/>
            </a:lvl1pPr>
          </a:lstStyle>
          <a:p>
            <a:pPr marL="0" indent="0" algn="l">
              <a:lnSpc>
                <a:spcPct val="100000"/>
              </a:lnSpc>
              <a:defRPr/>
            </a:pPr>
            <a:r>
              <a:rPr lang="en-US" spc="300">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rPr>
              <a:t>【授课人】</a:t>
            </a:r>
            <a:endParaRPr lang="zh-CN" altLang="en-US"/>
          </a:p>
        </p:txBody>
      </p:sp>
      <p:sp>
        <p:nvSpPr>
          <p:cNvPr id="24" name="文本占位符 23"/>
          <p:cNvSpPr>
            <a:spLocks noGrp="1"/>
          </p:cNvSpPr>
          <p:nvPr>
            <p:ph type="body" idx="16" hasCustomPrompt="1"/>
          </p:nvPr>
        </p:nvSpPr>
        <p:spPr>
          <a:xfrm>
            <a:off x="6604000" y="5588000"/>
            <a:ext cx="4830445" cy="431800"/>
          </a:xfrm>
        </p:spPr>
        <p:txBody>
          <a:bodyPr/>
          <a:lstStyle>
            <a:lvl1pPr marL="0" indent="0" algn="r">
              <a:buNone/>
              <a:defRPr kumimoji="0" lang="zh-CN" altLang="en-US" sz="2000" b="0" i="0" u="none" strike="noStrike" kern="1200" cap="none" spc="300" normalizeH="0" baseline="0" noProof="1">
                <a:solidFill>
                  <a:srgbClr val="BEBEBE"/>
                </a:solidFill>
                <a:latin typeface="Noto Sans SC" panose="020B0200000000000000" charset="-122"/>
                <a:ea typeface="SimSun" pitchFamily="2" charset="-122"/>
                <a:cs typeface="Noto Sans SC" panose="020B0200000000000000" charset="-122"/>
                <a:sym typeface="Noto Sans SC" panose="020B0200000000000000" charset="-122"/>
              </a:defRPr>
            </a:lvl1pPr>
            <a:lvl5pPr algn="ctr">
              <a:defRPr/>
            </a:lvl5pPr>
          </a:lstStyle>
          <a:p>
            <a:pPr lvl="0"/>
            <a:r>
              <a:rPr lang="zh-CN" altLang="en-US"/>
              <a:t>【日期】</a:t>
            </a:r>
          </a:p>
          <a:p>
            <a:pPr lvl="0"/>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1" name="AutoShape 3"/>
          <p:cNvSpPr/>
          <p:nvPr userDrawn="1"/>
        </p:nvSpPr>
        <p:spPr>
          <a:xfrm>
            <a:off x="9144000" y="4572000"/>
            <a:ext cx="4572000" cy="4572000"/>
          </a:xfrm>
          <a:prstGeom prst="ellipse">
            <a:avLst/>
          </a:prstGeom>
          <a:gradFill rotWithShape="1">
            <a:gsLst>
              <a:gs pos="0">
                <a:srgbClr val="00E5FF">
                  <a:alpha val="6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0" name="AutoShape 2"/>
          <p:cNvSpPr/>
          <p:nvPr userDrawn="1"/>
        </p:nvSpPr>
        <p:spPr>
          <a:xfrm>
            <a:off x="-2032000" y="-2032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2" name="标题 1"/>
          <p:cNvSpPr>
            <a:spLocks noGrp="1"/>
          </p:cNvSpPr>
          <p:nvPr>
            <p:ph type="title"/>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defRPr>
            </a:lvl1pPr>
          </a:lstStyle>
          <a:p>
            <a:r>
              <a:rPr lang="zh-CN" altLang="en-US" dirty="0"/>
              <a:t>单击此处编辑母版标题样式</a:t>
            </a:r>
          </a:p>
        </p:txBody>
      </p:sp>
      <p:sp>
        <p:nvSpPr>
          <p:cNvPr id="3" name="内容占位符 2"/>
          <p:cNvSpPr>
            <a:spLocks noGrp="1"/>
          </p:cNvSpPr>
          <p:nvPr>
            <p:ph idx="1"/>
          </p:nvPr>
        </p:nvSpPr>
        <p:spPr>
          <a:xfrm>
            <a:off x="762000" y="1825625"/>
            <a:ext cx="10401300" cy="4351655"/>
          </a:xfrm>
        </p:spPr>
        <p:txBody>
          <a:bodyPr>
            <a:normAutofit/>
          </a:bodyPr>
          <a:lstStyle>
            <a:lvl1pPr>
              <a:lnSpc>
                <a:spcPct val="150000"/>
              </a:lnSpc>
              <a:buClr>
                <a:srgbClr val="00E5FA"/>
              </a:buClr>
              <a:defRPr sz="2000">
                <a:solidFill>
                  <a:schemeClr val="bg1"/>
                </a:solidFill>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t>2026/10/1</a:t>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t>‹#›</a:t>
            </a:fld>
            <a:endParaRPr lang="en-US" altLang="zh-CN"/>
          </a:p>
        </p:txBody>
      </p:sp>
      <p:sp>
        <p:nvSpPr>
          <p:cNvPr id="8" name="AutoShape 5"/>
          <p:cNvSpPr/>
          <p:nvPr userDrawn="1"/>
        </p:nvSpPr>
        <p:spPr>
          <a:xfrm>
            <a:off x="762000" y="1422400"/>
            <a:ext cx="9144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11" name="AutoShape 3"/>
          <p:cNvSpPr/>
          <p:nvPr userDrawn="1"/>
        </p:nvSpPr>
        <p:spPr>
          <a:xfrm>
            <a:off x="9144000" y="4572000"/>
            <a:ext cx="4572000" cy="4572000"/>
          </a:xfrm>
          <a:prstGeom prst="ellipse">
            <a:avLst/>
          </a:prstGeom>
          <a:gradFill rotWithShape="1">
            <a:gsLst>
              <a:gs pos="0">
                <a:srgbClr val="00E5FF">
                  <a:alpha val="6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0" name="AutoShape 2"/>
          <p:cNvSpPr/>
          <p:nvPr userDrawn="1"/>
        </p:nvSpPr>
        <p:spPr>
          <a:xfrm>
            <a:off x="-2032000" y="-2032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2" name="标题 1"/>
          <p:cNvSpPr>
            <a:spLocks noGrp="1"/>
          </p:cNvSpPr>
          <p:nvPr>
            <p:ph type="title"/>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defRPr>
            </a:lvl1pPr>
          </a:lstStyle>
          <a:p>
            <a:r>
              <a:rPr lang="zh-CN" altLang="en-US" dirty="0"/>
              <a:t>单击此处编辑母版标题样式</a:t>
            </a:r>
          </a:p>
        </p:txBody>
      </p:sp>
      <p:sp>
        <p:nvSpPr>
          <p:cNvPr id="3" name="内容占位符 2"/>
          <p:cNvSpPr>
            <a:spLocks noGrp="1"/>
          </p:cNvSpPr>
          <p:nvPr>
            <p:ph idx="1"/>
          </p:nvPr>
        </p:nvSpPr>
        <p:spPr>
          <a:xfrm>
            <a:off x="762000" y="3298825"/>
            <a:ext cx="10401300" cy="2878455"/>
          </a:xfrm>
        </p:spPr>
        <p:txBody>
          <a:bodyPr>
            <a:normAutofit/>
          </a:bodyPr>
          <a:lstStyle>
            <a:lvl1pPr>
              <a:lnSpc>
                <a:spcPct val="150000"/>
              </a:lnSpc>
              <a:buClr>
                <a:srgbClr val="00E5FA"/>
              </a:buClr>
              <a:defRPr sz="2000">
                <a:solidFill>
                  <a:schemeClr val="bg1"/>
                </a:solidFill>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t>2026/10/1</a:t>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t>‹#›</a:t>
            </a:fld>
            <a:endParaRPr lang="en-US" altLang="zh-CN"/>
          </a:p>
        </p:txBody>
      </p:sp>
      <p:sp>
        <p:nvSpPr>
          <p:cNvPr id="8" name="AutoShape 5"/>
          <p:cNvSpPr/>
          <p:nvPr userDrawn="1"/>
        </p:nvSpPr>
        <p:spPr>
          <a:xfrm>
            <a:off x="762000" y="1422400"/>
            <a:ext cx="9144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7" name="AutoShape 7"/>
          <p:cNvSpPr/>
          <p:nvPr userDrawn="1"/>
        </p:nvSpPr>
        <p:spPr>
          <a:xfrm>
            <a:off x="762000" y="1676400"/>
            <a:ext cx="10401300" cy="1422400"/>
          </a:xfrm>
          <a:prstGeom prst="snip2DiagRect">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lstStyle/>
          <a:p>
            <a:pPr algn="ctr">
              <a:defRPr/>
            </a:pPr>
            <a:endParaRPr/>
          </a:p>
        </p:txBody>
      </p:sp>
      <p:sp>
        <p:nvSpPr>
          <p:cNvPr id="9" name="内容占位符 8"/>
          <p:cNvSpPr>
            <a:spLocks noGrp="1"/>
          </p:cNvSpPr>
          <p:nvPr>
            <p:ph idx="13" hasCustomPrompt="1"/>
          </p:nvPr>
        </p:nvSpPr>
        <p:spPr>
          <a:xfrm>
            <a:off x="762000" y="1678305"/>
            <a:ext cx="10401300" cy="1421130"/>
          </a:xfrm>
        </p:spPr>
        <p:txBody>
          <a:bodyPr anchor="ctr" anchorCtr="0"/>
          <a:lstStyle>
            <a:lvl1pPr marL="0" indent="0" algn="ctr">
              <a:buNone/>
              <a:defRPr b="1"/>
            </a:lvl1pPr>
          </a:lstStyle>
          <a:p>
            <a:pPr lvl="0"/>
            <a:r>
              <a:rPr lang="zh-CN" altLang="en-US"/>
              <a:t>插入定义文本</a:t>
            </a: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13" name="AutoShape 2"/>
          <p:cNvSpPr/>
          <p:nvPr userDrawn="1"/>
        </p:nvSpPr>
        <p:spPr>
          <a:xfrm>
            <a:off x="-2286000" y="-2032000"/>
            <a:ext cx="5588000" cy="5588000"/>
          </a:xfrm>
          <a:prstGeom prst="ellipse">
            <a:avLst/>
          </a:prstGeom>
          <a:gradFill rotWithShape="1">
            <a:gsLst>
              <a:gs pos="0">
                <a:srgbClr val="00E5FF">
                  <a:alpha val="18000"/>
                </a:srgbClr>
              </a:gs>
              <a:gs pos="70000">
                <a:srgbClr val="00E5FF">
                  <a:alpha val="0"/>
                </a:srgbClr>
              </a:gs>
            </a:gsLst>
            <a:path path="circle">
              <a:fillToRect l="50000" t="50000" r="50000" b="50000"/>
            </a:path>
            <a:tileRect/>
          </a:gradFill>
          <a:ln cap="flat" cmpd="sng">
            <a:gradFill rotWithShape="1">
              <a:gsLst>
                <a:gs pos="0">
                  <a:srgbClr val="00CEE6">
                    <a:alpha val="18000"/>
                  </a:srgbClr>
                </a:gs>
                <a:gs pos="70000">
                  <a:srgbClr val="00CEE6">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4" name="AutoShape 3"/>
          <p:cNvSpPr/>
          <p:nvPr userDrawn="1"/>
        </p:nvSpPr>
        <p:spPr>
          <a:xfrm>
            <a:off x="8890000" y="4318000"/>
            <a:ext cx="5334000" cy="5334000"/>
          </a:xfrm>
          <a:prstGeom prst="ellipse">
            <a:avLst/>
          </a:prstGeom>
          <a:gradFill rotWithShape="1">
            <a:gsLst>
              <a:gs pos="0">
                <a:srgbClr val="69F0AE">
                  <a:alpha val="14000"/>
                </a:srgbClr>
              </a:gs>
              <a:gs pos="70000">
                <a:srgbClr val="69F0AE">
                  <a:alpha val="0"/>
                </a:srgbClr>
              </a:gs>
            </a:gsLst>
            <a:path path="circle">
              <a:fillToRect l="50000" t="50000" r="50000" b="50000"/>
            </a:path>
            <a:tileRect/>
          </a:gradFill>
          <a:ln cap="flat" cmpd="sng">
            <a:gradFill rotWithShape="1">
              <a:gsLst>
                <a:gs pos="0">
                  <a:srgbClr val="48D691">
                    <a:alpha val="14000"/>
                  </a:srgbClr>
                </a:gs>
                <a:gs pos="70000">
                  <a:srgbClr val="48D691">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2" name="标题 1"/>
          <p:cNvSpPr>
            <a:spLocks noGrp="1"/>
          </p:cNvSpPr>
          <p:nvPr>
            <p:ph type="title" hasCustomPrompt="1"/>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defRPr>
            </a:lvl1pPr>
          </a:lstStyle>
          <a:p>
            <a:r>
              <a:rPr lang="zh-CN" altLang="en-US" dirty="0"/>
              <a:t>【思考与讨论】</a:t>
            </a:r>
          </a:p>
        </p:txBody>
      </p:sp>
      <p:sp>
        <p:nvSpPr>
          <p:cNvPr id="3" name="内容占位符 2"/>
          <p:cNvSpPr>
            <a:spLocks noGrp="1"/>
          </p:cNvSpPr>
          <p:nvPr>
            <p:ph idx="1" hasCustomPrompt="1"/>
          </p:nvPr>
        </p:nvSpPr>
        <p:spPr>
          <a:xfrm>
            <a:off x="762000" y="4382135"/>
            <a:ext cx="10401300" cy="761365"/>
          </a:xfrm>
        </p:spPr>
        <p:txBody>
          <a:bodyPr>
            <a:normAutofit/>
          </a:bodyPr>
          <a:lstStyle>
            <a:lvl1pPr marL="0" indent="0" algn="ctr">
              <a:lnSpc>
                <a:spcPct val="100000"/>
              </a:lnSpc>
              <a:buClr>
                <a:srgbClr val="00E5FA"/>
              </a:buClr>
              <a:buNone/>
              <a:defRPr kumimoji="0" lang="en-US" sz="2800" b="0" i="0" u="none" strike="noStrike" kern="0" cap="none" spc="300" normalizeH="0" baseline="0" noProof="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【提出一个开放性问题,引导学生思考】</a:t>
            </a:r>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t>2026/10/1</a:t>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t>‹#›</a:t>
            </a:fld>
            <a:endParaRPr lang="en-US" altLang="zh-CN"/>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2" name="AutoShape 5"/>
          <p:cNvSpPr/>
          <p:nvPr userDrawn="1"/>
        </p:nvSpPr>
        <p:spPr>
          <a:xfrm>
            <a:off x="762000" y="1524000"/>
            <a:ext cx="10668000" cy="50800"/>
          </a:xfrm>
          <a:prstGeom prst="roundRect">
            <a:avLst>
              <a:gd name="adj" fmla="val 0"/>
            </a:avLst>
          </a:prstGeom>
          <a:gradFill rotWithShape="1">
            <a:gsLst>
              <a:gs pos="0">
                <a:srgbClr val="00E5FF">
                  <a:alpha val="0"/>
                </a:srgbClr>
              </a:gs>
              <a:gs pos="30000">
                <a:srgbClr val="00E5FF">
                  <a:alpha val="100000"/>
                </a:srgbClr>
              </a:gs>
              <a:gs pos="70000">
                <a:srgbClr val="00E5FF">
                  <a:alpha val="100000"/>
                </a:srgbClr>
              </a:gs>
              <a:gs pos="100000">
                <a:srgbClr val="00E5FF">
                  <a:alpha val="0"/>
                </a:srgbClr>
              </a:gs>
            </a:gsLst>
            <a:lin ang="0"/>
          </a:gradFill>
          <a:ln cap="flat" cmpd="sng">
            <a:gradFill rotWithShape="1">
              <a:gsLst>
                <a:gs pos="0">
                  <a:srgbClr val="00CEE6">
                    <a:alpha val="0"/>
                  </a:srgbClr>
                </a:gs>
                <a:gs pos="30000">
                  <a:srgbClr val="00CEE6">
                    <a:alpha val="100000"/>
                  </a:srgbClr>
                </a:gs>
                <a:gs pos="70000">
                  <a:srgbClr val="00CEE6">
                    <a:alpha val="100000"/>
                  </a:srgbClr>
                </a:gs>
                <a:gs pos="100000">
                  <a:srgbClr val="00CEE6">
                    <a:alpha val="0"/>
                  </a:srgbClr>
                </a:gs>
              </a:gsLst>
              <a:lin ang="0"/>
            </a:gradFill>
            <a:prstDash val="solid"/>
            <a:round/>
          </a:ln>
        </p:spPr>
        <p:txBody>
          <a:bodyPr vert="horz" wrap="square" lIns="63500" tIns="63500" rIns="63500" bIns="63500" rtlCol="0" anchor="ctr"/>
          <a:lstStyle/>
          <a:p>
            <a:pPr algn="ctr">
              <a:defRPr/>
            </a:pPr>
            <a:endParaRPr/>
          </a:p>
        </p:txBody>
      </p:sp>
      <p:sp>
        <p:nvSpPr>
          <p:cNvPr id="15" name="AutoShape 6"/>
          <p:cNvSpPr/>
          <p:nvPr userDrawn="1"/>
        </p:nvSpPr>
        <p:spPr>
          <a:xfrm>
            <a:off x="0" y="2032000"/>
            <a:ext cx="12192000" cy="2032000"/>
          </a:xfrm>
          <a:prstGeom prst="rect">
            <a:avLst/>
          </a:prstGeom>
          <a:noFill/>
          <a:ln w="12700" cap="flat" cmpd="sng">
            <a:noFill/>
            <a:prstDash val="solid"/>
            <a:round/>
          </a:ln>
          <a:effectLst>
            <a:outerShdw blurRad="571500" dir="5400000" algn="ctr" rotWithShape="0">
              <a:srgbClr val="69F0AE">
                <a:alpha val="55000"/>
              </a:srgbClr>
            </a:outerShdw>
          </a:effectLst>
        </p:spPr>
        <p:txBody>
          <a:bodyPr vert="horz" wrap="square" lIns="0" tIns="0" rIns="0" bIns="0" rtlCol="0" anchor="ctr" anchorCtr="0"/>
          <a:lstStyle/>
          <a:p>
            <a:pPr marL="0" indent="0" algn="ctr">
              <a:lnSpc>
                <a:spcPct val="92000"/>
              </a:lnSpc>
              <a:defRPr/>
            </a:pPr>
            <a:r>
              <a:rPr lang="en-US" sz="12000" b="1" i="0" u="none" strike="noStrike">
                <a:solidFill>
                  <a:srgbClr val="69F0A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19" name="内容占位符 18"/>
          <p:cNvSpPr>
            <a:spLocks noGrp="1"/>
          </p:cNvSpPr>
          <p:nvPr>
            <p:ph idx="13" hasCustomPrompt="1"/>
          </p:nvPr>
        </p:nvSpPr>
        <p:spPr>
          <a:xfrm>
            <a:off x="762000" y="5398135"/>
            <a:ext cx="10401300" cy="405765"/>
          </a:xfrm>
        </p:spPr>
        <p:txBody>
          <a:bodyPr>
            <a:normAutofit/>
          </a:bodyPr>
          <a:lstStyle>
            <a:lvl1pPr marL="0" indent="0" algn="ctr">
              <a:lnSpc>
                <a:spcPct val="100000"/>
              </a:lnSpc>
              <a:buClr>
                <a:srgbClr val="00E5FA"/>
              </a:buClr>
              <a:buNone/>
              <a:defRPr kumimoji="0" lang="en-US" sz="1800" b="0" i="0" u="none" strike="noStrike" kern="0" cap="none" spc="200" normalizeH="0" baseline="0" noProof="1">
                <a:solidFill>
                  <a:srgbClr val="C8C8D2">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【提示:可以分组讨论 / 举手回答 / 课后思考】</a:t>
            </a: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2026/10/1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2026/10/1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8635" y="508000"/>
            <a:ext cx="10847070" cy="661035"/>
          </a:xfrm>
        </p:spPr>
        <p:txBody>
          <a:bodyPr/>
          <a:lstStyle>
            <a:lvl1pPr marL="0" marR="0" lvl="0" algn="l" defTabSz="914400" rtl="0" eaLnBrk="1" fontAlgn="auto" latinLnBrk="0" hangingPunct="1">
              <a:lnSpc>
                <a:spcPct val="90000"/>
              </a:lnSpc>
              <a:spcBef>
                <a:spcPct val="0"/>
              </a:spcBef>
              <a:buClrTx/>
              <a:buSzTx/>
              <a:buFontTx/>
              <a:buNone/>
              <a:defRPr kumimoji="0" lang="zh-CN" altLang="en-US" sz="3600" b="1" i="0" u="none" strike="noStrike" kern="0" cap="none" spc="200" normalizeH="0" baseline="0" noProof="1" dirty="0">
                <a:solidFill>
                  <a:srgbClr val="FFFFFF"/>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defRPr>
            </a:lvl1pPr>
          </a:lstStyle>
          <a:p>
            <a:r>
              <a:rPr lang="zh-CN" altLang="en-US"/>
              <a:t>单击此处编辑母版标题样式</a:t>
            </a:r>
          </a:p>
        </p:txBody>
      </p:sp>
      <p:sp>
        <p:nvSpPr>
          <p:cNvPr id="3" name="文本占位符 2"/>
          <p:cNvSpPr>
            <a:spLocks noGrp="1"/>
          </p:cNvSpPr>
          <p:nvPr>
            <p:ph type="body" idx="1"/>
          </p:nvPr>
        </p:nvSpPr>
        <p:spPr>
          <a:xfrm>
            <a:off x="762635" y="1904365"/>
            <a:ext cx="5234940" cy="508635"/>
          </a:xfrm>
        </p:spPr>
        <p:txBody>
          <a:bodyPr anchor="b"/>
          <a:lstStyle>
            <a:lvl1pPr marL="0" indent="0">
              <a:buNone/>
              <a:defRPr kumimoji="0" lang="en-US" sz="2400" b="1" i="0" u="none" strike="noStrike" kern="1200" cap="none" spc="0" normalizeH="0" baseline="0" noProof="1">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762635" y="2480310"/>
            <a:ext cx="5234940" cy="3709035"/>
          </a:xfrm>
        </p:spPr>
        <p:txBody>
          <a:bodyPr/>
          <a:lstStyle>
            <a:lvl1pPr>
              <a:lnSpc>
                <a:spcPct val="150000"/>
              </a:lnSpc>
              <a:buClr>
                <a:srgbClr val="00E5FF"/>
              </a:buClr>
              <a:defRPr/>
            </a:lvl1pPr>
            <a:lvl2pPr>
              <a:lnSpc>
                <a:spcPct val="150000"/>
              </a:lnSpc>
              <a:buClr>
                <a:srgbClr val="00E5FF"/>
              </a:buClr>
              <a:defRPr/>
            </a:lvl2pPr>
            <a:lvl3pPr>
              <a:lnSpc>
                <a:spcPct val="150000"/>
              </a:lnSpc>
              <a:buClr>
                <a:srgbClr val="00E5FF"/>
              </a:buClr>
              <a:defRPr/>
            </a:lvl3pPr>
            <a:lvl4pPr>
              <a:lnSpc>
                <a:spcPct val="150000"/>
              </a:lnSpc>
              <a:buClr>
                <a:srgbClr val="00E5FF"/>
              </a:buClr>
              <a:defRPr/>
            </a:lvl4pPr>
            <a:lvl5pPr>
              <a:lnSpc>
                <a:spcPct val="150000"/>
              </a:lnSpc>
              <a:buClr>
                <a:srgbClr val="00E5FF"/>
              </a:buClr>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604635" y="1903730"/>
            <a:ext cx="5079365" cy="509905"/>
          </a:xfrm>
        </p:spPr>
        <p:txBody>
          <a:bodyPr anchor="b"/>
          <a:lstStyle>
            <a:lvl1pPr marL="0" indent="0">
              <a:buNone/>
              <a:defRPr kumimoji="0" lang="en-US" sz="2400" b="1" i="0" u="none" strike="noStrike" kern="0" cap="none" spc="0" normalizeH="0" baseline="0" noProof="1">
                <a:solidFill>
                  <a:srgbClr val="B388FF"/>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604635" y="2480310"/>
            <a:ext cx="5078730" cy="3709035"/>
          </a:xfrm>
        </p:spPr>
        <p:txBody>
          <a:bodyPr/>
          <a:lstStyle>
            <a:lvl1pPr>
              <a:lnSpc>
                <a:spcPct val="150000"/>
              </a:lnSpc>
              <a:buClr>
                <a:srgbClr val="B388FF"/>
              </a:buClr>
              <a:defRPr/>
            </a:lvl1pPr>
            <a:lvl2pPr>
              <a:lnSpc>
                <a:spcPct val="150000"/>
              </a:lnSpc>
              <a:buClr>
                <a:srgbClr val="B388FF"/>
              </a:buClr>
              <a:defRPr/>
            </a:lvl2pPr>
            <a:lvl3pPr>
              <a:lnSpc>
                <a:spcPct val="150000"/>
              </a:lnSpc>
              <a:buClr>
                <a:srgbClr val="B388FF"/>
              </a:buClr>
              <a:defRPr/>
            </a:lvl3pPr>
            <a:lvl4pPr>
              <a:lnSpc>
                <a:spcPct val="150000"/>
              </a:lnSpc>
              <a:buClr>
                <a:srgbClr val="B388FF"/>
              </a:buClr>
              <a:defRPr/>
            </a:lvl4pPr>
            <a:lvl5pPr>
              <a:lnSpc>
                <a:spcPct val="150000"/>
              </a:lnSpc>
              <a:buClr>
                <a:srgbClr val="B388FF"/>
              </a:buClr>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AutoShape 2"/>
          <p:cNvSpPr/>
          <p:nvPr userDrawn="1"/>
        </p:nvSpPr>
        <p:spPr>
          <a:xfrm>
            <a:off x="-2286000" y="-2286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1" name="AutoShape 3"/>
          <p:cNvSpPr/>
          <p:nvPr userDrawn="1"/>
        </p:nvSpPr>
        <p:spPr>
          <a:xfrm>
            <a:off x="9398000" y="4318000"/>
            <a:ext cx="4826000" cy="4826000"/>
          </a:xfrm>
          <a:prstGeom prst="ellipse">
            <a:avLst/>
          </a:prstGeom>
          <a:gradFill rotWithShape="1">
            <a:gsLst>
              <a:gs pos="0">
                <a:srgbClr val="B388FF">
                  <a:alpha val="10000"/>
                </a:srgbClr>
              </a:gs>
              <a:gs pos="70000">
                <a:srgbClr val="B388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2" name="AutoShape 11"/>
          <p:cNvSpPr/>
          <p:nvPr userDrawn="1"/>
        </p:nvSpPr>
        <p:spPr>
          <a:xfrm>
            <a:off x="762000" y="5740400"/>
            <a:ext cx="482600" cy="482600"/>
          </a:xfrm>
          <a:prstGeom prst="ellipse">
            <a:avLst/>
          </a:prstGeom>
          <a:solidFill>
            <a:srgbClr val="00E5FF">
              <a:alpha val="0"/>
            </a:srgbClr>
          </a:solidFill>
          <a:ln w="25400" cap="flat" cmpd="sng">
            <a:solidFill>
              <a:srgbClr val="00E5FF">
                <a:alpha val="55000"/>
              </a:srgbClr>
            </a:solidFill>
            <a:prstDash val="solid"/>
            <a:round/>
          </a:ln>
        </p:spPr>
        <p:txBody>
          <a:bodyPr vert="horz" wrap="square" lIns="63500" tIns="63500" rIns="63500" bIns="63500" rtlCol="0" anchor="ctr"/>
          <a:lstStyle/>
          <a:p>
            <a:pPr algn="ctr">
              <a:defRPr/>
            </a:pPr>
            <a:endParaRPr/>
          </a:p>
        </p:txBody>
      </p:sp>
      <p:sp>
        <p:nvSpPr>
          <p:cNvPr id="13" name="AutoShape 12"/>
          <p:cNvSpPr/>
          <p:nvPr userDrawn="1"/>
        </p:nvSpPr>
        <p:spPr>
          <a:xfrm>
            <a:off x="1397000" y="5740400"/>
            <a:ext cx="279400" cy="279400"/>
          </a:xfrm>
          <a:prstGeom prst="ellipse">
            <a:avLst/>
          </a:prstGeom>
          <a:solidFill>
            <a:srgbClr val="00E5FF">
              <a:alpha val="18000"/>
            </a:srgbClr>
          </a:solidFill>
          <a:ln w="12700" cap="flat" cmpd="sng">
            <a:solidFill>
              <a:srgbClr val="00E5FF">
                <a:alpha val="35000"/>
              </a:srgbClr>
            </a:solidFill>
            <a:prstDash val="solid"/>
            <a:round/>
          </a:ln>
        </p:spPr>
        <p:txBody>
          <a:bodyPr vert="horz" wrap="square" lIns="63500" tIns="63500" rIns="63500" bIns="63500" rtlCol="0" anchor="ctr"/>
          <a:lstStyle/>
          <a:p>
            <a:pPr algn="ctr">
              <a:defRPr/>
            </a:pPr>
            <a:endParaRPr/>
          </a:p>
        </p:txBody>
      </p:sp>
      <p:sp>
        <p:nvSpPr>
          <p:cNvPr id="17" name="AutoShape 17"/>
          <p:cNvSpPr/>
          <p:nvPr userDrawn="1"/>
        </p:nvSpPr>
        <p:spPr>
          <a:xfrm rot="2700000">
            <a:off x="6604000" y="5740400"/>
            <a:ext cx="431800" cy="431800"/>
          </a:xfrm>
          <a:prstGeom prst="roundRect">
            <a:avLst>
              <a:gd name="adj" fmla="val 0"/>
            </a:avLst>
          </a:prstGeom>
          <a:solidFill>
            <a:srgbClr val="B388FF">
              <a:alpha val="0"/>
            </a:srgbClr>
          </a:solidFill>
          <a:ln w="25400" cap="flat" cmpd="sng">
            <a:solidFill>
              <a:srgbClr val="B388FF">
                <a:alpha val="55000"/>
              </a:srgbClr>
            </a:solidFill>
            <a:prstDash val="solid"/>
            <a:round/>
          </a:ln>
        </p:spPr>
        <p:txBody>
          <a:bodyPr vert="horz" wrap="square" lIns="63500" tIns="63500" rIns="63500" bIns="63500" rtlCol="0" anchor="ctr"/>
          <a:lstStyle/>
          <a:p>
            <a:pPr algn="ctr">
              <a:defRPr/>
            </a:pPr>
            <a:endParaRPr/>
          </a:p>
        </p:txBody>
      </p:sp>
      <p:sp>
        <p:nvSpPr>
          <p:cNvPr id="18" name="AutoShape 18"/>
          <p:cNvSpPr/>
          <p:nvPr userDrawn="1"/>
        </p:nvSpPr>
        <p:spPr>
          <a:xfrm rot="2700000">
            <a:off x="7264400" y="5816600"/>
            <a:ext cx="279400" cy="279400"/>
          </a:xfrm>
          <a:prstGeom prst="roundRect">
            <a:avLst>
              <a:gd name="adj" fmla="val 0"/>
            </a:avLst>
          </a:prstGeom>
          <a:solidFill>
            <a:srgbClr val="B388FF">
              <a:alpha val="18000"/>
            </a:srgbClr>
          </a:solidFill>
          <a:ln w="12700" cap="flat" cmpd="sng">
            <a:solidFill>
              <a:srgbClr val="B388FF">
                <a:alpha val="35000"/>
              </a:srgbClr>
            </a:solidFill>
            <a:prstDash val="solid"/>
            <a:round/>
          </a:ln>
        </p:spPr>
        <p:txBody>
          <a:bodyPr vert="horz" wrap="square" lIns="63500" tIns="63500" rIns="63500" bIns="63500" rtlCol="0" anchor="ctr"/>
          <a:lstStyle/>
          <a:p>
            <a:pPr algn="ctr">
              <a:defRPr/>
            </a:pPr>
            <a:endParaRPr/>
          </a:p>
        </p:txBody>
      </p:sp>
      <p:cxnSp>
        <p:nvCxnSpPr>
          <p:cNvPr id="15" name="Connector 6"/>
          <p:cNvCxnSpPr/>
          <p:nvPr userDrawn="1"/>
        </p:nvCxnSpPr>
        <p:spPr>
          <a:xfrm rot="5388540">
            <a:off x="4191000" y="3676661"/>
            <a:ext cx="3810000" cy="12700"/>
          </a:xfrm>
          <a:prstGeom prst="straightConnector1">
            <a:avLst/>
          </a:prstGeom>
          <a:solidFill>
            <a:srgbClr val="DEE0E3">
              <a:alpha val="100000"/>
            </a:srgbClr>
          </a:solidFill>
          <a:ln w="12700" cap="flat" cmpd="sng">
            <a:solidFill>
              <a:srgbClr val="FFFFFF">
                <a:alpha val="18000"/>
              </a:srgbClr>
            </a:solidFill>
            <a:prstDash val="solid"/>
            <a:round/>
            <a:headEnd type="none" w="med" len="med"/>
            <a:tailEnd type="none" w="med" len="med"/>
          </a:ln>
        </p:spPr>
      </p:cxnSp>
      <p:sp>
        <p:nvSpPr>
          <p:cNvPr id="19" name="AutoShape 5"/>
          <p:cNvSpPr/>
          <p:nvPr userDrawn="1"/>
        </p:nvSpPr>
        <p:spPr>
          <a:xfrm>
            <a:off x="508000" y="1295400"/>
            <a:ext cx="11176000" cy="50800"/>
          </a:xfrm>
          <a:prstGeom prst="roundRect">
            <a:avLst>
              <a:gd name="adj" fmla="val 0"/>
            </a:avLst>
          </a:prstGeom>
          <a:gradFill rotWithShape="1">
            <a:gsLst>
              <a:gs pos="0">
                <a:srgbClr val="00E5FF">
                  <a:alpha val="100000"/>
                </a:srgbClr>
              </a:gs>
              <a:gs pos="45000">
                <a:srgbClr val="00E5FF">
                  <a:alpha val="35000"/>
                </a:srgbClr>
              </a:gs>
              <a:gs pos="100000">
                <a:srgbClr val="00E5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3" name="灯片编号占位符 22"/>
          <p:cNvSpPr>
            <a:spLocks noGrp="1"/>
          </p:cNvSpPr>
          <p:nvPr>
            <p:ph type="sldNum" sz="quarter" idx="12"/>
          </p:nvPr>
        </p:nvSpPr>
        <p:spPr>
          <a:xfrm>
            <a:off x="4724400" y="6356350"/>
            <a:ext cx="2743200" cy="365125"/>
          </a:xfrm>
        </p:spPr>
        <p:txBody>
          <a:bodyPr/>
          <a:lstStyle>
            <a:lvl1pPr algn="ctr">
              <a:defRPr/>
            </a:lvl1pPr>
          </a:lstStyle>
          <a:p>
            <a:fld id="{49AE70B2-8BF9-45C0-BB95-33D1B9D3A854}" type="slidenum">
              <a:rPr lang="zh-CN" altLang="en-US" smtClean="0"/>
              <a:t>‹#›</a:t>
            </a:fld>
            <a:endParaRPr lang="en-US" altLang="zh-CN"/>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508635" y="508000"/>
            <a:ext cx="10847070" cy="661035"/>
          </a:xfrm>
        </p:spPr>
        <p:txBody>
          <a:bodyPr/>
          <a:lstStyle>
            <a:lvl1pPr marL="0" marR="0" lvl="0" algn="l" defTabSz="914400" rtl="0" eaLnBrk="1" fontAlgn="auto" latinLnBrk="0" hangingPunct="1">
              <a:lnSpc>
                <a:spcPct val="90000"/>
              </a:lnSpc>
              <a:spcBef>
                <a:spcPct val="0"/>
              </a:spcBef>
              <a:buClrTx/>
              <a:buSzTx/>
              <a:buFontTx/>
              <a:buNone/>
              <a:defRPr kumimoji="0" lang="zh-CN" alt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defRPr>
            </a:lvl1pPr>
          </a:lstStyle>
          <a:p>
            <a:r>
              <a:rPr lang="zh-CN" altLang="en-US"/>
              <a:t>单击此处编辑母版标题样式</a:t>
            </a:r>
          </a:p>
        </p:txBody>
      </p:sp>
      <p:sp>
        <p:nvSpPr>
          <p:cNvPr id="10" name="AutoShape 2"/>
          <p:cNvSpPr/>
          <p:nvPr userDrawn="1"/>
        </p:nvSpPr>
        <p:spPr>
          <a:xfrm>
            <a:off x="-2286000" y="-2286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1" name="AutoShape 3"/>
          <p:cNvSpPr/>
          <p:nvPr userDrawn="1"/>
        </p:nvSpPr>
        <p:spPr>
          <a:xfrm>
            <a:off x="9398000" y="4318000"/>
            <a:ext cx="4826000" cy="4826000"/>
          </a:xfrm>
          <a:prstGeom prst="ellipse">
            <a:avLst/>
          </a:prstGeom>
          <a:gradFill rotWithShape="1">
            <a:gsLst>
              <a:gs pos="0">
                <a:srgbClr val="B388FF">
                  <a:alpha val="10000"/>
                </a:srgbClr>
              </a:gs>
              <a:gs pos="70000">
                <a:srgbClr val="B388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9" name="AutoShape 5"/>
          <p:cNvSpPr/>
          <p:nvPr userDrawn="1"/>
        </p:nvSpPr>
        <p:spPr>
          <a:xfrm>
            <a:off x="508000" y="1295400"/>
            <a:ext cx="11176000" cy="50800"/>
          </a:xfrm>
          <a:prstGeom prst="roundRect">
            <a:avLst>
              <a:gd name="adj" fmla="val 0"/>
            </a:avLst>
          </a:prstGeom>
          <a:gradFill rotWithShape="1">
            <a:gsLst>
              <a:gs pos="0">
                <a:srgbClr val="00E5FF">
                  <a:alpha val="100000"/>
                </a:srgbClr>
              </a:gs>
              <a:gs pos="45000">
                <a:srgbClr val="00E5FF">
                  <a:alpha val="35000"/>
                </a:srgbClr>
              </a:gs>
              <a:gs pos="100000">
                <a:srgbClr val="00E5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3" name="灯片编号占位符 22"/>
          <p:cNvSpPr>
            <a:spLocks noGrp="1"/>
          </p:cNvSpPr>
          <p:nvPr>
            <p:ph type="sldNum" sz="quarter" idx="12"/>
          </p:nvPr>
        </p:nvSpPr>
        <p:spPr>
          <a:xfrm>
            <a:off x="4724400" y="6356350"/>
            <a:ext cx="2743200" cy="365125"/>
          </a:xfrm>
        </p:spPr>
        <p:txBody>
          <a:bodyPr/>
          <a:lstStyle>
            <a:lvl1pPr algn="ctr">
              <a:defRPr/>
            </a:lvl1pPr>
          </a:lstStyle>
          <a:p>
            <a:fld id="{49AE70B2-8BF9-45C0-BB95-33D1B9D3A854}" type="slidenum">
              <a:rPr lang="zh-CN" altLang="en-US" smtClean="0"/>
              <a:t>‹#›</a:t>
            </a:fld>
            <a:endParaRPr lang="en-US" altLang="zh-CN"/>
          </a:p>
        </p:txBody>
      </p:sp>
      <p:cxnSp>
        <p:nvCxnSpPr>
          <p:cNvPr id="7" name="Connector 7"/>
          <p:cNvCxnSpPr/>
          <p:nvPr userDrawn="1"/>
        </p:nvCxnSpPr>
        <p:spPr>
          <a:xfrm rot="5388145">
            <a:off x="2374900" y="3867161"/>
            <a:ext cx="3683000" cy="12700"/>
          </a:xfrm>
          <a:prstGeom prst="straightConnector1">
            <a:avLst/>
          </a:prstGeom>
          <a:solidFill>
            <a:srgbClr val="DEE0E3">
              <a:alpha val="100000"/>
            </a:srgbClr>
          </a:solidFill>
          <a:ln w="12700" cap="flat" cmpd="sng">
            <a:solidFill>
              <a:srgbClr val="FFFFFF">
                <a:alpha val="12000"/>
              </a:srgbClr>
            </a:solidFill>
            <a:prstDash val="solid"/>
            <a:round/>
            <a:headEnd type="none" w="med" len="med"/>
            <a:tailEnd type="none" w="med" len="med"/>
          </a:ln>
        </p:spPr>
      </p:cxnSp>
      <p:cxnSp>
        <p:nvCxnSpPr>
          <p:cNvPr id="8" name="Connector 8"/>
          <p:cNvCxnSpPr/>
          <p:nvPr userDrawn="1"/>
        </p:nvCxnSpPr>
        <p:spPr>
          <a:xfrm rot="5388145">
            <a:off x="6134100" y="3867161"/>
            <a:ext cx="3683000" cy="12700"/>
          </a:xfrm>
          <a:prstGeom prst="straightConnector1">
            <a:avLst/>
          </a:prstGeom>
          <a:solidFill>
            <a:srgbClr val="DEE0E3">
              <a:alpha val="100000"/>
            </a:srgbClr>
          </a:solidFill>
          <a:ln w="12700" cap="flat" cmpd="sng">
            <a:solidFill>
              <a:srgbClr val="FFFFFF">
                <a:alpha val="12000"/>
              </a:srgbClr>
            </a:solidFill>
            <a:prstDash val="solid"/>
            <a:round/>
            <a:headEnd type="none" w="med" len="med"/>
            <a:tailEnd type="none" w="med" len="med"/>
          </a:ln>
        </p:spPr>
      </p:cxn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588635" y="1651635"/>
            <a:ext cx="5967730" cy="2440305"/>
          </a:xfrm>
        </p:spPr>
        <p:txBody>
          <a:bodyPr anchor="b" anchorCtr="0">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2026/10/1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12" name="AutoShape 2"/>
          <p:cNvSpPr/>
          <p:nvPr userDrawn="1"/>
        </p:nvSpPr>
        <p:spPr>
          <a:xfrm>
            <a:off x="7112000" y="3048000"/>
            <a:ext cx="7874000" cy="7874000"/>
          </a:xfrm>
          <a:prstGeom prst="ellipse">
            <a:avLst/>
          </a:prstGeom>
          <a:gradFill rotWithShape="1">
            <a:gsLst>
              <a:gs pos="0">
                <a:srgbClr val="00E5FF">
                  <a:alpha val="22000"/>
                </a:srgbClr>
              </a:gs>
              <a:gs pos="28000">
                <a:srgbClr val="B388FF">
                  <a:alpha val="12000"/>
                </a:srgbClr>
              </a:gs>
              <a:gs pos="65000">
                <a:srgbClr val="121212">
                  <a:alpha val="0"/>
                </a:srgbClr>
              </a:gs>
            </a:gsLst>
            <a:path path="circle">
              <a:fillToRect l="50000" t="50000" r="50000" b="50000"/>
            </a:path>
            <a:tileRect/>
          </a:gradFill>
          <a:ln cap="flat" cmpd="sng">
            <a:gradFill rotWithShape="1">
              <a:gsLst>
                <a:gs pos="0">
                  <a:srgbClr val="00CEE6">
                    <a:alpha val="22000"/>
                  </a:srgbClr>
                </a:gs>
                <a:gs pos="28000">
                  <a:srgbClr val="9263E6">
                    <a:alpha val="12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3" name="AutoShape 3"/>
          <p:cNvSpPr/>
          <p:nvPr userDrawn="1"/>
        </p:nvSpPr>
        <p:spPr>
          <a:xfrm>
            <a:off x="5588635" y="4572000"/>
            <a:ext cx="6350000" cy="6350000"/>
          </a:xfrm>
          <a:prstGeom prst="ellipse">
            <a:avLst/>
          </a:prstGeom>
          <a:gradFill rotWithShape="1">
            <a:gsLst>
              <a:gs pos="0">
                <a:srgbClr val="B388FF">
                  <a:alpha val="18000"/>
                </a:srgbClr>
              </a:gs>
              <a:gs pos="60000">
                <a:srgbClr val="121212">
                  <a:alpha val="0"/>
                </a:srgbClr>
              </a:gs>
            </a:gsLst>
            <a:path path="circle">
              <a:fillToRect l="50000" t="50000" r="50000" b="50000"/>
            </a:path>
            <a:tileRect/>
          </a:gradFill>
          <a:ln cap="flat" cmpd="sng">
            <a:gradFill rotWithShape="1">
              <a:gsLst>
                <a:gs pos="0">
                  <a:srgbClr val="9263E6">
                    <a:alpha val="18000"/>
                  </a:srgbClr>
                </a:gs>
                <a:gs pos="60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6" name="AutoShape 6"/>
          <p:cNvSpPr/>
          <p:nvPr userDrawn="1"/>
        </p:nvSpPr>
        <p:spPr>
          <a:xfrm>
            <a:off x="6350000" y="4110355"/>
            <a:ext cx="762000" cy="38100"/>
          </a:xfrm>
          <a:prstGeom prst="roundRect">
            <a:avLst>
              <a:gd name="adj" fmla="val 0"/>
            </a:avLst>
          </a:prstGeom>
          <a:gradFill rotWithShape="1">
            <a:gsLst>
              <a:gs pos="0">
                <a:srgbClr val="00E5FF">
                  <a:alpha val="100000"/>
                </a:srgbClr>
              </a:gs>
              <a:gs pos="100000">
                <a:srgbClr val="B388FF">
                  <a:alpha val="100000"/>
                </a:srgbClr>
              </a:gs>
            </a:gsLst>
            <a:lin ang="0"/>
          </a:gradFill>
          <a:ln cap="flat" cmpd="sng">
            <a:gradFill rotWithShape="1">
              <a:gsLst>
                <a:gs pos="0">
                  <a:srgbClr val="00CEE6">
                    <a:alpha val="100000"/>
                  </a:srgbClr>
                </a:gs>
                <a:gs pos="100000">
                  <a:srgbClr val="9263E6">
                    <a:alpha val="100000"/>
                  </a:srgbClr>
                </a:gs>
              </a:gsLst>
              <a:lin ang="0"/>
            </a:gradFill>
            <a:prstDash val="solid"/>
            <a:round/>
          </a:ln>
        </p:spPr>
        <p:txBody>
          <a:bodyPr vert="horz" wrap="square" lIns="63500" tIns="63500" rIns="63500" bIns="63500" rtlCol="0" anchor="ctr"/>
          <a:lstStyle/>
          <a:p>
            <a:pPr algn="ctr">
              <a:defRPr/>
            </a:pPr>
            <a:endParaRPr/>
          </a:p>
        </p:txBody>
      </p:sp>
      <p:sp>
        <p:nvSpPr>
          <p:cNvPr id="6" name="文本占位符 5"/>
          <p:cNvSpPr>
            <a:spLocks noGrp="1"/>
          </p:cNvSpPr>
          <p:nvPr>
            <p:ph type="body" idx="13" hasCustomPrompt="1"/>
          </p:nvPr>
        </p:nvSpPr>
        <p:spPr>
          <a:xfrm>
            <a:off x="889635" y="1651635"/>
            <a:ext cx="4699000" cy="3160395"/>
          </a:xfrm>
        </p:spPr>
        <p:txBody>
          <a:bodyPr anchor="ctr" anchorCtr="0"/>
          <a:lstStyle>
            <a:lvl1pPr marL="0" marR="0" lvl="0" indent="0" algn="ctr" defTabSz="914400" rtl="0" eaLnBrk="1" fontAlgn="auto" latinLnBrk="0" hangingPunct="1">
              <a:lnSpc>
                <a:spcPct val="92000"/>
              </a:lnSpc>
              <a:spcBef>
                <a:spcPts val="1000"/>
              </a:spcBef>
              <a:buClrTx/>
              <a:buSzTx/>
              <a:buFontTx/>
              <a:buNone/>
              <a:defRPr/>
            </a:lvl1pPr>
          </a:lstStyle>
          <a:p>
            <a:pPr lvl="0"/>
            <a:r>
              <a:rPr lang="zh-CN" altLang="en-US"/>
              <a:t>编号</a:t>
            </a:r>
          </a:p>
        </p:txBody>
      </p:sp>
      <p:sp>
        <p:nvSpPr>
          <p:cNvPr id="7" name="文本占位符 6"/>
          <p:cNvSpPr>
            <a:spLocks noGrp="1"/>
          </p:cNvSpPr>
          <p:nvPr>
            <p:ph type="body" idx="14" hasCustomPrompt="1"/>
          </p:nvPr>
        </p:nvSpPr>
        <p:spPr>
          <a:xfrm>
            <a:off x="6096000" y="4304030"/>
            <a:ext cx="5461635" cy="683895"/>
          </a:xfrm>
        </p:spPr>
        <p:txBody>
          <a:bodyPr anchor="ctr" anchorCtr="0"/>
          <a:lstStyle>
            <a:lvl1pPr marL="0" marR="0" lvl="0" indent="0" algn="l" defTabSz="914400" rtl="0" eaLnBrk="1" fontAlgn="auto" latinLnBrk="0" hangingPunct="1">
              <a:lnSpc>
                <a:spcPct val="117000"/>
              </a:lnSpc>
              <a:spcBef>
                <a:spcPts val="1000"/>
              </a:spcBef>
              <a:buClrTx/>
              <a:buSzTx/>
              <a:buFontTx/>
              <a:buNone/>
              <a:defRPr/>
            </a:lvl1pPr>
          </a:lstStyle>
          <a:p>
            <a:pPr marL="0" indent="0" algn="l">
              <a:lnSpc>
                <a:spcPct val="117000"/>
              </a:lnSpc>
              <a:defRPr/>
            </a:pPr>
            <a:r>
              <a:rPr lang="en-US" spc="300">
                <a:solidFill>
                  <a:srgbClr val="B4B4BE"/>
                </a:solidFill>
                <a:latin typeface="Noto Sans SC" panose="020B0200000000000000" charset="-122"/>
                <a:ea typeface="Noto Sans SC" panose="020B0200000000000000" charset="-122"/>
                <a:cs typeface="Noto Sans SC" panose="020B0200000000000000" charset="-122"/>
                <a:sym typeface="Noto Sans SC" panose="020B0200000000000000" charset="-122"/>
              </a:rPr>
              <a:t>【章节副标题 / 引言】</a:t>
            </a:r>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2026/10/1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2026/10/1</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2026/10/1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2026/10/1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AutoShape 2"/>
          <p:cNvSpPr/>
          <p:nvPr userDrawn="1"/>
        </p:nvSpPr>
        <p:spPr>
          <a:xfrm>
            <a:off x="-2286000" y="-2286000"/>
            <a:ext cx="16764000" cy="9144000"/>
          </a:xfrm>
          <a:prstGeom prst="ellipse">
            <a:avLst/>
          </a:prstGeom>
          <a:gradFill rotWithShape="1">
            <a:gsLst>
              <a:gs pos="0">
                <a:srgbClr val="38BDF8">
                  <a:alpha val="22000"/>
                </a:srgbClr>
              </a:gs>
              <a:gs pos="22000">
                <a:srgbClr val="A855F7">
                  <a:alpha val="14000"/>
                </a:srgbClr>
              </a:gs>
              <a:gs pos="62000">
                <a:srgbClr val="121212">
                  <a:alpha val="0"/>
                </a:srgbClr>
              </a:gs>
            </a:gsLst>
            <a:path path="circle">
              <a:fillToRect l="50000" t="50000" r="50000" b="50000"/>
            </a:path>
            <a:tileRect/>
          </a:gradFill>
          <a:ln cap="flat" cmpd="sng">
            <a:gradFill rotWithShape="1">
              <a:gsLst>
                <a:gs pos="0">
                  <a:srgbClr val="1CA3DF">
                    <a:alpha val="22000"/>
                  </a:srgbClr>
                </a:gs>
                <a:gs pos="22000">
                  <a:srgbClr val="8C36DE">
                    <a:alpha val="14000"/>
                  </a:srgbClr>
                </a:gs>
                <a:gs pos="62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7" name="AutoShape 3"/>
          <p:cNvSpPr/>
          <p:nvPr userDrawn="1"/>
        </p:nvSpPr>
        <p:spPr>
          <a:xfrm>
            <a:off x="-1778000" y="-1524000"/>
            <a:ext cx="15748000" cy="7874000"/>
          </a:xfrm>
          <a:prstGeom prst="ellipse">
            <a:avLst/>
          </a:prstGeom>
          <a:gradFill rotWithShape="1">
            <a:gsLst>
              <a:gs pos="0">
                <a:srgbClr val="A855F7">
                  <a:alpha val="18000"/>
                </a:srgbClr>
              </a:gs>
              <a:gs pos="20000">
                <a:srgbClr val="38BDF8">
                  <a:alpha val="8000"/>
                </a:srgbClr>
              </a:gs>
              <a:gs pos="57999">
                <a:srgbClr val="121212">
                  <a:alpha val="0"/>
                </a:srgbClr>
              </a:gs>
            </a:gsLst>
            <a:path path="circle">
              <a:fillToRect l="50000" t="50000" r="50000" b="50000"/>
            </a:path>
            <a:tileRect/>
          </a:gradFill>
          <a:ln cap="flat" cmpd="sng">
            <a:gradFill rotWithShape="1">
              <a:gsLst>
                <a:gs pos="0">
                  <a:srgbClr val="8C36DE">
                    <a:alpha val="18000"/>
                  </a:srgbClr>
                </a:gs>
                <a:gs pos="20000">
                  <a:srgbClr val="1CA3DF">
                    <a:alpha val="8000"/>
                  </a:srgbClr>
                </a:gs>
                <a:gs pos="57999">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3" name="日期占位符 2"/>
          <p:cNvSpPr>
            <a:spLocks noGrp="1"/>
          </p:cNvSpPr>
          <p:nvPr>
            <p:ph type="dt" sz="half" idx="10"/>
          </p:nvPr>
        </p:nvSpPr>
        <p:spPr/>
        <p:txBody>
          <a:bodyPr/>
          <a:lstStyle/>
          <a:p>
            <a:fld id="{760FBDFE-C587-4B4C-A407-44438C67B59E}" type="datetimeFigureOut">
              <a:rPr lang="zh-CN" altLang="en-US" smtClean="0"/>
              <a:t>2026/10/1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8" name="AutoShape 4"/>
          <p:cNvSpPr/>
          <p:nvPr userDrawn="1"/>
        </p:nvSpPr>
        <p:spPr>
          <a:xfrm>
            <a:off x="762000" y="1778000"/>
            <a:ext cx="10668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7200" b="1" i="0" u="none" strike="noStrike" spc="120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谢谢聆听</a:t>
            </a:r>
            <a:endParaRPr lang="en-US" sz="1100"/>
          </a:p>
        </p:txBody>
      </p:sp>
      <p:sp>
        <p:nvSpPr>
          <p:cNvPr id="9" name="AutoShape 5"/>
          <p:cNvSpPr/>
          <p:nvPr userDrawn="1"/>
        </p:nvSpPr>
        <p:spPr>
          <a:xfrm>
            <a:off x="762000" y="3530600"/>
            <a:ext cx="10668000" cy="5842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2800" b="0" i="0" u="none" strike="noStrike" spc="800">
                <a:solidFill>
                  <a:srgbClr val="E5E7EB">
                    <a:alpha val="87843"/>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 / 提问交流环节】</a:t>
            </a:r>
            <a:endParaRPr lang="en-US" sz="1100"/>
          </a:p>
        </p:txBody>
      </p:sp>
      <p:cxnSp>
        <p:nvCxnSpPr>
          <p:cNvPr id="10" name="Connector 6"/>
          <p:cNvCxnSpPr/>
          <p:nvPr userDrawn="1"/>
        </p:nvCxnSpPr>
        <p:spPr>
          <a:xfrm rot="-57290">
            <a:off x="5715053" y="4565650"/>
            <a:ext cx="762000" cy="12700"/>
          </a:xfrm>
          <a:prstGeom prst="straightConnector1">
            <a:avLst/>
          </a:prstGeom>
          <a:solidFill>
            <a:srgbClr val="DEE0E3">
              <a:alpha val="100000"/>
            </a:srgbClr>
          </a:solidFill>
          <a:ln w="25400" cap="flat" cmpd="sng">
            <a:solidFill>
              <a:srgbClr val="A855F7">
                <a:alpha val="60000"/>
              </a:srgbClr>
            </a:solidFill>
            <a:prstDash val="solid"/>
            <a:round/>
            <a:headEnd type="none" w="lg" len="lg"/>
            <a:tailEnd type="none" w="lg" len="lg"/>
          </a:ln>
        </p:spPr>
      </p:cxnSp>
      <p:pic>
        <p:nvPicPr>
          <p:cNvPr id="11" name="Picture 7"/>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286000" y="4978400"/>
            <a:ext cx="279400" cy="279400"/>
          </a:xfrm>
          <a:prstGeom prst="rect">
            <a:avLst/>
          </a:prstGeom>
        </p:spPr>
      </p:pic>
      <p:cxnSp>
        <p:nvCxnSpPr>
          <p:cNvPr id="13" name="Connector 9"/>
          <p:cNvCxnSpPr/>
          <p:nvPr userDrawn="1"/>
        </p:nvCxnSpPr>
        <p:spPr>
          <a:xfrm rot="5267844">
            <a:off x="4787900" y="5162672"/>
            <a:ext cx="330200" cy="12700"/>
          </a:xfrm>
          <a:prstGeom prst="straightConnector1">
            <a:avLst/>
          </a:prstGeom>
          <a:solidFill>
            <a:srgbClr val="DEE0E3">
              <a:alpha val="100000"/>
            </a:srgbClr>
          </a:solidFill>
          <a:ln w="12700" cap="flat" cmpd="sng">
            <a:solidFill>
              <a:srgbClr val="FFFFFF">
                <a:alpha val="22000"/>
              </a:srgbClr>
            </a:solidFill>
            <a:prstDash val="solid"/>
            <a:round/>
            <a:headEnd type="none" w="med" len="med"/>
            <a:tailEnd type="none" w="med" len="med"/>
          </a:ln>
        </p:spPr>
      </p:cxnSp>
      <p:pic>
        <p:nvPicPr>
          <p:cNvPr id="14" name="Picture 10"/>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34000" y="4978400"/>
            <a:ext cx="279400" cy="279400"/>
          </a:xfrm>
          <a:prstGeom prst="rect">
            <a:avLst/>
          </a:prstGeom>
        </p:spPr>
      </p:pic>
      <p:cxnSp>
        <p:nvCxnSpPr>
          <p:cNvPr id="16" name="Connector 12"/>
          <p:cNvCxnSpPr/>
          <p:nvPr userDrawn="1"/>
        </p:nvCxnSpPr>
        <p:spPr>
          <a:xfrm rot="5267844">
            <a:off x="7772400" y="5162672"/>
            <a:ext cx="330200" cy="12700"/>
          </a:xfrm>
          <a:prstGeom prst="straightConnector1">
            <a:avLst/>
          </a:prstGeom>
          <a:solidFill>
            <a:srgbClr val="DEE0E3">
              <a:alpha val="100000"/>
            </a:srgbClr>
          </a:solidFill>
          <a:ln w="12700" cap="flat" cmpd="sng">
            <a:solidFill>
              <a:srgbClr val="FFFFFF">
                <a:alpha val="22000"/>
              </a:srgbClr>
            </a:solidFill>
            <a:prstDash val="solid"/>
            <a:round/>
            <a:headEnd type="none" w="med" len="med"/>
            <a:tailEnd type="none" w="med" len="med"/>
          </a:ln>
        </p:spPr>
      </p:cxnSp>
      <p:pic>
        <p:nvPicPr>
          <p:cNvPr id="17" name="Picture 13"/>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18500" y="4978400"/>
            <a:ext cx="279400" cy="279400"/>
          </a:xfrm>
          <a:prstGeom prst="rect">
            <a:avLst/>
          </a:prstGeom>
        </p:spPr>
      </p:pic>
      <p:sp>
        <p:nvSpPr>
          <p:cNvPr id="21" name="内容占位符 20"/>
          <p:cNvSpPr>
            <a:spLocks noGrp="1"/>
          </p:cNvSpPr>
          <p:nvPr>
            <p:ph idx="13" hasCustomPrompt="1"/>
          </p:nvPr>
        </p:nvSpPr>
        <p:spPr>
          <a:xfrm>
            <a:off x="2693035" y="4952365"/>
            <a:ext cx="203073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stStyle>
          <a:p>
            <a:pPr marL="0" indent="0" algn="l">
              <a:lnSpc>
                <a:spcPct val="100000"/>
              </a:lnSpc>
              <a:defRPr/>
            </a:pPr>
            <a:r>
              <a:rPr>
                <a:sym typeface="Noto Sans SC" panose="020B0200000000000000" charset="-122"/>
              </a:rPr>
              <a:t>contact@xxx.com</a:t>
            </a:r>
            <a:endParaRPr lang="en-US" altLang="zh-CN"/>
          </a:p>
        </p:txBody>
      </p:sp>
      <p:sp>
        <p:nvSpPr>
          <p:cNvPr id="22" name="内容占位符 21"/>
          <p:cNvSpPr>
            <a:spLocks noGrp="1"/>
          </p:cNvSpPr>
          <p:nvPr>
            <p:ph idx="14" hasCustomPrompt="1"/>
          </p:nvPr>
        </p:nvSpPr>
        <p:spPr>
          <a:xfrm>
            <a:off x="5740400" y="4953000"/>
            <a:ext cx="203200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stStyle>
          <a:p>
            <a:pPr marL="0" indent="0" algn="l">
              <a:lnSpc>
                <a:spcPct val="100000"/>
              </a:lnSpc>
              <a:defRPr/>
            </a:pPr>
            <a:r>
              <a:rPr lang="zh-CN" altLang="en-US"/>
              <a:t>公众号：</a:t>
            </a:r>
            <a:r>
              <a:rPr altLang="zh-CN"/>
              <a:t>XXX</a:t>
            </a:r>
          </a:p>
        </p:txBody>
      </p:sp>
      <p:sp>
        <p:nvSpPr>
          <p:cNvPr id="23" name="内容占位符 22"/>
          <p:cNvSpPr>
            <a:spLocks noGrp="1"/>
          </p:cNvSpPr>
          <p:nvPr>
            <p:ph idx="15" hasCustomPrompt="1"/>
          </p:nvPr>
        </p:nvSpPr>
        <p:spPr>
          <a:xfrm>
            <a:off x="8724900" y="4953000"/>
            <a:ext cx="215900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panose="020B0200000000000000" charset="-122"/>
                <a:ea typeface="SimSun" pitchFamily="2" charset="-122"/>
                <a:cs typeface="Noto Sans SC" panose="020B0200000000000000" charset="-122"/>
                <a:sym typeface="Noto Sans SC" panose="020B0200000000000000" charset="-122"/>
              </a:defRPr>
            </a:lvl1pPr>
          </a:lstStyle>
          <a:p>
            <a:pPr marL="0" indent="0" algn="l">
              <a:lnSpc>
                <a:spcPct val="100000"/>
              </a:lnSpc>
              <a:defRPr/>
            </a:pPr>
            <a:r>
              <a:rPr lang="zh-CN" altLang="en-US"/>
              <a:t>公众号：</a:t>
            </a:r>
            <a:r>
              <a:rPr altLang="zh-CN"/>
              <a:t>XXX</a:t>
            </a:r>
            <a:r>
              <a:rPr lang="zh-CN" altLang="en-US"/>
              <a:t>事实</a:t>
            </a:r>
          </a:p>
        </p:txBody>
      </p:sp>
      <p:sp>
        <p:nvSpPr>
          <p:cNvPr id="25" name="内容占位符 24"/>
          <p:cNvSpPr>
            <a:spLocks noGrp="1"/>
          </p:cNvSpPr>
          <p:nvPr>
            <p:ph idx="16" hasCustomPrompt="1"/>
          </p:nvPr>
        </p:nvSpPr>
        <p:spPr>
          <a:xfrm>
            <a:off x="3215958" y="6121400"/>
            <a:ext cx="5760085" cy="329565"/>
          </a:xfrm>
        </p:spPr>
        <p:txBody>
          <a:bodyPr anchor="ctr" anchorCtr="0"/>
          <a:lstStyle>
            <a:lvl1pPr marL="0" indent="0" algn="ctr">
              <a:buNone/>
              <a:defRPr kumimoji="0" lang="en-US" sz="1400" b="0" i="0" u="none" strike="noStrike" kern="1200" cap="none" spc="400" normalizeH="0" baseline="0" noProof="1">
                <a:solidFill>
                  <a:srgbClr val="FFFFFF">
                    <a:alpha val="4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stStyle>
          <a:p>
            <a:pPr marL="0" indent="0" algn="ctr">
              <a:lnSpc>
                <a:spcPct val="100000"/>
              </a:lnSpc>
              <a:defRPr/>
            </a:pPr>
            <a:r>
              <a:rPr>
                <a:sym typeface="Noto Sans SC" panose="020B0200000000000000" charset="-122"/>
              </a:rPr>
              <a:t>【课程名称 / 机构名】</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6132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2026/10/1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pic>
        <p:nvPicPr>
          <p:cNvPr id="34" name="Image 0" descr="香港科技大学与上海产教融合中心反白Logo"/>
          <p:cNvPicPr>
            <a:picLocks noChangeAspect="1"/>
          </p:cNvPicPr>
          <p:nvPr userDrawn="1"/>
        </p:nvPicPr>
        <p:blipFill>
          <a:blip r:embed="rId16"/>
          <a:stretch>
            <a:fillRect/>
          </a:stretch>
        </p:blipFill>
        <p:spPr>
          <a:xfrm>
            <a:off x="8741664" y="274320"/>
            <a:ext cx="2788920" cy="6858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0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4.png"/><Relationship Id="rId7"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ctrTitle"/>
          </p:nvPr>
        </p:nvSpPr>
        <p:spPr/>
        <p:txBody>
          <a:bodyPr/>
          <a:lstStyle/>
          <a:p>
            <a:r>
              <a:rPr lang="zh-CN" altLang="en-US" sz="6000"/>
              <a:t>第七课</a:t>
            </a:r>
            <a:br>
              <a:rPr lang="zh-CN" altLang="en-US" sz="6000"/>
            </a:br>
            <a:r>
              <a:rPr lang="en-US" altLang="zh-CN" sz="6000"/>
              <a:t>AI </a:t>
            </a:r>
            <a:r>
              <a:rPr lang="zh-CN" altLang="en-US" sz="6000"/>
              <a:t>怎样完成复杂任务</a:t>
            </a:r>
          </a:p>
        </p:txBody>
      </p:sp>
      <p:sp>
        <p:nvSpPr>
          <p:cNvPr id="11" name="副标题 10"/>
          <p:cNvSpPr>
            <a:spLocks noGrp="1"/>
          </p:cNvSpPr>
          <p:nvPr>
            <p:ph type="subTitle" idx="1"/>
          </p:nvPr>
        </p:nvSpPr>
        <p:spPr/>
        <p:txBody>
          <a:bodyPr/>
          <a:lstStyle/>
          <a:p>
            <a:r>
              <a:rPr lang="zh-CN" altLang="en-US"/>
              <a:t>港科大人工智能前沿系列课程——大模型基础通识</a:t>
            </a:r>
          </a:p>
          <a:p>
            <a:endParaRPr lang="zh-CN" altLang="en-US"/>
          </a:p>
        </p:txBody>
      </p:sp>
      <p:sp>
        <p:nvSpPr>
          <p:cNvPr id="12" name="文本占位符 11"/>
          <p:cNvSpPr>
            <a:spLocks noGrp="1"/>
          </p:cNvSpPr>
          <p:nvPr>
            <p:ph type="body" idx="13"/>
          </p:nvPr>
        </p:nvSpPr>
        <p:spPr/>
        <p:txBody>
          <a:bodyPr/>
          <a:lstStyle/>
          <a:p>
            <a:r>
              <a:rPr lang="zh-CN" altLang="en-US"/>
              <a:t>授课人：王若愚</a:t>
            </a:r>
          </a:p>
        </p:txBody>
      </p:sp>
      <p:sp>
        <p:nvSpPr>
          <p:cNvPr id="13" name="文本占位符 12"/>
          <p:cNvSpPr>
            <a:spLocks noGrp="1"/>
          </p:cNvSpPr>
          <p:nvPr>
            <p:ph type="body" idx="16"/>
          </p:nvPr>
        </p:nvSpPr>
        <p:spPr/>
        <p:txBody>
          <a:bodyPr/>
          <a:lstStyle/>
          <a:p>
            <a:r>
              <a:rPr lang="en-US" altLang="zh-CN"/>
              <a:t>2026/09/01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a:t>回顾</a:t>
            </a:r>
          </a:p>
        </p:txBody>
      </p:sp>
      <p:sp>
        <p:nvSpPr>
          <p:cNvPr id="3" name="内容占位符 2"/>
          <p:cNvSpPr>
            <a:spLocks noGrp="1"/>
          </p:cNvSpPr>
          <p:nvPr>
            <p:ph idx="1"/>
          </p:nvPr>
        </p:nvSpPr>
        <p:spPr/>
        <p:txBody>
          <a:bodyPr/>
          <a:lstStyle/>
          <a:p>
            <a:pPr>
              <a:lnSpc>
                <a:spcPct val="150000"/>
              </a:lnSpc>
            </a:pPr>
            <a:r>
              <a:rPr lang="zh-CN" altLang="en-US" sz="2800" b="1">
                <a:solidFill>
                  <a:srgbClr val="00E5FA"/>
                </a:solidFill>
                <a:sym typeface="+mn-ea"/>
              </a:rPr>
              <a:t>样例提示</a:t>
            </a:r>
            <a:r>
              <a:rPr lang="zh-CN" altLang="en-US" sz="2800">
                <a:sym typeface="+mn-ea"/>
              </a:rPr>
              <a:t>、</a:t>
            </a:r>
            <a:r>
              <a:rPr lang="zh-CN" altLang="en-US" sz="2800" b="1">
                <a:solidFill>
                  <a:srgbClr val="00E5FA"/>
                </a:solidFill>
                <a:sym typeface="+mn-ea"/>
              </a:rPr>
              <a:t>分步说明</a:t>
            </a:r>
            <a:r>
              <a:rPr lang="zh-CN" altLang="en-US" sz="2800">
                <a:sym typeface="+mn-ea"/>
              </a:rPr>
              <a:t>、</a:t>
            </a:r>
            <a:r>
              <a:rPr lang="zh-CN" altLang="en-US" sz="2800" b="1">
                <a:solidFill>
                  <a:srgbClr val="00E5FA"/>
                </a:solidFill>
                <a:sym typeface="+mn-ea"/>
              </a:rPr>
              <a:t>结构化输入/输出</a:t>
            </a:r>
            <a:r>
              <a:rPr lang="zh-CN" altLang="en-US" sz="2800">
                <a:sym typeface="+mn-ea"/>
              </a:rPr>
              <a:t>、</a:t>
            </a:r>
            <a:r>
              <a:rPr lang="zh-CN" altLang="en-US" sz="2800" b="1">
                <a:solidFill>
                  <a:srgbClr val="00E5FA"/>
                </a:solidFill>
                <a:sym typeface="+mn-ea"/>
              </a:rPr>
              <a:t>角色扮演</a:t>
            </a:r>
            <a:r>
              <a:rPr lang="zh-CN" altLang="en-US" sz="2800">
                <a:sym typeface="+mn-ea"/>
              </a:rPr>
              <a:t>都可以提升大模型输出的效果，</a:t>
            </a:r>
            <a:r>
              <a:rPr lang="zh-CN" altLang="en-US" sz="2800" b="1">
                <a:solidFill>
                  <a:srgbClr val="00E5FA"/>
                </a:solidFill>
                <a:sym typeface="+mn-ea"/>
              </a:rPr>
              <a:t>上下文</a:t>
            </a:r>
            <a:r>
              <a:rPr lang="zh-CN" altLang="en-US" sz="2800">
                <a:sym typeface="+mn-ea"/>
              </a:rPr>
              <a:t>对结果的影响也不能忽略</a:t>
            </a:r>
            <a:endParaRPr lang="zh-CN" altLang="en-US" sz="2800"/>
          </a:p>
          <a:p>
            <a:pPr>
              <a:lnSpc>
                <a:spcPct val="150000"/>
              </a:lnSpc>
            </a:pPr>
            <a:r>
              <a:rPr lang="zh-CN" altLang="en-US" sz="2800">
                <a:sym typeface="+mn-ea"/>
              </a:rPr>
              <a:t>提示词需要经过不断</a:t>
            </a:r>
            <a:r>
              <a:rPr lang="zh-CN" altLang="en-US" sz="2800" b="1">
                <a:solidFill>
                  <a:srgbClr val="00E5FA"/>
                </a:solidFill>
                <a:sym typeface="+mn-ea"/>
              </a:rPr>
              <a:t>迭代和修改</a:t>
            </a:r>
            <a:r>
              <a:rPr lang="zh-CN" altLang="en-US" sz="2800">
                <a:sym typeface="+mn-ea"/>
              </a:rPr>
              <a:t>才能逐渐完善</a:t>
            </a:r>
            <a:endParaRPr lang="zh-CN" altLang="en-US" sz="2800"/>
          </a:p>
          <a:p>
            <a:pPr>
              <a:lnSpc>
                <a:spcPct val="150000"/>
              </a:lnSpc>
            </a:pPr>
            <a:r>
              <a:rPr lang="zh-CN" altLang="en-US" sz="2800">
                <a:sym typeface="+mn-ea"/>
              </a:rPr>
              <a:t>可以通过</a:t>
            </a:r>
            <a:r>
              <a:rPr lang="zh-CN" altLang="en-US" sz="2800" b="1">
                <a:solidFill>
                  <a:srgbClr val="00E5FA"/>
                </a:solidFill>
                <a:sym typeface="+mn-ea"/>
              </a:rPr>
              <a:t>大模型生成提示词</a:t>
            </a:r>
            <a:r>
              <a:rPr lang="zh-CN" altLang="en-US" sz="2800">
                <a:sym typeface="+mn-ea"/>
              </a:rPr>
              <a:t>来提高提示词的撰写效率</a:t>
            </a:r>
            <a:endParaRPr lang="en-US" altLang="zh-CN" sz="2800" b="1">
              <a:solidFill>
                <a:srgbClr val="00E5FA"/>
              </a:solidFill>
              <a:sym typeface="+mn-ea"/>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t>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大模型是否可以直接回答？</a:t>
            </a:r>
          </a:p>
        </p:txBody>
      </p:sp>
      <p:sp>
        <p:nvSpPr>
          <p:cNvPr id="3" name="内容占位符 2"/>
          <p:cNvSpPr>
            <a:spLocks noGrp="1"/>
          </p:cNvSpPr>
          <p:nvPr>
            <p:ph idx="1"/>
          </p:nvPr>
        </p:nvSpPr>
        <p:spPr/>
        <p:txBody>
          <a:bodyPr/>
          <a:lstStyle/>
          <a:p>
            <a:r>
              <a:rPr lang="zh-CN" altLang="en-US"/>
              <a:t>请解释：什么是氧化还原反应</a:t>
            </a:r>
          </a:p>
          <a:p>
            <a:endParaRPr lang="zh-CN" altLang="en-US"/>
          </a:p>
          <a:p>
            <a:r>
              <a:rPr lang="zh-CN" altLang="en-US"/>
              <a:t>请根据我提供的3道氧化还原反应错题，帮我找出共同错因，并用一段话告诉我下次怎么避免</a:t>
            </a:r>
          </a:p>
          <a:p>
            <a:endParaRPr lang="zh-CN" altLang="en-US"/>
          </a:p>
          <a:p>
            <a:r>
              <a:rPr lang="zh-CN" altLang="en-US"/>
              <a:t>请根据我的错题记录和老师讲义，安排 5 天复习计划，生成自测题，收集我的答题结果，再调整后两天安排</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6" name="内容占位符 5"/>
          <p:cNvSpPr>
            <a:spLocks noGrp="1"/>
          </p:cNvSpPr>
          <p:nvPr>
            <p:ph idx="1"/>
          </p:nvPr>
        </p:nvSpPr>
        <p:spPr>
          <a:xfrm>
            <a:off x="762000" y="4382135"/>
            <a:ext cx="10401300" cy="1422400"/>
          </a:xfrm>
        </p:spPr>
        <p:txBody>
          <a:bodyPr>
            <a:normAutofit/>
          </a:bodyPr>
          <a:lstStyle/>
          <a:p>
            <a:r>
              <a:rPr lang="zh-CN" altLang="en-US" dirty="0">
                <a:solidFill>
                  <a:schemeClr val="bg1"/>
                </a:solidFill>
                <a:sym typeface="+mn-ea"/>
              </a:rPr>
              <a:t>如何让</a:t>
            </a:r>
            <a:r>
              <a:rPr altLang="zh-CN" dirty="0">
                <a:solidFill>
                  <a:schemeClr val="bg1"/>
                </a:solidFill>
                <a:sym typeface="+mn-ea"/>
              </a:rPr>
              <a:t> AI </a:t>
            </a:r>
            <a:r>
              <a:rPr lang="zh-CN" altLang="en-US" dirty="0">
                <a:solidFill>
                  <a:schemeClr val="bg1"/>
                </a:solidFill>
                <a:sym typeface="+mn-ea"/>
              </a:rPr>
              <a:t>完成复杂任务？</a:t>
            </a:r>
          </a:p>
        </p:txBody>
      </p:sp>
      <p:sp>
        <p:nvSpPr>
          <p:cNvPr id="3" name="内容占位符 2"/>
          <p:cNvSpPr>
            <a:spLocks noGrp="1"/>
          </p:cNvSpPr>
          <p:nvPr>
            <p:ph idx="13"/>
          </p:nvPr>
        </p:nvSpPr>
        <p:spPr/>
        <p:txBody>
          <a:bodyPr>
            <a:normAutofit/>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4</a:t>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t>课程路线图</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5</a:t>
            </a:fld>
            <a:endParaRPr lang="en-US" altLang="zh-CN"/>
          </a:p>
        </p:txBody>
      </p:sp>
      <p:sp>
        <p:nvSpPr>
          <p:cNvPr id="6" name="AutoShape 6"/>
          <p:cNvSpPr/>
          <p:nvPr/>
        </p:nvSpPr>
        <p:spPr>
          <a:xfrm>
            <a:off x="2231390" y="1752600"/>
            <a:ext cx="899795" cy="4319905"/>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大</a:t>
            </a:r>
          </a:p>
          <a:p>
            <a:pPr marL="0" indent="0" algn="ctr">
              <a:lnSpc>
                <a:spcPct val="125000"/>
              </a:lnSpc>
              <a:defRPr/>
            </a:pPr>
            <a:r>
              <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模</a:t>
            </a:r>
          </a:p>
          <a:p>
            <a:pPr marL="0" indent="0" algn="ctr">
              <a:lnSpc>
                <a:spcPct val="125000"/>
              </a:lnSpc>
              <a:defRPr/>
            </a:pPr>
            <a:r>
              <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型</a:t>
            </a:r>
          </a:p>
          <a:p>
            <a:pPr marL="0" indent="0" algn="ctr">
              <a:lnSpc>
                <a:spcPct val="125000"/>
              </a:lnSpc>
              <a:defRPr/>
            </a:pPr>
            <a:r>
              <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产</a:t>
            </a:r>
          </a:p>
          <a:p>
            <a:pPr marL="0" indent="0" algn="ctr">
              <a:lnSpc>
                <a:spcPct val="125000"/>
              </a:lnSpc>
              <a:defRPr/>
            </a:pPr>
            <a:r>
              <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品</a:t>
            </a:r>
          </a:p>
        </p:txBody>
      </p:sp>
      <p:sp>
        <p:nvSpPr>
          <p:cNvPr id="5" name="AutoShape 6"/>
          <p:cNvSpPr/>
          <p:nvPr/>
        </p:nvSpPr>
        <p:spPr>
          <a:xfrm>
            <a:off x="3395980" y="1753235"/>
            <a:ext cx="899795" cy="154305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zh-CN" altLang="en-US" sz="24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模型</a:t>
            </a:r>
          </a:p>
          <a:p>
            <a:pPr marL="0" indent="0" algn="ctr">
              <a:lnSpc>
                <a:spcPct val="125000"/>
              </a:lnSpc>
              <a:defRPr/>
            </a:pPr>
            <a:r>
              <a:rPr lang="zh-CN" altLang="en-US" sz="24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原理</a:t>
            </a:r>
          </a:p>
        </p:txBody>
      </p:sp>
      <p:sp>
        <p:nvSpPr>
          <p:cNvPr id="7" name="AutoShape 6"/>
          <p:cNvSpPr/>
          <p:nvPr/>
        </p:nvSpPr>
        <p:spPr>
          <a:xfrm>
            <a:off x="3395980" y="3416935"/>
            <a:ext cx="899795" cy="1547495"/>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sz="2400" b="1">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模型</a:t>
            </a:r>
          </a:p>
          <a:p>
            <a:pPr lvl="0" algn="ctr">
              <a:lnSpc>
                <a:spcPct val="125000"/>
              </a:lnSpc>
              <a:buClrTx/>
              <a:buSzTx/>
              <a:buFontTx/>
              <a:defRPr/>
            </a:pPr>
            <a:r>
              <a:rPr lang="zh-CN" altLang="en-US" sz="2400" b="1">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应用</a:t>
            </a:r>
          </a:p>
        </p:txBody>
      </p:sp>
      <p:sp>
        <p:nvSpPr>
          <p:cNvPr id="8" name="AutoShape 6"/>
          <p:cNvSpPr/>
          <p:nvPr/>
        </p:nvSpPr>
        <p:spPr>
          <a:xfrm>
            <a:off x="3395980" y="5086985"/>
            <a:ext cx="899795" cy="98933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sz="2400" b="1">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智</a:t>
            </a:r>
          </a:p>
          <a:p>
            <a:pPr lvl="0" algn="ctr">
              <a:lnSpc>
                <a:spcPct val="125000"/>
              </a:lnSpc>
              <a:buClrTx/>
              <a:buSzTx/>
              <a:buFontTx/>
              <a:defRPr/>
            </a:pPr>
            <a:r>
              <a:rPr lang="zh-CN" altLang="en-US" sz="2400" b="1">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能体</a:t>
            </a:r>
          </a:p>
        </p:txBody>
      </p:sp>
      <p:grpSp>
        <p:nvGrpSpPr>
          <p:cNvPr id="17" name="组合 16"/>
          <p:cNvGrpSpPr/>
          <p:nvPr/>
        </p:nvGrpSpPr>
        <p:grpSpPr>
          <a:xfrm>
            <a:off x="4561205" y="1752600"/>
            <a:ext cx="5400040" cy="431800"/>
            <a:chOff x="7140" y="2760"/>
            <a:chExt cx="8504" cy="680"/>
          </a:xfrm>
        </p:grpSpPr>
        <p:sp>
          <p:nvSpPr>
            <p:cNvPr id="10"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p>
          </p:txBody>
        </p:sp>
        <p:sp>
          <p:nvSpPr>
            <p:cNvPr id="11" name="AutoShape 7"/>
            <p:cNvSpPr/>
            <p:nvPr/>
          </p:nvSpPr>
          <p:spPr>
            <a:xfrm>
              <a:off x="7140" y="2760"/>
              <a:ext cx="85" cy="680"/>
            </a:xfrm>
            <a:prstGeom prst="roundRect">
              <a:avLst>
                <a:gd name="adj" fmla="val 0"/>
              </a:avLst>
            </a:prstGeom>
            <a:solidFill>
              <a:srgbClr val="69F0AE"/>
            </a:solidFill>
            <a:ln w="25400" cap="flat" cmpd="sng">
              <a:noFill/>
              <a:prstDash val="solid"/>
              <a:round/>
            </a:ln>
          </p:spPr>
          <p:txBody>
            <a:bodyPr vert="horz" wrap="square" lIns="63500" tIns="63500" rIns="63500" bIns="63500" rtlCol="0" anchor="ctr"/>
            <a:lstStyle/>
            <a:p>
              <a:pPr algn="ctr">
                <a:defRPr/>
              </a:pPr>
              <a:endParaRPr/>
            </a:p>
          </p:txBody>
        </p:sp>
        <p:sp>
          <p:nvSpPr>
            <p:cNvPr id="13" name="文本框 12"/>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panose="020B0200000000000000" charset="-122"/>
                  <a:ea typeface="Noto Sans SC" panose="020B0200000000000000" charset="-122"/>
                  <a:cs typeface="Noto Sans SC" panose="020B0200000000000000" charset="-122"/>
                </a:rPr>
                <a:t>01</a:t>
              </a:r>
            </a:p>
          </p:txBody>
        </p:sp>
        <p:sp>
          <p:nvSpPr>
            <p:cNvPr id="15" name="文本框 14"/>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panose="020B0200000000000000" charset="-122"/>
                  <a:ea typeface="Noto Sans SC" panose="020B0200000000000000" charset="-122"/>
                  <a:cs typeface="Noto Sans SC" panose="020B0200000000000000" charset="-122"/>
                </a:rPr>
                <a:t>模型定位和介绍</a:t>
              </a:r>
            </a:p>
          </p:txBody>
        </p:sp>
      </p:grpSp>
      <p:grpSp>
        <p:nvGrpSpPr>
          <p:cNvPr id="18" name="组合 17"/>
          <p:cNvGrpSpPr/>
          <p:nvPr/>
        </p:nvGrpSpPr>
        <p:grpSpPr>
          <a:xfrm>
            <a:off x="4561205" y="3975100"/>
            <a:ext cx="5400040" cy="431800"/>
            <a:chOff x="7140" y="2760"/>
            <a:chExt cx="8504" cy="680"/>
          </a:xfrm>
        </p:grpSpPr>
        <p:sp>
          <p:nvSpPr>
            <p:cNvPr id="1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0" name="AutoShape 7"/>
            <p:cNvSpPr/>
            <p:nvPr/>
          </p:nvSpPr>
          <p:spPr>
            <a:xfrm>
              <a:off x="7140" y="2760"/>
              <a:ext cx="85" cy="680"/>
            </a:xfrm>
            <a:prstGeom prst="roundRect">
              <a:avLst>
                <a:gd name="adj" fmla="val 0"/>
              </a:avLst>
            </a:prstGeom>
            <a:solidFill>
              <a:srgbClr val="69F0AE"/>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1" name="文本框 2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panose="020B0200000000000000" charset="-122"/>
                  <a:ea typeface="Noto Sans SC" panose="020B0200000000000000" charset="-122"/>
                  <a:cs typeface="Noto Sans SC" panose="020B0200000000000000" charset="-122"/>
                </a:rPr>
                <a:t>05</a:t>
              </a:r>
            </a:p>
          </p:txBody>
        </p:sp>
        <p:sp>
          <p:nvSpPr>
            <p:cNvPr id="22" name="文本框 2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panose="020B0200000000000000" charset="-122"/>
                  <a:ea typeface="Noto Sans SC" panose="020B0200000000000000" charset="-122"/>
                  <a:cs typeface="Noto Sans SC" panose="020B0200000000000000" charset="-122"/>
                </a:rPr>
                <a:t>模型训练、选型与评估</a:t>
              </a:r>
            </a:p>
          </p:txBody>
        </p:sp>
      </p:grpSp>
      <p:grpSp>
        <p:nvGrpSpPr>
          <p:cNvPr id="23" name="组合 22"/>
          <p:cNvGrpSpPr/>
          <p:nvPr/>
        </p:nvGrpSpPr>
        <p:grpSpPr>
          <a:xfrm>
            <a:off x="4561205" y="5086350"/>
            <a:ext cx="5400040" cy="431800"/>
            <a:chOff x="7140" y="2760"/>
            <a:chExt cx="8504" cy="680"/>
          </a:xfrm>
        </p:grpSpPr>
        <p:sp>
          <p:nvSpPr>
            <p:cNvPr id="24" name="AutoShape 6"/>
            <p:cNvSpPr/>
            <p:nvPr/>
          </p:nvSpPr>
          <p:spPr>
            <a:xfrm>
              <a:off x="7140" y="2760"/>
              <a:ext cx="8504" cy="680"/>
            </a:xfrm>
            <a:prstGeom prst="roundRect">
              <a:avLst>
                <a:gd name="adj" fmla="val 0"/>
              </a:avLst>
            </a:prstGeom>
            <a:solidFill>
              <a:srgbClr val="FFE3B1">
                <a:alpha val="8000"/>
              </a:srgbClr>
            </a:solidFill>
            <a:ln w="12700" cap="flat" cmpd="sng">
              <a:solidFill>
                <a:srgbClr val="FFE3B1">
                  <a:alpha val="40000"/>
                </a:srgb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5" name="AutoShape 7"/>
            <p:cNvSpPr/>
            <p:nvPr/>
          </p:nvSpPr>
          <p:spPr>
            <a:xfrm>
              <a:off x="7140" y="2760"/>
              <a:ext cx="85" cy="680"/>
            </a:xfrm>
            <a:prstGeom prst="roundRect">
              <a:avLst>
                <a:gd name="adj" fmla="val 0"/>
              </a:avLst>
            </a:prstGeom>
            <a:solidFill>
              <a:srgbClr val="FFE3B1"/>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6" name="文本框 25"/>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FFE3B1"/>
                  </a:solidFill>
                  <a:latin typeface="Noto Sans SC" panose="020B0200000000000000" charset="-122"/>
                  <a:ea typeface="Noto Sans SC" panose="020B0200000000000000" charset="-122"/>
                  <a:cs typeface="Noto Sans SC" panose="020B0200000000000000" charset="-122"/>
                </a:rPr>
                <a:t>07</a:t>
              </a:r>
            </a:p>
          </p:txBody>
        </p:sp>
        <p:sp>
          <p:nvSpPr>
            <p:cNvPr id="27" name="文本框 26"/>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FFE3B1"/>
                  </a:solidFill>
                  <a:latin typeface="Noto Sans SC" panose="020B0200000000000000" charset="-122"/>
                  <a:ea typeface="Noto Sans SC" panose="020B0200000000000000" charset="-122"/>
                  <a:cs typeface="Noto Sans SC" panose="020B0200000000000000" charset="-122"/>
                </a:rPr>
                <a:t>智能体框架与工具使用</a:t>
              </a:r>
            </a:p>
          </p:txBody>
        </p:sp>
      </p:grpSp>
      <p:grpSp>
        <p:nvGrpSpPr>
          <p:cNvPr id="28" name="组合 27"/>
          <p:cNvGrpSpPr/>
          <p:nvPr/>
        </p:nvGrpSpPr>
        <p:grpSpPr>
          <a:xfrm>
            <a:off x="4561205" y="2308225"/>
            <a:ext cx="5400040" cy="431800"/>
            <a:chOff x="7140" y="2760"/>
            <a:chExt cx="8504" cy="680"/>
          </a:xfrm>
        </p:grpSpPr>
        <p:sp>
          <p:nvSpPr>
            <p:cNvPr id="2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p>
          </p:txBody>
        </p:sp>
        <p:sp>
          <p:nvSpPr>
            <p:cNvPr id="30" name="AutoShape 7"/>
            <p:cNvSpPr/>
            <p:nvPr/>
          </p:nvSpPr>
          <p:spPr>
            <a:xfrm>
              <a:off x="7140" y="2760"/>
              <a:ext cx="85" cy="680"/>
            </a:xfrm>
            <a:prstGeom prst="roundRect">
              <a:avLst>
                <a:gd name="adj" fmla="val 0"/>
              </a:avLst>
            </a:prstGeom>
            <a:solidFill>
              <a:srgbClr val="69F0AE"/>
            </a:solidFill>
            <a:ln w="25400" cap="flat" cmpd="sng">
              <a:noFill/>
              <a:prstDash val="solid"/>
              <a:round/>
            </a:ln>
          </p:spPr>
          <p:txBody>
            <a:bodyPr vert="horz" wrap="square" lIns="63500" tIns="63500" rIns="63500" bIns="63500" rtlCol="0" anchor="ctr"/>
            <a:lstStyle/>
            <a:p>
              <a:pPr algn="ctr">
                <a:defRPr/>
              </a:pPr>
              <a:endParaRPr/>
            </a:p>
          </p:txBody>
        </p:sp>
        <p:sp>
          <p:nvSpPr>
            <p:cNvPr id="31" name="文本框 3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panose="020B0200000000000000" charset="-122"/>
                  <a:ea typeface="Noto Sans SC" panose="020B0200000000000000" charset="-122"/>
                  <a:cs typeface="Noto Sans SC" panose="020B0200000000000000" charset="-122"/>
                </a:rPr>
                <a:t>02</a:t>
              </a:r>
            </a:p>
          </p:txBody>
        </p:sp>
        <p:sp>
          <p:nvSpPr>
            <p:cNvPr id="32" name="文本框 3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panose="020B0200000000000000" charset="-122"/>
                  <a:ea typeface="Noto Sans SC" panose="020B0200000000000000" charset="-122"/>
                  <a:cs typeface="Noto Sans SC" panose="020B0200000000000000" charset="-122"/>
                </a:rPr>
                <a:t>生成机制</a:t>
              </a:r>
            </a:p>
          </p:txBody>
        </p:sp>
      </p:grpSp>
      <p:grpSp>
        <p:nvGrpSpPr>
          <p:cNvPr id="33" name="组合 32"/>
          <p:cNvGrpSpPr/>
          <p:nvPr/>
        </p:nvGrpSpPr>
        <p:grpSpPr>
          <a:xfrm>
            <a:off x="4561205" y="2863850"/>
            <a:ext cx="5400040" cy="431800"/>
            <a:chOff x="7140" y="2760"/>
            <a:chExt cx="8504" cy="680"/>
          </a:xfrm>
        </p:grpSpPr>
        <p:sp>
          <p:nvSpPr>
            <p:cNvPr id="34"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p>
          </p:txBody>
        </p:sp>
        <p:sp>
          <p:nvSpPr>
            <p:cNvPr id="35" name="AutoShape 7"/>
            <p:cNvSpPr/>
            <p:nvPr/>
          </p:nvSpPr>
          <p:spPr>
            <a:xfrm>
              <a:off x="7140" y="2760"/>
              <a:ext cx="85" cy="680"/>
            </a:xfrm>
            <a:prstGeom prst="roundRect">
              <a:avLst>
                <a:gd name="adj" fmla="val 0"/>
              </a:avLst>
            </a:prstGeom>
            <a:solidFill>
              <a:srgbClr val="69F0AE"/>
            </a:solidFill>
            <a:ln w="25400" cap="flat" cmpd="sng">
              <a:noFill/>
              <a:prstDash val="solid"/>
              <a:round/>
            </a:ln>
          </p:spPr>
          <p:txBody>
            <a:bodyPr vert="horz" wrap="square" lIns="63500" tIns="63500" rIns="63500" bIns="63500" rtlCol="0" anchor="ctr"/>
            <a:lstStyle/>
            <a:p>
              <a:pPr algn="ctr">
                <a:defRPr/>
              </a:pPr>
              <a:endParaRPr/>
            </a:p>
          </p:txBody>
        </p:sp>
        <p:sp>
          <p:nvSpPr>
            <p:cNvPr id="36" name="文本框 35"/>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panose="020B0200000000000000" charset="-122"/>
                  <a:ea typeface="Noto Sans SC" panose="020B0200000000000000" charset="-122"/>
                  <a:cs typeface="Noto Sans SC" panose="020B0200000000000000" charset="-122"/>
                </a:rPr>
                <a:t>03</a:t>
              </a:r>
            </a:p>
          </p:txBody>
        </p:sp>
        <p:sp>
          <p:nvSpPr>
            <p:cNvPr id="37" name="文本框 36"/>
            <p:cNvSpPr txBox="1"/>
            <p:nvPr/>
          </p:nvSpPr>
          <p:spPr>
            <a:xfrm>
              <a:off x="7990" y="2760"/>
              <a:ext cx="7654" cy="680"/>
            </a:xfrm>
            <a:prstGeom prst="rect">
              <a:avLst/>
            </a:prstGeom>
            <a:noFill/>
          </p:spPr>
          <p:txBody>
            <a:bodyPr wrap="square" rtlCol="0" anchor="ctr" anchorCtr="0">
              <a:noAutofit/>
            </a:bodyPr>
            <a:lstStyle/>
            <a:p>
              <a:pPr algn="ctr"/>
              <a:r>
                <a:rPr lang="en-US" altLang="zh-CN" b="1" kern="0">
                  <a:solidFill>
                    <a:srgbClr val="69F0AE"/>
                  </a:solidFill>
                  <a:latin typeface="Noto Sans SC" panose="020B0200000000000000" charset="-122"/>
                  <a:ea typeface="Noto Sans SC" panose="020B0200000000000000" charset="-122"/>
                  <a:cs typeface="Noto Sans SC" panose="020B0200000000000000" charset="-122"/>
                </a:rPr>
                <a:t>token </a:t>
              </a:r>
              <a:r>
                <a:rPr lang="zh-CN" altLang="en-US" b="1" kern="0">
                  <a:solidFill>
                    <a:srgbClr val="69F0AE"/>
                  </a:solidFill>
                  <a:latin typeface="Noto Sans SC" panose="020B0200000000000000" charset="-122"/>
                  <a:ea typeface="SimSun" pitchFamily="2" charset="-122"/>
                  <a:cs typeface="Noto Sans SC" panose="020B0200000000000000" charset="-122"/>
                </a:rPr>
                <a:t>和</a:t>
              </a:r>
              <a:r>
                <a:rPr lang="en-US" altLang="zh-CN" b="1" kern="0">
                  <a:solidFill>
                    <a:srgbClr val="69F0AE"/>
                  </a:solidFill>
                  <a:latin typeface="Noto Sans SC" panose="020B0200000000000000" charset="-122"/>
                  <a:ea typeface="SimSun" pitchFamily="2" charset="-122"/>
                  <a:cs typeface="Noto Sans SC" panose="020B0200000000000000" charset="-122"/>
                </a:rPr>
                <a:t> </a:t>
              </a:r>
              <a:r>
                <a:rPr lang="en-US" altLang="zh-CN" b="1" kern="0">
                  <a:solidFill>
                    <a:srgbClr val="69F0AE"/>
                  </a:solidFill>
                  <a:latin typeface="Noto Sans SC" panose="020B0200000000000000" charset="-122"/>
                  <a:ea typeface="Noto Sans SC" panose="020B0200000000000000" charset="-122"/>
                  <a:cs typeface="Noto Sans SC" panose="020B0200000000000000" charset="-122"/>
                </a:rPr>
                <a:t>embedding</a:t>
              </a:r>
            </a:p>
          </p:txBody>
        </p:sp>
      </p:grpSp>
      <p:grpSp>
        <p:nvGrpSpPr>
          <p:cNvPr id="38" name="组合 37"/>
          <p:cNvGrpSpPr/>
          <p:nvPr/>
        </p:nvGrpSpPr>
        <p:grpSpPr>
          <a:xfrm>
            <a:off x="4561205" y="3419475"/>
            <a:ext cx="5400040" cy="431800"/>
            <a:chOff x="7140" y="2760"/>
            <a:chExt cx="8504" cy="680"/>
          </a:xfrm>
        </p:grpSpPr>
        <p:sp>
          <p:nvSpPr>
            <p:cNvPr id="3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0" name="AutoShape 7"/>
            <p:cNvSpPr/>
            <p:nvPr/>
          </p:nvSpPr>
          <p:spPr>
            <a:xfrm>
              <a:off x="7140" y="2760"/>
              <a:ext cx="85" cy="680"/>
            </a:xfrm>
            <a:prstGeom prst="roundRect">
              <a:avLst>
                <a:gd name="adj" fmla="val 0"/>
              </a:avLst>
            </a:prstGeom>
            <a:solidFill>
              <a:srgbClr val="69F0AE"/>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1" name="文本框 4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panose="020B0200000000000000" charset="-122"/>
                  <a:ea typeface="Noto Sans SC" panose="020B0200000000000000" charset="-122"/>
                  <a:cs typeface="Noto Sans SC" panose="020B0200000000000000" charset="-122"/>
                </a:rPr>
                <a:t>04</a:t>
              </a:r>
            </a:p>
          </p:txBody>
        </p:sp>
        <p:sp>
          <p:nvSpPr>
            <p:cNvPr id="42" name="文本框 4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panose="020B0200000000000000" charset="-122"/>
                  <a:ea typeface="Noto Sans SC" panose="020B0200000000000000" charset="-122"/>
                  <a:cs typeface="Noto Sans SC" panose="020B0200000000000000" charset="-122"/>
                </a:rPr>
                <a:t>注意力、算力和模型大小</a:t>
              </a:r>
            </a:p>
          </p:txBody>
        </p:sp>
      </p:grpSp>
      <p:grpSp>
        <p:nvGrpSpPr>
          <p:cNvPr id="43" name="组合 42"/>
          <p:cNvGrpSpPr/>
          <p:nvPr/>
        </p:nvGrpSpPr>
        <p:grpSpPr>
          <a:xfrm>
            <a:off x="4561205" y="4530725"/>
            <a:ext cx="5400040" cy="431800"/>
            <a:chOff x="7140" y="2760"/>
            <a:chExt cx="8504" cy="680"/>
          </a:xfrm>
        </p:grpSpPr>
        <p:sp>
          <p:nvSpPr>
            <p:cNvPr id="44"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5" name="AutoShape 7"/>
            <p:cNvSpPr/>
            <p:nvPr/>
          </p:nvSpPr>
          <p:spPr>
            <a:xfrm>
              <a:off x="7140" y="2760"/>
              <a:ext cx="85" cy="680"/>
            </a:xfrm>
            <a:prstGeom prst="roundRect">
              <a:avLst>
                <a:gd name="adj" fmla="val 0"/>
              </a:avLst>
            </a:prstGeom>
            <a:solidFill>
              <a:srgbClr val="69F0AE"/>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6" name="文本框 45"/>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panose="020B0200000000000000" charset="-122"/>
                  <a:ea typeface="Noto Sans SC" panose="020B0200000000000000" charset="-122"/>
                  <a:cs typeface="Noto Sans SC" panose="020B0200000000000000" charset="-122"/>
                </a:rPr>
                <a:t>06</a:t>
              </a:r>
            </a:p>
          </p:txBody>
        </p:sp>
        <p:sp>
          <p:nvSpPr>
            <p:cNvPr id="47" name="文本框 46"/>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panose="020B0200000000000000" charset="-122"/>
                  <a:ea typeface="Noto Sans SC" panose="020B0200000000000000" charset="-122"/>
                  <a:cs typeface="Noto Sans SC" panose="020B0200000000000000" charset="-122"/>
                </a:rPr>
                <a:t>提示词技术</a:t>
              </a:r>
            </a:p>
          </p:txBody>
        </p:sp>
      </p:grpSp>
      <p:grpSp>
        <p:nvGrpSpPr>
          <p:cNvPr id="48" name="组合 47"/>
          <p:cNvGrpSpPr/>
          <p:nvPr/>
        </p:nvGrpSpPr>
        <p:grpSpPr>
          <a:xfrm>
            <a:off x="4561205" y="5641975"/>
            <a:ext cx="5400040" cy="431800"/>
            <a:chOff x="7140" y="2760"/>
            <a:chExt cx="8504" cy="680"/>
          </a:xfrm>
        </p:grpSpPr>
        <p:sp>
          <p:nvSpPr>
            <p:cNvPr id="49" name="AutoShape 6"/>
            <p:cNvSpPr/>
            <p:nvPr/>
          </p:nvSpPr>
          <p:spPr>
            <a:xfrm>
              <a:off x="7140" y="2760"/>
              <a:ext cx="8504" cy="680"/>
            </a:xfrm>
            <a:prstGeom prst="roundRect">
              <a:avLst>
                <a:gd name="adj" fmla="val 0"/>
              </a:avLst>
            </a:prstGeom>
            <a:solidFill>
              <a:schemeClr val="bg1">
                <a:lumMod val="50000"/>
                <a:alpha val="8000"/>
              </a:schemeClr>
            </a:solidFill>
            <a:ln w="12700" cap="flat" cmpd="sng">
              <a:solidFill>
                <a:schemeClr val="bg1">
                  <a:lumMod val="50000"/>
                  <a:alpha val="40000"/>
                </a:scheme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50" name="AutoShape 7"/>
            <p:cNvSpPr/>
            <p:nvPr/>
          </p:nvSpPr>
          <p:spPr>
            <a:xfrm>
              <a:off x="7140" y="2760"/>
              <a:ext cx="85" cy="680"/>
            </a:xfrm>
            <a:prstGeom prst="roundRect">
              <a:avLst>
                <a:gd name="adj" fmla="val 0"/>
              </a:avLst>
            </a:prstGeom>
            <a:solidFill>
              <a:schemeClr val="bg1">
                <a:lumMod val="50000"/>
              </a:schemeClr>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51" name="文本框 50"/>
            <p:cNvSpPr txBox="1"/>
            <p:nvPr/>
          </p:nvSpPr>
          <p:spPr>
            <a:xfrm>
              <a:off x="7140" y="2760"/>
              <a:ext cx="850" cy="680"/>
            </a:xfrm>
            <a:prstGeom prst="rect">
              <a:avLst/>
            </a:prstGeom>
            <a:noFill/>
          </p:spPr>
          <p:txBody>
            <a:bodyPr wrap="square" rtlCol="0" anchor="ctr" anchorCtr="0">
              <a:noAutofit/>
            </a:bodyPr>
            <a:lstStyle/>
            <a:p>
              <a:pPr algn="ctr"/>
              <a:r>
                <a:rPr lang="en-US" b="1" kern="0">
                  <a:solidFill>
                    <a:schemeClr val="bg1">
                      <a:lumMod val="50000"/>
                    </a:schemeClr>
                  </a:solidFill>
                  <a:latin typeface="Noto Sans SC" panose="020B0200000000000000" charset="-122"/>
                  <a:ea typeface="Noto Sans SC" panose="020B0200000000000000" charset="-122"/>
                  <a:cs typeface="Noto Sans SC" panose="020B0200000000000000" charset="-122"/>
                </a:rPr>
                <a:t>08</a:t>
              </a:r>
            </a:p>
          </p:txBody>
        </p:sp>
        <p:sp>
          <p:nvSpPr>
            <p:cNvPr id="52" name="文本框 5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chemeClr val="bg1">
                      <a:lumMod val="50000"/>
                    </a:schemeClr>
                  </a:solidFill>
                  <a:latin typeface="Noto Sans SC" panose="020B0200000000000000" charset="-122"/>
                  <a:ea typeface="Noto Sans SC" panose="020B0200000000000000" charset="-122"/>
                  <a:cs typeface="Noto Sans SC" panose="020B0200000000000000" charset="-122"/>
                </a:rPr>
                <a:t>智能体记忆与案例剖析</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par>
                                <p:cTn id="23" presetID="10"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10" presetClass="entr" presetSubtype="0" fill="hold"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fade">
                                      <p:cBhvr>
                                        <p:cTn id="28" dur="500"/>
                                        <p:tgtEl>
                                          <p:spTgt spid="38"/>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500"/>
                                        <p:tgtEl>
                                          <p:spTgt spid="43"/>
                                        </p:tgtEl>
                                      </p:cBhvr>
                                    </p:animEffect>
                                  </p:childTnLst>
                                </p:cTn>
                              </p:par>
                              <p:par>
                                <p:cTn id="35" presetID="10"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fade">
                                      <p:cBhvr>
                                        <p:cTn id="4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5" grpId="0" bldLvl="0" animBg="1"/>
      <p:bldP spid="5" grpId="1" animBg="1"/>
      <p:bldP spid="7" grpId="0" bldLvl="0" animBg="1"/>
      <p:bldP spid="7" grpId="1" animBg="1"/>
      <p:bldP spid="8" grpId="0" bldLvl="0" animBg="1"/>
      <p:bldP spid="8"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通过提示词引导大模型：思维链</a:t>
            </a:r>
          </a:p>
        </p:txBody>
      </p:sp>
      <p:sp>
        <p:nvSpPr>
          <p:cNvPr id="5" name="内容占位符 4"/>
          <p:cNvSpPr>
            <a:spLocks noGrp="1"/>
          </p:cNvSpPr>
          <p:nvPr>
            <p:ph idx="1"/>
          </p:nvPr>
        </p:nvSpPr>
        <p:spPr/>
        <p:txBody>
          <a:bodyPr/>
          <a:lstStyle/>
          <a:p>
            <a:r>
              <a:rPr lang="zh-CN" altLang="en-US"/>
              <a:t>大模型在生成后续内容的时候会依赖前文，所以将每一步的结果显式让其生成可以为后续内容的生成起到提示作用</a:t>
            </a:r>
          </a:p>
          <a:p>
            <a:r>
              <a:rPr lang="zh-CN" altLang="en-US"/>
              <a:t>适合需要多步分析和推理才能得到结果的情况：数学证明，安排计划</a:t>
            </a:r>
          </a:p>
        </p:txBody>
      </p:sp>
      <p:sp>
        <p:nvSpPr>
          <p:cNvPr id="6" name="内容占位符 5"/>
          <p:cNvSpPr>
            <a:spLocks noGrp="1"/>
          </p:cNvSpPr>
          <p:nvPr>
            <p:ph idx="13"/>
          </p:nvPr>
        </p:nvSpPr>
        <p:spPr/>
        <p:txBody>
          <a:bodyPr/>
          <a:lstStyle/>
          <a:p>
            <a:r>
              <a:rPr lang="zh-CN" altLang="en-US"/>
              <a:t>思维链（</a:t>
            </a:r>
            <a:r>
              <a:rPr lang="en-US" altLang="zh-CN"/>
              <a:t>Chain of Thought, CoT）：</a:t>
            </a:r>
            <a:r>
              <a:rPr lang="zh-CN" altLang="en-US"/>
              <a:t>让大模型根据给定的思维步骤</a:t>
            </a:r>
          </a:p>
          <a:p>
            <a:r>
              <a:rPr lang="zh-CN" altLang="en-US"/>
              <a:t>拆分子任务，依次给出每一步的结果，最后给出最终结果</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fade">
                                      <p:cBhvr>
                                        <p:cTn id="11" dur="500"/>
                                        <p:tgtEl>
                                          <p:spTgt spid="6">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fade">
                                      <p:cBhvr>
                                        <p:cTn id="16" dur="500"/>
                                        <p:tgtEl>
                                          <p:spTgt spid="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P spid="6" grpId="0" build="p"/>
      <p:bldP spid="6" grpI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更复杂的引导方式</a:t>
            </a:r>
          </a:p>
        </p:txBody>
      </p:sp>
      <p:sp>
        <p:nvSpPr>
          <p:cNvPr id="3" name="文本占位符 2"/>
          <p:cNvSpPr>
            <a:spLocks noGrp="1"/>
          </p:cNvSpPr>
          <p:nvPr>
            <p:ph type="body" idx="1"/>
          </p:nvPr>
        </p:nvSpPr>
        <p:spPr/>
        <p:txBody>
          <a:bodyPr/>
          <a:lstStyle/>
          <a:p>
            <a:pPr algn="ctr"/>
            <a:r>
              <a:rPr lang="zh-CN" altLang="en-US" sz="2000" dirty="0">
                <a:latin typeface="Microsoft YaHei" charset="-122"/>
                <a:ea typeface="Microsoft YaHei" charset="-122"/>
                <a:sym typeface="+mn-ea"/>
              </a:rPr>
              <a:t>思维树（</a:t>
            </a:r>
            <a:r>
              <a:rPr altLang="zh-CN" sz="2000" dirty="0">
                <a:latin typeface="Microsoft YaHei" charset="-122"/>
                <a:ea typeface="Microsoft YaHei" charset="-122"/>
                <a:sym typeface="+mn-ea"/>
              </a:rPr>
              <a:t>Tree of Thoughts, </a:t>
            </a:r>
            <a:r>
              <a:rPr altLang="zh-CN" sz="2000" dirty="0" err="1">
                <a:latin typeface="Microsoft YaHei" charset="-122"/>
                <a:ea typeface="Microsoft YaHei" charset="-122"/>
                <a:sym typeface="+mn-ea"/>
              </a:rPr>
              <a:t>ToT</a:t>
            </a:r>
            <a:r>
              <a:rPr lang="zh-CN" altLang="en-US" sz="2000" dirty="0">
                <a:latin typeface="Microsoft YaHei" charset="-122"/>
                <a:ea typeface="Microsoft YaHei" charset="-122"/>
                <a:sym typeface="+mn-ea"/>
              </a:rPr>
              <a:t>）</a:t>
            </a:r>
          </a:p>
        </p:txBody>
      </p:sp>
      <p:sp>
        <p:nvSpPr>
          <p:cNvPr id="5" name="文本占位符 4"/>
          <p:cNvSpPr>
            <a:spLocks noGrp="1"/>
          </p:cNvSpPr>
          <p:nvPr>
            <p:ph type="body" sz="quarter" idx="3"/>
          </p:nvPr>
        </p:nvSpPr>
        <p:spPr/>
        <p:txBody>
          <a:bodyPr/>
          <a:lstStyle/>
          <a:p>
            <a:pPr algn="ctr"/>
            <a:r>
              <a:rPr lang="zh-CN" altLang="en-US" sz="2000" kern="1200" dirty="0">
                <a:solidFill>
                  <a:srgbClr val="B388FF"/>
                </a:solidFill>
                <a:latin typeface="Microsoft YaHei" charset="-122"/>
                <a:ea typeface="Microsoft YaHei" charset="-122"/>
              </a:rPr>
              <a:t>思维图（Graph of Thoughs, GoT）</a:t>
            </a:r>
          </a:p>
        </p:txBody>
      </p:sp>
      <p:sp>
        <p:nvSpPr>
          <p:cNvPr id="7" name="灯片编号占位符 6"/>
          <p:cNvSpPr>
            <a:spLocks noGrp="1"/>
          </p:cNvSpPr>
          <p:nvPr>
            <p:ph type="sldNum" sz="quarter" idx="12"/>
          </p:nvPr>
        </p:nvSpPr>
        <p:spPr/>
        <p:txBody>
          <a:bodyPr/>
          <a:lstStyle/>
          <a:p>
            <a:fld id="{49AE70B2-8BF9-45C0-BB95-33D1B9D3A854}" type="slidenum">
              <a:rPr lang="zh-CN" altLang="en-US" smtClean="0"/>
              <a:t>7</a:t>
            </a:fld>
            <a:endParaRPr lang="en-US" altLang="zh-CN"/>
          </a:p>
        </p:txBody>
      </p:sp>
      <p:sp>
        <p:nvSpPr>
          <p:cNvPr id="11" name="AutoShape 7"/>
          <p:cNvSpPr/>
          <p:nvPr userDrawn="1"/>
        </p:nvSpPr>
        <p:spPr>
          <a:xfrm>
            <a:off x="1040130" y="2480310"/>
            <a:ext cx="4679950" cy="1842135"/>
          </a:xfrm>
          <a:prstGeom prst="snip2DiagRect">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lstStyle/>
          <a:p>
            <a:pPr algn="ctr">
              <a:defRPr/>
            </a:pPr>
            <a:endParaRPr/>
          </a:p>
        </p:txBody>
      </p:sp>
      <p:sp>
        <p:nvSpPr>
          <p:cNvPr id="12" name="内容占位符 11"/>
          <p:cNvSpPr>
            <a:spLocks noGrp="1"/>
          </p:cNvSpPr>
          <p:nvPr/>
        </p:nvSpPr>
        <p:spPr>
          <a:xfrm>
            <a:off x="1040130" y="2482215"/>
            <a:ext cx="4679950" cy="1842135"/>
          </a:xfrm>
          <a:prstGeom prst="rect">
            <a:avLst/>
          </a:prstGeom>
        </p:spPr>
        <p:txBody>
          <a:bodyPr vert="horz" lIns="91440" tIns="45720" rIns="91440" bIns="45720" rtlCol="0" anchor="ctr" anchorCtr="0">
            <a:normAutofit/>
          </a:bodyPr>
          <a:lstStyle>
            <a:lvl1pPr marL="0" indent="0" algn="ctr">
              <a:buNone/>
              <a:defRPr b="1"/>
            </a:lvl1pPr>
          </a:lstStyle>
          <a:p>
            <a:pPr lvl="0">
              <a:lnSpc>
                <a:spcPct val="150000"/>
              </a:lnSpc>
            </a:pPr>
            <a:r>
              <a:rPr lang="zh-CN" altLang="en-US" sz="1800" dirty="0">
                <a:solidFill>
                  <a:schemeClr val="bg1"/>
                </a:solidFill>
                <a:latin typeface="Microsoft YaHei" charset="-122"/>
                <a:ea typeface="Microsoft YaHei" charset="-122"/>
                <a:sym typeface="+mn-ea"/>
              </a:rPr>
              <a:t>将问题按照不同的解决思路划分成不同分支，每个分支按照类似于</a:t>
            </a:r>
            <a:r>
              <a:rPr lang="en-US" altLang="zh-CN" sz="1800" dirty="0" err="1">
                <a:solidFill>
                  <a:schemeClr val="bg1"/>
                </a:solidFill>
                <a:latin typeface="Microsoft YaHei" charset="-122"/>
                <a:ea typeface="Microsoft YaHei" charset="-122"/>
                <a:sym typeface="+mn-ea"/>
              </a:rPr>
              <a:t>CoT</a:t>
            </a:r>
            <a:r>
              <a:rPr lang="zh-CN" altLang="en-US" sz="1800" dirty="0">
                <a:solidFill>
                  <a:schemeClr val="bg1"/>
                </a:solidFill>
                <a:latin typeface="Microsoft YaHei" charset="-122"/>
                <a:ea typeface="Microsoft YaHei" charset="-122"/>
                <a:sym typeface="+mn-ea"/>
              </a:rPr>
              <a:t>的方式进行顺序分析。最后，汇总比较所有分支的结果，返回评估效果最好的一个</a:t>
            </a:r>
          </a:p>
        </p:txBody>
      </p:sp>
      <p:sp>
        <p:nvSpPr>
          <p:cNvPr id="8" name="AutoShape 7"/>
          <p:cNvSpPr/>
          <p:nvPr userDrawn="1"/>
        </p:nvSpPr>
        <p:spPr>
          <a:xfrm>
            <a:off x="6804660" y="2482215"/>
            <a:ext cx="4679950" cy="1842135"/>
          </a:xfrm>
          <a:prstGeom prst="snip2DiagRect">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lstStyle/>
          <a:p>
            <a:pPr algn="ctr">
              <a:defRPr/>
            </a:pPr>
            <a:endParaRPr/>
          </a:p>
        </p:txBody>
      </p:sp>
      <p:sp>
        <p:nvSpPr>
          <p:cNvPr id="9" name="内容占位符 11"/>
          <p:cNvSpPr>
            <a:spLocks noGrp="1"/>
          </p:cNvSpPr>
          <p:nvPr/>
        </p:nvSpPr>
        <p:spPr>
          <a:xfrm>
            <a:off x="6804660" y="2484120"/>
            <a:ext cx="4679950" cy="1840230"/>
          </a:xfrm>
          <a:prstGeom prst="rect">
            <a:avLst/>
          </a:prstGeom>
        </p:spPr>
        <p:txBody>
          <a:bodyPr vert="horz" lIns="91440" tIns="45720" rIns="91440" bIns="45720" rtlCol="0" anchor="ctr" anchorCtr="0">
            <a:normAutofit/>
          </a:bodyPr>
          <a:lstStyle>
            <a:lvl1pPr marL="0" indent="0" algn="ctr">
              <a:buNone/>
              <a:defRPr b="1"/>
            </a:lvl1pPr>
          </a:lstStyle>
          <a:p>
            <a:pPr lvl="0">
              <a:lnSpc>
                <a:spcPct val="150000"/>
              </a:lnSpc>
            </a:pPr>
            <a:r>
              <a:rPr lang="zh-CN" altLang="en-US" sz="1800" dirty="0">
                <a:solidFill>
                  <a:schemeClr val="bg1"/>
                </a:solidFill>
                <a:latin typeface="Microsoft YaHei" charset="-122"/>
                <a:ea typeface="Microsoft YaHei" charset="-122"/>
                <a:sym typeface="+mn-ea"/>
              </a:rPr>
              <a:t>列出所有关键因素（点），明确因素之间的联系（边）与影响机制，从而构建因果/依赖图，最后综合整个图进行推理，再得出最终结论。</a:t>
            </a:r>
          </a:p>
        </p:txBody>
      </p:sp>
      <p:grpSp>
        <p:nvGrpSpPr>
          <p:cNvPr id="32" name="组合 31"/>
          <p:cNvGrpSpPr/>
          <p:nvPr/>
        </p:nvGrpSpPr>
        <p:grpSpPr>
          <a:xfrm>
            <a:off x="2371090" y="4624388"/>
            <a:ext cx="2238375" cy="873760"/>
            <a:chOff x="3734" y="7156"/>
            <a:chExt cx="3525" cy="1376"/>
          </a:xfrm>
        </p:grpSpPr>
        <p:sp>
          <p:nvSpPr>
            <p:cNvPr id="13" name="椭圆 12"/>
            <p:cNvSpPr/>
            <p:nvPr/>
          </p:nvSpPr>
          <p:spPr>
            <a:xfrm>
              <a:off x="3734" y="7737"/>
              <a:ext cx="261" cy="261"/>
            </a:xfrm>
            <a:prstGeom prst="ellipse">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4" name="椭圆 13"/>
            <p:cNvSpPr/>
            <p:nvPr/>
          </p:nvSpPr>
          <p:spPr>
            <a:xfrm>
              <a:off x="4580" y="7156"/>
              <a:ext cx="261" cy="261"/>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5" name="椭圆 14"/>
            <p:cNvSpPr/>
            <p:nvPr/>
          </p:nvSpPr>
          <p:spPr>
            <a:xfrm>
              <a:off x="5267" y="7156"/>
              <a:ext cx="261" cy="261"/>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6" name="椭圆 15"/>
            <p:cNvSpPr/>
            <p:nvPr/>
          </p:nvSpPr>
          <p:spPr>
            <a:xfrm>
              <a:off x="4581" y="7737"/>
              <a:ext cx="261" cy="261"/>
            </a:xfrm>
            <a:prstGeom prst="ellipse">
              <a:avLst/>
            </a:prstGeom>
            <a:solidFill>
              <a:srgbClr val="69F0AE">
                <a:alpha val="15000"/>
              </a:srgbClr>
            </a:solidFill>
            <a:ln w="12700" cap="flat" cmpd="sng">
              <a:solidFill>
                <a:srgbClr val="69F0AE">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7" name="椭圆 16"/>
            <p:cNvSpPr/>
            <p:nvPr/>
          </p:nvSpPr>
          <p:spPr>
            <a:xfrm>
              <a:off x="5954" y="7737"/>
              <a:ext cx="261" cy="261"/>
            </a:xfrm>
            <a:prstGeom prst="ellipse">
              <a:avLst/>
            </a:prstGeom>
            <a:solidFill>
              <a:srgbClr val="69F0AE">
                <a:alpha val="15000"/>
              </a:srgbClr>
            </a:solidFill>
            <a:ln w="12700" cap="flat" cmpd="sng">
              <a:solidFill>
                <a:srgbClr val="69F0AE">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8" name="椭圆 17"/>
            <p:cNvSpPr/>
            <p:nvPr/>
          </p:nvSpPr>
          <p:spPr>
            <a:xfrm>
              <a:off x="5954" y="7156"/>
              <a:ext cx="261" cy="261"/>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9" name="椭圆 18"/>
            <p:cNvSpPr/>
            <p:nvPr/>
          </p:nvSpPr>
          <p:spPr>
            <a:xfrm>
              <a:off x="4322" y="8272"/>
              <a:ext cx="261" cy="261"/>
            </a:xfrm>
            <a:prstGeom prst="ellipse">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0" name="椭圆 19"/>
            <p:cNvSpPr/>
            <p:nvPr/>
          </p:nvSpPr>
          <p:spPr>
            <a:xfrm>
              <a:off x="4975" y="8272"/>
              <a:ext cx="261" cy="261"/>
            </a:xfrm>
            <a:prstGeom prst="ellipse">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1" name="椭圆 20"/>
            <p:cNvSpPr/>
            <p:nvPr/>
          </p:nvSpPr>
          <p:spPr>
            <a:xfrm>
              <a:off x="5628" y="8272"/>
              <a:ext cx="261" cy="261"/>
            </a:xfrm>
            <a:prstGeom prst="ellipse">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2" name="椭圆 21"/>
            <p:cNvSpPr/>
            <p:nvPr/>
          </p:nvSpPr>
          <p:spPr>
            <a:xfrm>
              <a:off x="6999" y="7737"/>
              <a:ext cx="261" cy="261"/>
            </a:xfrm>
            <a:prstGeom prst="ellipse">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3" name="椭圆 22"/>
            <p:cNvSpPr/>
            <p:nvPr/>
          </p:nvSpPr>
          <p:spPr>
            <a:xfrm>
              <a:off x="6281" y="8272"/>
              <a:ext cx="261" cy="261"/>
            </a:xfrm>
            <a:prstGeom prst="ellipse">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cxnSp>
          <p:nvCxnSpPr>
            <p:cNvPr id="24" name="直接箭头连接符 23"/>
            <p:cNvCxnSpPr>
              <a:stCxn id="13" idx="7"/>
              <a:endCxn id="14" idx="2"/>
            </p:cNvCxnSpPr>
            <p:nvPr/>
          </p:nvCxnSpPr>
          <p:spPr>
            <a:xfrm flipV="1">
              <a:off x="3957" y="7287"/>
              <a:ext cx="624" cy="489"/>
            </a:xfrm>
            <a:prstGeom prst="straightConnector1">
              <a:avLst/>
            </a:prstGeom>
            <a:ln>
              <a:solidFill>
                <a:srgbClr val="00E5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25" name="直接箭头连接符 24"/>
            <p:cNvCxnSpPr>
              <a:stCxn id="14" idx="6"/>
              <a:endCxn id="15" idx="2"/>
            </p:cNvCxnSpPr>
            <p:nvPr/>
          </p:nvCxnSpPr>
          <p:spPr>
            <a:xfrm>
              <a:off x="4842" y="7287"/>
              <a:ext cx="426" cy="0"/>
            </a:xfrm>
            <a:prstGeom prst="straightConnector1">
              <a:avLst/>
            </a:prstGeom>
            <a:ln>
              <a:solidFill>
                <a:srgbClr val="00E5FF"/>
              </a:solidFill>
              <a:tailEnd type="triangle"/>
            </a:ln>
            <a:effectLst/>
          </p:spPr>
          <p:style>
            <a:lnRef idx="3">
              <a:schemeClr val="accent3"/>
            </a:lnRef>
            <a:fillRef idx="0">
              <a:schemeClr val="accent3"/>
            </a:fillRef>
            <a:effectRef idx="2">
              <a:schemeClr val="accent3"/>
            </a:effectRef>
            <a:fontRef idx="minor">
              <a:schemeClr val="tx1"/>
            </a:fontRef>
          </p:style>
        </p:cxnSp>
        <p:cxnSp>
          <p:nvCxnSpPr>
            <p:cNvPr id="26" name="直接箭头连接符 25"/>
            <p:cNvCxnSpPr/>
            <p:nvPr/>
          </p:nvCxnSpPr>
          <p:spPr>
            <a:xfrm>
              <a:off x="3995" y="7867"/>
              <a:ext cx="585" cy="0"/>
            </a:xfrm>
            <a:prstGeom prst="straightConnector1">
              <a:avLst/>
            </a:prstGeom>
            <a:ln>
              <a:solidFill>
                <a:srgbClr val="00E5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27" name="直接箭头连接符 26"/>
            <p:cNvCxnSpPr/>
            <p:nvPr/>
          </p:nvCxnSpPr>
          <p:spPr>
            <a:xfrm>
              <a:off x="4842" y="7867"/>
              <a:ext cx="1112" cy="0"/>
            </a:xfrm>
            <a:prstGeom prst="straightConnector1">
              <a:avLst/>
            </a:prstGeom>
            <a:ln>
              <a:solidFill>
                <a:srgbClr val="00E5FF"/>
              </a:solidFill>
              <a:tailEnd type="triangle"/>
            </a:ln>
            <a:effectLst/>
          </p:spPr>
          <p:style>
            <a:lnRef idx="3">
              <a:schemeClr val="accent2"/>
            </a:lnRef>
            <a:fillRef idx="0">
              <a:schemeClr val="accent2"/>
            </a:fillRef>
            <a:effectRef idx="2">
              <a:schemeClr val="accent2"/>
            </a:effectRef>
            <a:fontRef idx="minor">
              <a:schemeClr val="tx1"/>
            </a:fontRef>
          </p:style>
        </p:cxnSp>
        <p:cxnSp>
          <p:nvCxnSpPr>
            <p:cNvPr id="28" name="直接箭头连接符 27"/>
            <p:cNvCxnSpPr>
              <a:stCxn id="15" idx="6"/>
              <a:endCxn id="18" idx="2"/>
            </p:cNvCxnSpPr>
            <p:nvPr/>
          </p:nvCxnSpPr>
          <p:spPr>
            <a:xfrm>
              <a:off x="5528" y="7287"/>
              <a:ext cx="426" cy="0"/>
            </a:xfrm>
            <a:prstGeom prst="straightConnector1">
              <a:avLst/>
            </a:prstGeom>
            <a:ln>
              <a:solidFill>
                <a:srgbClr val="00E5FF"/>
              </a:solidFill>
              <a:tailEnd type="triangle"/>
            </a:ln>
            <a:effectLst/>
          </p:spPr>
          <p:style>
            <a:lnRef idx="3">
              <a:schemeClr val="accent3"/>
            </a:lnRef>
            <a:fillRef idx="0">
              <a:schemeClr val="accent3"/>
            </a:fillRef>
            <a:effectRef idx="2">
              <a:schemeClr val="accent3"/>
            </a:effectRef>
            <a:fontRef idx="minor">
              <a:schemeClr val="tx1"/>
            </a:fontRef>
          </p:style>
        </p:cxnSp>
        <p:cxnSp>
          <p:nvCxnSpPr>
            <p:cNvPr id="29" name="直接箭头连接符 28"/>
            <p:cNvCxnSpPr>
              <a:stCxn id="13" idx="5"/>
              <a:endCxn id="19" idx="2"/>
            </p:cNvCxnSpPr>
            <p:nvPr/>
          </p:nvCxnSpPr>
          <p:spPr>
            <a:xfrm>
              <a:off x="3957" y="7960"/>
              <a:ext cx="365" cy="443"/>
            </a:xfrm>
            <a:prstGeom prst="straightConnector1">
              <a:avLst/>
            </a:prstGeom>
            <a:ln>
              <a:solidFill>
                <a:srgbClr val="00E5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31" name="直接箭头连接符 30"/>
            <p:cNvCxnSpPr/>
            <p:nvPr/>
          </p:nvCxnSpPr>
          <p:spPr>
            <a:xfrm>
              <a:off x="4583" y="8402"/>
              <a:ext cx="392" cy="0"/>
            </a:xfrm>
            <a:prstGeom prst="straightConnector1">
              <a:avLst/>
            </a:prstGeom>
            <a:ln>
              <a:solidFill>
                <a:srgbClr val="00E5FF"/>
              </a:solidFill>
              <a:tailEnd type="triangle"/>
            </a:ln>
            <a:effectLst/>
          </p:spPr>
          <p:style>
            <a:lnRef idx="3">
              <a:schemeClr val="accent2"/>
            </a:lnRef>
            <a:fillRef idx="0">
              <a:schemeClr val="accent2"/>
            </a:fillRef>
            <a:effectRef idx="2">
              <a:schemeClr val="accent2"/>
            </a:effectRef>
            <a:fontRef idx="minor">
              <a:schemeClr val="tx1"/>
            </a:fontRef>
          </p:style>
        </p:cxnSp>
        <p:cxnSp>
          <p:nvCxnSpPr>
            <p:cNvPr id="33" name="直接箭头连接符 32"/>
            <p:cNvCxnSpPr/>
            <p:nvPr/>
          </p:nvCxnSpPr>
          <p:spPr>
            <a:xfrm>
              <a:off x="5236" y="8402"/>
              <a:ext cx="392" cy="0"/>
            </a:xfrm>
            <a:prstGeom prst="straightConnector1">
              <a:avLst/>
            </a:prstGeom>
            <a:ln>
              <a:solidFill>
                <a:srgbClr val="00E5FF"/>
              </a:solidFill>
              <a:tailEnd type="triangle"/>
            </a:ln>
            <a:effectLst/>
          </p:spPr>
          <p:style>
            <a:lnRef idx="3">
              <a:schemeClr val="accent2"/>
            </a:lnRef>
            <a:fillRef idx="0">
              <a:schemeClr val="accent2"/>
            </a:fillRef>
            <a:effectRef idx="2">
              <a:schemeClr val="accent2"/>
            </a:effectRef>
            <a:fontRef idx="minor">
              <a:schemeClr val="tx1"/>
            </a:fontRef>
          </p:style>
        </p:cxnSp>
        <p:cxnSp>
          <p:nvCxnSpPr>
            <p:cNvPr id="35" name="直接箭头连接符 34"/>
            <p:cNvCxnSpPr/>
            <p:nvPr/>
          </p:nvCxnSpPr>
          <p:spPr>
            <a:xfrm>
              <a:off x="5889" y="8402"/>
              <a:ext cx="392" cy="0"/>
            </a:xfrm>
            <a:prstGeom prst="straightConnector1">
              <a:avLst/>
            </a:prstGeom>
            <a:ln>
              <a:solidFill>
                <a:srgbClr val="00E5FF"/>
              </a:solidFill>
              <a:tailEnd type="triangle"/>
            </a:ln>
            <a:effectLst/>
          </p:spPr>
          <p:style>
            <a:lnRef idx="3">
              <a:schemeClr val="accent2"/>
            </a:lnRef>
            <a:fillRef idx="0">
              <a:schemeClr val="accent2"/>
            </a:fillRef>
            <a:effectRef idx="2">
              <a:schemeClr val="accent2"/>
            </a:effectRef>
            <a:fontRef idx="minor">
              <a:schemeClr val="tx1"/>
            </a:fontRef>
          </p:style>
        </p:cxnSp>
        <p:cxnSp>
          <p:nvCxnSpPr>
            <p:cNvPr id="39" name="直接箭头连接符 38"/>
            <p:cNvCxnSpPr/>
            <p:nvPr/>
          </p:nvCxnSpPr>
          <p:spPr>
            <a:xfrm>
              <a:off x="6215" y="7867"/>
              <a:ext cx="784" cy="0"/>
            </a:xfrm>
            <a:prstGeom prst="straightConnector1">
              <a:avLst/>
            </a:prstGeom>
            <a:ln>
              <a:solidFill>
                <a:srgbClr val="00E5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37" name="直接箭头连接符 36"/>
            <p:cNvCxnSpPr>
              <a:stCxn id="18" idx="6"/>
              <a:endCxn id="22" idx="1"/>
            </p:cNvCxnSpPr>
            <p:nvPr/>
          </p:nvCxnSpPr>
          <p:spPr>
            <a:xfrm>
              <a:off x="6215" y="7287"/>
              <a:ext cx="822" cy="489"/>
            </a:xfrm>
            <a:prstGeom prst="straightConnector1">
              <a:avLst/>
            </a:prstGeom>
            <a:ln>
              <a:solidFill>
                <a:srgbClr val="00E5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41" name="直接箭头连接符 40"/>
            <p:cNvCxnSpPr>
              <a:stCxn id="23" idx="6"/>
              <a:endCxn id="22" idx="3"/>
            </p:cNvCxnSpPr>
            <p:nvPr/>
          </p:nvCxnSpPr>
          <p:spPr>
            <a:xfrm flipV="1">
              <a:off x="6542" y="7960"/>
              <a:ext cx="495" cy="443"/>
            </a:xfrm>
            <a:prstGeom prst="straightConnector1">
              <a:avLst/>
            </a:prstGeom>
            <a:ln>
              <a:solidFill>
                <a:srgbClr val="00E5FF"/>
              </a:solidFill>
              <a:tailEnd type="triangle"/>
            </a:ln>
            <a:effectLst/>
          </p:spPr>
          <p:style>
            <a:lnRef idx="3">
              <a:schemeClr val="accent1"/>
            </a:lnRef>
            <a:fillRef idx="0">
              <a:schemeClr val="accent1"/>
            </a:fillRef>
            <a:effectRef idx="2">
              <a:schemeClr val="accent1"/>
            </a:effectRef>
            <a:fontRef idx="minor">
              <a:schemeClr val="tx1"/>
            </a:fontRef>
          </p:style>
        </p:cxnSp>
      </p:grpSp>
      <p:grpSp>
        <p:nvGrpSpPr>
          <p:cNvPr id="34" name="组合 33"/>
          <p:cNvGrpSpPr/>
          <p:nvPr/>
        </p:nvGrpSpPr>
        <p:grpSpPr>
          <a:xfrm>
            <a:off x="8161020" y="4572953"/>
            <a:ext cx="1964690" cy="976630"/>
            <a:chOff x="12852" y="7247"/>
            <a:chExt cx="3094" cy="1538"/>
          </a:xfrm>
        </p:grpSpPr>
        <p:sp>
          <p:nvSpPr>
            <p:cNvPr id="52" name="椭圆 51"/>
            <p:cNvSpPr/>
            <p:nvPr/>
          </p:nvSpPr>
          <p:spPr>
            <a:xfrm>
              <a:off x="12852" y="7829"/>
              <a:ext cx="245" cy="245"/>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53" name="椭圆 52"/>
            <p:cNvSpPr/>
            <p:nvPr/>
          </p:nvSpPr>
          <p:spPr>
            <a:xfrm>
              <a:off x="15183" y="8541"/>
              <a:ext cx="245" cy="245"/>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54" name="椭圆 53"/>
            <p:cNvSpPr/>
            <p:nvPr/>
          </p:nvSpPr>
          <p:spPr>
            <a:xfrm>
              <a:off x="14875" y="7492"/>
              <a:ext cx="245" cy="245"/>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55" name="椭圆 54"/>
            <p:cNvSpPr/>
            <p:nvPr/>
          </p:nvSpPr>
          <p:spPr>
            <a:xfrm>
              <a:off x="13541" y="8370"/>
              <a:ext cx="245" cy="245"/>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56" name="椭圆 55"/>
            <p:cNvSpPr/>
            <p:nvPr/>
          </p:nvSpPr>
          <p:spPr>
            <a:xfrm>
              <a:off x="14254" y="8001"/>
              <a:ext cx="245" cy="245"/>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57" name="椭圆 56"/>
            <p:cNvSpPr/>
            <p:nvPr/>
          </p:nvSpPr>
          <p:spPr>
            <a:xfrm>
              <a:off x="13756" y="7247"/>
              <a:ext cx="245" cy="245"/>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58" name="椭圆 57"/>
            <p:cNvSpPr/>
            <p:nvPr/>
          </p:nvSpPr>
          <p:spPr>
            <a:xfrm>
              <a:off x="15702" y="7829"/>
              <a:ext cx="245" cy="245"/>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cxnSp>
          <p:nvCxnSpPr>
            <p:cNvPr id="60" name="直接箭头连接符 59"/>
            <p:cNvCxnSpPr>
              <a:stCxn id="52" idx="7"/>
              <a:endCxn id="57" idx="2"/>
            </p:cNvCxnSpPr>
            <p:nvPr/>
          </p:nvCxnSpPr>
          <p:spPr>
            <a:xfrm flipV="1">
              <a:off x="13061" y="7370"/>
              <a:ext cx="694" cy="495"/>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62" name="直接箭头连接符 61"/>
            <p:cNvCxnSpPr>
              <a:stCxn id="52" idx="5"/>
              <a:endCxn id="55" idx="2"/>
            </p:cNvCxnSpPr>
            <p:nvPr/>
          </p:nvCxnSpPr>
          <p:spPr>
            <a:xfrm>
              <a:off x="13061" y="8038"/>
              <a:ext cx="480" cy="455"/>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64" name="直接箭头连接符 63"/>
            <p:cNvCxnSpPr>
              <a:stCxn id="57" idx="5"/>
              <a:endCxn id="56" idx="1"/>
            </p:cNvCxnSpPr>
            <p:nvPr/>
          </p:nvCxnSpPr>
          <p:spPr>
            <a:xfrm>
              <a:off x="13965" y="7456"/>
              <a:ext cx="325" cy="580"/>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66" name="直接箭头连接符 65"/>
            <p:cNvCxnSpPr>
              <a:stCxn id="56" idx="7"/>
              <a:endCxn id="54" idx="3"/>
            </p:cNvCxnSpPr>
            <p:nvPr/>
          </p:nvCxnSpPr>
          <p:spPr>
            <a:xfrm flipV="1">
              <a:off x="14463" y="7702"/>
              <a:ext cx="447" cy="335"/>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68" name="直接箭头连接符 67"/>
            <p:cNvCxnSpPr>
              <a:stCxn id="54" idx="1"/>
              <a:endCxn id="57" idx="6"/>
            </p:cNvCxnSpPr>
            <p:nvPr/>
          </p:nvCxnSpPr>
          <p:spPr>
            <a:xfrm flipH="1" flipV="1">
              <a:off x="14001" y="7370"/>
              <a:ext cx="909" cy="159"/>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70" name="直接箭头连接符 69"/>
            <p:cNvCxnSpPr>
              <a:stCxn id="55" idx="6"/>
              <a:endCxn id="56" idx="3"/>
            </p:cNvCxnSpPr>
            <p:nvPr/>
          </p:nvCxnSpPr>
          <p:spPr>
            <a:xfrm flipV="1">
              <a:off x="13787" y="8210"/>
              <a:ext cx="503" cy="283"/>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72" name="直接箭头连接符 71"/>
            <p:cNvCxnSpPr>
              <a:stCxn id="56" idx="5"/>
              <a:endCxn id="53" idx="1"/>
            </p:cNvCxnSpPr>
            <p:nvPr/>
          </p:nvCxnSpPr>
          <p:spPr>
            <a:xfrm>
              <a:off x="14463" y="8210"/>
              <a:ext cx="756" cy="367"/>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74" name="直接箭头连接符 73"/>
            <p:cNvCxnSpPr>
              <a:stCxn id="54" idx="4"/>
              <a:endCxn id="53" idx="0"/>
            </p:cNvCxnSpPr>
            <p:nvPr/>
          </p:nvCxnSpPr>
          <p:spPr>
            <a:xfrm>
              <a:off x="14997" y="7738"/>
              <a:ext cx="309" cy="803"/>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76" name="直接箭头连接符 75"/>
            <p:cNvCxnSpPr>
              <a:stCxn id="54" idx="6"/>
              <a:endCxn id="58" idx="1"/>
            </p:cNvCxnSpPr>
            <p:nvPr/>
          </p:nvCxnSpPr>
          <p:spPr>
            <a:xfrm>
              <a:off x="15120" y="7615"/>
              <a:ext cx="618" cy="249"/>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78" name="直接箭头连接符 77"/>
            <p:cNvCxnSpPr>
              <a:stCxn id="53" idx="6"/>
              <a:endCxn id="58" idx="3"/>
            </p:cNvCxnSpPr>
            <p:nvPr/>
          </p:nvCxnSpPr>
          <p:spPr>
            <a:xfrm flipV="1">
              <a:off x="15429" y="8038"/>
              <a:ext cx="309" cy="625"/>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500"/>
                                        <p:tgtEl>
                                          <p:spTgt spid="3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animEffect transition="in" filter="fade">
                                      <p:cBhvr>
                                        <p:cTn id="23" dur="500"/>
                                        <p:tgtEl>
                                          <p:spTgt spid="5">
                                            <p:txEl>
                                              <p:pRg st="0" end="0"/>
                                            </p:txEl>
                                          </p:spTgt>
                                        </p:tgtEl>
                                      </p:cBhvr>
                                    </p:animEffect>
                                  </p:childTnLst>
                                </p:cTn>
                              </p:par>
                            </p:childTnLst>
                          </p:cTn>
                        </p:par>
                        <p:par>
                          <p:cTn id="24"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5" grpId="0" build="p"/>
      <p:bldP spid="5" grpId="1" build="p"/>
      <p:bldP spid="11" grpId="0" animBg="1"/>
      <p:bldP spid="11" grpId="1" animBg="1"/>
      <p:bldP spid="12" grpId="0"/>
      <p:bldP spid="12" grpId="1"/>
      <p:bldP spid="8" grpId="0" animBg="1"/>
      <p:bldP spid="8" grpId="1" animBg="1"/>
      <p:bldP spid="9" grpId="0"/>
      <p:bldP spid="9"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normAutofit/>
          </a:bodyPr>
          <a:lstStyle/>
          <a:p>
            <a:r>
              <a:rPr lang="zh-CN" altLang="en-US"/>
              <a:t>大模型的思考模式</a:t>
            </a:r>
          </a:p>
        </p:txBody>
      </p:sp>
      <p:sp>
        <p:nvSpPr>
          <p:cNvPr id="3" name="内容占位符 2"/>
          <p:cNvSpPr>
            <a:spLocks noGrp="1"/>
          </p:cNvSpPr>
          <p:nvPr>
            <p:ph idx="13"/>
          </p:nvPr>
        </p:nvSpPr>
        <p:spPr/>
        <p:txBody>
          <a:bodyPr/>
          <a:lstStyle/>
          <a:p>
            <a:r>
              <a:rPr lang="zh-CN" altLang="en-US"/>
              <a:t>模型在回答前投入更多推理计算，让模型进行更长的中间分析、</a:t>
            </a:r>
          </a:p>
          <a:p>
            <a:r>
              <a:rPr lang="zh-CN" altLang="en-US"/>
              <a:t>步骤拆解、候选方案比较和自我检查，再输出最终答案</a:t>
            </a:r>
          </a:p>
        </p:txBody>
      </p:sp>
      <p:sp>
        <p:nvSpPr>
          <p:cNvPr id="7" name="灯片编号占位符 6"/>
          <p:cNvSpPr>
            <a:spLocks noGrp="1"/>
          </p:cNvSpPr>
          <p:nvPr>
            <p:ph type="sldNum" sz="quarter" idx="12"/>
          </p:nvPr>
        </p:nvSpPr>
        <p:spPr/>
        <p:txBody>
          <a:bodyPr/>
          <a:lstStyle/>
          <a:p>
            <a:fld id="{49AE70B2-8BF9-45C0-BB95-33D1B9D3A854}" type="slidenum">
              <a:rPr lang="zh-CN" altLang="en-US" smtClean="0"/>
              <a:t>8</a:t>
            </a:fld>
            <a:endParaRPr lang="en-US" altLang="zh-CN"/>
          </a:p>
        </p:txBody>
      </p:sp>
      <p:graphicFrame>
        <p:nvGraphicFramePr>
          <p:cNvPr id="4" name="表格 3"/>
          <p:cNvGraphicFramePr/>
          <p:nvPr/>
        </p:nvGraphicFramePr>
        <p:xfrm>
          <a:off x="1282700" y="3297555"/>
          <a:ext cx="9360000" cy="2700000"/>
        </p:xfrm>
        <a:graphic>
          <a:graphicData uri="http://schemas.openxmlformats.org/drawingml/2006/table">
            <a:tbl>
              <a:tblPr>
                <a:tableStyleId>{B301B821-A1FF-4177-AEE7-76D212191A09}</a:tableStyleId>
              </a:tblPr>
              <a:tblGrid>
                <a:gridCol w="4680000">
                  <a:extLst>
                    <a:ext uri="{9D8B030D-6E8A-4147-A177-3AD203B41FA5}">
                      <a16:colId xmlns:a16="http://schemas.microsoft.com/office/drawing/2014/main" val="20000"/>
                    </a:ext>
                  </a:extLst>
                </a:gridCol>
                <a:gridCol w="4680000">
                  <a:extLst>
                    <a:ext uri="{9D8B030D-6E8A-4147-A177-3AD203B41FA5}">
                      <a16:colId xmlns:a16="http://schemas.microsoft.com/office/drawing/2014/main" val="20001"/>
                    </a:ext>
                  </a:extLst>
                </a:gridCol>
              </a:tblGrid>
              <a:tr h="540000">
                <a:tc>
                  <a:txBody>
                    <a:bodyPr/>
                    <a:lstStyle/>
                    <a:p>
                      <a:pPr marL="0" indent="0" algn="ctr" fontAlgn="t"/>
                      <a:r>
                        <a:rPr lang="zh-CN" altLang="en-US" sz="2000" b="1">
                          <a:solidFill>
                            <a:srgbClr val="69F0AE"/>
                          </a:solidFill>
                        </a:rPr>
                        <a:t>普通模式</a:t>
                      </a:r>
                    </a:p>
                  </a:txBody>
                  <a:tcPr marL="47942" marR="47942" marT="24130" marB="24130" anchor="ctr">
                    <a:lnL>
                      <a:noFill/>
                    </a:lnL>
                    <a:lnR>
                      <a:noFill/>
                    </a:lnR>
                    <a:lnT w="12700">
                      <a:solidFill>
                        <a:srgbClr val="69F0AE"/>
                      </a:solidFill>
                      <a:prstDash val="solid"/>
                    </a:lnT>
                    <a:lnB w="12700">
                      <a:solidFill>
                        <a:srgbClr val="69F0AE"/>
                      </a:solidFill>
                      <a:prstDash val="solid"/>
                    </a:lnB>
                    <a:lnTlToBr>
                      <a:noFill/>
                    </a:lnTlToBr>
                    <a:lnBlToTr>
                      <a:noFill/>
                    </a:lnBlToTr>
                    <a:noFill/>
                  </a:tcPr>
                </a:tc>
                <a:tc>
                  <a:txBody>
                    <a:bodyPr/>
                    <a:lstStyle/>
                    <a:p>
                      <a:pPr marL="0" indent="0" algn="ctr" fontAlgn="t"/>
                      <a:r>
                        <a:rPr lang="zh-CN" altLang="en-US" sz="2000" b="1">
                          <a:solidFill>
                            <a:srgbClr val="69F0AE"/>
                          </a:solidFill>
                        </a:rPr>
                        <a:t>思考模式</a:t>
                      </a:r>
                    </a:p>
                  </a:txBody>
                  <a:tcPr marL="47942" marR="47942" marT="24130" marB="24130" anchor="ctr">
                    <a:lnL>
                      <a:noFill/>
                    </a:lnL>
                    <a:lnR>
                      <a:noFill/>
                    </a:lnR>
                    <a:lnT w="12700">
                      <a:solidFill>
                        <a:srgbClr val="69F0AE"/>
                      </a:solidFill>
                      <a:prstDash val="solid"/>
                    </a:lnT>
                    <a:lnB w="12700">
                      <a:solidFill>
                        <a:srgbClr val="69F0AE"/>
                      </a:solidFill>
                      <a:prstDash val="solid"/>
                    </a:lnB>
                    <a:lnTlToBr>
                      <a:noFill/>
                    </a:lnTlToBr>
                    <a:lnBlToTr>
                      <a:noFill/>
                    </a:lnBlToTr>
                    <a:noFill/>
                  </a:tcPr>
                </a:tc>
                <a:extLst>
                  <a:ext uri="{0D108BD9-81ED-4DB2-BD59-A6C34878D82A}">
                    <a16:rowId xmlns:a16="http://schemas.microsoft.com/office/drawing/2014/main" val="10000"/>
                  </a:ext>
                </a:extLst>
              </a:tr>
              <a:tr h="540000">
                <a:tc>
                  <a:txBody>
                    <a:bodyPr/>
                    <a:lstStyle/>
                    <a:p>
                      <a:pPr marL="0" indent="0" algn="ctr" fontAlgn="t"/>
                      <a:r>
                        <a:rPr lang="zh-CN" altLang="en-US" sz="1800">
                          <a:solidFill>
                            <a:schemeClr val="bg1"/>
                          </a:solidFill>
                        </a:rPr>
                        <a:t>看到问题后直接生成回答</a:t>
                      </a:r>
                    </a:p>
                  </a:txBody>
                  <a:tcPr marL="47942" marR="47942" marT="24130" marB="24130" anchor="ctr">
                    <a:lnL>
                      <a:noFill/>
                    </a:lnL>
                    <a:lnR>
                      <a:noFill/>
                    </a:lnR>
                    <a:lnT w="12700">
                      <a:solidFill>
                        <a:srgbClr val="69F0AE"/>
                      </a:solidFill>
                      <a:prstDash val="solid"/>
                    </a:lnT>
                    <a:lnB>
                      <a:noFill/>
                    </a:lnB>
                    <a:lnTlToBr>
                      <a:noFill/>
                    </a:lnTlToBr>
                    <a:lnBlToTr>
                      <a:noFill/>
                    </a:lnBlToTr>
                    <a:noFill/>
                  </a:tcPr>
                </a:tc>
                <a:tc>
                  <a:txBody>
                    <a:bodyPr/>
                    <a:lstStyle/>
                    <a:p>
                      <a:pPr marL="0" indent="0" algn="ctr" fontAlgn="t"/>
                      <a:r>
                        <a:rPr lang="zh-CN" altLang="en-US" sz="1800">
                          <a:solidFill>
                            <a:schemeClr val="bg1"/>
                          </a:solidFill>
                        </a:rPr>
                        <a:t>先多走几步草稿、比较和检查流程</a:t>
                      </a:r>
                    </a:p>
                  </a:txBody>
                  <a:tcPr marL="47942" marR="47942" marT="24130" marB="24130" anchor="ctr">
                    <a:lnL>
                      <a:noFill/>
                    </a:lnL>
                    <a:lnR>
                      <a:noFill/>
                    </a:lnR>
                    <a:lnT w="12700">
                      <a:solidFill>
                        <a:srgbClr val="69F0AE"/>
                      </a:solidFill>
                      <a:prstDash val="solid"/>
                    </a:lnT>
                    <a:lnB>
                      <a:noFill/>
                    </a:lnB>
                    <a:lnTlToBr>
                      <a:noFill/>
                    </a:lnTlToBr>
                    <a:lnBlToTr>
                      <a:noFill/>
                    </a:lnBlToTr>
                    <a:noFill/>
                  </a:tcPr>
                </a:tc>
                <a:extLst>
                  <a:ext uri="{0D108BD9-81ED-4DB2-BD59-A6C34878D82A}">
                    <a16:rowId xmlns:a16="http://schemas.microsoft.com/office/drawing/2014/main" val="10001"/>
                  </a:ext>
                </a:extLst>
              </a:tr>
              <a:tr h="540000">
                <a:tc>
                  <a:txBody>
                    <a:bodyPr/>
                    <a:lstStyle/>
                    <a:p>
                      <a:pPr marL="0" indent="0" algn="ctr" fontAlgn="t"/>
                      <a:r>
                        <a:rPr lang="zh-CN" altLang="en-US" sz="1800">
                          <a:solidFill>
                            <a:schemeClr val="bg1"/>
                          </a:solidFill>
                        </a:rPr>
                        <a:t>速度快、成本低</a:t>
                      </a:r>
                    </a:p>
                  </a:txBody>
                  <a:tcPr marL="47942" marR="47942" marT="24130" marB="24130" anchor="ctr">
                    <a:lnL>
                      <a:noFill/>
                    </a:lnL>
                    <a:lnR>
                      <a:noFill/>
                    </a:lnR>
                    <a:lnT>
                      <a:noFill/>
                    </a:lnT>
                    <a:lnB>
                      <a:noFill/>
                    </a:lnB>
                    <a:lnTlToBr>
                      <a:noFill/>
                    </a:lnTlToBr>
                    <a:lnBlToTr>
                      <a:noFill/>
                    </a:lnBlToTr>
                    <a:noFill/>
                  </a:tcPr>
                </a:tc>
                <a:tc>
                  <a:txBody>
                    <a:bodyPr/>
                    <a:lstStyle/>
                    <a:p>
                      <a:pPr marL="0" indent="0" algn="ctr" fontAlgn="t"/>
                      <a:r>
                        <a:rPr lang="zh-CN" altLang="en-US" sz="1800">
                          <a:solidFill>
                            <a:schemeClr val="bg1"/>
                          </a:solidFill>
                        </a:rPr>
                        <a:t>更慢、更耗额度</a:t>
                      </a:r>
                    </a:p>
                  </a:txBody>
                  <a:tcPr marL="47942" marR="47942" marT="24130" marB="24130" anchor="ctr">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540000">
                <a:tc>
                  <a:txBody>
                    <a:bodyPr/>
                    <a:lstStyle/>
                    <a:p>
                      <a:pPr marL="0" indent="0" algn="ctr" fontAlgn="t"/>
                      <a:r>
                        <a:rPr lang="zh-CN" altLang="en-US" sz="1800">
                          <a:solidFill>
                            <a:schemeClr val="bg1"/>
                          </a:solidFill>
                        </a:rPr>
                        <a:t>容易在复杂条件下漏步骤</a:t>
                      </a:r>
                    </a:p>
                  </a:txBody>
                  <a:tcPr marL="47942" marR="47942" marT="24130" marB="24130" anchor="ctr">
                    <a:lnL>
                      <a:noFill/>
                    </a:lnL>
                    <a:lnR>
                      <a:noFill/>
                    </a:lnR>
                    <a:lnT>
                      <a:noFill/>
                    </a:lnT>
                    <a:lnB>
                      <a:noFill/>
                    </a:lnB>
                    <a:lnTlToBr>
                      <a:noFill/>
                    </a:lnTlToBr>
                    <a:lnBlToTr>
                      <a:noFill/>
                    </a:lnBlToTr>
                    <a:noFill/>
                  </a:tcPr>
                </a:tc>
                <a:tc>
                  <a:txBody>
                    <a:bodyPr/>
                    <a:lstStyle/>
                    <a:p>
                      <a:pPr marL="0" indent="0" algn="ctr" fontAlgn="t"/>
                      <a:r>
                        <a:rPr lang="zh-CN" altLang="en-US" sz="1800">
                          <a:solidFill>
                            <a:schemeClr val="bg1"/>
                          </a:solidFill>
                          <a:sym typeface="+mn-ea"/>
                        </a:rPr>
                        <a:t>通常更能拆解和检查</a:t>
                      </a:r>
                      <a:endParaRPr lang="zh-CN" altLang="en-US" sz="1800">
                        <a:solidFill>
                          <a:schemeClr val="bg1"/>
                        </a:solidFill>
                      </a:endParaRPr>
                    </a:p>
                  </a:txBody>
                  <a:tcPr marL="47942" marR="47942" marT="24130" marB="24130" anchor="ctr">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540000">
                <a:tc>
                  <a:txBody>
                    <a:bodyPr/>
                    <a:lstStyle/>
                    <a:p>
                      <a:pPr marL="0" indent="0" algn="ctr" fontAlgn="t"/>
                      <a:r>
                        <a:rPr lang="zh-CN" altLang="en-US" sz="1800">
                          <a:solidFill>
                            <a:schemeClr val="bg1"/>
                          </a:solidFill>
                          <a:sym typeface="+mn-ea"/>
                        </a:rPr>
                        <a:t>适合简单问答、翻译、润色、格式转换</a:t>
                      </a:r>
                      <a:endParaRPr lang="zh-CN" altLang="en-US" sz="1800">
                        <a:solidFill>
                          <a:schemeClr val="bg1"/>
                        </a:solidFill>
                      </a:endParaRPr>
                    </a:p>
                  </a:txBody>
                  <a:tcPr marL="47942" marR="47942" marT="24130" marB="24130" anchor="ctr">
                    <a:lnL>
                      <a:noFill/>
                    </a:lnL>
                    <a:lnR>
                      <a:noFill/>
                    </a:lnR>
                    <a:lnT>
                      <a:noFill/>
                    </a:lnT>
                    <a:lnB w="12700">
                      <a:solidFill>
                        <a:srgbClr val="69F0AE"/>
                      </a:solidFill>
                      <a:prstDash val="solid"/>
                    </a:lnB>
                    <a:lnTlToBr>
                      <a:noFill/>
                    </a:lnTlToBr>
                    <a:lnBlToTr>
                      <a:noFill/>
                    </a:lnBlToTr>
                    <a:noFill/>
                  </a:tcPr>
                </a:tc>
                <a:tc>
                  <a:txBody>
                    <a:bodyPr/>
                    <a:lstStyle/>
                    <a:p>
                      <a:pPr marL="0" indent="0" algn="ctr" fontAlgn="t"/>
                      <a:r>
                        <a:rPr lang="zh-CN" altLang="en-US" sz="1800">
                          <a:solidFill>
                            <a:schemeClr val="bg1"/>
                          </a:solidFill>
                          <a:sym typeface="+mn-ea"/>
                        </a:rPr>
                        <a:t>适合多步推理、复杂代码、长链条规划</a:t>
                      </a:r>
                      <a:endParaRPr lang="zh-CN" altLang="en-US" sz="1800">
                        <a:solidFill>
                          <a:schemeClr val="bg1"/>
                        </a:solidFill>
                      </a:endParaRPr>
                    </a:p>
                  </a:txBody>
                  <a:tcPr marL="47942" marR="47942" marT="24130" marB="24130" anchor="ctr">
                    <a:lnL>
                      <a:noFill/>
                    </a:lnL>
                    <a:lnR>
                      <a:noFill/>
                    </a:lnR>
                    <a:lnT>
                      <a:noFill/>
                    </a:lnT>
                    <a:lnB w="12700">
                      <a:solidFill>
                        <a:srgbClr val="69F0AE"/>
                      </a:solidFill>
                      <a:prstDash val="soli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以智能体（</a:t>
            </a:r>
            <a:r>
              <a:rPr altLang="zh-CN"/>
              <a:t>Agent</a:t>
            </a:r>
            <a:r>
              <a:rPr lang="zh-CN" altLang="en-US"/>
              <a:t>）的方式驾驭大模型</a:t>
            </a:r>
          </a:p>
        </p:txBody>
      </p:sp>
      <p:sp>
        <p:nvSpPr>
          <p:cNvPr id="3" name="内容占位符 2"/>
          <p:cNvSpPr>
            <a:spLocks noGrp="1"/>
          </p:cNvSpPr>
          <p:nvPr>
            <p:ph idx="1"/>
          </p:nvPr>
        </p:nvSpPr>
        <p:spPr>
          <a:xfrm>
            <a:off x="762000" y="1825625"/>
            <a:ext cx="5862320" cy="4351655"/>
          </a:xfrm>
        </p:spPr>
        <p:txBody>
          <a:bodyPr/>
          <a:lstStyle/>
          <a:p>
            <a:r>
              <a:rPr lang="zh-CN" altLang="en-US" dirty="0">
                <a:sym typeface="+mn-ea"/>
              </a:rPr>
              <a:t>先规划、再执行：</a:t>
            </a:r>
            <a:r>
              <a:rPr lang="en-US" altLang="zh-CN" dirty="0" err="1"/>
              <a:t>PaE</a:t>
            </a:r>
            <a:r>
              <a:rPr lang="zh-CN" altLang="en-US" dirty="0"/>
              <a:t>，</a:t>
            </a:r>
            <a:r>
              <a:rPr lang="en-US" altLang="zh-CN" dirty="0"/>
              <a:t>Plan and Execute</a:t>
            </a:r>
          </a:p>
          <a:p>
            <a:r>
              <a:rPr lang="zh-CN" altLang="en-US" dirty="0">
                <a:sym typeface="+mn-ea"/>
              </a:rPr>
              <a:t>规划：可以约束思维的模式，如</a:t>
            </a:r>
            <a:r>
              <a:rPr lang="en-US" altLang="zh-CN" dirty="0" err="1">
                <a:sym typeface="+mn-ea"/>
              </a:rPr>
              <a:t>CoT</a:t>
            </a:r>
            <a:r>
              <a:rPr lang="zh-CN" altLang="en-US" dirty="0">
                <a:sym typeface="+mn-ea"/>
              </a:rPr>
              <a:t>、</a:t>
            </a:r>
            <a:r>
              <a:rPr lang="en-US" altLang="zh-CN" dirty="0" err="1">
                <a:sym typeface="+mn-ea"/>
              </a:rPr>
              <a:t>ToT</a:t>
            </a:r>
            <a:r>
              <a:rPr lang="zh-CN" altLang="en-US" dirty="0">
                <a:sym typeface="+mn-ea"/>
              </a:rPr>
              <a:t>等，约束分支数量、子任务等等</a:t>
            </a:r>
            <a:endParaRPr lang="en-US" altLang="zh-CN" dirty="0"/>
          </a:p>
          <a:p>
            <a:r>
              <a:rPr lang="zh-CN" altLang="en-US" dirty="0">
                <a:sym typeface="+mn-ea"/>
              </a:rPr>
              <a:t>执行：可以在同一个对话上下文中让大模型继续生成，也可以将生成的思路作为独立的对话的提示词另外生成新的内容</a:t>
            </a:r>
            <a:endParaRPr lang="en-US" altLang="zh-CN" dirty="0"/>
          </a:p>
          <a:p>
            <a:pPr lvl="0"/>
            <a:r>
              <a:rPr lang="zh-CN" altLang="en-US" dirty="0">
                <a:sym typeface="+mn-ea"/>
              </a:rPr>
              <a:t>结构清晰，调试方便</a:t>
            </a:r>
            <a:endParaRPr lang="en-US" altLang="zh-CN" dirty="0"/>
          </a:p>
          <a:p>
            <a:r>
              <a:rPr lang="zh-CN" altLang="en-US" dirty="0"/>
              <a:t>容错能力差</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9</a:t>
            </a:fld>
            <a:endParaRPr lang="en-US" altLang="zh-CN"/>
          </a:p>
        </p:txBody>
      </p:sp>
      <p:grpSp>
        <p:nvGrpSpPr>
          <p:cNvPr id="34" name="组合 33"/>
          <p:cNvGrpSpPr/>
          <p:nvPr/>
        </p:nvGrpSpPr>
        <p:grpSpPr>
          <a:xfrm>
            <a:off x="7846060" y="2705100"/>
            <a:ext cx="2446020" cy="2592070"/>
            <a:chOff x="9678" y="4260"/>
            <a:chExt cx="3852" cy="4082"/>
          </a:xfrm>
        </p:grpSpPr>
        <p:grpSp>
          <p:nvGrpSpPr>
            <p:cNvPr id="7" name="组合 6"/>
            <p:cNvGrpSpPr/>
            <p:nvPr/>
          </p:nvGrpSpPr>
          <p:grpSpPr>
            <a:xfrm>
              <a:off x="9678" y="4260"/>
              <a:ext cx="1876" cy="4082"/>
              <a:chOff x="6471" y="4991"/>
              <a:chExt cx="1876" cy="4082"/>
            </a:xfrm>
          </p:grpSpPr>
          <p:sp>
            <p:nvSpPr>
              <p:cNvPr id="10" name="矩形: 圆角 3"/>
              <p:cNvSpPr/>
              <p:nvPr/>
            </p:nvSpPr>
            <p:spPr>
              <a:xfrm>
                <a:off x="6471" y="4991"/>
                <a:ext cx="1877" cy="17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1</a:t>
                </a:r>
              </a:p>
              <a:p>
                <a:pPr lvl="0" algn="ctr">
                  <a:lnSpc>
                    <a:spcPct val="125000"/>
                  </a:lnSpc>
                  <a:buClrTx/>
                  <a:buSzTx/>
                  <a:buFontTx/>
                  <a:defRPr/>
                </a:pPr>
                <a:r>
                  <a:rPr lang="zh-CN" altLang="en-US">
                    <a:solidFill>
                      <a:srgbClr val="FFFFFF"/>
                    </a:solidFill>
                    <a:latin typeface="Noto Sans SC"/>
                    <a:ea typeface="SimSun" charset="0"/>
                    <a:cs typeface="Noto Sans SC"/>
                    <a:sym typeface="+mn-ea"/>
                  </a:rPr>
                  <a:t>规划</a:t>
                </a:r>
              </a:p>
            </p:txBody>
          </p:sp>
          <p:sp>
            <p:nvSpPr>
              <p:cNvPr id="11" name="矩形: 圆角 4"/>
              <p:cNvSpPr/>
              <p:nvPr/>
            </p:nvSpPr>
            <p:spPr>
              <a:xfrm>
                <a:off x="6471" y="7323"/>
                <a:ext cx="1877" cy="17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2</a:t>
                </a:r>
              </a:p>
              <a:p>
                <a:pPr lvl="0" algn="ctr">
                  <a:lnSpc>
                    <a:spcPct val="125000"/>
                  </a:lnSpc>
                  <a:buClrTx/>
                  <a:buSzTx/>
                  <a:buFontTx/>
                  <a:defRPr/>
                </a:pPr>
                <a:r>
                  <a:rPr lang="zh-CN" altLang="en-US">
                    <a:solidFill>
                      <a:srgbClr val="FFFFFF"/>
                    </a:solidFill>
                    <a:latin typeface="Noto Sans SC"/>
                    <a:ea typeface="SimSun" charset="0"/>
                    <a:cs typeface="Noto Sans SC"/>
                    <a:sym typeface="+mn-ea"/>
                  </a:rPr>
                  <a:t>执行</a:t>
                </a:r>
              </a:p>
            </p:txBody>
          </p:sp>
        </p:grpSp>
        <p:pic>
          <p:nvPicPr>
            <p:cNvPr id="15" name="Picture 2" descr="/home/ruoyu/Intro2AITechs/1-基础通识部分/8课时/assets/规划-透明.png规划-透明"/>
            <p:cNvPicPr>
              <a:picLocks noChangeAspect="1" noChangeArrowheads="1"/>
            </p:cNvPicPr>
            <p:nvPr/>
          </p:nvPicPr>
          <p:blipFill>
            <a:blip r:embed="rId3"/>
            <a:srcRect/>
            <a:stretch>
              <a:fillRect/>
            </a:stretch>
          </p:blipFill>
          <p:spPr bwMode="auto">
            <a:xfrm>
              <a:off x="12281" y="4511"/>
              <a:ext cx="1249" cy="124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home/ruoyu/Intro2AITechs/1-基础通识部分/8课时/assets/运行-透明.png运行-透明"/>
            <p:cNvPicPr>
              <a:picLocks noChangeAspect="1" noChangeArrowheads="1"/>
            </p:cNvPicPr>
            <p:nvPr/>
          </p:nvPicPr>
          <p:blipFill>
            <a:blip r:embed="rId4"/>
            <a:srcRect/>
            <a:stretch>
              <a:fillRect/>
            </a:stretch>
          </p:blipFill>
          <p:spPr bwMode="auto">
            <a:xfrm>
              <a:off x="12281" y="6843"/>
              <a:ext cx="1249" cy="1249"/>
            </a:xfrm>
            <a:prstGeom prst="rect">
              <a:avLst/>
            </a:prstGeom>
            <a:noFill/>
            <a:extLst>
              <a:ext uri="{909E8E84-426E-40DD-AFC4-6F175D3DCCD1}">
                <a14:hiddenFill xmlns:a14="http://schemas.microsoft.com/office/drawing/2010/main">
                  <a:solidFill>
                    <a:srgbClr val="FFFFFF"/>
                  </a:solidFill>
                </a14:hiddenFill>
              </a:ext>
            </a:extLst>
          </p:spPr>
        </p:pic>
        <p:sp>
          <p:nvSpPr>
            <p:cNvPr id="19" name="箭头: 下 7"/>
            <p:cNvSpPr/>
            <p:nvPr/>
          </p:nvSpPr>
          <p:spPr>
            <a:xfrm>
              <a:off x="12697" y="6010"/>
              <a:ext cx="416" cy="583"/>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grpSp>
          <p:nvGrpSpPr>
            <p:cNvPr id="27" name="组合 26"/>
            <p:cNvGrpSpPr/>
            <p:nvPr/>
          </p:nvGrpSpPr>
          <p:grpSpPr>
            <a:xfrm>
              <a:off x="11633" y="5133"/>
              <a:ext cx="569" cy="2336"/>
              <a:chOff x="7952" y="5861"/>
              <a:chExt cx="569" cy="2336"/>
            </a:xfrm>
          </p:grpSpPr>
          <p:cxnSp>
            <p:nvCxnSpPr>
              <p:cNvPr id="28" name="直接连接符 27"/>
              <p:cNvCxnSpPr/>
              <p:nvPr/>
            </p:nvCxnSpPr>
            <p:spPr>
              <a:xfrm>
                <a:off x="7955" y="5861"/>
                <a:ext cx="56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29" name="直接连接符 28"/>
              <p:cNvCxnSpPr/>
              <p:nvPr/>
            </p:nvCxnSpPr>
            <p:spPr>
              <a:xfrm>
                <a:off x="7952" y="8197"/>
                <a:ext cx="56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fade">
                                      <p:cBhvr>
                                        <p:cTn id="11" dur="500"/>
                                        <p:tgtEl>
                                          <p:spTgt spid="3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可以自我反馈的智能体：</a:t>
            </a:r>
            <a:r>
              <a:rPr altLang="zh-CN"/>
              <a:t>ReAct</a:t>
            </a:r>
            <a:r>
              <a:rPr lang="zh-CN" altLang="en-US"/>
              <a:t>架构</a:t>
            </a:r>
          </a:p>
        </p:txBody>
      </p:sp>
      <p:sp>
        <p:nvSpPr>
          <p:cNvPr id="3" name="内容占位符 2"/>
          <p:cNvSpPr>
            <a:spLocks noGrp="1"/>
          </p:cNvSpPr>
          <p:nvPr>
            <p:ph idx="1"/>
          </p:nvPr>
        </p:nvSpPr>
        <p:spPr>
          <a:xfrm>
            <a:off x="762000" y="1825625"/>
            <a:ext cx="5229225" cy="4351655"/>
          </a:xfrm>
        </p:spPr>
        <p:txBody>
          <a:bodyPr/>
          <a:lstStyle/>
          <a:p>
            <a:r>
              <a:rPr lang="en-US" altLang="zh-CN"/>
              <a:t>ReAct: Reasoning and Action</a:t>
            </a:r>
          </a:p>
          <a:p>
            <a:r>
              <a:rPr lang="zh-CN" altLang="en-US"/>
              <a:t>评估：收集任务执行结果，评估是否完成、是否有错误或缺陷</a:t>
            </a:r>
          </a:p>
          <a:p>
            <a:r>
              <a:rPr lang="zh-CN" altLang="en-US"/>
              <a:t>反思：如果执行成功则进行后续步骤；否则调整执行计划或进行修复</a:t>
            </a:r>
          </a:p>
          <a:p>
            <a:r>
              <a:rPr lang="zh-CN" altLang="en-US" dirty="0">
                <a:sym typeface="+mn-ea"/>
              </a:rPr>
              <a:t>灵活，能根据新信息改变策略</a:t>
            </a:r>
          </a:p>
          <a:p>
            <a:r>
              <a:rPr lang="zh-CN" altLang="en-US" dirty="0">
                <a:sym typeface="+mn-ea"/>
              </a:rPr>
              <a:t>步骤较多、调试困难</a:t>
            </a:r>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10</a:t>
            </a:fld>
            <a:endParaRPr lang="en-US" altLang="zh-CN"/>
          </a:p>
        </p:txBody>
      </p:sp>
      <p:grpSp>
        <p:nvGrpSpPr>
          <p:cNvPr id="18" name="组合 17"/>
          <p:cNvGrpSpPr/>
          <p:nvPr/>
        </p:nvGrpSpPr>
        <p:grpSpPr>
          <a:xfrm>
            <a:off x="6145530" y="2705100"/>
            <a:ext cx="5419090" cy="2592070"/>
            <a:chOff x="9806" y="4031"/>
            <a:chExt cx="8534" cy="4082"/>
          </a:xfrm>
        </p:grpSpPr>
        <p:grpSp>
          <p:nvGrpSpPr>
            <p:cNvPr id="22" name="组合 21"/>
            <p:cNvGrpSpPr/>
            <p:nvPr/>
          </p:nvGrpSpPr>
          <p:grpSpPr>
            <a:xfrm>
              <a:off x="9806" y="4031"/>
              <a:ext cx="1876" cy="4082"/>
              <a:chOff x="6471" y="4991"/>
              <a:chExt cx="1876" cy="4082"/>
            </a:xfrm>
          </p:grpSpPr>
          <p:sp>
            <p:nvSpPr>
              <p:cNvPr id="6" name="矩形: 圆角 3"/>
              <p:cNvSpPr/>
              <p:nvPr/>
            </p:nvSpPr>
            <p:spPr>
              <a:xfrm>
                <a:off x="6471" y="4991"/>
                <a:ext cx="1877" cy="17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1</a:t>
                </a:r>
              </a:p>
              <a:p>
                <a:pPr lvl="0" algn="ctr">
                  <a:lnSpc>
                    <a:spcPct val="125000"/>
                  </a:lnSpc>
                  <a:buClrTx/>
                  <a:buSzTx/>
                  <a:buFontTx/>
                  <a:defRPr/>
                </a:pPr>
                <a:r>
                  <a:rPr lang="zh-CN" altLang="en-US">
                    <a:solidFill>
                      <a:srgbClr val="FFFFFF"/>
                    </a:solidFill>
                    <a:latin typeface="Noto Sans SC"/>
                    <a:ea typeface="SimSun" charset="0"/>
                    <a:cs typeface="Noto Sans SC"/>
                    <a:sym typeface="+mn-ea"/>
                  </a:rPr>
                  <a:t>规划</a:t>
                </a:r>
              </a:p>
            </p:txBody>
          </p:sp>
          <p:sp>
            <p:nvSpPr>
              <p:cNvPr id="8" name="矩形: 圆角 4"/>
              <p:cNvSpPr/>
              <p:nvPr/>
            </p:nvSpPr>
            <p:spPr>
              <a:xfrm>
                <a:off x="6471" y="7323"/>
                <a:ext cx="1877" cy="17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2</a:t>
                </a:r>
              </a:p>
              <a:p>
                <a:pPr lvl="0" algn="ctr">
                  <a:lnSpc>
                    <a:spcPct val="125000"/>
                  </a:lnSpc>
                  <a:buClrTx/>
                  <a:buSzTx/>
                  <a:buFontTx/>
                  <a:defRPr/>
                </a:pPr>
                <a:r>
                  <a:rPr lang="zh-CN" altLang="en-US">
                    <a:solidFill>
                      <a:srgbClr val="FFFFFF"/>
                    </a:solidFill>
                    <a:latin typeface="Noto Sans SC"/>
                    <a:ea typeface="SimSun" charset="0"/>
                    <a:cs typeface="Noto Sans SC"/>
                    <a:sym typeface="+mn-ea"/>
                  </a:rPr>
                  <a:t>执行</a:t>
                </a:r>
              </a:p>
            </p:txBody>
          </p:sp>
        </p:grpSp>
        <p:grpSp>
          <p:nvGrpSpPr>
            <p:cNvPr id="17" name="组合 16"/>
            <p:cNvGrpSpPr/>
            <p:nvPr/>
          </p:nvGrpSpPr>
          <p:grpSpPr>
            <a:xfrm>
              <a:off x="16506" y="4090"/>
              <a:ext cx="1834" cy="3964"/>
              <a:chOff x="5374639" y="2494801"/>
              <a:chExt cx="1585595" cy="3427095"/>
            </a:xfrm>
          </p:grpSpPr>
          <p:sp>
            <p:nvSpPr>
              <p:cNvPr id="11" name="矩形: 圆角 5"/>
              <p:cNvSpPr/>
              <p:nvPr/>
            </p:nvSpPr>
            <p:spPr>
              <a:xfrm>
                <a:off x="5375909" y="2494801"/>
                <a:ext cx="1584325" cy="1512570"/>
              </a:xfrm>
              <a:prstGeom prst="round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en-US" altLang="zh-CN">
                    <a:solidFill>
                      <a:srgbClr val="FFFFFF"/>
                    </a:solidFill>
                    <a:latin typeface="Noto Sans SC"/>
                    <a:ea typeface="SimSun" charset="0"/>
                    <a:cs typeface="Noto Sans SC"/>
                    <a:sym typeface="+mn-ea"/>
                  </a:rPr>
                  <a:t>4</a:t>
                </a:r>
              </a:p>
              <a:p>
                <a:pPr lvl="0" algn="ctr">
                  <a:lnSpc>
                    <a:spcPct val="125000"/>
                  </a:lnSpc>
                  <a:buClrTx/>
                  <a:buSzTx/>
                  <a:buFontTx/>
                  <a:defRPr/>
                </a:pPr>
                <a:r>
                  <a:rPr lang="en-US" altLang="zh-CN">
                    <a:solidFill>
                      <a:srgbClr val="FFFFFF"/>
                    </a:solidFill>
                    <a:latin typeface="Noto Sans SC"/>
                    <a:ea typeface="SimSun" charset="0"/>
                    <a:cs typeface="Noto Sans SC"/>
                    <a:sym typeface="+mn-ea"/>
                  </a:rPr>
                  <a:t>反思</a:t>
                </a:r>
              </a:p>
            </p:txBody>
          </p:sp>
          <p:sp>
            <p:nvSpPr>
              <p:cNvPr id="12" name="矩形: 圆角 6"/>
              <p:cNvSpPr/>
              <p:nvPr/>
            </p:nvSpPr>
            <p:spPr>
              <a:xfrm>
                <a:off x="5374639" y="4409326"/>
                <a:ext cx="1584325" cy="1512570"/>
              </a:xfrm>
              <a:prstGeom prst="round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en-US" altLang="zh-CN">
                    <a:solidFill>
                      <a:srgbClr val="FFFFFF"/>
                    </a:solidFill>
                    <a:latin typeface="Noto Sans SC"/>
                    <a:ea typeface="SimSun" charset="0"/>
                    <a:cs typeface="Noto Sans SC"/>
                    <a:sym typeface="+mn-ea"/>
                  </a:rPr>
                  <a:t>3</a:t>
                </a:r>
              </a:p>
              <a:p>
                <a:pPr lvl="0" algn="ctr">
                  <a:lnSpc>
                    <a:spcPct val="125000"/>
                  </a:lnSpc>
                  <a:buClrTx/>
                  <a:buSzTx/>
                  <a:buFontTx/>
                  <a:defRPr/>
                </a:pPr>
                <a:r>
                  <a:rPr lang="en-US" altLang="zh-CN">
                    <a:solidFill>
                      <a:srgbClr val="FFFFFF"/>
                    </a:solidFill>
                    <a:latin typeface="Noto Sans SC"/>
                    <a:ea typeface="SimSun" charset="0"/>
                    <a:cs typeface="Noto Sans SC"/>
                    <a:sym typeface="+mn-ea"/>
                  </a:rPr>
                  <a:t>评估</a:t>
                </a:r>
              </a:p>
            </p:txBody>
          </p:sp>
        </p:grpSp>
        <p:grpSp>
          <p:nvGrpSpPr>
            <p:cNvPr id="13" name="组合 12"/>
            <p:cNvGrpSpPr/>
            <p:nvPr/>
          </p:nvGrpSpPr>
          <p:grpSpPr>
            <a:xfrm>
              <a:off x="12409" y="4282"/>
              <a:ext cx="3373" cy="3581"/>
              <a:chOff x="1307468" y="2709040"/>
              <a:chExt cx="2916204" cy="3096104"/>
            </a:xfrm>
          </p:grpSpPr>
          <p:pic>
            <p:nvPicPr>
              <p:cNvPr id="14" name="Picture 2" descr="/home/ruoyu/Intro2AITechs/1-基础通识部分/8课时/assets/规划-透明.png规划-透明"/>
              <p:cNvPicPr>
                <a:picLocks noChangeAspect="1" noChangeArrowheads="1"/>
              </p:cNvPicPr>
              <p:nvPr/>
            </p:nvPicPr>
            <p:blipFill>
              <a:blip r:embed="rId3"/>
              <a:srcRect t="7" b="7"/>
              <a:stretch>
                <a:fillRect/>
              </a:stretch>
            </p:blipFill>
            <p:spPr bwMode="auto">
              <a:xfrm>
                <a:off x="1307468" y="2709040"/>
                <a:ext cx="108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home/ruoyu/Intro2AITechs/1-基础通识部分/8课时/assets/运行-透明.png运行-透明"/>
              <p:cNvPicPr>
                <a:picLocks noChangeAspect="1" noChangeArrowheads="1"/>
              </p:cNvPicPr>
              <p:nvPr/>
            </p:nvPicPr>
            <p:blipFill>
              <a:blip r:embed="rId4"/>
              <a:srcRect t="7" b="7"/>
              <a:stretch>
                <a:fillRect/>
              </a:stretch>
            </p:blipFill>
            <p:spPr bwMode="auto">
              <a:xfrm>
                <a:off x="1307468" y="4725144"/>
                <a:ext cx="1080000" cy="1080000"/>
              </a:xfrm>
              <a:prstGeom prst="rect">
                <a:avLst/>
              </a:prstGeom>
              <a:noFill/>
              <a:extLst>
                <a:ext uri="{909E8E84-426E-40DD-AFC4-6F175D3DCCD1}">
                  <a14:hiddenFill xmlns:a14="http://schemas.microsoft.com/office/drawing/2010/main">
                    <a:solidFill>
                      <a:srgbClr val="FFFFFF"/>
                    </a:solidFill>
                  </a14:hiddenFill>
                </a:ext>
              </a:extLst>
            </p:spPr>
          </p:pic>
          <p:sp>
            <p:nvSpPr>
              <p:cNvPr id="16" name="箭头: 下 7"/>
              <p:cNvSpPr/>
              <p:nvPr/>
            </p:nvSpPr>
            <p:spPr>
              <a:xfrm>
                <a:off x="1667508" y="4005064"/>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pic>
            <p:nvPicPr>
              <p:cNvPr id="4098" name="Picture 2" descr="/home/ruoyu/Intro2AITechs/1-基础通识部分/8课时/assets/评估-透明.png评估-透明"/>
              <p:cNvPicPr>
                <a:picLocks noChangeAspect="1" noChangeArrowheads="1"/>
              </p:cNvPicPr>
              <p:nvPr/>
            </p:nvPicPr>
            <p:blipFill>
              <a:blip r:embed="rId5"/>
              <a:srcRect t="7" b="7"/>
              <a:stretch>
                <a:fillRect/>
              </a:stretch>
            </p:blipFill>
            <p:spPr bwMode="auto">
              <a:xfrm>
                <a:off x="3143672" y="4725144"/>
                <a:ext cx="108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ome/ruoyu/Intro2AITechs/1-基础通识部分/8课时/assets/反思-透明.png反思-透明"/>
              <p:cNvPicPr>
                <a:picLocks noChangeAspect="1" noChangeArrowheads="1"/>
              </p:cNvPicPr>
              <p:nvPr/>
            </p:nvPicPr>
            <p:blipFill>
              <a:blip r:embed="rId6"/>
              <a:srcRect t="7" b="7"/>
              <a:stretch>
                <a:fillRect/>
              </a:stretch>
            </p:blipFill>
            <p:spPr bwMode="auto">
              <a:xfrm>
                <a:off x="3143672" y="2709040"/>
                <a:ext cx="1080000" cy="1080000"/>
              </a:xfrm>
              <a:prstGeom prst="rect">
                <a:avLst/>
              </a:prstGeom>
              <a:noFill/>
              <a:extLst>
                <a:ext uri="{909E8E84-426E-40DD-AFC4-6F175D3DCCD1}">
                  <a14:hiddenFill xmlns:a14="http://schemas.microsoft.com/office/drawing/2010/main">
                    <a:solidFill>
                      <a:srgbClr val="FFFFFF"/>
                    </a:solidFill>
                  </a14:hiddenFill>
                </a:ext>
              </a:extLst>
            </p:spPr>
          </p:pic>
          <p:sp>
            <p:nvSpPr>
              <p:cNvPr id="19" name="箭头: 下 9"/>
              <p:cNvSpPr/>
              <p:nvPr/>
            </p:nvSpPr>
            <p:spPr>
              <a:xfrm rot="16200000">
                <a:off x="2585610" y="5013116"/>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20" name="箭头: 下 10"/>
              <p:cNvSpPr/>
              <p:nvPr/>
            </p:nvSpPr>
            <p:spPr>
              <a:xfrm rot="5400000">
                <a:off x="2585610" y="2997012"/>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21" name="箭头: 下 11"/>
              <p:cNvSpPr/>
              <p:nvPr/>
            </p:nvSpPr>
            <p:spPr>
              <a:xfrm rot="10800000">
                <a:off x="3503712" y="4005064"/>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11761" y="4904"/>
              <a:ext cx="569" cy="2336"/>
              <a:chOff x="7952" y="5861"/>
              <a:chExt cx="569" cy="2336"/>
            </a:xfrm>
          </p:grpSpPr>
          <p:cxnSp>
            <p:nvCxnSpPr>
              <p:cNvPr id="27" name="直接连接符 26"/>
              <p:cNvCxnSpPr/>
              <p:nvPr/>
            </p:nvCxnSpPr>
            <p:spPr>
              <a:xfrm>
                <a:off x="7955" y="5861"/>
                <a:ext cx="56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28" name="直接连接符 27"/>
              <p:cNvCxnSpPr/>
              <p:nvPr/>
            </p:nvCxnSpPr>
            <p:spPr>
              <a:xfrm>
                <a:off x="7952" y="8197"/>
                <a:ext cx="56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grpSp>
        <p:grpSp>
          <p:nvGrpSpPr>
            <p:cNvPr id="10" name="组合 9"/>
            <p:cNvGrpSpPr/>
            <p:nvPr/>
          </p:nvGrpSpPr>
          <p:grpSpPr>
            <a:xfrm>
              <a:off x="15861" y="4904"/>
              <a:ext cx="566" cy="2336"/>
              <a:chOff x="13183" y="5861"/>
              <a:chExt cx="566" cy="2336"/>
            </a:xfrm>
          </p:grpSpPr>
          <p:cxnSp>
            <p:nvCxnSpPr>
              <p:cNvPr id="29" name="直接连接符 28"/>
              <p:cNvCxnSpPr/>
              <p:nvPr/>
            </p:nvCxnSpPr>
            <p:spPr>
              <a:xfrm>
                <a:off x="13183" y="5861"/>
                <a:ext cx="567" cy="0"/>
              </a:xfrm>
              <a:prstGeom prst="line">
                <a:avLst/>
              </a:prstGeom>
              <a:ln w="25400" cap="flat" cmpd="sng" algn="ctr">
                <a:solidFill>
                  <a:srgbClr val="B388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30" name="直接连接符 29"/>
              <p:cNvCxnSpPr/>
              <p:nvPr/>
            </p:nvCxnSpPr>
            <p:spPr>
              <a:xfrm>
                <a:off x="13183" y="8197"/>
                <a:ext cx="567" cy="0"/>
              </a:xfrm>
              <a:prstGeom prst="line">
                <a:avLst/>
              </a:prstGeom>
              <a:ln w="25400" cap="flat" cmpd="sng" algn="ctr">
                <a:solidFill>
                  <a:srgbClr val="B388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sym typeface="+mn-ea"/>
              </a:rPr>
              <a:t>让智能体使用工具</a:t>
            </a:r>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11</a:t>
            </a:fld>
            <a:endParaRPr lang="en-US" altLang="zh-CN"/>
          </a:p>
        </p:txBody>
      </p:sp>
      <p:grpSp>
        <p:nvGrpSpPr>
          <p:cNvPr id="56" name="组合 55"/>
          <p:cNvGrpSpPr/>
          <p:nvPr/>
        </p:nvGrpSpPr>
        <p:grpSpPr>
          <a:xfrm>
            <a:off x="2897505" y="4516120"/>
            <a:ext cx="3136900" cy="1582420"/>
            <a:chOff x="5628" y="7112"/>
            <a:chExt cx="4940" cy="2492"/>
          </a:xfrm>
        </p:grpSpPr>
        <p:pic>
          <p:nvPicPr>
            <p:cNvPr id="1026" name="Picture 2" descr="/home/ruoyu/Intro2AITechs/1-基础通识部分/8课时/assets/工具箱-透明.png工具箱-透明"/>
            <p:cNvPicPr>
              <a:picLocks noChangeAspect="1" noChangeArrowheads="1"/>
            </p:cNvPicPr>
            <p:nvPr/>
          </p:nvPicPr>
          <p:blipFill>
            <a:blip r:embed="rId3"/>
            <a:srcRect l="36" t="-36" r="36" b="36"/>
            <a:stretch>
              <a:fillRect/>
            </a:stretch>
          </p:blipFill>
          <p:spPr bwMode="auto">
            <a:xfrm>
              <a:off x="6980" y="8212"/>
              <a:ext cx="1391" cy="1392"/>
            </a:xfrm>
            <a:prstGeom prst="rect">
              <a:avLst/>
            </a:prstGeom>
            <a:noFill/>
            <a:extLst>
              <a:ext uri="{909E8E84-426E-40DD-AFC4-6F175D3DCCD1}">
                <a14:hiddenFill xmlns:a14="http://schemas.microsoft.com/office/drawing/2010/main">
                  <a:solidFill>
                    <a:srgbClr val="FFFFFF"/>
                  </a:solidFill>
                </a14:hiddenFill>
              </a:ext>
            </a:extLst>
          </p:spPr>
        </p:pic>
        <p:sp>
          <p:nvSpPr>
            <p:cNvPr id="33" name="箭头: 上下 32"/>
            <p:cNvSpPr/>
            <p:nvPr/>
          </p:nvSpPr>
          <p:spPr>
            <a:xfrm rot="18900000">
              <a:off x="5628" y="7112"/>
              <a:ext cx="464" cy="2155"/>
            </a:xfrm>
            <a:prstGeom prst="upDownArrow">
              <a:avLst/>
            </a:prstGeom>
            <a:noFill/>
            <a:ln w="25400">
              <a:solidFill>
                <a:srgbClr val="00E5FF"/>
              </a:solidFill>
            </a:ln>
            <a:effectLst>
              <a:outerShdw blurRad="101600" dist="50800" dir="5400000" algn="ctr" rotWithShape="0">
                <a:srgbClr val="00E5FF">
                  <a:alpha val="60000"/>
                </a:srgbClr>
              </a:outerShdw>
            </a:effectLst>
            <a:extLst>
              <a:ext uri="{909E8E84-426E-40DD-AFC4-6F175D3DCCD1}">
                <a14:hiddenFill xmlns:a14="http://schemas.microsoft.com/office/drawing/2010/main">
                  <a:solidFill>
                    <a:schemeClr val="accent1"/>
                  </a:solidFill>
                </a14:hiddenFill>
              </a:ext>
            </a:extLst>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34" name="箭头: 上下 33"/>
            <p:cNvSpPr/>
            <p:nvPr/>
          </p:nvSpPr>
          <p:spPr>
            <a:xfrm rot="2700000">
              <a:off x="9259" y="7112"/>
              <a:ext cx="464" cy="2154"/>
            </a:xfrm>
            <a:prstGeom prst="upDownArrow">
              <a:avLst/>
            </a:prstGeom>
            <a:noFill/>
            <a:ln w="25400">
              <a:solidFill>
                <a:srgbClr val="00E5FF"/>
              </a:solidFill>
            </a:ln>
            <a:effectLst>
              <a:outerShdw blurRad="101600" dist="50800" dir="5400000" algn="ctr" rotWithShape="0">
                <a:srgbClr val="00E5FF">
                  <a:alpha val="60000"/>
                </a:srgbClr>
              </a:outerShdw>
            </a:effectLst>
            <a:extLst>
              <a:ext uri="{909E8E84-426E-40DD-AFC4-6F175D3DCCD1}">
                <a14:hiddenFill xmlns:a14="http://schemas.microsoft.com/office/drawing/2010/main">
                  <a:solidFill>
                    <a:schemeClr val="accent1"/>
                  </a:solidFill>
                </a14:hiddenFill>
              </a:ext>
            </a:extLst>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grpSp>
      <p:grpSp>
        <p:nvGrpSpPr>
          <p:cNvPr id="57" name="组合 56"/>
          <p:cNvGrpSpPr/>
          <p:nvPr/>
        </p:nvGrpSpPr>
        <p:grpSpPr>
          <a:xfrm>
            <a:off x="1562100" y="1555750"/>
            <a:ext cx="8970010" cy="3253105"/>
            <a:chOff x="3508" y="2450"/>
            <a:chExt cx="14126" cy="5123"/>
          </a:xfrm>
        </p:grpSpPr>
        <p:sp>
          <p:nvSpPr>
            <p:cNvPr id="3" name="矩形: 圆角 2"/>
            <p:cNvSpPr/>
            <p:nvPr/>
          </p:nvSpPr>
          <p:spPr>
            <a:xfrm>
              <a:off x="5197" y="2450"/>
              <a:ext cx="1701" cy="8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PaE</a:t>
              </a:r>
            </a:p>
          </p:txBody>
        </p:sp>
        <p:sp>
          <p:nvSpPr>
            <p:cNvPr id="6" name="矩形: 圆角 8"/>
            <p:cNvSpPr/>
            <p:nvPr/>
          </p:nvSpPr>
          <p:spPr>
            <a:xfrm>
              <a:off x="13139" y="2450"/>
              <a:ext cx="1701" cy="850"/>
            </a:xfrm>
            <a:prstGeom prst="round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en-US" altLang="zh-CN">
                  <a:solidFill>
                    <a:srgbClr val="FFFFFF"/>
                  </a:solidFill>
                  <a:latin typeface="Noto Sans SC"/>
                  <a:ea typeface="SimSun" charset="0"/>
                  <a:cs typeface="Noto Sans SC"/>
                  <a:sym typeface="+mn-ea"/>
                </a:rPr>
                <a:t>ReAct</a:t>
              </a:r>
            </a:p>
          </p:txBody>
        </p:sp>
        <p:grpSp>
          <p:nvGrpSpPr>
            <p:cNvPr id="19" name="组合 18"/>
            <p:cNvGrpSpPr/>
            <p:nvPr/>
          </p:nvGrpSpPr>
          <p:grpSpPr>
            <a:xfrm>
              <a:off x="3508" y="3491"/>
              <a:ext cx="5056" cy="4082"/>
              <a:chOff x="3500" y="4991"/>
              <a:chExt cx="5056" cy="4082"/>
            </a:xfrm>
          </p:grpSpPr>
          <p:grpSp>
            <p:nvGrpSpPr>
              <p:cNvPr id="23" name="组合 22"/>
              <p:cNvGrpSpPr/>
              <p:nvPr/>
            </p:nvGrpSpPr>
            <p:grpSpPr>
              <a:xfrm>
                <a:off x="3500" y="4991"/>
                <a:ext cx="5056" cy="4082"/>
                <a:chOff x="3500" y="4991"/>
                <a:chExt cx="5056" cy="4082"/>
              </a:xfrm>
            </p:grpSpPr>
            <p:grpSp>
              <p:nvGrpSpPr>
                <p:cNvPr id="22" name="组合 21"/>
                <p:cNvGrpSpPr/>
                <p:nvPr/>
              </p:nvGrpSpPr>
              <p:grpSpPr>
                <a:xfrm>
                  <a:off x="6680" y="4991"/>
                  <a:ext cx="1876" cy="4082"/>
                  <a:chOff x="6471" y="4991"/>
                  <a:chExt cx="1876" cy="4082"/>
                </a:xfrm>
              </p:grpSpPr>
              <p:sp>
                <p:nvSpPr>
                  <p:cNvPr id="26" name="矩形: 圆角 3"/>
                  <p:cNvSpPr/>
                  <p:nvPr/>
                </p:nvSpPr>
                <p:spPr>
                  <a:xfrm>
                    <a:off x="6471" y="4991"/>
                    <a:ext cx="1877" cy="17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1</a:t>
                    </a:r>
                  </a:p>
                  <a:p>
                    <a:pPr lvl="0" algn="ctr">
                      <a:lnSpc>
                        <a:spcPct val="125000"/>
                      </a:lnSpc>
                      <a:buClrTx/>
                      <a:buSzTx/>
                      <a:buFontTx/>
                      <a:defRPr/>
                    </a:pPr>
                    <a:r>
                      <a:rPr lang="zh-CN" altLang="en-US">
                        <a:solidFill>
                          <a:srgbClr val="FFFFFF"/>
                        </a:solidFill>
                        <a:latin typeface="Noto Sans SC"/>
                        <a:ea typeface="SimSun" charset="0"/>
                        <a:cs typeface="Noto Sans SC"/>
                        <a:sym typeface="+mn-ea"/>
                      </a:rPr>
                      <a:t>规划</a:t>
                    </a:r>
                  </a:p>
                </p:txBody>
              </p:sp>
              <p:sp>
                <p:nvSpPr>
                  <p:cNvPr id="27" name="矩形: 圆角 4"/>
                  <p:cNvSpPr/>
                  <p:nvPr/>
                </p:nvSpPr>
                <p:spPr>
                  <a:xfrm>
                    <a:off x="6471" y="7323"/>
                    <a:ext cx="1877" cy="17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2</a:t>
                    </a:r>
                  </a:p>
                  <a:p>
                    <a:pPr lvl="0" algn="ctr">
                      <a:lnSpc>
                        <a:spcPct val="125000"/>
                      </a:lnSpc>
                      <a:buClrTx/>
                      <a:buSzTx/>
                      <a:buFontTx/>
                      <a:defRPr/>
                    </a:pPr>
                    <a:r>
                      <a:rPr lang="zh-CN" altLang="en-US">
                        <a:solidFill>
                          <a:srgbClr val="FFFFFF"/>
                        </a:solidFill>
                        <a:latin typeface="Noto Sans SC"/>
                        <a:ea typeface="SimSun" charset="0"/>
                        <a:cs typeface="Noto Sans SC"/>
                        <a:sym typeface="+mn-ea"/>
                      </a:rPr>
                      <a:t>执行</a:t>
                    </a:r>
                  </a:p>
                </p:txBody>
              </p:sp>
            </p:grpSp>
            <p:grpSp>
              <p:nvGrpSpPr>
                <p:cNvPr id="37" name="组合 36"/>
                <p:cNvGrpSpPr/>
                <p:nvPr/>
              </p:nvGrpSpPr>
              <p:grpSpPr>
                <a:xfrm>
                  <a:off x="3500" y="5241"/>
                  <a:ext cx="1250" cy="3581"/>
                  <a:chOff x="3500" y="5241"/>
                  <a:chExt cx="1250" cy="3581"/>
                </a:xfrm>
              </p:grpSpPr>
              <p:pic>
                <p:nvPicPr>
                  <p:cNvPr id="2050" name="Picture 2" descr="/home/ruoyu/Intro2AITechs/1-基础通识部分/8课时/assets/规划-透明.png规划-透明"/>
                  <p:cNvPicPr>
                    <a:picLocks noChangeAspect="1" noChangeArrowheads="1"/>
                  </p:cNvPicPr>
                  <p:nvPr/>
                </p:nvPicPr>
                <p:blipFill>
                  <a:blip r:embed="rId4"/>
                  <a:srcRect l="40" t="40" r="-40" b="12"/>
                  <a:stretch>
                    <a:fillRect/>
                  </a:stretch>
                </p:blipFill>
                <p:spPr bwMode="auto">
                  <a:xfrm>
                    <a:off x="3500" y="5241"/>
                    <a:ext cx="1250" cy="124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ome/ruoyu/Intro2AITechs/1-基础通识部分/8课时/assets/运行-透明.png运行-透明"/>
                  <p:cNvPicPr>
                    <a:picLocks noChangeAspect="1" noChangeArrowheads="1"/>
                  </p:cNvPicPr>
                  <p:nvPr/>
                </p:nvPicPr>
                <p:blipFill>
                  <a:blip r:embed="rId5"/>
                  <a:srcRect/>
                  <a:stretch>
                    <a:fillRect/>
                  </a:stretch>
                </p:blipFill>
                <p:spPr bwMode="auto">
                  <a:xfrm>
                    <a:off x="3500" y="7573"/>
                    <a:ext cx="1249" cy="1249"/>
                  </a:xfrm>
                  <a:prstGeom prst="rect">
                    <a:avLst/>
                  </a:prstGeom>
                  <a:noFill/>
                  <a:extLst>
                    <a:ext uri="{909E8E84-426E-40DD-AFC4-6F175D3DCCD1}">
                      <a14:hiddenFill xmlns:a14="http://schemas.microsoft.com/office/drawing/2010/main">
                        <a:solidFill>
                          <a:srgbClr val="FFFFFF"/>
                        </a:solidFill>
                      </a14:hiddenFill>
                    </a:ext>
                  </a:extLst>
                </p:spPr>
              </p:pic>
              <p:sp>
                <p:nvSpPr>
                  <p:cNvPr id="38" name="箭头: 下 5"/>
                  <p:cNvSpPr/>
                  <p:nvPr/>
                </p:nvSpPr>
                <p:spPr>
                  <a:xfrm>
                    <a:off x="3916" y="6740"/>
                    <a:ext cx="416" cy="583"/>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grpSp>
          </p:grpSp>
          <p:cxnSp>
            <p:nvCxnSpPr>
              <p:cNvPr id="39" name="直接连接符 38"/>
              <p:cNvCxnSpPr/>
              <p:nvPr/>
            </p:nvCxnSpPr>
            <p:spPr>
              <a:xfrm>
                <a:off x="5014" y="5861"/>
                <a:ext cx="141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40" name="直接连接符 39"/>
              <p:cNvCxnSpPr/>
              <p:nvPr/>
            </p:nvCxnSpPr>
            <p:spPr>
              <a:xfrm>
                <a:off x="5015" y="8197"/>
                <a:ext cx="141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grpSp>
        <p:grpSp>
          <p:nvGrpSpPr>
            <p:cNvPr id="41" name="组合 40"/>
            <p:cNvGrpSpPr/>
            <p:nvPr/>
          </p:nvGrpSpPr>
          <p:grpSpPr>
            <a:xfrm>
              <a:off x="8896" y="3550"/>
              <a:ext cx="8739" cy="3964"/>
              <a:chOff x="8888" y="5050"/>
              <a:chExt cx="8739" cy="3964"/>
            </a:xfrm>
          </p:grpSpPr>
          <p:grpSp>
            <p:nvGrpSpPr>
              <p:cNvPr id="42" name="组合 41"/>
              <p:cNvGrpSpPr/>
              <p:nvPr/>
            </p:nvGrpSpPr>
            <p:grpSpPr>
              <a:xfrm>
                <a:off x="15793" y="5050"/>
                <a:ext cx="1834" cy="3964"/>
                <a:chOff x="5374639" y="2494801"/>
                <a:chExt cx="1585595" cy="3427095"/>
              </a:xfrm>
            </p:grpSpPr>
            <p:sp>
              <p:nvSpPr>
                <p:cNvPr id="43" name="矩形: 圆角 5"/>
                <p:cNvSpPr/>
                <p:nvPr/>
              </p:nvSpPr>
              <p:spPr>
                <a:xfrm>
                  <a:off x="5375909" y="2494801"/>
                  <a:ext cx="1584325" cy="1512570"/>
                </a:xfrm>
                <a:prstGeom prst="round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en-US" altLang="zh-CN">
                      <a:solidFill>
                        <a:srgbClr val="FFFFFF"/>
                      </a:solidFill>
                      <a:latin typeface="Noto Sans SC"/>
                      <a:ea typeface="SimSun" charset="0"/>
                      <a:cs typeface="Noto Sans SC"/>
                      <a:sym typeface="+mn-ea"/>
                    </a:rPr>
                    <a:t>4</a:t>
                  </a:r>
                </a:p>
                <a:p>
                  <a:pPr lvl="0" algn="ctr">
                    <a:lnSpc>
                      <a:spcPct val="125000"/>
                    </a:lnSpc>
                    <a:buClrTx/>
                    <a:buSzTx/>
                    <a:buFontTx/>
                    <a:defRPr/>
                  </a:pPr>
                  <a:r>
                    <a:rPr lang="en-US" altLang="zh-CN">
                      <a:solidFill>
                        <a:srgbClr val="FFFFFF"/>
                      </a:solidFill>
                      <a:latin typeface="Noto Sans SC"/>
                      <a:ea typeface="SimSun" charset="0"/>
                      <a:cs typeface="Noto Sans SC"/>
                      <a:sym typeface="+mn-ea"/>
                    </a:rPr>
                    <a:t>反思</a:t>
                  </a:r>
                </a:p>
              </p:txBody>
            </p:sp>
            <p:sp>
              <p:nvSpPr>
                <p:cNvPr id="44" name="矩形: 圆角 6"/>
                <p:cNvSpPr/>
                <p:nvPr/>
              </p:nvSpPr>
              <p:spPr>
                <a:xfrm>
                  <a:off x="5374639" y="4409326"/>
                  <a:ext cx="1584325" cy="1512570"/>
                </a:xfrm>
                <a:prstGeom prst="round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en-US" altLang="zh-CN">
                      <a:solidFill>
                        <a:srgbClr val="FFFFFF"/>
                      </a:solidFill>
                      <a:latin typeface="Noto Sans SC"/>
                      <a:ea typeface="SimSun" charset="0"/>
                      <a:cs typeface="Noto Sans SC"/>
                      <a:sym typeface="+mn-ea"/>
                    </a:rPr>
                    <a:t>3</a:t>
                  </a:r>
                </a:p>
                <a:p>
                  <a:pPr lvl="0" algn="ctr">
                    <a:lnSpc>
                      <a:spcPct val="125000"/>
                    </a:lnSpc>
                    <a:buClrTx/>
                    <a:buSzTx/>
                    <a:buFontTx/>
                    <a:defRPr/>
                  </a:pPr>
                  <a:r>
                    <a:rPr lang="en-US" altLang="zh-CN">
                      <a:solidFill>
                        <a:srgbClr val="FFFFFF"/>
                      </a:solidFill>
                      <a:latin typeface="Noto Sans SC"/>
                      <a:ea typeface="SimSun" charset="0"/>
                      <a:cs typeface="Noto Sans SC"/>
                      <a:sym typeface="+mn-ea"/>
                    </a:rPr>
                    <a:t>评估</a:t>
                  </a:r>
                </a:p>
              </p:txBody>
            </p:sp>
          </p:grpSp>
          <p:grpSp>
            <p:nvGrpSpPr>
              <p:cNvPr id="45" name="组合 44"/>
              <p:cNvGrpSpPr/>
              <p:nvPr/>
            </p:nvGrpSpPr>
            <p:grpSpPr>
              <a:xfrm>
                <a:off x="10488" y="5241"/>
                <a:ext cx="3373" cy="3581"/>
                <a:chOff x="1307468" y="2709040"/>
                <a:chExt cx="2916204" cy="3096104"/>
              </a:xfrm>
            </p:grpSpPr>
            <p:pic>
              <p:nvPicPr>
                <p:cNvPr id="46" name="Picture 2" descr="/home/ruoyu/Intro2AITechs/1-基础通识部分/8课时/assets/规划-透明.png规划-透明"/>
                <p:cNvPicPr>
                  <a:picLocks noChangeAspect="1" noChangeArrowheads="1"/>
                </p:cNvPicPr>
                <p:nvPr/>
              </p:nvPicPr>
              <p:blipFill>
                <a:blip r:embed="rId4"/>
                <a:srcRect t="7" b="7"/>
                <a:stretch>
                  <a:fillRect/>
                </a:stretch>
              </p:blipFill>
              <p:spPr bwMode="auto">
                <a:xfrm>
                  <a:off x="1307468" y="2709040"/>
                  <a:ext cx="108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descr="/home/ruoyu/Intro2AITechs/1-基础通识部分/8课时/assets/运行-透明.png运行-透明"/>
                <p:cNvPicPr>
                  <a:picLocks noChangeAspect="1" noChangeArrowheads="1"/>
                </p:cNvPicPr>
                <p:nvPr/>
              </p:nvPicPr>
              <p:blipFill>
                <a:blip r:embed="rId5"/>
                <a:srcRect t="7" b="7"/>
                <a:stretch>
                  <a:fillRect/>
                </a:stretch>
              </p:blipFill>
              <p:spPr bwMode="auto">
                <a:xfrm>
                  <a:off x="1307468" y="4725144"/>
                  <a:ext cx="1080000" cy="1080000"/>
                </a:xfrm>
                <a:prstGeom prst="rect">
                  <a:avLst/>
                </a:prstGeom>
                <a:noFill/>
                <a:extLst>
                  <a:ext uri="{909E8E84-426E-40DD-AFC4-6F175D3DCCD1}">
                    <a14:hiddenFill xmlns:a14="http://schemas.microsoft.com/office/drawing/2010/main">
                      <a:solidFill>
                        <a:srgbClr val="FFFFFF"/>
                      </a:solidFill>
                    </a14:hiddenFill>
                  </a:ext>
                </a:extLst>
              </p:spPr>
            </p:pic>
            <p:sp>
              <p:nvSpPr>
                <p:cNvPr id="48" name="箭头: 下 7"/>
                <p:cNvSpPr/>
                <p:nvPr/>
              </p:nvSpPr>
              <p:spPr>
                <a:xfrm>
                  <a:off x="1667508" y="4005064"/>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pic>
              <p:nvPicPr>
                <p:cNvPr id="4098" name="Picture 2" descr="/home/ruoyu/Intro2AITechs/1-基础通识部分/8课时/assets/评估-透明.png评估-透明"/>
                <p:cNvPicPr>
                  <a:picLocks noChangeAspect="1" noChangeArrowheads="1"/>
                </p:cNvPicPr>
                <p:nvPr/>
              </p:nvPicPr>
              <p:blipFill>
                <a:blip r:embed="rId6"/>
                <a:srcRect t="7" b="7"/>
                <a:stretch>
                  <a:fillRect/>
                </a:stretch>
              </p:blipFill>
              <p:spPr bwMode="auto">
                <a:xfrm>
                  <a:off x="3143672" y="4725144"/>
                  <a:ext cx="108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ome/ruoyu/Intro2AITechs/1-基础通识部分/8课时/assets/反思-透明.png反思-透明"/>
                <p:cNvPicPr>
                  <a:picLocks noChangeAspect="1" noChangeArrowheads="1"/>
                </p:cNvPicPr>
                <p:nvPr/>
              </p:nvPicPr>
              <p:blipFill>
                <a:blip r:embed="rId7"/>
                <a:srcRect t="7" b="7"/>
                <a:stretch>
                  <a:fillRect/>
                </a:stretch>
              </p:blipFill>
              <p:spPr bwMode="auto">
                <a:xfrm>
                  <a:off x="3143672" y="2709040"/>
                  <a:ext cx="1080000" cy="1080000"/>
                </a:xfrm>
                <a:prstGeom prst="rect">
                  <a:avLst/>
                </a:prstGeom>
                <a:noFill/>
                <a:extLst>
                  <a:ext uri="{909E8E84-426E-40DD-AFC4-6F175D3DCCD1}">
                    <a14:hiddenFill xmlns:a14="http://schemas.microsoft.com/office/drawing/2010/main">
                      <a:solidFill>
                        <a:srgbClr val="FFFFFF"/>
                      </a:solidFill>
                    </a14:hiddenFill>
                  </a:ext>
                </a:extLst>
              </p:spPr>
            </p:pic>
            <p:sp>
              <p:nvSpPr>
                <p:cNvPr id="49" name="箭头: 下 9"/>
                <p:cNvSpPr/>
                <p:nvPr/>
              </p:nvSpPr>
              <p:spPr>
                <a:xfrm rot="16200000">
                  <a:off x="2585610" y="5013116"/>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50" name="箭头: 下 10"/>
                <p:cNvSpPr/>
                <p:nvPr/>
              </p:nvSpPr>
              <p:spPr>
                <a:xfrm rot="5400000">
                  <a:off x="2585610" y="2997012"/>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51" name="箭头: 下 11"/>
                <p:cNvSpPr/>
                <p:nvPr/>
              </p:nvSpPr>
              <p:spPr>
                <a:xfrm rot="10800000">
                  <a:off x="3503712" y="4005064"/>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grpSp>
          <p:cxnSp>
            <p:nvCxnSpPr>
              <p:cNvPr id="52" name="直接连接符 51"/>
              <p:cNvCxnSpPr/>
              <p:nvPr/>
            </p:nvCxnSpPr>
            <p:spPr>
              <a:xfrm>
                <a:off x="8891" y="5861"/>
                <a:ext cx="141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53" name="直接连接符 52"/>
              <p:cNvCxnSpPr/>
              <p:nvPr/>
            </p:nvCxnSpPr>
            <p:spPr>
              <a:xfrm>
                <a:off x="8888" y="8197"/>
                <a:ext cx="141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54" name="直接连接符 53"/>
              <p:cNvCxnSpPr/>
              <p:nvPr/>
            </p:nvCxnSpPr>
            <p:spPr>
              <a:xfrm>
                <a:off x="14119" y="5861"/>
                <a:ext cx="1417" cy="0"/>
              </a:xfrm>
              <a:prstGeom prst="line">
                <a:avLst/>
              </a:prstGeom>
              <a:ln w="25400" cap="flat" cmpd="sng" algn="ctr">
                <a:solidFill>
                  <a:srgbClr val="B388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55" name="直接连接符 54"/>
              <p:cNvCxnSpPr/>
              <p:nvPr/>
            </p:nvCxnSpPr>
            <p:spPr>
              <a:xfrm>
                <a:off x="14119" y="8197"/>
                <a:ext cx="1417" cy="0"/>
              </a:xfrm>
              <a:prstGeom prst="line">
                <a:avLst/>
              </a:prstGeom>
              <a:ln w="25400" cap="flat" cmpd="sng" algn="ctr">
                <a:solidFill>
                  <a:srgbClr val="B388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50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让智能体使用工具</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12</a:t>
            </a:fld>
            <a:endParaRPr lang="en-US" altLang="zh-CN"/>
          </a:p>
        </p:txBody>
      </p:sp>
      <p:sp>
        <p:nvSpPr>
          <p:cNvPr id="5" name="文本框 4"/>
          <p:cNvSpPr txBox="1"/>
          <p:nvPr/>
        </p:nvSpPr>
        <p:spPr>
          <a:xfrm>
            <a:off x="5960110" y="1821815"/>
            <a:ext cx="4853940" cy="4162425"/>
          </a:xfrm>
          <a:prstGeom prst="rect">
            <a:avLst/>
          </a:prstGeom>
          <a:solidFill>
            <a:srgbClr val="000000">
              <a:alpha val="0"/>
            </a:srgbClr>
          </a:solidFill>
          <a:ln>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noAutofit/>
          </a:bodyPr>
          <a:lstStyle/>
          <a:p>
            <a:r>
              <a:rPr lang="en-US" altLang="en-US" sz="1400" dirty="0">
                <a:solidFill>
                  <a:schemeClr val="bg1"/>
                </a:solidFill>
                <a:latin typeface="Calibri" charset="0"/>
                <a:cs typeface="Calibri" charset="0"/>
              </a:rPr>
              <a:t>……</a:t>
            </a:r>
          </a:p>
          <a:p>
            <a:endParaRPr lang="en-US" altLang="en-US" sz="1400" dirty="0">
              <a:solidFill>
                <a:schemeClr val="bg1"/>
              </a:solidFill>
              <a:latin typeface="Calibri" charset="0"/>
              <a:cs typeface="Calibri" charset="0"/>
            </a:endParaRPr>
          </a:p>
          <a:p>
            <a:r>
              <a:rPr lang="en-US" altLang="en-US" sz="1400" b="1" dirty="0">
                <a:solidFill>
                  <a:schemeClr val="bg1"/>
                </a:solidFill>
                <a:latin typeface="Calibri" charset="0"/>
                <a:cs typeface="Calibri" charset="0"/>
              </a:rPr>
              <a:t>### 工具使用说明</a:t>
            </a:r>
            <a:endParaRPr lang="en-US" altLang="en-US" sz="1400" dirty="0">
              <a:solidFill>
                <a:schemeClr val="bg1"/>
              </a:solidFill>
              <a:latin typeface="Calibri" charset="0"/>
              <a:cs typeface="Calibri" charset="0"/>
            </a:endParaRPr>
          </a:p>
          <a:p>
            <a:endParaRPr lang="en-US" altLang="en-US" sz="1400" dirty="0">
              <a:solidFill>
                <a:schemeClr val="bg1"/>
              </a:solidFill>
              <a:latin typeface="Calibri" charset="0"/>
              <a:cs typeface="Calibri" charset="0"/>
            </a:endParaRPr>
          </a:p>
          <a:p>
            <a:r>
              <a:rPr lang="en-US" altLang="en-US" sz="1400" dirty="0">
                <a:solidFill>
                  <a:schemeClr val="bg1"/>
                </a:solidFill>
                <a:latin typeface="Calibri" charset="0"/>
                <a:cs typeface="Calibri" charset="0"/>
              </a:rPr>
              <a:t>在完成任务的过程中，如果需要XXX方面的信息或者执行XXX操作，可以从下列工具中选择匹配的进行调用：</a:t>
            </a:r>
          </a:p>
          <a:p>
            <a:endParaRPr lang="en-US" altLang="en-US" sz="1400" dirty="0">
              <a:solidFill>
                <a:schemeClr val="bg1"/>
              </a:solidFill>
              <a:latin typeface="Calibri" charset="0"/>
              <a:cs typeface="Calibri" charset="0"/>
            </a:endParaRPr>
          </a:p>
          <a:p>
            <a:r>
              <a:rPr lang="en-US" altLang="en-US" sz="1400" b="1" dirty="0">
                <a:solidFill>
                  <a:schemeClr val="bg1"/>
                </a:solidFill>
                <a:latin typeface="Calibri" charset="0"/>
                <a:cs typeface="Calibri" charset="0"/>
              </a:rPr>
              <a:t>1. XXX信息搜索工具</a:t>
            </a:r>
            <a:endParaRPr lang="en-US" altLang="en-US" sz="1400" dirty="0">
              <a:solidFill>
                <a:schemeClr val="bg1"/>
              </a:solidFill>
              <a:latin typeface="Calibri" charset="0"/>
              <a:cs typeface="Calibri" charset="0"/>
            </a:endParaRPr>
          </a:p>
          <a:p>
            <a:r>
              <a:rPr lang="en-US" altLang="en-US" sz="1400" dirty="0">
                <a:solidFill>
                  <a:schemeClr val="bg1"/>
                </a:solidFill>
                <a:latin typeface="Calibri" charset="0"/>
                <a:cs typeface="Calibri" charset="0"/>
              </a:rPr>
              <a:t>- 工具描述：可以从百度、Google、Bing搜索引擎中根据关键词搜索网页，返回网页内容</a:t>
            </a:r>
          </a:p>
          <a:p>
            <a:r>
              <a:rPr lang="en-US" altLang="en-US" sz="1400" dirty="0">
                <a:solidFill>
                  <a:schemeClr val="bg1"/>
                </a:solidFill>
                <a:latin typeface="Calibri" charset="0"/>
                <a:cs typeface="Calibri" charset="0"/>
              </a:rPr>
              <a:t>- 工具输入：搜索关键词</a:t>
            </a:r>
          </a:p>
          <a:p>
            <a:r>
              <a:rPr lang="en-US" altLang="en-US" sz="1400" dirty="0">
                <a:solidFill>
                  <a:schemeClr val="bg1"/>
                </a:solidFill>
                <a:latin typeface="Calibri" charset="0"/>
                <a:cs typeface="Calibri" charset="0"/>
              </a:rPr>
              <a:t>- 工具输出：HTML格式的网页源码</a:t>
            </a:r>
          </a:p>
          <a:p>
            <a:endParaRPr lang="en-US" altLang="en-US" sz="1400" dirty="0">
              <a:solidFill>
                <a:schemeClr val="bg1"/>
              </a:solidFill>
              <a:latin typeface="Calibri" charset="0"/>
              <a:cs typeface="Calibri" charset="0"/>
            </a:endParaRPr>
          </a:p>
          <a:p>
            <a:r>
              <a:rPr lang="en-US" altLang="en-US" sz="1400" b="1" dirty="0">
                <a:solidFill>
                  <a:schemeClr val="bg1"/>
                </a:solidFill>
                <a:latin typeface="Calibri" charset="0"/>
                <a:cs typeface="Calibri" charset="0"/>
              </a:rPr>
              <a:t>2. HTML内容提取工具</a:t>
            </a:r>
            <a:endParaRPr lang="en-US" altLang="en-US" sz="1400" dirty="0">
              <a:solidFill>
                <a:schemeClr val="bg1"/>
              </a:solidFill>
              <a:latin typeface="Calibri" charset="0"/>
              <a:cs typeface="Calibri" charset="0"/>
            </a:endParaRPr>
          </a:p>
          <a:p>
            <a:r>
              <a:rPr lang="en-US" altLang="en-US" sz="1400" dirty="0">
                <a:solidFill>
                  <a:schemeClr val="bg1"/>
                </a:solidFill>
                <a:latin typeface="Calibri" charset="0"/>
                <a:cs typeface="Calibri" charset="0"/>
              </a:rPr>
              <a:t>- 工具描述：从HTML代码中提取正文文本内容</a:t>
            </a:r>
          </a:p>
          <a:p>
            <a:r>
              <a:rPr lang="en-US" altLang="en-US" sz="1400" dirty="0">
                <a:solidFill>
                  <a:schemeClr val="bg1"/>
                </a:solidFill>
                <a:latin typeface="Calibri" charset="0"/>
                <a:cs typeface="Calibri" charset="0"/>
              </a:rPr>
              <a:t>- 工具输入：HTML网页代码</a:t>
            </a:r>
          </a:p>
          <a:p>
            <a:r>
              <a:rPr lang="en-US" altLang="en-US" sz="1400" dirty="0">
                <a:solidFill>
                  <a:schemeClr val="bg1"/>
                </a:solidFill>
                <a:latin typeface="Calibri" charset="0"/>
                <a:cs typeface="Calibri" charset="0"/>
              </a:rPr>
              <a:t>- 工具输出：网页正文文本</a:t>
            </a:r>
          </a:p>
          <a:p>
            <a:endParaRPr lang="en-US" altLang="en-US" sz="1400" dirty="0">
              <a:solidFill>
                <a:schemeClr val="bg1"/>
              </a:solidFill>
              <a:latin typeface="Calibri" charset="0"/>
              <a:cs typeface="Calibri" charset="0"/>
            </a:endParaRPr>
          </a:p>
          <a:p>
            <a:r>
              <a:rPr lang="en-US" altLang="en-US" sz="1400" b="1" dirty="0">
                <a:solidFill>
                  <a:schemeClr val="bg1"/>
                </a:solidFill>
                <a:latin typeface="Calibri" charset="0"/>
                <a:cs typeface="Calibri" charset="0"/>
              </a:rPr>
              <a:t>3. ……</a:t>
            </a:r>
          </a:p>
        </p:txBody>
      </p:sp>
      <p:pic>
        <p:nvPicPr>
          <p:cNvPr id="6" name="图片 5"/>
          <p:cNvPicPr>
            <a:picLocks noChangeAspect="1"/>
          </p:cNvPicPr>
          <p:nvPr/>
        </p:nvPicPr>
        <p:blipFill>
          <a:blip r:embed="rId3"/>
          <a:stretch>
            <a:fillRect/>
          </a:stretch>
        </p:blipFill>
        <p:spPr>
          <a:xfrm>
            <a:off x="1898650" y="1821815"/>
            <a:ext cx="3122295" cy="4163695"/>
          </a:xfrm>
          <a:prstGeom prst="rect">
            <a:avLst/>
          </a:prstGeom>
          <a:ln w="19050">
            <a:solidFill>
              <a:schemeClr val="bg1"/>
            </a:solidFill>
          </a:ln>
          <a:effectLst>
            <a:outerShdw blurRad="50800" dist="38100" dir="2700000" algn="tl" rotWithShape="0">
              <a:schemeClr val="bg1">
                <a:alpha val="40000"/>
              </a:scheme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工具调用技术协议：</a:t>
            </a:r>
            <a:r>
              <a:rPr altLang="zh-CN"/>
              <a:t>MCP</a:t>
            </a:r>
          </a:p>
        </p:txBody>
      </p:sp>
      <p:sp>
        <p:nvSpPr>
          <p:cNvPr id="6" name="内容占位符 5"/>
          <p:cNvSpPr>
            <a:spLocks noGrp="1"/>
          </p:cNvSpPr>
          <p:nvPr>
            <p:ph idx="13"/>
          </p:nvPr>
        </p:nvSpPr>
        <p:spPr/>
        <p:txBody>
          <a:bodyPr/>
          <a:lstStyle/>
          <a:p>
            <a:r>
              <a:rPr lang="en-US" altLang="zh-CN"/>
              <a:t>MCP (Model Context Protocol)：</a:t>
            </a:r>
          </a:p>
          <a:p>
            <a:r>
              <a:rPr lang="zh-CN" altLang="en-US"/>
              <a:t>一种用于让大模型安全、标准化调用外部工具和数据源的协议。</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13</a:t>
            </a:fld>
            <a:endParaRPr lang="en-US" altLang="zh-CN"/>
          </a:p>
        </p:txBody>
      </p:sp>
      <p:sp>
        <p:nvSpPr>
          <p:cNvPr id="21" name="文本框 20"/>
          <p:cNvSpPr txBox="1"/>
          <p:nvPr/>
        </p:nvSpPr>
        <p:spPr>
          <a:xfrm>
            <a:off x="8797290" y="3648710"/>
            <a:ext cx="2159635" cy="1783715"/>
          </a:xfrm>
          <a:prstGeom prst="rect">
            <a:avLst/>
          </a:prstGeom>
          <a:noFill/>
        </p:spPr>
        <p:txBody>
          <a:bodyPr wrap="square" rtlCol="0">
            <a:spAutoFit/>
          </a:bodyPr>
          <a:lstStyle/>
          <a:p>
            <a:pPr algn="ctr"/>
            <a:r>
              <a:rPr lang="en-US" altLang="zh-CN" sz="2000" b="1" dirty="0" err="1">
                <a:solidFill>
                  <a:schemeClr val="bg1"/>
                </a:solidFill>
                <a:latin typeface="Microsoft YaHei" charset="-122"/>
                <a:ea typeface="Microsoft YaHei" charset="-122"/>
              </a:rPr>
              <a:t>MCP</a:t>
            </a:r>
            <a:r>
              <a:rPr lang="en-US" altLang="en-US" sz="2000" b="1" dirty="0" err="1">
                <a:solidFill>
                  <a:schemeClr val="bg1"/>
                </a:solidFill>
                <a:latin typeface="Microsoft YaHei" charset="-122"/>
                <a:ea typeface="Microsoft YaHei" charset="-122"/>
              </a:rPr>
              <a:t>服务器</a:t>
            </a:r>
            <a:endParaRPr lang="en-US" altLang="en-US" sz="2000" dirty="0">
              <a:solidFill>
                <a:schemeClr val="bg1"/>
              </a:solidFill>
              <a:latin typeface="Microsoft YaHei" charset="-122"/>
              <a:ea typeface="Microsoft YaHei" charset="-122"/>
            </a:endParaRPr>
          </a:p>
          <a:p>
            <a:endParaRPr lang="en-US" altLang="en-US" dirty="0">
              <a:solidFill>
                <a:schemeClr val="bg1"/>
              </a:solidFill>
              <a:latin typeface="Microsoft YaHei" charset="-122"/>
              <a:ea typeface="Microsoft YaHei" charset="-122"/>
            </a:endParaRPr>
          </a:p>
          <a:p>
            <a:pPr marL="285750" indent="-285750">
              <a:buFont typeface="Arial" panose="02080604020202020204" pitchFamily="34" charset="0"/>
              <a:buChar char="•"/>
            </a:pPr>
            <a:r>
              <a:rPr lang="en-US" altLang="en-US" dirty="0" err="1">
                <a:solidFill>
                  <a:schemeClr val="bg1"/>
                </a:solidFill>
                <a:latin typeface="Microsoft YaHei" charset="-122"/>
                <a:ea typeface="Microsoft YaHei" charset="-122"/>
              </a:rPr>
              <a:t>注册和管理工具</a:t>
            </a:r>
            <a:endParaRPr lang="en-US" altLang="en-US" dirty="0">
              <a:solidFill>
                <a:schemeClr val="bg1"/>
              </a:solidFill>
              <a:latin typeface="Microsoft YaHei" charset="-122"/>
              <a:ea typeface="Microsoft YaHei" charset="-122"/>
            </a:endParaRPr>
          </a:p>
          <a:p>
            <a:pPr marL="285750" indent="-285750">
              <a:buFont typeface="Arial" panose="02080604020202020204" pitchFamily="34" charset="0"/>
              <a:buChar char="•"/>
            </a:pPr>
            <a:r>
              <a:rPr lang="en-US" altLang="en-US" dirty="0" err="1">
                <a:solidFill>
                  <a:schemeClr val="bg1"/>
                </a:solidFill>
                <a:latin typeface="Microsoft YaHei" charset="-122"/>
                <a:ea typeface="Microsoft YaHei" charset="-122"/>
              </a:rPr>
              <a:t>提供工具信息</a:t>
            </a:r>
            <a:endParaRPr lang="en-US" altLang="en-US" dirty="0">
              <a:solidFill>
                <a:schemeClr val="bg1"/>
              </a:solidFill>
              <a:latin typeface="Microsoft YaHei" charset="-122"/>
              <a:ea typeface="Microsoft YaHei" charset="-122"/>
            </a:endParaRPr>
          </a:p>
          <a:p>
            <a:pPr marL="285750" indent="-285750">
              <a:buFont typeface="Arial" panose="02080604020202020204" pitchFamily="34" charset="0"/>
              <a:buChar char="•"/>
            </a:pPr>
            <a:r>
              <a:rPr lang="en-US" altLang="en-US" dirty="0" err="1">
                <a:solidFill>
                  <a:schemeClr val="bg1"/>
                </a:solidFill>
                <a:latin typeface="Microsoft YaHei" charset="-122"/>
                <a:ea typeface="Microsoft YaHei" charset="-122"/>
              </a:rPr>
              <a:t>执行工具调用</a:t>
            </a:r>
            <a:endParaRPr lang="en-US" altLang="en-US" dirty="0">
              <a:solidFill>
                <a:schemeClr val="bg1"/>
              </a:solidFill>
              <a:latin typeface="Microsoft YaHei" charset="-122"/>
              <a:ea typeface="Microsoft YaHei" charset="-122"/>
            </a:endParaRPr>
          </a:p>
          <a:p>
            <a:pPr marL="285750" indent="-285750">
              <a:buFont typeface="Arial" panose="02080604020202020204" pitchFamily="34" charset="0"/>
              <a:buChar char="•"/>
            </a:pPr>
            <a:r>
              <a:rPr lang="en-US" altLang="en-US" dirty="0" err="1">
                <a:solidFill>
                  <a:schemeClr val="bg1"/>
                </a:solidFill>
                <a:latin typeface="Microsoft YaHei" charset="-122"/>
                <a:ea typeface="Microsoft YaHei" charset="-122"/>
              </a:rPr>
              <a:t>安全控制</a:t>
            </a:r>
          </a:p>
        </p:txBody>
      </p:sp>
      <p:pic>
        <p:nvPicPr>
          <p:cNvPr id="8" name="图片 7" descr="/home/ruoyu/Intro2AITechs/1-基础通识部分/8课时/assets/服务器-透明.png服务器-透明"/>
          <p:cNvPicPr>
            <a:picLocks noChangeAspect="1"/>
          </p:cNvPicPr>
          <p:nvPr/>
        </p:nvPicPr>
        <p:blipFill>
          <a:blip r:embed="rId3"/>
          <a:srcRect/>
          <a:stretch>
            <a:fillRect/>
          </a:stretch>
        </p:blipFill>
        <p:spPr>
          <a:xfrm>
            <a:off x="6904355" y="3727450"/>
            <a:ext cx="1626235" cy="1626235"/>
          </a:xfrm>
          <a:prstGeom prst="rect">
            <a:avLst/>
          </a:prstGeom>
        </p:spPr>
      </p:pic>
      <p:sp>
        <p:nvSpPr>
          <p:cNvPr id="20" name="文本框 19"/>
          <p:cNvSpPr txBox="1"/>
          <p:nvPr/>
        </p:nvSpPr>
        <p:spPr>
          <a:xfrm>
            <a:off x="1235710" y="3648710"/>
            <a:ext cx="2160270" cy="1783715"/>
          </a:xfrm>
          <a:prstGeom prst="rect">
            <a:avLst/>
          </a:prstGeom>
          <a:noFill/>
        </p:spPr>
        <p:txBody>
          <a:bodyPr wrap="square" rtlCol="0">
            <a:spAutoFit/>
          </a:bodyPr>
          <a:lstStyle/>
          <a:p>
            <a:pPr algn="ctr"/>
            <a:r>
              <a:rPr lang="en-US" altLang="zh-CN" sz="2000" b="1" dirty="0" err="1">
                <a:solidFill>
                  <a:schemeClr val="bg1"/>
                </a:solidFill>
                <a:latin typeface="Microsoft YaHei" charset="-122"/>
                <a:ea typeface="Microsoft YaHei" charset="-122"/>
              </a:rPr>
              <a:t>MCP客户端</a:t>
            </a:r>
            <a:endParaRPr lang="en-US" altLang="zh-CN" sz="2000" dirty="0">
              <a:solidFill>
                <a:schemeClr val="bg1"/>
              </a:solidFill>
              <a:latin typeface="Microsoft YaHei" charset="-122"/>
              <a:ea typeface="Microsoft YaHei" charset="-122"/>
            </a:endParaRPr>
          </a:p>
          <a:p>
            <a:pPr algn="l"/>
            <a:endParaRPr lang="en-US" altLang="zh-CN" dirty="0">
              <a:solidFill>
                <a:schemeClr val="bg1"/>
              </a:solidFill>
              <a:latin typeface="Microsoft YaHei" charset="-122"/>
              <a:ea typeface="Microsoft YaHei" charset="-122"/>
            </a:endParaRPr>
          </a:p>
          <a:p>
            <a:pPr marL="285750" indent="-285750" algn="l">
              <a:buFont typeface="Arial" panose="02080604020202020204" pitchFamily="34" charset="0"/>
              <a:buChar char="•"/>
            </a:pPr>
            <a:r>
              <a:rPr lang="en-US" altLang="zh-CN" dirty="0" err="1">
                <a:solidFill>
                  <a:schemeClr val="bg1"/>
                </a:solidFill>
                <a:latin typeface="Microsoft YaHei" charset="-122"/>
                <a:ea typeface="Microsoft YaHei" charset="-122"/>
              </a:rPr>
              <a:t>连接大模型</a:t>
            </a:r>
            <a:endParaRPr lang="en-US" altLang="zh-CN" dirty="0">
              <a:solidFill>
                <a:schemeClr val="bg1"/>
              </a:solidFill>
              <a:latin typeface="Microsoft YaHei" charset="-122"/>
              <a:ea typeface="Microsoft YaHei" charset="-122"/>
            </a:endParaRPr>
          </a:p>
          <a:p>
            <a:pPr marL="285750" indent="-285750" algn="l">
              <a:buFont typeface="Arial" panose="02080604020202020204" pitchFamily="34" charset="0"/>
              <a:buChar char="•"/>
            </a:pPr>
            <a:r>
              <a:rPr lang="en-US" altLang="zh-CN" dirty="0" err="1">
                <a:solidFill>
                  <a:schemeClr val="bg1"/>
                </a:solidFill>
                <a:latin typeface="Microsoft YaHei" charset="-122"/>
                <a:ea typeface="Microsoft YaHei" charset="-122"/>
              </a:rPr>
              <a:t>管理工具库</a:t>
            </a:r>
            <a:endParaRPr lang="en-US" altLang="zh-CN" dirty="0">
              <a:solidFill>
                <a:schemeClr val="bg1"/>
              </a:solidFill>
              <a:latin typeface="Microsoft YaHei" charset="-122"/>
              <a:ea typeface="Microsoft YaHei" charset="-122"/>
            </a:endParaRPr>
          </a:p>
          <a:p>
            <a:pPr marL="285750" indent="-285750" algn="l">
              <a:buFont typeface="Arial" panose="02080604020202020204" pitchFamily="34" charset="0"/>
              <a:buChar char="•"/>
            </a:pPr>
            <a:r>
              <a:rPr lang="en-US" altLang="zh-CN" dirty="0" err="1">
                <a:solidFill>
                  <a:schemeClr val="bg1"/>
                </a:solidFill>
                <a:latin typeface="Microsoft YaHei" charset="-122"/>
                <a:ea typeface="Microsoft YaHei" charset="-122"/>
              </a:rPr>
              <a:t>发送调用请求</a:t>
            </a:r>
            <a:endParaRPr lang="en-US" altLang="zh-CN" dirty="0">
              <a:solidFill>
                <a:schemeClr val="bg1"/>
              </a:solidFill>
              <a:latin typeface="Microsoft YaHei" charset="-122"/>
              <a:ea typeface="Microsoft YaHei" charset="-122"/>
            </a:endParaRPr>
          </a:p>
          <a:p>
            <a:pPr marL="285750" indent="-285750" algn="l">
              <a:buFont typeface="Arial" panose="02080604020202020204" pitchFamily="34" charset="0"/>
              <a:buChar char="•"/>
            </a:pPr>
            <a:r>
              <a:rPr lang="en-US" altLang="zh-CN" dirty="0" err="1">
                <a:solidFill>
                  <a:schemeClr val="bg1"/>
                </a:solidFill>
                <a:latin typeface="Microsoft YaHei" charset="-122"/>
                <a:ea typeface="Microsoft YaHei" charset="-122"/>
              </a:rPr>
              <a:t>接收调用结果</a:t>
            </a:r>
          </a:p>
        </p:txBody>
      </p:sp>
      <p:pic>
        <p:nvPicPr>
          <p:cNvPr id="10" name="图片 9" descr="/home/ruoyu/Intro2AITechs/1-基础通识部分/8课时/assets/路由器2-透明.png路由器2-透明"/>
          <p:cNvPicPr>
            <a:picLocks noChangeAspect="1"/>
          </p:cNvPicPr>
          <p:nvPr/>
        </p:nvPicPr>
        <p:blipFill>
          <a:blip r:embed="rId4"/>
          <a:srcRect l="20" r="20"/>
          <a:stretch>
            <a:fillRect/>
          </a:stretch>
        </p:blipFill>
        <p:spPr>
          <a:xfrm>
            <a:off x="3662680" y="3727450"/>
            <a:ext cx="1625600" cy="1626235"/>
          </a:xfrm>
          <a:prstGeom prst="rect">
            <a:avLst/>
          </a:prstGeom>
        </p:spPr>
      </p:pic>
      <p:pic>
        <p:nvPicPr>
          <p:cNvPr id="17" name="Picture 26" descr="And Arrow 影像– 瀏覽7,428,201 個素材庫相片、向量圖和影片| Adobe Stock"/>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a:stretch>
            <a:fillRect/>
          </a:stretch>
        </p:blipFill>
        <p:spPr bwMode="auto">
          <a:xfrm flipH="1">
            <a:off x="5554980" y="4037330"/>
            <a:ext cx="1082675" cy="31940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6" descr="And Arrow 影像– 瀏覽7,428,201 個素材庫相片、向量圖和影片| Adobe Stock"/>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a:stretch>
            <a:fillRect/>
          </a:stretch>
        </p:blipFill>
        <p:spPr bwMode="auto">
          <a:xfrm rot="10800000" flipH="1">
            <a:off x="5554980" y="4725035"/>
            <a:ext cx="1082675" cy="3194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fade">
                                      <p:cBhvr>
                                        <p:cTn id="11" dur="500"/>
                                        <p:tgtEl>
                                          <p:spTgt spid="6">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left)">
                                      <p:cBhvr>
                                        <p:cTn id="33" dur="500"/>
                                        <p:tgtEl>
                                          <p:spTgt spid="17"/>
                                        </p:tgtEl>
                                      </p:cBhvr>
                                    </p:animEffect>
                                  </p:childTnLst>
                                </p:cTn>
                              </p:par>
                            </p:childTnLst>
                          </p:cTn>
                        </p:par>
                        <p:par>
                          <p:cTn id="34" fill="hold">
                            <p:stCondLst>
                              <p:cond delay="500"/>
                            </p:stCondLst>
                            <p:childTnLst>
                              <p:par>
                                <p:cTn id="35" presetID="22" presetClass="entr" presetSubtype="2"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right)">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P spid="20" grpId="0"/>
      <p:bldP spid="20"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en-US" altLang="zh-CN"/>
              <a:t>MCP</a:t>
            </a:r>
            <a:r>
              <a:rPr lang="zh-CN" altLang="en-US"/>
              <a:t>调用工具的基本流程</a:t>
            </a:r>
          </a:p>
        </p:txBody>
      </p:sp>
      <p:sp>
        <p:nvSpPr>
          <p:cNvPr id="5" name="灯片编号占位符 4"/>
          <p:cNvSpPr>
            <a:spLocks noGrp="1"/>
          </p:cNvSpPr>
          <p:nvPr>
            <p:ph type="sldNum" sz="quarter" idx="12"/>
          </p:nvPr>
        </p:nvSpPr>
        <p:spPr/>
        <p:txBody>
          <a:bodyPr/>
          <a:lstStyle/>
          <a:p>
            <a:fld id="{49AE70B2-8BF9-45C0-BB95-33D1B9D3A854}" type="slidenum">
              <a:rPr lang="zh-CN" altLang="en-US" smtClean="0"/>
              <a:t>14</a:t>
            </a:fld>
            <a:endParaRPr lang="en-US" altLang="zh-CN"/>
          </a:p>
        </p:txBody>
      </p:sp>
      <p:sp>
        <p:nvSpPr>
          <p:cNvPr id="9" name="矩形: 圆角 16"/>
          <p:cNvSpPr/>
          <p:nvPr/>
        </p:nvSpPr>
        <p:spPr>
          <a:xfrm>
            <a:off x="8397240" y="4709795"/>
            <a:ext cx="2078990" cy="779780"/>
          </a:xfrm>
          <a:prstGeom prst="roundRect">
            <a:avLst/>
          </a:prstGeom>
          <a:solidFill>
            <a:srgbClr val="FFE3B1">
              <a:alpha val="8000"/>
            </a:srgbClr>
          </a:solidFill>
          <a:ln w="25400" cap="flat" cmpd="sng">
            <a:solidFill>
              <a:srgbClr val="FFE3B1">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4. MCP服务器根据</a:t>
            </a:r>
          </a:p>
          <a:p>
            <a:pPr lvl="0" algn="ctr">
              <a:lnSpc>
                <a:spcPct val="125000"/>
              </a:lnSpc>
              <a:buClrTx/>
              <a:buSzTx/>
              <a:buFontTx/>
              <a:defRPr/>
            </a:pPr>
            <a:r>
              <a:rPr lang="zh-CN" altLang="en-US">
                <a:solidFill>
                  <a:srgbClr val="FFFFFF"/>
                </a:solidFill>
                <a:latin typeface="Noto Sans SC"/>
                <a:ea typeface="SimSun" charset="0"/>
                <a:cs typeface="Noto Sans SC"/>
                <a:sym typeface="+mn-ea"/>
              </a:rPr>
              <a:t>请求运行工具</a:t>
            </a:r>
          </a:p>
        </p:txBody>
      </p:sp>
      <p:sp>
        <p:nvSpPr>
          <p:cNvPr id="18" name="矩形: 圆角 17"/>
          <p:cNvSpPr/>
          <p:nvPr/>
        </p:nvSpPr>
        <p:spPr>
          <a:xfrm>
            <a:off x="8397240" y="2208530"/>
            <a:ext cx="2078990" cy="779780"/>
          </a:xfrm>
          <a:prstGeom prst="roundRect">
            <a:avLst/>
          </a:prstGeom>
          <a:solidFill>
            <a:srgbClr val="69F0AE">
              <a:alpha val="8000"/>
            </a:srgbClr>
          </a:solidFill>
          <a:ln w="25400" cap="flat" cmpd="sng">
            <a:solidFill>
              <a:srgbClr val="69F0AE">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3. MCP客户端</a:t>
            </a:r>
          </a:p>
          <a:p>
            <a:pPr lvl="0" algn="ctr">
              <a:lnSpc>
                <a:spcPct val="125000"/>
              </a:lnSpc>
              <a:buClrTx/>
              <a:buSzTx/>
              <a:buFontTx/>
              <a:defRPr/>
            </a:pPr>
            <a:r>
              <a:rPr lang="zh-CN" altLang="en-US">
                <a:solidFill>
                  <a:srgbClr val="FFFFFF"/>
                </a:solidFill>
                <a:latin typeface="Noto Sans SC"/>
                <a:ea typeface="SimSun" charset="0"/>
                <a:cs typeface="Noto Sans SC"/>
                <a:sym typeface="+mn-ea"/>
              </a:rPr>
              <a:t>发送请求</a:t>
            </a:r>
          </a:p>
        </p:txBody>
      </p:sp>
      <p:sp>
        <p:nvSpPr>
          <p:cNvPr id="11" name="矩形: 圆角 6"/>
          <p:cNvSpPr/>
          <p:nvPr/>
        </p:nvSpPr>
        <p:spPr>
          <a:xfrm>
            <a:off x="4940935" y="2208530"/>
            <a:ext cx="2078990" cy="779780"/>
          </a:xfrm>
          <a:prstGeom prst="round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2. LLM选择工具</a:t>
            </a:r>
          </a:p>
          <a:p>
            <a:pPr lvl="0" algn="ctr">
              <a:lnSpc>
                <a:spcPct val="125000"/>
              </a:lnSpc>
              <a:buClrTx/>
              <a:buSzTx/>
              <a:buFontTx/>
              <a:defRPr/>
            </a:pPr>
            <a:r>
              <a:rPr lang="zh-CN" altLang="en-US">
                <a:solidFill>
                  <a:srgbClr val="FFFFFF"/>
                </a:solidFill>
                <a:latin typeface="Noto Sans SC"/>
                <a:ea typeface="SimSun" charset="0"/>
                <a:cs typeface="Noto Sans SC"/>
                <a:sym typeface="+mn-ea"/>
              </a:rPr>
              <a:t>生成调用请求</a:t>
            </a:r>
          </a:p>
        </p:txBody>
      </p:sp>
      <p:sp>
        <p:nvSpPr>
          <p:cNvPr id="8" name="矩形: 圆角 16"/>
          <p:cNvSpPr/>
          <p:nvPr/>
        </p:nvSpPr>
        <p:spPr>
          <a:xfrm>
            <a:off x="4940935" y="4709795"/>
            <a:ext cx="2078990" cy="779780"/>
          </a:xfrm>
          <a:prstGeom prst="roundRect">
            <a:avLst/>
          </a:prstGeom>
          <a:solidFill>
            <a:schemeClr val="accent6">
              <a:alpha val="8000"/>
            </a:schemeClr>
          </a:solidFill>
          <a:ln w="25400" cap="flat" cmpd="sng">
            <a:solidFill>
              <a:schemeClr val="accent6">
                <a:alpha val="100000"/>
              </a:scheme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5. MCP服务器把</a:t>
            </a:r>
          </a:p>
          <a:p>
            <a:pPr lvl="0" algn="ctr">
              <a:lnSpc>
                <a:spcPct val="125000"/>
              </a:lnSpc>
              <a:buClrTx/>
              <a:buSzTx/>
              <a:buFontTx/>
              <a:defRPr/>
            </a:pPr>
            <a:r>
              <a:rPr lang="zh-CN" altLang="en-US">
                <a:solidFill>
                  <a:srgbClr val="FFFFFF"/>
                </a:solidFill>
                <a:latin typeface="Noto Sans SC"/>
                <a:ea typeface="SimSun" charset="0"/>
                <a:cs typeface="Noto Sans SC"/>
                <a:sym typeface="+mn-ea"/>
              </a:rPr>
              <a:t>结果返回给LLM</a:t>
            </a:r>
          </a:p>
        </p:txBody>
      </p:sp>
      <p:sp>
        <p:nvSpPr>
          <p:cNvPr id="19" name="矩形: 圆角 7"/>
          <p:cNvSpPr/>
          <p:nvPr/>
        </p:nvSpPr>
        <p:spPr>
          <a:xfrm>
            <a:off x="1484630" y="2208530"/>
            <a:ext cx="2078990" cy="77978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1. 用户提出问题</a:t>
            </a:r>
          </a:p>
        </p:txBody>
      </p:sp>
      <p:sp>
        <p:nvSpPr>
          <p:cNvPr id="10" name="矩形: 圆角 16"/>
          <p:cNvSpPr/>
          <p:nvPr/>
        </p:nvSpPr>
        <p:spPr>
          <a:xfrm>
            <a:off x="1484630" y="4709795"/>
            <a:ext cx="2078990" cy="779780"/>
          </a:xfrm>
          <a:prstGeom prst="roundRect">
            <a:avLst/>
          </a:prstGeom>
          <a:solidFill>
            <a:srgbClr val="FFFF00">
              <a:alpha val="8000"/>
            </a:srgbClr>
          </a:solidFill>
          <a:ln w="25400" cap="flat" cmpd="sng">
            <a:solidFill>
              <a:srgbClr val="FFFF00">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6. LLM根据结果</a:t>
            </a:r>
          </a:p>
          <a:p>
            <a:pPr lvl="0" algn="ctr">
              <a:lnSpc>
                <a:spcPct val="125000"/>
              </a:lnSpc>
              <a:buClrTx/>
              <a:buSzTx/>
              <a:buFontTx/>
              <a:defRPr/>
            </a:pPr>
            <a:r>
              <a:rPr lang="zh-CN" altLang="en-US">
                <a:solidFill>
                  <a:srgbClr val="FFFFFF"/>
                </a:solidFill>
                <a:latin typeface="Noto Sans SC"/>
                <a:ea typeface="SimSun" charset="0"/>
                <a:cs typeface="Noto Sans SC"/>
                <a:sym typeface="+mn-ea"/>
              </a:rPr>
              <a:t>生成回答</a:t>
            </a:r>
          </a:p>
        </p:txBody>
      </p:sp>
      <p:pic>
        <p:nvPicPr>
          <p:cNvPr id="12" name="图片 11" descr="/home/ruoyu/Intro2AITechs/1-基础通识部分/8课时/assets/对话框（青）.png对话框（青）"/>
          <p:cNvPicPr>
            <a:picLocks noChangeAspect="1"/>
          </p:cNvPicPr>
          <p:nvPr/>
        </p:nvPicPr>
        <p:blipFill>
          <a:blip r:embed="rId3"/>
          <a:srcRect/>
          <a:stretch>
            <a:fillRect/>
          </a:stretch>
        </p:blipFill>
        <p:spPr>
          <a:xfrm>
            <a:off x="1391285" y="3458845"/>
            <a:ext cx="780415" cy="780415"/>
          </a:xfrm>
          <a:prstGeom prst="rect">
            <a:avLst/>
          </a:prstGeom>
        </p:spPr>
      </p:pic>
      <p:pic>
        <p:nvPicPr>
          <p:cNvPr id="13" name="图片 12" descr="/home/ruoyu/Intro2AITechs/1-基础通识部分/8课时/assets/服务器-透明.png服务器-透明"/>
          <p:cNvPicPr>
            <a:picLocks noChangeAspect="1"/>
          </p:cNvPicPr>
          <p:nvPr/>
        </p:nvPicPr>
        <p:blipFill>
          <a:blip r:embed="rId4"/>
          <a:srcRect/>
          <a:stretch>
            <a:fillRect/>
          </a:stretch>
        </p:blipFill>
        <p:spPr>
          <a:xfrm>
            <a:off x="7734300" y="3458845"/>
            <a:ext cx="780415" cy="780415"/>
          </a:xfrm>
          <a:prstGeom prst="rect">
            <a:avLst/>
          </a:prstGeom>
        </p:spPr>
      </p:pic>
      <p:pic>
        <p:nvPicPr>
          <p:cNvPr id="14" name="图片 13" descr="/home/ruoyu/Intro2AITechs/1-基础通识部分/8课时/assets/路由器2-透明.png路由器2-透明"/>
          <p:cNvPicPr>
            <a:picLocks noChangeAspect="1"/>
          </p:cNvPicPr>
          <p:nvPr/>
        </p:nvPicPr>
        <p:blipFill>
          <a:blip r:embed="rId5"/>
          <a:srcRect/>
          <a:stretch>
            <a:fillRect/>
          </a:stretch>
        </p:blipFill>
        <p:spPr>
          <a:xfrm>
            <a:off x="5619750" y="3458845"/>
            <a:ext cx="780415" cy="780415"/>
          </a:xfrm>
          <a:prstGeom prst="rect">
            <a:avLst/>
          </a:prstGeom>
        </p:spPr>
      </p:pic>
      <p:pic>
        <p:nvPicPr>
          <p:cNvPr id="15" name="图片 14" descr="/home/ruoyu/Intro2AITechs/1-基础通识部分/8课时/assets/工具箱-透明.png工具箱-透明"/>
          <p:cNvPicPr>
            <a:picLocks noChangeAspect="1"/>
          </p:cNvPicPr>
          <p:nvPr/>
        </p:nvPicPr>
        <p:blipFill>
          <a:blip r:embed="rId6"/>
          <a:srcRect/>
          <a:stretch>
            <a:fillRect/>
          </a:stretch>
        </p:blipFill>
        <p:spPr>
          <a:xfrm>
            <a:off x="9848215" y="3458845"/>
            <a:ext cx="780415" cy="780415"/>
          </a:xfrm>
          <a:prstGeom prst="rect">
            <a:avLst/>
          </a:prstGeom>
        </p:spPr>
      </p:pic>
      <p:pic>
        <p:nvPicPr>
          <p:cNvPr id="16" name="图片 15" descr="/home/ruoyu/Intro2AITechs/1-基础通识部分/8课时/assets/机器人j.png机器人j"/>
          <p:cNvPicPr>
            <a:picLocks noChangeAspect="1"/>
          </p:cNvPicPr>
          <p:nvPr/>
        </p:nvPicPr>
        <p:blipFill>
          <a:blip r:embed="rId7"/>
          <a:srcRect/>
          <a:stretch>
            <a:fillRect/>
          </a:stretch>
        </p:blipFill>
        <p:spPr>
          <a:xfrm>
            <a:off x="3505200" y="3458845"/>
            <a:ext cx="780415" cy="780415"/>
          </a:xfrm>
          <a:prstGeom prst="rect">
            <a:avLst/>
          </a:prstGeom>
        </p:spPr>
      </p:pic>
      <p:pic>
        <p:nvPicPr>
          <p:cNvPr id="17" name="Picture 26" descr="And Arrow 影像– 瀏覽7,428,201 個素材庫相片、向量圖和影片| Adobe Stock"/>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a:stretch>
            <a:fillRect/>
          </a:stretch>
        </p:blipFill>
        <p:spPr bwMode="auto">
          <a:xfrm flipH="1">
            <a:off x="2517140" y="3653790"/>
            <a:ext cx="643255" cy="12319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6" descr="And Arrow 影像– 瀏覽7,428,201 個素材庫相片、向量圖和影片| Adobe Stock"/>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a:stretch>
            <a:fillRect/>
          </a:stretch>
        </p:blipFill>
        <p:spPr bwMode="auto">
          <a:xfrm rot="10800000" flipH="1">
            <a:off x="2517140" y="3920490"/>
            <a:ext cx="643255" cy="12319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6" descr="And Arrow 影像– 瀏覽7,428,201 個素材庫相片、向量圖和影片| Adobe Stock"/>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a:stretch>
            <a:fillRect/>
          </a:stretch>
        </p:blipFill>
        <p:spPr bwMode="auto">
          <a:xfrm flipH="1">
            <a:off x="4631690" y="3653790"/>
            <a:ext cx="643255" cy="12319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6" descr="And Arrow 影像– 瀏覽7,428,201 個素材庫相片、向量圖和影片| Adobe Stock"/>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a:stretch>
            <a:fillRect/>
          </a:stretch>
        </p:blipFill>
        <p:spPr bwMode="auto">
          <a:xfrm rot="10800000" flipH="1">
            <a:off x="4631055" y="3920490"/>
            <a:ext cx="643255" cy="12319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And Arrow 影像– 瀏覽7,428,201 個素材庫相片、向量圖和影片| Adobe Stock"/>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a:stretch>
            <a:fillRect/>
          </a:stretch>
        </p:blipFill>
        <p:spPr bwMode="auto">
          <a:xfrm flipH="1">
            <a:off x="6746240" y="3653790"/>
            <a:ext cx="643255" cy="12319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6" descr="And Arrow 影像– 瀏覽7,428,201 個素材庫相片、向量圖和影片| Adobe Stock"/>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a:stretch>
            <a:fillRect/>
          </a:stretch>
        </p:blipFill>
        <p:spPr bwMode="auto">
          <a:xfrm rot="10800000" flipH="1">
            <a:off x="6745605" y="3920490"/>
            <a:ext cx="643255" cy="12319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6" descr="And Arrow 影像– 瀏覽7,428,201 個素材庫相片、向量圖和影片| Adobe Stock"/>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a:stretch>
            <a:fillRect/>
          </a:stretch>
        </p:blipFill>
        <p:spPr bwMode="auto">
          <a:xfrm flipH="1">
            <a:off x="8860155" y="3653790"/>
            <a:ext cx="643255" cy="12319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6" descr="And Arrow 影像– 瀏覽7,428,201 個素材庫相片、向量圖和影片| Adobe Stock"/>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a:stretch>
            <a:fillRect/>
          </a:stretch>
        </p:blipFill>
        <p:spPr bwMode="auto">
          <a:xfrm rot="10800000" flipH="1">
            <a:off x="8860155" y="3920490"/>
            <a:ext cx="643255" cy="123190"/>
          </a:xfrm>
          <a:prstGeom prst="rect">
            <a:avLst/>
          </a:prstGeom>
          <a:noFill/>
          <a:extLst>
            <a:ext uri="{909E8E84-426E-40DD-AFC4-6F175D3DCCD1}">
              <a14:hiddenFill xmlns:a14="http://schemas.microsoft.com/office/drawing/2010/main">
                <a:solidFill>
                  <a:srgbClr val="FFFFFF"/>
                </a:solidFill>
              </a14:hiddenFill>
            </a:ext>
          </a:extLst>
        </p:spPr>
      </p:pic>
      <p:sp useBgFill="1">
        <p:nvSpPr>
          <p:cNvPr id="97" name="矩形 96"/>
          <p:cNvSpPr/>
          <p:nvPr/>
        </p:nvSpPr>
        <p:spPr>
          <a:xfrm>
            <a:off x="4126865" y="4181475"/>
            <a:ext cx="182245" cy="7620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useBgFill="1">
        <p:nvSpPr>
          <p:cNvPr id="3" name="矩形 2"/>
          <p:cNvSpPr/>
          <p:nvPr/>
        </p:nvSpPr>
        <p:spPr>
          <a:xfrm>
            <a:off x="2011045" y="4163060"/>
            <a:ext cx="182245" cy="7620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left)">
                                      <p:cBhvr>
                                        <p:cTn id="15" dur="500"/>
                                        <p:tgtEl>
                                          <p:spTgt spid="17"/>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wipe(left)">
                                      <p:cBhvr>
                                        <p:cTn id="28" dur="500"/>
                                        <p:tgtEl>
                                          <p:spTgt spid="24"/>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wipe(left)">
                                      <p:cBhvr>
                                        <p:cTn id="41" dur="500"/>
                                        <p:tgtEl>
                                          <p:spTgt spid="27"/>
                                        </p:tgtEl>
                                      </p:cBhvr>
                                    </p:animEffect>
                                  </p:childTnLst>
                                </p:cTn>
                              </p:par>
                            </p:childTnLst>
                          </p:cTn>
                        </p:par>
                        <p:par>
                          <p:cTn id="42" fill="hold">
                            <p:stCondLst>
                              <p:cond delay="1000"/>
                            </p:stCondLst>
                            <p:childTnLst>
                              <p:par>
                                <p:cTn id="43" presetID="10" presetClass="entr" presetSubtype="0" fill="hold" nodeType="after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500"/>
                                        <p:tgtEl>
                                          <p:spTgt spid="9"/>
                                        </p:tgtEl>
                                      </p:cBhvr>
                                    </p:animEffec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wipe(left)">
                                      <p:cBhvr>
                                        <p:cTn id="54" dur="500"/>
                                        <p:tgtEl>
                                          <p:spTgt spid="30"/>
                                        </p:tgtEl>
                                      </p:cBhvr>
                                    </p:animEffect>
                                  </p:childTnLst>
                                </p:cTn>
                              </p:par>
                            </p:childTnLst>
                          </p:cTn>
                        </p:par>
                        <p:par>
                          <p:cTn id="55" fill="hold">
                            <p:stCondLst>
                              <p:cond delay="100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childTnLst>
                                </p:cTn>
                              </p:par>
                            </p:childTnLst>
                          </p:cTn>
                        </p:par>
                        <p:par>
                          <p:cTn id="59" fill="hold">
                            <p:stCondLst>
                              <p:cond delay="1500"/>
                            </p:stCondLst>
                            <p:childTnLst>
                              <p:par>
                                <p:cTn id="60" presetID="22" presetClass="entr" presetSubtype="2" fill="hold" nodeType="after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wipe(right)">
                                      <p:cBhvr>
                                        <p:cTn id="62" dur="500"/>
                                        <p:tgtEl>
                                          <p:spTgt spid="3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fade">
                                      <p:cBhvr>
                                        <p:cTn id="67" dur="500"/>
                                        <p:tgtEl>
                                          <p:spTgt spid="8"/>
                                        </p:tgtEl>
                                      </p:cBhvr>
                                    </p:animEffect>
                                  </p:childTnLst>
                                </p:cTn>
                              </p:par>
                            </p:childTnLst>
                          </p:cTn>
                        </p:par>
                        <p:par>
                          <p:cTn id="68" fill="hold">
                            <p:stCondLst>
                              <p:cond delay="500"/>
                            </p:stCondLst>
                            <p:childTnLst>
                              <p:par>
                                <p:cTn id="69" presetID="22" presetClass="entr" presetSubtype="2" fill="hold" nodeType="after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wipe(right)">
                                      <p:cBhvr>
                                        <p:cTn id="71" dur="500"/>
                                        <p:tgtEl>
                                          <p:spTgt spid="28"/>
                                        </p:tgtEl>
                                      </p:cBhvr>
                                    </p:animEffect>
                                  </p:childTnLst>
                                </p:cTn>
                              </p:par>
                            </p:childTnLst>
                          </p:cTn>
                        </p:par>
                        <p:par>
                          <p:cTn id="72" fill="hold">
                            <p:stCondLst>
                              <p:cond delay="1000"/>
                            </p:stCondLst>
                            <p:childTnLst>
                              <p:par>
                                <p:cTn id="73" presetID="22" presetClass="entr" presetSubtype="2" fill="hold" nodeType="after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wipe(right)">
                                      <p:cBhvr>
                                        <p:cTn id="75" dur="500"/>
                                        <p:tgtEl>
                                          <p:spTgt spid="25"/>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10"/>
                                        </p:tgtEl>
                                        <p:attrNameLst>
                                          <p:attrName>style.visibility</p:attrName>
                                        </p:attrNameLst>
                                      </p:cBhvr>
                                      <p:to>
                                        <p:strVal val="visible"/>
                                      </p:to>
                                    </p:set>
                                    <p:animEffect transition="in" filter="fade">
                                      <p:cBhvr>
                                        <p:cTn id="80" dur="500"/>
                                        <p:tgtEl>
                                          <p:spTgt spid="10"/>
                                        </p:tgtEl>
                                      </p:cBhvr>
                                    </p:animEffect>
                                  </p:childTnLst>
                                </p:cTn>
                              </p:par>
                            </p:childTnLst>
                          </p:cTn>
                        </p:par>
                        <p:par>
                          <p:cTn id="81" fill="hold">
                            <p:stCondLst>
                              <p:cond delay="500"/>
                            </p:stCondLst>
                            <p:childTnLst>
                              <p:par>
                                <p:cTn id="82" presetID="22" presetClass="entr" presetSubtype="2" fill="hold" nodeType="after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wipe(right)">
                                      <p:cBhvr>
                                        <p:cTn id="8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8" grpId="0" animBg="1"/>
      <p:bldP spid="18" grpId="1" animBg="1"/>
      <p:bldP spid="11" grpId="0" animBg="1"/>
      <p:bldP spid="11" grpId="1" animBg="1"/>
      <p:bldP spid="8" grpId="0" animBg="1"/>
      <p:bldP spid="8" grpId="1" animBg="1"/>
      <p:bldP spid="19" grpId="0" animBg="1"/>
      <p:bldP spid="19" grpId="1" animBg="1"/>
      <p:bldP spid="10" grpId="0" animBg="1"/>
      <p:bldP spid="10"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MCP</a:t>
            </a:r>
            <a:r>
              <a:rPr lang="zh-CN" altLang="en-US"/>
              <a:t>工具调用示例</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15</a:t>
            </a:fld>
            <a:endParaRPr lang="en-US" altLang="zh-CN"/>
          </a:p>
        </p:txBody>
      </p:sp>
      <p:sp>
        <p:nvSpPr>
          <p:cNvPr id="6" name="矩形 5"/>
          <p:cNvSpPr/>
          <p:nvPr/>
        </p:nvSpPr>
        <p:spPr>
          <a:xfrm>
            <a:off x="1116965" y="2272030"/>
            <a:ext cx="3808730" cy="3840480"/>
          </a:xfrm>
          <a:prstGeom prst="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107950" tIns="0" rIns="0" bIns="0" rtlCol="0" anchor="ctr" anchorCtr="0">
            <a:noAutofit/>
          </a:bodyPr>
          <a:lstStyle/>
          <a:p>
            <a:pPr lvl="0" algn="l">
              <a:lnSpc>
                <a:spcPct val="105000"/>
              </a:lnSpc>
              <a:buClrTx/>
              <a:buSzTx/>
              <a:buFontTx/>
              <a:defRPr/>
            </a:pPr>
            <a:r>
              <a:rPr lang="zh-CN" altLang="en-US" sz="1600">
                <a:solidFill>
                  <a:srgbClr val="FFFFFF"/>
                </a:solidFill>
                <a:latin typeface="Noto Sans SC"/>
                <a:ea typeface="SimSun" charset="0"/>
                <a:cs typeface="Noto Sans SC"/>
                <a:sym typeface="+mn-ea"/>
              </a:rPr>
              <a:t>{</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"name": "get_</a:t>
            </a:r>
            <a:r>
              <a:rPr lang="en-US" altLang="zh-CN" sz="1600">
                <a:solidFill>
                  <a:srgbClr val="FFFFFF"/>
                </a:solidFill>
                <a:latin typeface="Noto Sans SC"/>
                <a:ea typeface="SimSun" charset="0"/>
                <a:cs typeface="Noto Sans SC"/>
                <a:sym typeface="+mn-ea"/>
              </a:rPr>
              <a:t>videos</a:t>
            </a:r>
            <a:r>
              <a:rPr lang="zh-CN" altLang="en-US" sz="1600">
                <a:solidFill>
                  <a:srgbClr val="FFFFFF"/>
                </a:solidFill>
                <a:latin typeface="Noto Sans SC"/>
                <a:ea typeface="SimSun" charset="0"/>
                <a:cs typeface="Noto Sans SC"/>
                <a:sym typeface="+mn-ea"/>
              </a:rPr>
              <a:t>",</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"description": "获取指定主题的视频",</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"parameters": {</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"type": "object",</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"properties": {</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a:t>
            </a:r>
            <a:r>
              <a:rPr lang="en-US" altLang="zh-CN" sz="1600">
                <a:solidFill>
                  <a:srgbClr val="FFFFFF"/>
                </a:solidFill>
                <a:latin typeface="Noto Sans SC"/>
                <a:ea typeface="SimSun" charset="0"/>
                <a:cs typeface="Noto Sans SC"/>
                <a:sym typeface="+mn-ea"/>
              </a:rPr>
              <a:t>topic</a:t>
            </a:r>
            <a:r>
              <a:rPr lang="zh-CN" altLang="en-US" sz="1600">
                <a:solidFill>
                  <a:srgbClr val="FFFFFF"/>
                </a:solidFill>
                <a:latin typeface="Noto Sans SC"/>
                <a:ea typeface="SimSun" charset="0"/>
                <a:cs typeface="Noto Sans SC"/>
                <a:sym typeface="+mn-ea"/>
              </a:rPr>
              <a:t>": {</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"type": "string",</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"description": "视频主题"</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"required": ["</a:t>
            </a:r>
            <a:r>
              <a:rPr lang="en-US" altLang="zh-CN" sz="1600">
                <a:solidFill>
                  <a:srgbClr val="FFFFFF"/>
                </a:solidFill>
                <a:latin typeface="Noto Sans SC"/>
                <a:ea typeface="SimSun" charset="0"/>
                <a:cs typeface="Noto Sans SC"/>
                <a:sym typeface="+mn-ea"/>
              </a:rPr>
              <a:t>topic</a:t>
            </a:r>
            <a:r>
              <a:rPr lang="zh-CN" altLang="en-US" sz="1600">
                <a:solidFill>
                  <a:srgbClr val="FFFFFF"/>
                </a:solidFill>
                <a:latin typeface="Noto Sans SC"/>
                <a:ea typeface="SimSun" charset="0"/>
                <a:cs typeface="Noto Sans SC"/>
                <a:sym typeface="+mn-ea"/>
              </a:rPr>
              <a:t>"]</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a:t>
            </a:r>
          </a:p>
        </p:txBody>
      </p:sp>
      <p:sp>
        <p:nvSpPr>
          <p:cNvPr id="8" name="矩形 7"/>
          <p:cNvSpPr/>
          <p:nvPr/>
        </p:nvSpPr>
        <p:spPr>
          <a:xfrm>
            <a:off x="1117600" y="1835150"/>
            <a:ext cx="3807460" cy="346075"/>
          </a:xfrm>
          <a:prstGeom prst="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工具说明</a:t>
            </a:r>
          </a:p>
        </p:txBody>
      </p:sp>
      <p:sp>
        <p:nvSpPr>
          <p:cNvPr id="9" name="矩形 8"/>
          <p:cNvSpPr/>
          <p:nvPr/>
        </p:nvSpPr>
        <p:spPr>
          <a:xfrm>
            <a:off x="5279390" y="1835150"/>
            <a:ext cx="2711450" cy="346075"/>
          </a:xfrm>
          <a:prstGeom prst="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en-US" altLang="zh-CN">
                <a:solidFill>
                  <a:srgbClr val="FFFFFF"/>
                </a:solidFill>
                <a:latin typeface="Noto Sans SC"/>
                <a:ea typeface="SimSun" charset="0"/>
                <a:cs typeface="Noto Sans SC"/>
                <a:sym typeface="+mn-ea"/>
              </a:rPr>
              <a:t>工具调用请求</a:t>
            </a:r>
          </a:p>
        </p:txBody>
      </p:sp>
      <p:sp>
        <p:nvSpPr>
          <p:cNvPr id="10" name="矩形 9"/>
          <p:cNvSpPr/>
          <p:nvPr/>
        </p:nvSpPr>
        <p:spPr>
          <a:xfrm>
            <a:off x="5279390" y="2272030"/>
            <a:ext cx="2711450" cy="2077085"/>
          </a:xfrm>
          <a:prstGeom prst="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0E5FF">
                <a:alpha val="40000"/>
              </a:srgbClr>
            </a:outerShdw>
          </a:effectLst>
        </p:spPr>
        <p:txBody>
          <a:bodyPr vert="horz" wrap="square" lIns="107950" tIns="0" rIns="0" bIns="0" rtlCol="0" anchor="ctr" anchorCtr="0">
            <a:noAutofit/>
          </a:bodyPr>
          <a:lstStyle/>
          <a:p>
            <a:pPr lvl="0" algn="l">
              <a:lnSpc>
                <a:spcPct val="105000"/>
              </a:lnSpc>
              <a:buClrTx/>
              <a:buSzTx/>
              <a:buFontTx/>
              <a:defRPr/>
            </a:pPr>
            <a:r>
              <a:rPr lang="zh-CN" altLang="en-US" sz="1600">
                <a:solidFill>
                  <a:srgbClr val="FFFFFF"/>
                </a:solidFill>
                <a:latin typeface="Noto Sans SC"/>
                <a:ea typeface="SimSun" charset="0"/>
                <a:cs typeface="Noto Sans SC"/>
                <a:sym typeface="+mn-ea"/>
              </a:rPr>
              <a:t>{</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"tool": "get_</a:t>
            </a:r>
            <a:r>
              <a:rPr lang="en-US" altLang="zh-CN" sz="1600">
                <a:solidFill>
                  <a:srgbClr val="FFFFFF"/>
                </a:solidFill>
                <a:latin typeface="Noto Sans SC"/>
                <a:ea typeface="SimSun" charset="0"/>
                <a:cs typeface="Noto Sans SC"/>
                <a:sym typeface="+mn-ea"/>
              </a:rPr>
              <a:t>videos</a:t>
            </a:r>
            <a:r>
              <a:rPr lang="zh-CN" altLang="en-US" sz="1600">
                <a:solidFill>
                  <a:srgbClr val="FFFFFF"/>
                </a:solidFill>
                <a:latin typeface="Noto Sans SC"/>
                <a:ea typeface="SimSun" charset="0"/>
                <a:cs typeface="Noto Sans SC"/>
                <a:sym typeface="+mn-ea"/>
              </a:rPr>
              <a:t>",</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"arguments": {</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a:t>
            </a:r>
            <a:r>
              <a:rPr lang="en-US" altLang="zh-CN" sz="1600">
                <a:solidFill>
                  <a:srgbClr val="FFFFFF"/>
                </a:solidFill>
                <a:latin typeface="Noto Sans SC"/>
                <a:ea typeface="SimSun" charset="0"/>
                <a:cs typeface="Noto Sans SC"/>
                <a:sym typeface="+mn-ea"/>
              </a:rPr>
              <a:t>topic</a:t>
            </a:r>
            <a:r>
              <a:rPr lang="zh-CN" altLang="en-US" sz="1600">
                <a:solidFill>
                  <a:srgbClr val="FFFFFF"/>
                </a:solidFill>
                <a:latin typeface="Noto Sans SC"/>
                <a:ea typeface="SimSun" charset="0"/>
                <a:cs typeface="Noto Sans SC"/>
                <a:sym typeface="+mn-ea"/>
              </a:rPr>
              <a:t>”: “</a:t>
            </a:r>
            <a:r>
              <a:rPr lang="en-US" altLang="zh-CN" sz="1600">
                <a:solidFill>
                  <a:srgbClr val="FFFFFF"/>
                </a:solidFill>
                <a:latin typeface="Noto Sans SC"/>
                <a:ea typeface="SimSun" charset="0"/>
                <a:cs typeface="Noto Sans SC"/>
                <a:sym typeface="+mn-ea"/>
              </a:rPr>
              <a:t>AI </a:t>
            </a:r>
            <a:r>
              <a:rPr lang="zh-CN" altLang="en-US" sz="1600">
                <a:solidFill>
                  <a:srgbClr val="FFFFFF"/>
                </a:solidFill>
                <a:latin typeface="Noto Sans SC"/>
                <a:ea typeface="SimSun" charset="0"/>
                <a:cs typeface="Noto Sans SC"/>
                <a:sym typeface="+mn-ea"/>
              </a:rPr>
              <a:t>智能体"</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a:t>
            </a:r>
          </a:p>
        </p:txBody>
      </p:sp>
      <p:sp>
        <p:nvSpPr>
          <p:cNvPr id="12" name="矩形 11"/>
          <p:cNvSpPr/>
          <p:nvPr/>
        </p:nvSpPr>
        <p:spPr>
          <a:xfrm>
            <a:off x="8345170" y="1835150"/>
            <a:ext cx="2728595" cy="346075"/>
          </a:xfrm>
          <a:prstGeom prst="rect">
            <a:avLst/>
          </a:prstGeom>
          <a:solidFill>
            <a:srgbClr val="69F0AE">
              <a:alpha val="8000"/>
            </a:srgbClr>
          </a:solidFill>
          <a:ln w="25400" cap="flat" cmpd="sng">
            <a:solidFill>
              <a:srgbClr val="69F0AE">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工具调用结果</a:t>
            </a:r>
          </a:p>
        </p:txBody>
      </p:sp>
      <p:sp>
        <p:nvSpPr>
          <p:cNvPr id="13" name="矩形 12"/>
          <p:cNvSpPr/>
          <p:nvPr/>
        </p:nvSpPr>
        <p:spPr>
          <a:xfrm>
            <a:off x="8344535" y="2272030"/>
            <a:ext cx="2730500" cy="3161665"/>
          </a:xfrm>
          <a:prstGeom prst="rect">
            <a:avLst/>
          </a:prstGeom>
          <a:solidFill>
            <a:srgbClr val="69F0AE">
              <a:alpha val="8000"/>
            </a:srgbClr>
          </a:solidFill>
          <a:ln w="25400" cap="flat" cmpd="sng">
            <a:solidFill>
              <a:srgbClr val="69F0AE">
                <a:alpha val="100000"/>
              </a:srgbClr>
            </a:solidFill>
            <a:prstDash val="solid"/>
            <a:round/>
          </a:ln>
          <a:effectLst>
            <a:outerShdw blurRad="152400" dir="2700000" algn="tl" rotWithShape="0">
              <a:srgbClr val="00E5FF">
                <a:alpha val="40000"/>
              </a:srgbClr>
            </a:outerShdw>
          </a:effectLst>
        </p:spPr>
        <p:txBody>
          <a:bodyPr vert="horz" wrap="square" lIns="107950" tIns="0" rIns="0" bIns="0" rtlCol="0" anchor="ctr" anchorCtr="0">
            <a:noAutofit/>
          </a:bodyPr>
          <a:lstStyle/>
          <a:p>
            <a:pPr lvl="0" algn="l">
              <a:lnSpc>
                <a:spcPct val="105000"/>
              </a:lnSpc>
              <a:buClrTx/>
              <a:buSzTx/>
              <a:buFontTx/>
              <a:defRPr/>
            </a:pPr>
            <a:r>
              <a:rPr lang="zh-CN" altLang="en-US" sz="1600">
                <a:solidFill>
                  <a:srgbClr val="FFFFFF"/>
                </a:solidFill>
                <a:latin typeface="Noto Sans SC"/>
                <a:ea typeface="SimSun" charset="0"/>
                <a:cs typeface="Noto Sans SC"/>
                <a:sym typeface="+mn-ea"/>
              </a:rPr>
              <a:t>{</a:t>
            </a: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a:t>
            </a:r>
            <a:r>
              <a:rPr lang="en-US" altLang="zh-CN" sz="1600">
                <a:solidFill>
                  <a:srgbClr val="FFFFFF"/>
                </a:solidFill>
                <a:latin typeface="Noto Sans SC"/>
                <a:ea typeface="SimSun" charset="0"/>
                <a:cs typeface="Noto Sans SC"/>
                <a:sym typeface="+mn-ea"/>
              </a:rPr>
              <a:t>videos</a:t>
            </a:r>
            <a:r>
              <a:rPr lang="zh-CN" altLang="en-US" sz="1600">
                <a:solidFill>
                  <a:srgbClr val="FFFFFF"/>
                </a:solidFill>
                <a:latin typeface="Noto Sans SC"/>
                <a:ea typeface="SimSun" charset="0"/>
                <a:cs typeface="Noto Sans SC"/>
                <a:sym typeface="+mn-ea"/>
              </a:rPr>
              <a:t>": </a:t>
            </a:r>
            <a:r>
              <a:rPr lang="en-US" altLang="zh-CN" sz="1600">
                <a:solidFill>
                  <a:srgbClr val="FFFFFF"/>
                </a:solidFill>
                <a:latin typeface="Noto Sans SC"/>
                <a:ea typeface="SimSun" charset="0"/>
                <a:cs typeface="Noto Sans SC"/>
                <a:sym typeface="+mn-ea"/>
              </a:rPr>
              <a:t>[</a:t>
            </a:r>
          </a:p>
          <a:p>
            <a:pPr lvl="0" algn="l">
              <a:lnSpc>
                <a:spcPct val="105000"/>
              </a:lnSpc>
              <a:buClrTx/>
              <a:buSzTx/>
              <a:buFontTx/>
              <a:defRPr/>
            </a:pPr>
            <a:r>
              <a:rPr lang="en-US" altLang="zh-CN" sz="1600">
                <a:solidFill>
                  <a:srgbClr val="FFFFFF"/>
                </a:solidFill>
                <a:latin typeface="Noto Sans SC"/>
                <a:ea typeface="SimSun" charset="0"/>
                <a:cs typeface="Noto Sans SC"/>
                <a:sym typeface="+mn-ea"/>
              </a:rPr>
              <a:t>    {</a:t>
            </a:r>
          </a:p>
          <a:p>
            <a:pPr lvl="0" algn="l">
              <a:lnSpc>
                <a:spcPct val="105000"/>
              </a:lnSpc>
              <a:buClrTx/>
              <a:buSzTx/>
              <a:buFontTx/>
              <a:defRPr/>
            </a:pPr>
            <a:r>
              <a:rPr lang="en-US" altLang="zh-CN" sz="1600">
                <a:solidFill>
                  <a:srgbClr val="FFFFFF"/>
                </a:solidFill>
                <a:latin typeface="Noto Sans SC"/>
                <a:ea typeface="SimSun" charset="0"/>
                <a:cs typeface="Noto Sans SC"/>
                <a:sym typeface="+mn-ea"/>
              </a:rPr>
              <a:t>      </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title</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 </a:t>
            </a:r>
            <a:r>
              <a:rPr lang="zh-CN" altLang="en-US" sz="1600">
                <a:solidFill>
                  <a:srgbClr val="FFFFFF"/>
                </a:solidFill>
                <a:latin typeface="Noto Sans SC"/>
                <a:ea typeface="SimSun" charset="0"/>
                <a:cs typeface="Noto Sans SC"/>
                <a:sym typeface="+mn-ea"/>
              </a:rPr>
              <a:t>"智能体是什么"</a:t>
            </a:r>
            <a:r>
              <a:rPr lang="en-US" altLang="zh-CN" sz="1600">
                <a:solidFill>
                  <a:srgbClr val="FFFFFF"/>
                </a:solidFill>
                <a:latin typeface="Noto Sans SC"/>
                <a:ea typeface="SimSun" charset="0"/>
                <a:cs typeface="Noto Sans SC"/>
                <a:sym typeface="+mn-ea"/>
              </a:rPr>
              <a:t>,</a:t>
            </a:r>
          </a:p>
          <a:p>
            <a:pPr lvl="0" algn="l">
              <a:lnSpc>
                <a:spcPct val="105000"/>
              </a:lnSpc>
              <a:buClrTx/>
              <a:buSzTx/>
              <a:buFontTx/>
              <a:defRPr/>
            </a:pPr>
            <a:r>
              <a:rPr lang="en-US" altLang="zh-CN" sz="1600">
                <a:solidFill>
                  <a:srgbClr val="FFFFFF"/>
                </a:solidFill>
                <a:latin typeface="Noto Sans SC"/>
                <a:ea typeface="SimSun" charset="0"/>
                <a:cs typeface="Noto Sans SC"/>
                <a:sym typeface="+mn-ea"/>
              </a:rPr>
              <a:t>      </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date</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 </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2026.09.01</a:t>
            </a:r>
            <a:r>
              <a:rPr lang="zh-CN" altLang="en-US" sz="1600">
                <a:solidFill>
                  <a:srgbClr val="FFFFFF"/>
                </a:solidFill>
                <a:latin typeface="Noto Sans SC"/>
                <a:ea typeface="SimSun" charset="0"/>
                <a:cs typeface="Noto Sans SC"/>
                <a:sym typeface="+mn-ea"/>
              </a:rPr>
              <a:t>"</a:t>
            </a:r>
            <a:endParaRPr lang="en-US" altLang="zh-CN" sz="1600">
              <a:solidFill>
                <a:srgbClr val="FFFFFF"/>
              </a:solidFill>
              <a:latin typeface="Noto Sans SC"/>
              <a:ea typeface="SimSun" charset="0"/>
              <a:cs typeface="Noto Sans SC"/>
              <a:sym typeface="+mn-ea"/>
            </a:endParaRPr>
          </a:p>
          <a:p>
            <a:pPr lvl="0" algn="l">
              <a:lnSpc>
                <a:spcPct val="105000"/>
              </a:lnSpc>
              <a:buClrTx/>
              <a:buSzTx/>
              <a:buFontTx/>
              <a:defRPr/>
            </a:pPr>
            <a:r>
              <a:rPr lang="en-US" altLang="zh-CN" sz="1600">
                <a:solidFill>
                  <a:srgbClr val="FFFFFF"/>
                </a:solidFill>
                <a:latin typeface="Noto Sans SC"/>
                <a:ea typeface="SimSun" charset="0"/>
                <a:cs typeface="Noto Sans SC"/>
                <a:sym typeface="+mn-ea"/>
              </a:rPr>
              <a:t>    },{</a:t>
            </a:r>
          </a:p>
          <a:p>
            <a:pPr lvl="0" algn="l">
              <a:lnSpc>
                <a:spcPct val="105000"/>
              </a:lnSpc>
              <a:buClrTx/>
              <a:buSzTx/>
              <a:buFontTx/>
              <a:defRPr/>
            </a:pPr>
            <a:r>
              <a:rPr lang="en-US" altLang="zh-CN" sz="1600">
                <a:solidFill>
                  <a:srgbClr val="FFFFFF"/>
                </a:solidFill>
                <a:latin typeface="Noto Sans SC"/>
                <a:ea typeface="SimSun" charset="0"/>
                <a:cs typeface="Noto Sans SC"/>
                <a:sym typeface="+mn-ea"/>
              </a:rPr>
              <a:t>      </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title</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 </a:t>
            </a:r>
            <a:r>
              <a:rPr lang="zh-CN" altLang="en-US" sz="1600">
                <a:solidFill>
                  <a:srgbClr val="FFFFFF"/>
                </a:solidFill>
                <a:latin typeface="Noto Sans SC"/>
                <a:ea typeface="SimSun" charset="0"/>
                <a:cs typeface="Noto Sans SC"/>
                <a:sym typeface="+mn-ea"/>
              </a:rPr>
              <a:t>"智能体教程"</a:t>
            </a:r>
            <a:r>
              <a:rPr lang="en-US" altLang="zh-CN" sz="1600">
                <a:solidFill>
                  <a:srgbClr val="FFFFFF"/>
                </a:solidFill>
                <a:latin typeface="Noto Sans SC"/>
                <a:ea typeface="SimSun" charset="0"/>
                <a:cs typeface="Noto Sans SC"/>
                <a:sym typeface="+mn-ea"/>
              </a:rPr>
              <a:t>,</a:t>
            </a:r>
          </a:p>
          <a:p>
            <a:pPr lvl="0" algn="l">
              <a:lnSpc>
                <a:spcPct val="105000"/>
              </a:lnSpc>
              <a:buClrTx/>
              <a:buSzTx/>
              <a:buFontTx/>
              <a:defRPr/>
            </a:pPr>
            <a:r>
              <a:rPr lang="en-US" altLang="zh-CN" sz="1600">
                <a:solidFill>
                  <a:srgbClr val="FFFFFF"/>
                </a:solidFill>
                <a:latin typeface="Noto Sans SC"/>
                <a:ea typeface="SimSun" charset="0"/>
                <a:cs typeface="Noto Sans SC"/>
                <a:sym typeface="+mn-ea"/>
              </a:rPr>
              <a:t>      </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date</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 </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2025.12.12</a:t>
            </a:r>
            <a:r>
              <a:rPr lang="zh-CN" altLang="en-US" sz="1600">
                <a:solidFill>
                  <a:srgbClr val="FFFFFF"/>
                </a:solidFill>
                <a:latin typeface="Noto Sans SC"/>
                <a:ea typeface="SimSun" charset="0"/>
                <a:cs typeface="Noto Sans SC"/>
                <a:sym typeface="+mn-ea"/>
              </a:rPr>
              <a:t>"</a:t>
            </a:r>
            <a:endParaRPr lang="en-US" altLang="zh-CN" sz="1600">
              <a:solidFill>
                <a:srgbClr val="FFFFFF"/>
              </a:solidFill>
              <a:latin typeface="Noto Sans SC"/>
              <a:ea typeface="SimSun" charset="0"/>
              <a:cs typeface="Noto Sans SC"/>
              <a:sym typeface="+mn-ea"/>
            </a:endParaRPr>
          </a:p>
          <a:p>
            <a:pPr lvl="0" algn="l">
              <a:lnSpc>
                <a:spcPct val="105000"/>
              </a:lnSpc>
              <a:buClrTx/>
              <a:buSzTx/>
              <a:buFontTx/>
              <a:defRPr/>
            </a:pPr>
            <a:r>
              <a:rPr lang="en-US" altLang="zh-CN" sz="1600">
                <a:solidFill>
                  <a:srgbClr val="FFFFFF"/>
                </a:solidFill>
                <a:latin typeface="Noto Sans SC"/>
                <a:ea typeface="SimSun" charset="0"/>
                <a:cs typeface="Noto Sans SC"/>
                <a:sym typeface="+mn-ea"/>
              </a:rPr>
              <a:t>    }</a:t>
            </a:r>
          </a:p>
          <a:p>
            <a:pPr lvl="0" algn="l">
              <a:lnSpc>
                <a:spcPct val="105000"/>
              </a:lnSpc>
              <a:buClrTx/>
              <a:buSzTx/>
              <a:buFontTx/>
              <a:defRPr/>
            </a:pPr>
            <a:r>
              <a:rPr lang="en-US" altLang="zh-CN" sz="1600">
                <a:solidFill>
                  <a:srgbClr val="FFFFFF"/>
                </a:solidFill>
                <a:latin typeface="Noto Sans SC"/>
                <a:ea typeface="SimSun" charset="0"/>
                <a:cs typeface="Noto Sans SC"/>
                <a:sym typeface="+mn-ea"/>
              </a:rPr>
              <a:t>  ]</a:t>
            </a:r>
          </a:p>
          <a:p>
            <a:pPr lvl="0" algn="l">
              <a:lnSpc>
                <a:spcPct val="105000"/>
              </a:lnSpc>
              <a:buClrTx/>
              <a:buSzTx/>
              <a:buFontTx/>
              <a:defRPr/>
            </a:pPr>
            <a:r>
              <a:rPr lang="en-US" altLang="zh-CN" sz="1600">
                <a:solidFill>
                  <a:srgbClr val="FFFFFF"/>
                </a:solidFill>
                <a:latin typeface="Noto Sans SC"/>
                <a:ea typeface="SimSun" charset="0"/>
                <a:cs typeface="Noto Sans SC"/>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8" grpId="0" animBg="1"/>
      <p:bldP spid="8" grpId="1" animBg="1"/>
      <p:bldP spid="9" grpId="0" animBg="1"/>
      <p:bldP spid="9" grpId="1" animBg="1"/>
      <p:bldP spid="10" grpId="0" animBg="1"/>
      <p:bldP spid="10" grpId="1" animBg="1"/>
      <p:bldP spid="12" grpId="0" animBg="1"/>
      <p:bldP spid="12" grpId="1" animBg="1"/>
      <p:bldP spid="13" grpId="0" bldLvl="0" animBg="1"/>
      <p:bldP spid="13"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a:t>总结</a:t>
            </a:r>
          </a:p>
        </p:txBody>
      </p:sp>
      <p:sp>
        <p:nvSpPr>
          <p:cNvPr id="3" name="内容占位符 2"/>
          <p:cNvSpPr>
            <a:spLocks noGrp="1"/>
          </p:cNvSpPr>
          <p:nvPr>
            <p:ph idx="1"/>
          </p:nvPr>
        </p:nvSpPr>
        <p:spPr/>
        <p:txBody>
          <a:bodyPr/>
          <a:lstStyle/>
          <a:p>
            <a:r>
              <a:rPr lang="zh-CN" altLang="en-US" sz="2800"/>
              <a:t>通过</a:t>
            </a:r>
            <a:r>
              <a:rPr lang="zh-CN" altLang="en-US" sz="2800" b="1">
                <a:solidFill>
                  <a:srgbClr val="00E5FF"/>
                </a:solidFill>
              </a:rPr>
              <a:t>思维链</a:t>
            </a:r>
            <a:r>
              <a:rPr lang="zh-CN" altLang="en-US" sz="2800"/>
              <a:t>（或</a:t>
            </a:r>
            <a:r>
              <a:rPr lang="zh-CN" altLang="en-US" sz="2800" b="1">
                <a:solidFill>
                  <a:srgbClr val="00E5FF"/>
                </a:solidFill>
              </a:rPr>
              <a:t>思维树</a:t>
            </a:r>
            <a:r>
              <a:rPr lang="zh-CN" altLang="en-US" sz="2800"/>
              <a:t>、</a:t>
            </a:r>
            <a:r>
              <a:rPr lang="zh-CN" altLang="en-US" sz="2800" b="1">
                <a:solidFill>
                  <a:srgbClr val="00E5FF"/>
                </a:solidFill>
              </a:rPr>
              <a:t>思维图</a:t>
            </a:r>
            <a:r>
              <a:rPr lang="zh-CN" altLang="en-US" sz="2800"/>
              <a:t>）引导大模型解决复杂任务</a:t>
            </a:r>
          </a:p>
          <a:p>
            <a:r>
              <a:rPr lang="zh-CN" altLang="en-US" sz="2800" b="1">
                <a:solidFill>
                  <a:srgbClr val="00E5FF"/>
                </a:solidFill>
              </a:rPr>
              <a:t>智能体</a:t>
            </a:r>
            <a:r>
              <a:rPr lang="zh-CN" altLang="en-US" sz="2800"/>
              <a:t>是通过</a:t>
            </a:r>
            <a:r>
              <a:rPr lang="en-US" altLang="zh-CN" sz="2800"/>
              <a:t> </a:t>
            </a:r>
            <a:r>
              <a:rPr lang="en-US" altLang="zh-CN" sz="2800" b="1">
                <a:solidFill>
                  <a:srgbClr val="00E5FF"/>
                </a:solidFill>
              </a:rPr>
              <a:t>PaE</a:t>
            </a:r>
            <a:r>
              <a:rPr lang="en-US" altLang="zh-CN" sz="2800"/>
              <a:t> </a:t>
            </a:r>
            <a:r>
              <a:rPr lang="zh-CN" altLang="en-US" sz="2800"/>
              <a:t>或</a:t>
            </a:r>
            <a:r>
              <a:rPr lang="en-US" altLang="zh-CN" sz="2800"/>
              <a:t> </a:t>
            </a:r>
            <a:r>
              <a:rPr lang="en-US" altLang="zh-CN" sz="2800" b="1">
                <a:solidFill>
                  <a:srgbClr val="00E5FF"/>
                </a:solidFill>
              </a:rPr>
              <a:t>ReAct</a:t>
            </a:r>
            <a:r>
              <a:rPr lang="en-US" altLang="zh-CN" sz="2800"/>
              <a:t> </a:t>
            </a:r>
            <a:r>
              <a:rPr lang="zh-CN" altLang="en-US" sz="2800"/>
              <a:t>的架构驾驭大模型的系统</a:t>
            </a:r>
          </a:p>
          <a:p>
            <a:r>
              <a:rPr lang="zh-CN" altLang="en-US" sz="2800"/>
              <a:t>智能体可以通过</a:t>
            </a:r>
            <a:r>
              <a:rPr lang="en-US" altLang="zh-CN" sz="2800"/>
              <a:t> </a:t>
            </a:r>
            <a:r>
              <a:rPr lang="en-US" altLang="zh-CN" sz="2800" b="1">
                <a:solidFill>
                  <a:srgbClr val="00E5FF"/>
                </a:solidFill>
              </a:rPr>
              <a:t>MCP </a:t>
            </a:r>
            <a:r>
              <a:rPr lang="zh-CN" altLang="en-US" sz="2800" b="1">
                <a:solidFill>
                  <a:srgbClr val="00E5FF"/>
                </a:solidFill>
              </a:rPr>
              <a:t>协议</a:t>
            </a:r>
            <a:r>
              <a:rPr lang="zh-CN" altLang="en-US" sz="2800"/>
              <a:t>使用外部工具</a:t>
            </a:r>
          </a:p>
          <a:p>
            <a:r>
              <a:rPr lang="zh-CN" altLang="en-US" sz="2800"/>
              <a:t>下一节课：</a:t>
            </a:r>
          </a:p>
          <a:p>
            <a:pPr lvl="1"/>
            <a:r>
              <a:rPr lang="zh-CN" altLang="en-US" sz="2400"/>
              <a:t>一个真正的智能体长什么样？</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2739</Words>
  <Application>Microsoft Office PowerPoint</Application>
  <PresentationFormat>宽屏</PresentationFormat>
  <Paragraphs>257</Paragraphs>
  <Slides>16</Slides>
  <Notes>14</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Noto Sans SC</vt:lpstr>
      <vt:lpstr>宋体</vt:lpstr>
      <vt:lpstr>Microsoft YaHei</vt:lpstr>
      <vt:lpstr>Arial</vt:lpstr>
      <vt:lpstr>Calibri</vt:lpstr>
      <vt:lpstr>Calibri Light</vt:lpstr>
      <vt:lpstr>WPS</vt:lpstr>
      <vt:lpstr>第七课 AI 怎样完成复杂任务</vt:lpstr>
      <vt:lpstr>回顾</vt:lpstr>
      <vt:lpstr>大模型是否可以直接回答？</vt:lpstr>
      <vt:lpstr>PowerPoint 演示文稿</vt:lpstr>
      <vt:lpstr>课程路线图</vt:lpstr>
      <vt:lpstr>通过提示词引导大模型：思维链</vt:lpstr>
      <vt:lpstr>更复杂的引导方式</vt:lpstr>
      <vt:lpstr>大模型的思考模式</vt:lpstr>
      <vt:lpstr>以智能体（Agent）的方式驾驭大模型</vt:lpstr>
      <vt:lpstr>可以自我反馈的智能体：ReAct架构</vt:lpstr>
      <vt:lpstr>让智能体使用工具</vt:lpstr>
      <vt:lpstr>让智能体使用工具</vt:lpstr>
      <vt:lpstr>工具调用技术协议：MCP</vt:lpstr>
      <vt:lpstr>MCP调用工具的基本流程</vt:lpstr>
      <vt:lpstr>MCP工具调用示例</vt:lpstr>
      <vt:lpstr>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Trams Wang</cp:lastModifiedBy>
  <cp:revision>741</cp:revision>
  <dcterms:created xsi:type="dcterms:W3CDTF">2026-09-29T01:18:00Z</dcterms:created>
  <dcterms:modified xsi:type="dcterms:W3CDTF">2026-10-01T04:19:58Z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2052-12.1.2.28080</vt:lpwstr>
  </property>
  <property fmtid="{D5CDD505-2E9C-101B-9397-08002B2CF9AE}" pid="3" name="ICV">
    <vt:lpwstr>AF1A490D30A00710C6B26D6AE3DED764_43</vt:lpwstr>
  </property>
</Properties>
</file>