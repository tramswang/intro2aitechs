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9"/>
  </p:handoutMasterIdLst>
  <p:sldIdLst>
    <p:sldId id="256" r:id="rId3"/>
    <p:sldId id="294" r:id="rId4"/>
    <p:sldId id="310" r:id="rId6"/>
    <p:sldId id="311" r:id="rId7"/>
    <p:sldId id="301" r:id="rId8"/>
    <p:sldId id="306" r:id="rId9"/>
    <p:sldId id="305" r:id="rId10"/>
    <p:sldId id="308" r:id="rId11"/>
    <p:sldId id="312" r:id="rId12"/>
    <p:sldId id="302" r:id="rId13"/>
    <p:sldId id="303" r:id="rId14"/>
    <p:sldId id="304" r:id="rId15"/>
    <p:sldId id="307" r:id="rId16"/>
    <p:sldId id="309" r:id="rId17"/>
    <p:sldId id="274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B1"/>
    <a:srgbClr val="69F0AE"/>
    <a:srgbClr val="00E5FF"/>
    <a:srgbClr val="B388FF"/>
    <a:srgbClr val="061323"/>
    <a:srgbClr val="00E5FA"/>
    <a:srgbClr val="1E1E1E"/>
    <a:srgbClr val="5A5A5A"/>
    <a:srgbClr val="121212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3" autoAdjust="0"/>
    <p:restoredTop sz="75338" autoAdjust="0"/>
  </p:normalViewPr>
  <p:slideViewPr>
    <p:cSldViewPr snapToGrid="0" showGuides="1">
      <p:cViewPr varScale="1">
        <p:scale>
          <a:sx n="120" d="100"/>
          <a:sy n="120" d="100"/>
        </p:scale>
        <p:origin x="3900" y="96"/>
      </p:cViewPr>
      <p:guideLst>
        <p:guide orient="horz" pos="22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上节课在看到这个例子的时候，我相信有同学就会有这样的疑问：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首先，大家要明白：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模型输出不是按照文本的符号输出的，而是按照意思输出的，每次输出的是语义的一个最小单元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每个符号或一个化学式也会被划分为一个</a:t>
            </a:r>
            <a:r>
              <a:rPr lang="en-US" altLang="zh-CN"/>
              <a:t> token, </a:t>
            </a:r>
            <a:r>
              <a:rPr lang="zh-CN" altLang="en-US"/>
              <a:t>这也解释了为什么大模型不仅能够读懂文字，也能够读懂</a:t>
            </a:r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从这几个例子中也可以看到，哪怕没有歧义的情况下，对词元的切分方案也不唯一，具体怎么切要看各个分词器的具体策略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了解了</a:t>
            </a:r>
            <a:r>
              <a:rPr lang="en-US" altLang="zh-CN"/>
              <a:t> token </a:t>
            </a:r>
            <a:r>
              <a:rPr lang="zh-CN" altLang="en-US"/>
              <a:t>的切分原理大家就可以明白：在相同的模型下，为什么有的输入处理更慢</a:t>
            </a:r>
            <a:endParaRPr lang="zh-CN" altLang="en-US"/>
          </a:p>
          <a:p>
            <a:pPr marL="628650" lvl="1" indent="-171450">
              <a:buFont typeface="Arial" panose="02080604020202020204" pitchFamily="34" charset="0"/>
              <a:buChar char="•"/>
            </a:pPr>
            <a:r>
              <a:rPr lang="zh-CN" altLang="en-US"/>
              <a:t>一方面：输入、输出更长</a:t>
            </a:r>
            <a:endParaRPr lang="zh-CN" altLang="en-US"/>
          </a:p>
          <a:p>
            <a:pPr marL="628650" lvl="1" indent="-171450">
              <a:buFont typeface="Arial" panose="02080604020202020204" pitchFamily="34" charset="0"/>
              <a:buChar char="•"/>
            </a:pPr>
            <a:r>
              <a:rPr lang="zh-CN" altLang="en-US"/>
              <a:t>另一方面：即使两段输入占用相同的存储空间，比如都是</a:t>
            </a:r>
            <a:r>
              <a:rPr lang="en-US" altLang="zh-CN"/>
              <a:t> 1KB, </a:t>
            </a:r>
            <a:r>
              <a:rPr lang="zh-CN" altLang="en-US"/>
              <a:t>也可能因为内容的不同导致实际的</a:t>
            </a:r>
            <a:r>
              <a:rPr lang="en-US" altLang="zh-CN"/>
              <a:t> token </a:t>
            </a:r>
            <a:r>
              <a:rPr lang="zh-CN" altLang="en-US"/>
              <a:t>数量不同。比如：一份是普通的新闻文章，可能只有两三百</a:t>
            </a:r>
            <a:r>
              <a:rPr lang="en-US" altLang="zh-CN"/>
              <a:t> token</a:t>
            </a:r>
            <a:r>
              <a:rPr lang="zh-CN" altLang="en-US"/>
              <a:t>，另一份是写了很多符号的数学证明过程，这里可能就有四五百</a:t>
            </a:r>
            <a:r>
              <a:rPr lang="en-US" altLang="zh-CN"/>
              <a:t> token </a:t>
            </a:r>
            <a:r>
              <a:rPr lang="zh-CN" altLang="en-US"/>
              <a:t>了</a:t>
            </a:r>
            <a:endParaRPr lang="zh-CN" altLang="en-US"/>
          </a:p>
          <a:p>
            <a:pPr marL="171450" lvl="0" indent="-1714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现在的模型也在持续进化，可以使用特定的支持比较好的格式，比如</a:t>
            </a:r>
            <a:r>
              <a:rPr lang="en-US" altLang="zh-CN"/>
              <a:t> JSON, markdown</a:t>
            </a:r>
            <a:endParaRPr lang="en-US" altLang="zh-CN"/>
          </a:p>
          <a:p>
            <a:pPr marL="171450" indent="-1714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所以大家有时候会听到</a:t>
            </a:r>
            <a:r>
              <a:rPr lang="en-US" altLang="zh-CN"/>
              <a:t> OpenAI / Anthropic </a:t>
            </a:r>
            <a:r>
              <a:rPr lang="zh-CN" altLang="en-US"/>
              <a:t>这些公司在宣传自己的模型有多么厉害的时候，经常会说它能解决什么样的数学问题。</a:t>
            </a:r>
            <a:endParaRPr lang="zh-CN" altLang="en-US"/>
          </a:p>
          <a:p>
            <a:pPr marL="628650" lvl="1" indent="-171450">
              <a:buFont typeface="Arial" panose="02080604020202020204" pitchFamily="34" charset="0"/>
              <a:buChar char="•"/>
            </a:pPr>
            <a:r>
              <a:rPr lang="zh-CN" altLang="en-US"/>
              <a:t>前一段时间，这两家公司的最新旗舰模型还宣称证明了费马大定理和</a:t>
            </a:r>
            <a:r>
              <a:rPr lang="en-US" altLang="zh-CN"/>
              <a:t>NS</a:t>
            </a:r>
            <a:r>
              <a:rPr lang="zh-CN" altLang="en-US"/>
              <a:t>问题</a:t>
            </a:r>
            <a:endParaRPr lang="zh-CN" altLang="en-US"/>
          </a:p>
          <a:p>
            <a:pPr marL="628650" lvl="1" indent="-171450">
              <a:buFont typeface="Arial" panose="02080604020202020204" pitchFamily="34" charset="0"/>
              <a:buChar char="•"/>
            </a:pPr>
            <a:r>
              <a:rPr lang="zh-CN" altLang="en-US"/>
              <a:t>当然，这些数学问题本身有很高的知名度，也比较容易吸引公众的注意力，所以他们也乐于花精力去专门解决这些问题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除了文本大模型以外，还有很多模型可以处理图片、音频、视频，这些模型的</a:t>
            </a:r>
            <a:r>
              <a:rPr lang="en-US" altLang="zh-CN"/>
              <a:t> token </a:t>
            </a:r>
            <a:r>
              <a:rPr lang="zh-CN" altLang="en-US"/>
              <a:t>是怎么划分的呢？</a:t>
            </a:r>
            <a:endParaRPr lang="zh-CN" altLang="en-US"/>
          </a:p>
          <a:p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/>
              <a:t>要注意，这些模型虽然也借用了</a:t>
            </a:r>
            <a:r>
              <a:rPr lang="en-US" altLang="zh-CN"/>
              <a:t> token </a:t>
            </a:r>
            <a:r>
              <a:rPr lang="zh-CN" altLang="en-US"/>
              <a:t>的概念，但是这些</a:t>
            </a:r>
            <a:r>
              <a:rPr lang="en-US" altLang="zh-CN"/>
              <a:t> token </a:t>
            </a:r>
            <a:r>
              <a:rPr lang="zh-CN" altLang="en-US"/>
              <a:t>所表达的含义未必是像文字的</a:t>
            </a:r>
            <a:r>
              <a:rPr lang="en-US" altLang="zh-CN"/>
              <a:t> token </a:t>
            </a:r>
            <a:r>
              <a:rPr lang="zh-CN" altLang="en-US"/>
              <a:t>一样对应某个我们直观可以理解的概念，它们更多只是形式上的相似而已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一般有</a:t>
            </a:r>
            <a:r>
              <a:rPr lang="en-US" altLang="zh-CN"/>
              <a:t> 1536 </a:t>
            </a:r>
            <a:r>
              <a:rPr lang="zh-CN" altLang="en-US"/>
              <a:t>维</a:t>
            </a:r>
            <a:endParaRPr lang="zh-CN" altLang="en-US"/>
          </a:p>
          <a:p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相近语义在向量空间中更接近，相反语义距离更远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在我们构造的这个小小空间里</a:t>
            </a:r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。。。</a:t>
            </a:r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最后白天</a:t>
            </a:r>
            <a:r>
              <a:rPr lang="en-US" altLang="zh-CN"/>
              <a:t>-</a:t>
            </a:r>
            <a:r>
              <a:rPr lang="zh-CN" altLang="en-US"/>
              <a:t>夜晚都描述时间，所以相对更近一点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buFont typeface="Arial" panose="02080604020202020204" pitchFamily="34" charset="0"/>
              <a:buNone/>
            </a:pPr>
            <a:r>
              <a:rPr lang="zh-CN" altLang="en-US"/>
              <a:t>现在我们知道</a:t>
            </a:r>
            <a:r>
              <a:rPr lang="en-US" altLang="zh-CN"/>
              <a:t> ……</a:t>
            </a:r>
            <a:endParaRPr lang="en-US" altLang="zh-CN"/>
          </a:p>
          <a:p>
            <a:pPr indent="0">
              <a:buFont typeface="Arial" panose="02080604020202020204" pitchFamily="34" charset="0"/>
              <a:buNone/>
            </a:pPr>
            <a:endParaRPr lang="en-US" altLang="zh-CN"/>
          </a:p>
          <a:p>
            <a:pPr indent="0">
              <a:buFont typeface="Arial" panose="02080604020202020204" pitchFamily="34" charset="0"/>
              <a:buNone/>
            </a:pPr>
            <a:r>
              <a:rPr lang="zh-CN" altLang="en-US"/>
              <a:t>那么这个方法能不能进一步扩展呢？</a:t>
            </a:r>
            <a:endParaRPr lang="zh-CN" altLang="en-US"/>
          </a:p>
          <a:p>
            <a:pPr indent="0">
              <a:buFont typeface="Arial" panose="02080604020202020204" pitchFamily="34" charset="0"/>
              <a:buNone/>
            </a:pPr>
            <a:endParaRPr lang="zh-CN" altLang="en-US"/>
          </a:p>
          <a:p>
            <a:pPr indent="0">
              <a:buFont typeface="Arial" panose="02080604020202020204" pitchFamily="34" charset="0"/>
              <a:buNone/>
            </a:pPr>
            <a:r>
              <a:rPr lang="zh-CN" altLang="en-US"/>
              <a:t>答案是肯定的，我们也可以对一段完整的文本进行一次类似的计算</a:t>
            </a:r>
            <a:r>
              <a:rPr lang="en-US" altLang="zh-CN"/>
              <a:t>…… </a:t>
            </a:r>
            <a:r>
              <a:rPr lang="zh-CN" altLang="en-US"/>
              <a:t>比如计算一首诗、一篇完整的课文的数值</a:t>
            </a:r>
            <a:endParaRPr lang="zh-CN" altLang="en-US"/>
          </a:p>
          <a:p>
            <a:pPr indent="0">
              <a:buFont typeface="Arial" panose="02080604020202020204" pitchFamily="34" charset="0"/>
              <a:buNone/>
            </a:pPr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zh-CN" altLang="en-US"/>
              <a:t>相似度：余弦相似度，欧氏距离</a:t>
            </a:r>
            <a:endParaRPr lang="zh-CN" altLang="en-US"/>
          </a:p>
          <a:p>
            <a:pPr marL="628650" lvl="1" indent="-171450">
              <a:buFont typeface="Arial" panose="02080604020202020204" pitchFamily="34" charset="0"/>
              <a:buChar char="•"/>
            </a:pPr>
            <a:r>
              <a:rPr lang="zh-CN" altLang="en-US"/>
              <a:t>感兴趣的同学可以去查阅一些相关的资料，这里不做展开</a:t>
            </a:r>
            <a:endParaRPr lang="zh-CN" altLang="en-US"/>
          </a:p>
          <a:p>
            <a:pPr marL="171450" indent="-171450">
              <a:buFont typeface="Arial" panose="02080604020202020204" pitchFamily="34" charset="0"/>
              <a:buChar char="•"/>
            </a:pPr>
            <a:r>
              <a:rPr lang="en-US" altLang="zh-CN"/>
              <a:t>Embedding </a:t>
            </a:r>
            <a:r>
              <a:rPr lang="zh-CN" altLang="en-US"/>
              <a:t>也是大模型提供商的主要服务之一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有了文本的</a:t>
            </a:r>
            <a:r>
              <a:rPr lang="en-US" altLang="zh-CN"/>
              <a:t> embedding </a:t>
            </a:r>
            <a:r>
              <a:rPr lang="zh-CN" altLang="en-US"/>
              <a:t>，我们就有了一种快速的方法可以判断文本的语义相似性。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基于这点，科学家们发明了一种叫做“检索增强生成”的技术，帮助大模型在不用专门记忆一些知识的情况下，也能“现学现卖”，回答涉及专业知识的问题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8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5098"/>
              </a:srgbClr>
            </a:fgClr>
            <a:bgClr>
              <a:srgbClr val="121212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5"/>
          <p:cNvSpPr/>
          <p:nvPr userDrawn="1"/>
        </p:nvSpPr>
        <p:spPr>
          <a:xfrm>
            <a:off x="2286000" y="1524000"/>
            <a:ext cx="7620000" cy="4064000"/>
          </a:xfrm>
          <a:prstGeom prst="ellipse">
            <a:avLst/>
          </a:prstGeom>
          <a:gradFill rotWithShape="1">
            <a:gsLst>
              <a:gs pos="0">
                <a:srgbClr val="FFFFFF">
                  <a:alpha val="9000"/>
                </a:srgbClr>
              </a:gs>
              <a:gs pos="35000">
                <a:srgbClr val="FFFFFF">
                  <a:alpha val="3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E6CFCF">
                    <a:alpha val="9000"/>
                  </a:srgbClr>
                </a:gs>
                <a:gs pos="35000">
                  <a:srgbClr val="E6CFCF">
                    <a:alpha val="3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 userDrawn="1"/>
        </p:nvSpPr>
        <p:spPr>
          <a:xfrm>
            <a:off x="-2032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30000">
                <a:srgbClr val="00E5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0000"/>
                  </a:srgbClr>
                </a:gs>
                <a:gs pos="30000">
                  <a:srgbClr val="00CE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4"/>
          <p:cNvSpPr/>
          <p:nvPr userDrawn="1"/>
        </p:nvSpPr>
        <p:spPr>
          <a:xfrm>
            <a:off x="8636000" y="3556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B388FF">
                  <a:alpha val="20000"/>
                </a:srgbClr>
              </a:gs>
              <a:gs pos="30000">
                <a:srgbClr val="B388FF">
                  <a:alpha val="8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20000"/>
                  </a:srgbClr>
                </a:gs>
                <a:gs pos="30000">
                  <a:srgbClr val="9263E6">
                    <a:alpha val="8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6"/>
          <p:cNvSpPr/>
          <p:nvPr userDrawn="1"/>
        </p:nvSpPr>
        <p:spPr>
          <a:xfrm>
            <a:off x="10160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50000">
                <a:srgbClr val="00E5FF">
                  <a:alpha val="55000"/>
                </a:srgbClr>
              </a:gs>
              <a:gs pos="100000">
                <a:srgbClr val="00E5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50000">
                  <a:srgbClr val="00CEE6">
                    <a:alpha val="55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7"/>
          <p:cNvSpPr/>
          <p:nvPr userDrawn="1"/>
        </p:nvSpPr>
        <p:spPr>
          <a:xfrm>
            <a:off x="11099800" y="2159000"/>
            <a:ext cx="76200" cy="177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388FF">
                  <a:alpha val="0"/>
                </a:srgbClr>
              </a:gs>
              <a:gs pos="50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5400000"/>
          </a:gradFill>
          <a:ln cap="flat" cmpd="sng">
            <a:gradFill rotWithShape="1">
              <a:gsLst>
                <a:gs pos="0">
                  <a:srgbClr val="9263E6">
                    <a:alpha val="0"/>
                  </a:srgbClr>
                </a:gs>
                <a:gs pos="50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0"/>
          <p:cNvSpPr/>
          <p:nvPr userDrawn="1"/>
        </p:nvSpPr>
        <p:spPr>
          <a:xfrm>
            <a:off x="2921000" y="5207000"/>
            <a:ext cx="6350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28000">
                <a:srgbClr val="00E5FF">
                  <a:alpha val="55000"/>
                </a:srgbClr>
              </a:gs>
              <a:gs pos="72000">
                <a:srgbClr val="B388FF">
                  <a:alpha val="55000"/>
                </a:srgbClr>
              </a:gs>
              <a:gs pos="100000">
                <a:srgbClr val="B388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28000">
                  <a:srgbClr val="00CEE6">
                    <a:alpha val="55000"/>
                  </a:srgbClr>
                </a:gs>
                <a:gs pos="72000">
                  <a:srgbClr val="9263E6">
                    <a:alpha val="55000"/>
                  </a:srgbClr>
                </a:gs>
                <a:gs pos="100000">
                  <a:srgbClr val="9263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2"/>
          <p:cNvCxnSpPr/>
          <p:nvPr userDrawn="1"/>
        </p:nvCxnSpPr>
        <p:spPr>
          <a:xfrm rot="5256843">
            <a:off x="5943600" y="5810382"/>
            <a:ext cx="30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000" y="1433195"/>
            <a:ext cx="10668000" cy="2325370"/>
          </a:xfrm>
        </p:spPr>
        <p:txBody>
          <a:bodyPr anchor="b">
            <a:normAutofit/>
          </a:bodyPr>
          <a:lstStyle>
            <a:lvl1pPr marL="0" marR="0" lvl="0" algn="ctr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62000" y="4012565"/>
            <a:ext cx="10668000" cy="175387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7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3" hasCustomPrompt="1"/>
          </p:nvPr>
        </p:nvSpPr>
        <p:spPr>
          <a:xfrm>
            <a:off x="757555" y="5588000"/>
            <a:ext cx="4831080" cy="431800"/>
          </a:xfrm>
        </p:spPr>
        <p:txBody>
          <a:bodyPr/>
          <a:lstStyle>
            <a:lvl1pPr indent="0">
              <a:buNone/>
              <a:defRPr sz="2000"/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pc="300">
                <a:solidFill>
                  <a:srgbClr val="BEBE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【授课人】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" hasCustomPrompt="1"/>
          </p:nvPr>
        </p:nvSpPr>
        <p:spPr>
          <a:xfrm>
            <a:off x="6604000" y="5588000"/>
            <a:ext cx="4830445" cy="431800"/>
          </a:xfrm>
        </p:spPr>
        <p:txBody>
          <a:bodyPr/>
          <a:lstStyle>
            <a:lvl1pPr marL="0" indent="0" algn="r">
              <a:buNone/>
              <a:defRPr kumimoji="0" lang="zh-CN" altLang="en-US" sz="2000" b="0" i="0" u="none" strike="noStrike" kern="1200" cap="none" spc="300" normalizeH="0" baseline="0" noProof="1">
                <a:solidFill>
                  <a:srgbClr val="BEBEBE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defRPr>
            </a:lvl1pPr>
            <a:lvl5pPr algn="ctr">
              <a:defRPr/>
            </a:lvl5pPr>
          </a:lstStyle>
          <a:p>
            <a:pPr lvl="0"/>
            <a:r>
              <a:rPr lang="zh-CN" altLang="en-US"/>
              <a:t>【日期】</a:t>
            </a:r>
            <a:endParaRPr lang="zh-CN" altLang="en-US"/>
          </a:p>
          <a:p>
            <a:pPr lvl="0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401300" cy="43516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/>
          <p:nvPr userDrawn="1"/>
        </p:nvSpPr>
        <p:spPr>
          <a:xfrm>
            <a:off x="9144000" y="457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2"/>
          <p:cNvSpPr/>
          <p:nvPr userDrawn="1"/>
        </p:nvSpPr>
        <p:spPr>
          <a:xfrm>
            <a:off x="-2032000" y="-2032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3298825"/>
            <a:ext cx="10401300" cy="287845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E5FA"/>
              </a:buClr>
              <a:defRPr sz="20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sp>
        <p:nvSpPr>
          <p:cNvPr id="8" name="AutoShape 5"/>
          <p:cNvSpPr/>
          <p:nvPr userDrawn="1"/>
        </p:nvSpPr>
        <p:spPr>
          <a:xfrm>
            <a:off x="762000" y="1422400"/>
            <a:ext cx="9144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 userDrawn="1"/>
        </p:nvSpPr>
        <p:spPr>
          <a:xfrm>
            <a:off x="762000" y="1676400"/>
            <a:ext cx="10401300" cy="1422400"/>
          </a:xfrm>
          <a:prstGeom prst="snip2DiagRect">
            <a:avLst/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304800" dir="5400000" algn="ctr" rotWithShape="0">
              <a:srgbClr val="00E5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762000" y="1678305"/>
            <a:ext cx="10401300" cy="1421130"/>
          </a:xfrm>
        </p:spPr>
        <p:txBody>
          <a:bodyPr anchor="ctr" anchorCtr="0"/>
          <a:lstStyle>
            <a:lvl1pPr marL="0" indent="0" algn="ctr">
              <a:buNone/>
              <a:defRPr b="1"/>
            </a:lvl1pPr>
          </a:lstStyle>
          <a:p>
            <a:pPr lvl="0"/>
            <a:r>
              <a:rPr lang="zh-CN" altLang="en-US"/>
              <a:t>插入定义文本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/>
          <p:nvPr userDrawn="1"/>
        </p:nvSpPr>
        <p:spPr>
          <a:xfrm>
            <a:off x="-2286000" y="-2032000"/>
            <a:ext cx="5588000" cy="55880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18000"/>
                  </a:srgbClr>
                </a:gs>
                <a:gs pos="70000">
                  <a:srgbClr val="00CEE6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3"/>
          <p:cNvSpPr/>
          <p:nvPr userDrawn="1"/>
        </p:nvSpPr>
        <p:spPr>
          <a:xfrm>
            <a:off x="8890000" y="4318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9F0AE">
                  <a:alpha val="14000"/>
                </a:srgbClr>
              </a:gs>
              <a:gs pos="70000">
                <a:srgbClr val="69F0A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48D691">
                    <a:alpha val="14000"/>
                  </a:srgbClr>
                </a:gs>
                <a:gs pos="70000">
                  <a:srgbClr val="48D691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2000" y="609600"/>
            <a:ext cx="10401300" cy="660400"/>
          </a:xfrm>
        </p:spPr>
        <p:txBody>
          <a:bodyPr anchor="ctr" anchorCtr="0">
            <a:normAutofit/>
          </a:bodyPr>
          <a:lstStyle>
            <a:lvl1pPr>
              <a:defRPr kumimoji="0" 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rPr lang="zh-CN" altLang="en-US" dirty="0"/>
              <a:t>【思考与讨论】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62000" y="4382135"/>
            <a:ext cx="10401300" cy="7613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2800" b="0" i="0" u="none" strike="noStrike" kern="0" cap="none" spc="300" normalizeH="0" baseline="0" noProof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【提出一个开放性问题,引导学生思考】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201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0525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2000" y="6356350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cxnSp>
        <p:nvCxnSpPr>
          <p:cNvPr id="16" name="Connector 16"/>
          <p:cNvCxnSpPr/>
          <p:nvPr userDrawn="1"/>
        </p:nvCxnSpPr>
        <p:spPr>
          <a:xfrm rot="-4092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5"/>
          <p:cNvSpPr/>
          <p:nvPr userDrawn="1"/>
        </p:nvSpPr>
        <p:spPr>
          <a:xfrm>
            <a:off x="762000" y="1524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0"/>
                </a:srgbClr>
              </a:gs>
              <a:gs pos="30000">
                <a:srgbClr val="00E5FF">
                  <a:alpha val="100000"/>
                </a:srgbClr>
              </a:gs>
              <a:gs pos="70000">
                <a:srgbClr val="00E5FF">
                  <a:alpha val="100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0"/>
                  </a:srgbClr>
                </a:gs>
                <a:gs pos="30000">
                  <a:srgbClr val="00CEE6">
                    <a:alpha val="100000"/>
                  </a:srgbClr>
                </a:gs>
                <a:gs pos="70000">
                  <a:srgbClr val="00CEE6">
                    <a:alpha val="100000"/>
                  </a:srgbClr>
                </a:gs>
                <a:gs pos="100000">
                  <a:srgbClr val="00CEE6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6"/>
          <p:cNvSpPr/>
          <p:nvPr userDrawn="1"/>
        </p:nvSpPr>
        <p:spPr>
          <a:xfrm>
            <a:off x="0" y="2032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71500" dir="5400000" algn="ctr" rotWithShape="0">
              <a:srgbClr val="69F0AE">
                <a:alpha val="5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</a:t>
            </a:r>
            <a:endParaRPr lang="en-US" sz="1100"/>
          </a:p>
        </p:txBody>
      </p:sp>
      <p:sp>
        <p:nvSpPr>
          <p:cNvPr id="19" name="内容占位符 18"/>
          <p:cNvSpPr>
            <a:spLocks noGrp="1"/>
          </p:cNvSpPr>
          <p:nvPr>
            <p:ph idx="13" hasCustomPrompt="1"/>
          </p:nvPr>
        </p:nvSpPr>
        <p:spPr>
          <a:xfrm>
            <a:off x="762000" y="5398135"/>
            <a:ext cx="10401300" cy="40576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Clr>
                <a:srgbClr val="00E5FA"/>
              </a:buClr>
              <a:buNone/>
              <a:defRPr kumimoji="0" lang="en-US" sz="1800" b="0" i="0" u="none" strike="noStrike" kern="0" cap="none" spc="200" normalizeH="0" baseline="0" noProof="1">
                <a:solidFill>
                  <a:srgbClr val="C8C8D2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>
              <a:lnSpc>
                <a:spcPct val="150000"/>
              </a:lnSpc>
              <a:buClr>
                <a:srgbClr val="00E5FA"/>
              </a:buClr>
              <a:defRPr sz="18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buClr>
                <a:srgbClr val="00E5FA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【提示:可以分组讨论 / 举手回答 / 课后思考】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1" i="0" u="none" strike="noStrike" kern="0" cap="none" spc="200" normalizeH="0" baseline="0" noProof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635" y="1904365"/>
            <a:ext cx="5234940" cy="50863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1200" cap="none" spc="0" normalizeH="0" baseline="0" noProof="1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635" y="2480310"/>
            <a:ext cx="523494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00E5FF"/>
              </a:buClr>
              <a:defRPr/>
            </a:lvl1pPr>
            <a:lvl2pPr>
              <a:lnSpc>
                <a:spcPct val="150000"/>
              </a:lnSpc>
              <a:buClr>
                <a:srgbClr val="00E5FF"/>
              </a:buClr>
              <a:defRPr/>
            </a:lvl2pPr>
            <a:lvl3pPr>
              <a:lnSpc>
                <a:spcPct val="150000"/>
              </a:lnSpc>
              <a:buClr>
                <a:srgbClr val="00E5FF"/>
              </a:buClr>
              <a:defRPr/>
            </a:lvl3pPr>
            <a:lvl4pPr>
              <a:lnSpc>
                <a:spcPct val="150000"/>
              </a:lnSpc>
              <a:buClr>
                <a:srgbClr val="00E5FF"/>
              </a:buClr>
              <a:defRPr/>
            </a:lvl4pPr>
            <a:lvl5pPr>
              <a:lnSpc>
                <a:spcPct val="150000"/>
              </a:lnSpc>
              <a:buClr>
                <a:srgbClr val="00E5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604635" y="1903730"/>
            <a:ext cx="5079365" cy="509905"/>
          </a:xfrm>
        </p:spPr>
        <p:txBody>
          <a:bodyPr anchor="b"/>
          <a:lstStyle>
            <a:lvl1pPr marL="0" indent="0">
              <a:buNone/>
              <a:defRPr kumimoji="0" lang="en-US" sz="2400" b="1" i="0" u="none" strike="noStrike" kern="0" cap="none" spc="0" normalizeH="0" baseline="0" noProof="1">
                <a:solidFill>
                  <a:srgbClr val="B3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604635" y="2480310"/>
            <a:ext cx="5078730" cy="3709035"/>
          </a:xfrm>
        </p:spPr>
        <p:txBody>
          <a:bodyPr/>
          <a:lstStyle>
            <a:lvl1pPr>
              <a:lnSpc>
                <a:spcPct val="150000"/>
              </a:lnSpc>
              <a:buClr>
                <a:srgbClr val="B388FF"/>
              </a:buClr>
              <a:defRPr/>
            </a:lvl1pPr>
            <a:lvl2pPr>
              <a:lnSpc>
                <a:spcPct val="150000"/>
              </a:lnSpc>
              <a:buClr>
                <a:srgbClr val="B388FF"/>
              </a:buClr>
              <a:defRPr/>
            </a:lvl2pPr>
            <a:lvl3pPr>
              <a:lnSpc>
                <a:spcPct val="150000"/>
              </a:lnSpc>
              <a:buClr>
                <a:srgbClr val="B388FF"/>
              </a:buClr>
              <a:defRPr/>
            </a:lvl3pPr>
            <a:lvl4pPr>
              <a:lnSpc>
                <a:spcPct val="150000"/>
              </a:lnSpc>
              <a:buClr>
                <a:srgbClr val="B388FF"/>
              </a:buClr>
              <a:defRPr/>
            </a:lvl4pPr>
            <a:lvl5pPr>
              <a:lnSpc>
                <a:spcPct val="150000"/>
              </a:lnSpc>
              <a:buClr>
                <a:srgbClr val="B388FF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1"/>
          <p:cNvSpPr/>
          <p:nvPr userDrawn="1"/>
        </p:nvSpPr>
        <p:spPr>
          <a:xfrm>
            <a:off x="762000" y="5740400"/>
            <a:ext cx="482600" cy="482600"/>
          </a:xfrm>
          <a:prstGeom prst="ellipse">
            <a:avLst/>
          </a:prstGeom>
          <a:solidFill>
            <a:srgbClr val="00E5FF">
              <a:alpha val="0"/>
            </a:srgbClr>
          </a:solidFill>
          <a:ln w="25400" cap="flat" cmpd="sng">
            <a:solidFill>
              <a:srgbClr val="00E5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2"/>
          <p:cNvSpPr/>
          <p:nvPr userDrawn="1"/>
        </p:nvSpPr>
        <p:spPr>
          <a:xfrm>
            <a:off x="1397000" y="5740400"/>
            <a:ext cx="279400" cy="27940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 userDrawn="1"/>
        </p:nvSpPr>
        <p:spPr>
          <a:xfrm rot="2700000">
            <a:off x="6604000" y="5740400"/>
            <a:ext cx="431800" cy="431800"/>
          </a:xfrm>
          <a:prstGeom prst="roundRect">
            <a:avLst>
              <a:gd name="adj" fmla="val 0"/>
            </a:avLst>
          </a:prstGeom>
          <a:solidFill>
            <a:srgbClr val="B388FF">
              <a:alpha val="0"/>
            </a:srgbClr>
          </a:solidFill>
          <a:ln w="25400" cap="flat" cmpd="sng">
            <a:solidFill>
              <a:srgbClr val="B388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 userDrawn="1"/>
        </p:nvSpPr>
        <p:spPr>
          <a:xfrm rot="2700000">
            <a:off x="7264400" y="581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B388FF">
              <a:alpha val="18000"/>
            </a:srgbClr>
          </a:solidFill>
          <a:ln w="12700" cap="flat" cmpd="sng">
            <a:solidFill>
              <a:srgbClr val="B38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5" name="Connector 6"/>
          <p:cNvCxnSpPr/>
          <p:nvPr userDrawn="1"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635" y="508000"/>
            <a:ext cx="10847070" cy="661035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600" b="1" i="0" u="none" strike="noStrike" kern="0" cap="none" spc="200" normalizeH="0" baseline="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AutoShape 2"/>
          <p:cNvSpPr/>
          <p:nvPr userDrawn="1"/>
        </p:nvSpPr>
        <p:spPr>
          <a:xfrm>
            <a:off x="-2286000" y="-2286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3"/>
          <p:cNvSpPr/>
          <p:nvPr userDrawn="1"/>
        </p:nvSpPr>
        <p:spPr>
          <a:xfrm>
            <a:off x="9398000" y="4318000"/>
            <a:ext cx="4826000" cy="4826000"/>
          </a:xfrm>
          <a:prstGeom prst="ellipse">
            <a:avLst/>
          </a:prstGeom>
          <a:gradFill rotWithShape="1">
            <a:gsLst>
              <a:gs pos="0">
                <a:srgbClr val="B388FF">
                  <a:alpha val="10000"/>
                </a:srgbClr>
              </a:gs>
              <a:gs pos="70000">
                <a:srgbClr val="B388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5"/>
          <p:cNvSpPr/>
          <p:nvPr userDrawn="1"/>
        </p:nvSpPr>
        <p:spPr>
          <a:xfrm>
            <a:off x="508000" y="1295400"/>
            <a:ext cx="1117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45000">
                <a:srgbClr val="00E5FF">
                  <a:alpha val="35000"/>
                </a:srgbClr>
              </a:gs>
              <a:gs pos="100000">
                <a:srgbClr val="00E5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cxnSp>
        <p:nvCxnSpPr>
          <p:cNvPr id="7" name="Connector 7"/>
          <p:cNvCxnSpPr/>
          <p:nvPr userDrawn="1"/>
        </p:nvCxnSpPr>
        <p:spPr>
          <a:xfrm rot="5388145">
            <a:off x="23749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 userDrawn="1"/>
        </p:nvCxnSpPr>
        <p:spPr>
          <a:xfrm rot="5388145">
            <a:off x="6134100" y="3867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8635" y="1651635"/>
            <a:ext cx="5967730" cy="2440305"/>
          </a:xfrm>
        </p:spPr>
        <p:txBody>
          <a:bodyPr anchor="b" anchorCtr="0"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AutoShape 2"/>
          <p:cNvSpPr/>
          <p:nvPr userDrawn="1"/>
        </p:nvSpPr>
        <p:spPr>
          <a:xfrm>
            <a:off x="7112000" y="3048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E5FF">
                  <a:alpha val="22000"/>
                </a:srgbClr>
              </a:gs>
              <a:gs pos="28000">
                <a:srgbClr val="B388FF">
                  <a:alpha val="12000"/>
                </a:srgbClr>
              </a:gs>
              <a:gs pos="65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00CEE6">
                    <a:alpha val="22000"/>
                  </a:srgbClr>
                </a:gs>
                <a:gs pos="28000">
                  <a:srgbClr val="9263E6">
                    <a:alpha val="12000"/>
                  </a:srgbClr>
                </a:gs>
                <a:gs pos="65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3"/>
          <p:cNvSpPr/>
          <p:nvPr userDrawn="1"/>
        </p:nvSpPr>
        <p:spPr>
          <a:xfrm>
            <a:off x="5588635" y="4572000"/>
            <a:ext cx="6350000" cy="6350000"/>
          </a:xfrm>
          <a:prstGeom prst="ellipse">
            <a:avLst/>
          </a:prstGeom>
          <a:gradFill rotWithShape="1">
            <a:gsLst>
              <a:gs pos="0">
                <a:srgbClr val="B388FF">
                  <a:alpha val="18000"/>
                </a:srgbClr>
              </a:gs>
              <a:gs pos="60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9263E6">
                    <a:alpha val="18000"/>
                  </a:srgbClr>
                </a:gs>
                <a:gs pos="6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6"/>
          <p:cNvSpPr/>
          <p:nvPr userDrawn="1"/>
        </p:nvSpPr>
        <p:spPr>
          <a:xfrm>
            <a:off x="6350000" y="4110355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B388FF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0CEE6">
                    <a:alpha val="100000"/>
                  </a:srgbClr>
                </a:gs>
                <a:gs pos="100000">
                  <a:srgbClr val="9263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文本占位符 5"/>
          <p:cNvSpPr>
            <a:spLocks noGrp="1"/>
          </p:cNvSpPr>
          <p:nvPr>
            <p:ph type="body" idx="13" hasCustomPrompt="1"/>
          </p:nvPr>
        </p:nvSpPr>
        <p:spPr>
          <a:xfrm>
            <a:off x="889635" y="1651635"/>
            <a:ext cx="4699000" cy="3160395"/>
          </a:xfrm>
        </p:spPr>
        <p:txBody>
          <a:bodyPr anchor="ctr" anchorCtr="0"/>
          <a:lstStyle>
            <a:lvl1pPr marL="0" marR="0" lvl="0" indent="0" algn="ctr" defTabSz="914400" rtl="0" eaLnBrk="1" fontAlgn="auto" latinLnBrk="0" hangingPunct="1">
              <a:lnSpc>
                <a:spcPct val="92000"/>
              </a:lnSpc>
              <a:spcBef>
                <a:spcPts val="1000"/>
              </a:spcBef>
              <a:buClrTx/>
              <a:buSzTx/>
              <a:buFontTx/>
              <a:buNone/>
              <a:defRPr/>
            </a:lvl1pPr>
          </a:lstStyle>
          <a:p>
            <a:pPr lvl="0"/>
            <a:r>
              <a:rPr lang="zh-CN" altLang="en-US"/>
              <a:t>编号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</p:nvPr>
        </p:nvSpPr>
        <p:spPr>
          <a:xfrm>
            <a:off x="6096000" y="4304030"/>
            <a:ext cx="5461635" cy="683895"/>
          </a:xfrm>
        </p:spPr>
        <p:txBody>
          <a:bodyPr anchor="ctr" anchorCtr="0"/>
          <a:lstStyle>
            <a:lvl1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1000"/>
              </a:spcBef>
              <a:buClrTx/>
              <a:buSzTx/>
              <a:buFontTx/>
              <a:buNone/>
              <a:defRPr/>
            </a:lvl1pPr>
          </a:lstStyle>
          <a:p>
            <a:pPr marL="0" indent="0" algn="l">
              <a:lnSpc>
                <a:spcPct val="117000"/>
              </a:lnSpc>
              <a:defRPr/>
            </a:pPr>
            <a:r>
              <a:rPr lang="en-US" spc="300">
                <a:solidFill>
                  <a:srgbClr val="B4B4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【章节副标题 / 引言】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/>
          <p:nvPr userDrawn="1"/>
        </p:nvSpPr>
        <p:spPr>
          <a:xfrm>
            <a:off x="-2286000" y="-2286000"/>
            <a:ext cx="16764000" cy="9144000"/>
          </a:xfrm>
          <a:prstGeom prst="ellipse">
            <a:avLst/>
          </a:prstGeom>
          <a:gradFill rotWithShape="1">
            <a:gsLst>
              <a:gs pos="0">
                <a:srgbClr val="38BDF8">
                  <a:alpha val="22000"/>
                </a:srgbClr>
              </a:gs>
              <a:gs pos="22000">
                <a:srgbClr val="A855F7">
                  <a:alpha val="14000"/>
                </a:srgbClr>
              </a:gs>
              <a:gs pos="62000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1CA3DF">
                    <a:alpha val="22000"/>
                  </a:srgbClr>
                </a:gs>
                <a:gs pos="22000">
                  <a:srgbClr val="8C36DE">
                    <a:alpha val="14000"/>
                  </a:srgbClr>
                </a:gs>
                <a:gs pos="62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/>
          <p:nvPr userDrawn="1"/>
        </p:nvSpPr>
        <p:spPr>
          <a:xfrm>
            <a:off x="-1778000" y="-1524000"/>
            <a:ext cx="15748000" cy="787400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20000">
                <a:srgbClr val="38BDF8">
                  <a:alpha val="8000"/>
                </a:srgbClr>
              </a:gs>
              <a:gs pos="57999">
                <a:srgbClr val="12121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cap="flat" cmpd="sng">
            <a:gradFill rotWithShape="1">
              <a:gsLst>
                <a:gs pos="0">
                  <a:srgbClr val="8C36DE">
                    <a:alpha val="18000"/>
                  </a:srgbClr>
                </a:gs>
                <a:gs pos="20000">
                  <a:srgbClr val="1CA3DF">
                    <a:alpha val="8000"/>
                  </a:srgbClr>
                </a:gs>
                <a:gs pos="57999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AutoShape 4"/>
          <p:cNvSpPr/>
          <p:nvPr userDrawn="1"/>
        </p:nvSpPr>
        <p:spPr>
          <a:xfrm>
            <a:off x="762000" y="1778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7200" b="1" i="0" u="none" strike="noStrike" spc="12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1100"/>
          </a:p>
        </p:txBody>
      </p:sp>
      <p:sp>
        <p:nvSpPr>
          <p:cNvPr id="9" name="AutoShape 5"/>
          <p:cNvSpPr/>
          <p:nvPr userDrawn="1"/>
        </p:nvSpPr>
        <p:spPr>
          <a:xfrm>
            <a:off x="762000" y="35306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800" b="0" i="0" u="none" strike="noStrike" spc="800">
                <a:solidFill>
                  <a:srgbClr val="E5E7EB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【Q &amp; A / 提问交流环节】</a:t>
            </a:r>
            <a:endParaRPr lang="en-US" sz="1100"/>
          </a:p>
        </p:txBody>
      </p:sp>
      <p:cxnSp>
        <p:nvCxnSpPr>
          <p:cNvPr id="10" name="Connector 6"/>
          <p:cNvCxnSpPr/>
          <p:nvPr userDrawn="1"/>
        </p:nvCxnSpPr>
        <p:spPr>
          <a:xfrm rot="-57290">
            <a:off x="5715053" y="4565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0" y="4978400"/>
            <a:ext cx="279400" cy="279400"/>
          </a:xfrm>
          <a:prstGeom prst="rect">
            <a:avLst/>
          </a:prstGeom>
        </p:spPr>
      </p:pic>
      <p:cxnSp>
        <p:nvCxnSpPr>
          <p:cNvPr id="13" name="Connector 9"/>
          <p:cNvCxnSpPr/>
          <p:nvPr userDrawn="1"/>
        </p:nvCxnSpPr>
        <p:spPr>
          <a:xfrm rot="5267844">
            <a:off x="47879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0" y="4978400"/>
            <a:ext cx="279400" cy="279400"/>
          </a:xfrm>
          <a:prstGeom prst="rect">
            <a:avLst/>
          </a:prstGeom>
        </p:spPr>
      </p:pic>
      <p:cxnSp>
        <p:nvCxnSpPr>
          <p:cNvPr id="16" name="Connector 12"/>
          <p:cNvCxnSpPr/>
          <p:nvPr userDrawn="1"/>
        </p:nvCxnSpPr>
        <p:spPr>
          <a:xfrm rot="5267844">
            <a:off x="7772400" y="5162672"/>
            <a:ext cx="33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978400"/>
            <a:ext cx="279400" cy="279400"/>
          </a:xfrm>
          <a:prstGeom prst="rect">
            <a:avLst/>
          </a:prstGeom>
        </p:spPr>
      </p:pic>
      <p:sp>
        <p:nvSpPr>
          <p:cNvPr id="21" name="内容占位符 20"/>
          <p:cNvSpPr>
            <a:spLocks noGrp="1"/>
          </p:cNvSpPr>
          <p:nvPr>
            <p:ph idx="13" hasCustomPrompt="1"/>
          </p:nvPr>
        </p:nvSpPr>
        <p:spPr>
          <a:xfrm>
            <a:off x="2693035" y="4952365"/>
            <a:ext cx="203073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>
                <a:sym typeface="Noto Sans SC" panose="020B0200000000000000" charset="-122"/>
              </a:rPr>
              <a:t>contact@xxx.com</a:t>
            </a:r>
            <a:endParaRPr lang="en-US" altLang="zh-CN"/>
          </a:p>
        </p:txBody>
      </p:sp>
      <p:sp>
        <p:nvSpPr>
          <p:cNvPr id="22" name="内容占位符 21"/>
          <p:cNvSpPr>
            <a:spLocks noGrp="1"/>
          </p:cNvSpPr>
          <p:nvPr>
            <p:ph idx="14" hasCustomPrompt="1"/>
          </p:nvPr>
        </p:nvSpPr>
        <p:spPr>
          <a:xfrm>
            <a:off x="5740400" y="4953000"/>
            <a:ext cx="2032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/>
              <a:t>公众号：</a:t>
            </a:r>
            <a:r>
              <a:rPr altLang="zh-CN"/>
              <a:t>XXX</a:t>
            </a:r>
            <a:endParaRPr altLang="zh-CN"/>
          </a:p>
        </p:txBody>
      </p:sp>
      <p:sp>
        <p:nvSpPr>
          <p:cNvPr id="23" name="内容占位符 22"/>
          <p:cNvSpPr>
            <a:spLocks noGrp="1"/>
          </p:cNvSpPr>
          <p:nvPr>
            <p:ph idx="15" hasCustomPrompt="1"/>
          </p:nvPr>
        </p:nvSpPr>
        <p:spPr>
          <a:xfrm>
            <a:off x="8724900" y="4953000"/>
            <a:ext cx="2159000" cy="330835"/>
          </a:xfrm>
        </p:spPr>
        <p:txBody>
          <a:bodyPr/>
          <a:lstStyle>
            <a:lvl1pPr marL="0" indent="0" algn="r">
              <a:buNone/>
              <a:defRPr kumimoji="0" lang="en-US" sz="1600" b="0" i="0" u="none" strike="noStrike" kern="1200" cap="none" spc="0" normalizeH="0" baseline="0" noProof="1">
                <a:solidFill>
                  <a:srgbClr val="D1D5DB">
                    <a:alpha val="85098"/>
                  </a:srgbClr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/>
              <a:t>公众号：</a:t>
            </a:r>
            <a:r>
              <a:rPr altLang="zh-CN"/>
              <a:t>XXX</a:t>
            </a:r>
            <a:r>
              <a:rPr lang="zh-CN" altLang="en-US"/>
              <a:t>事实</a:t>
            </a:r>
            <a:endParaRPr lang="zh-CN" altLang="en-US"/>
          </a:p>
        </p:txBody>
      </p:sp>
      <p:sp>
        <p:nvSpPr>
          <p:cNvPr id="25" name="内容占位符 24"/>
          <p:cNvSpPr>
            <a:spLocks noGrp="1"/>
          </p:cNvSpPr>
          <p:nvPr>
            <p:ph idx="16" hasCustomPrompt="1"/>
          </p:nvPr>
        </p:nvSpPr>
        <p:spPr>
          <a:xfrm>
            <a:off x="3215958" y="6121400"/>
            <a:ext cx="5760085" cy="329565"/>
          </a:xfrm>
        </p:spPr>
        <p:txBody>
          <a:bodyPr anchor="ctr" anchorCtr="0"/>
          <a:lstStyle>
            <a:lvl1pPr marL="0" indent="0" algn="ctr">
              <a:buNone/>
              <a:defRPr kumimoji="0" lang="en-US" sz="1400" b="0" i="0" u="none" strike="noStrike" kern="1200" cap="none" spc="400" normalizeH="0" baseline="0" noProof="1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>
                <a:sym typeface="Noto Sans SC" panose="020B0200000000000000" charset="-122"/>
              </a:rPr>
              <a:t>【课程名称 / 机构名】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7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34" name="Image 0" descr="香港科技大学与上海产教融合中心反白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741664" y="274320"/>
            <a:ext cx="2788920" cy="685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/>
              <a:t>第三课</a:t>
            </a:r>
            <a:br>
              <a:rPr lang="zh-CN" altLang="en-US" sz="6000"/>
            </a:br>
            <a:r>
              <a:rPr lang="en-US" altLang="zh-CN" sz="6000"/>
              <a:t>Token </a:t>
            </a:r>
            <a:r>
              <a:rPr lang="zh-CN" altLang="en-US" sz="6000"/>
              <a:t>是什么</a:t>
            </a:r>
            <a:endParaRPr lang="zh-CN" altLang="en-US" sz="6000"/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港科大人工智能前沿系列课程——大模型基础通识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zh-CN" altLang="en-US"/>
              <a:t>授课人：王若愚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altLang="zh-CN" dirty="0"/>
              <a:t>2026/09/01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回顾</a:t>
            </a:r>
            <a:endParaRPr lang="zh-CN" altLang="en-US" sz="3200" dirty="0"/>
          </a:p>
        </p:txBody>
      </p:sp>
      <p:sp>
        <p:nvSpPr>
          <p:cNvPr id="24" name="内容占位符 23"/>
          <p:cNvSpPr>
            <a:spLocks noGrp="1"/>
          </p:cNvSpPr>
          <p:nvPr>
            <p:ph sz="half" idx="2"/>
          </p:nvPr>
        </p:nvSpPr>
        <p:spPr>
          <a:xfrm>
            <a:off x="762635" y="1903730"/>
            <a:ext cx="5234940" cy="4285615"/>
          </a:xfrm>
        </p:spPr>
        <p:txBody>
          <a:bodyPr/>
          <a:lstStyle/>
          <a:p>
            <a:r>
              <a:rPr lang="zh-CN" altLang="en-US"/>
              <a:t>大模型的文本是通过</a:t>
            </a:r>
            <a:r>
              <a:rPr lang="zh-CN" altLang="en-US" b="1">
                <a:solidFill>
                  <a:srgbClr val="00E5FF"/>
                </a:solidFill>
              </a:rPr>
              <a:t>自回归</a:t>
            </a:r>
            <a:r>
              <a:rPr lang="zh-CN" altLang="en-US"/>
              <a:t>的方式循环生成的</a:t>
            </a:r>
            <a:endParaRPr lang="zh-CN" altLang="en-US"/>
          </a:p>
          <a:p>
            <a:r>
              <a:rPr lang="zh-CN" altLang="en-US" b="1">
                <a:solidFill>
                  <a:srgbClr val="00E5FF"/>
                </a:solidFill>
              </a:rPr>
              <a:t>函数</a:t>
            </a:r>
            <a:r>
              <a:rPr lang="zh-CN" altLang="en-US"/>
              <a:t>视角：输出文本 = </a:t>
            </a:r>
            <a:r>
              <a:rPr lang="en-US" altLang="zh-CN"/>
              <a:t>f (</a:t>
            </a:r>
            <a:r>
              <a:rPr lang="zh-CN" altLang="en-US"/>
              <a:t>输入文本)</a:t>
            </a:r>
            <a:endParaRPr lang="zh-CN" altLang="en-US"/>
          </a:p>
          <a:p>
            <a:r>
              <a:rPr lang="zh-CN" altLang="en-US"/>
              <a:t>模型决定</a:t>
            </a:r>
            <a:r>
              <a:rPr lang="zh-CN" altLang="en-US" b="1">
                <a:solidFill>
                  <a:srgbClr val="00E5FF"/>
                </a:solidFill>
              </a:rPr>
              <a:t>能力上限</a:t>
            </a:r>
            <a:r>
              <a:rPr lang="zh-CN" altLang="en-US"/>
              <a:t>，驾驭层决定</a:t>
            </a:r>
            <a:r>
              <a:rPr lang="zh-CN" altLang="en-US" b="1">
                <a:solidFill>
                  <a:srgbClr val="00E5FF"/>
                </a:solidFill>
              </a:rPr>
              <a:t>实际效果</a:t>
            </a:r>
            <a:r>
              <a:rPr lang="zh-CN" altLang="en-US"/>
              <a:t>，人是</a:t>
            </a:r>
            <a:r>
              <a:rPr lang="zh-CN" altLang="en-US" b="1">
                <a:solidFill>
                  <a:srgbClr val="00E5FF"/>
                </a:solidFill>
              </a:rPr>
              <a:t>责任</a:t>
            </a:r>
            <a:r>
              <a:rPr lang="zh-CN" altLang="en-US"/>
              <a:t>的最终归属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4166215" y="4756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22" name="图片 2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895" y="2532380"/>
            <a:ext cx="4829810" cy="2223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24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62000" y="4382135"/>
            <a:ext cx="10401300" cy="14224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为什么模型有时候生成一个字，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有时候却一次生成多个字？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课程路线图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sp>
        <p:nvSpPr>
          <p:cNvPr id="6" name="AutoShape 6"/>
          <p:cNvSpPr/>
          <p:nvPr/>
        </p:nvSpPr>
        <p:spPr>
          <a:xfrm>
            <a:off x="2231390" y="1752600"/>
            <a:ext cx="899795" cy="4319905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0E5F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大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模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产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品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561205" y="1752600"/>
            <a:ext cx="5400040" cy="431800"/>
            <a:chOff x="7140" y="2760"/>
            <a:chExt cx="8504" cy="680"/>
          </a:xfrm>
        </p:grpSpPr>
        <p:sp>
          <p:nvSpPr>
            <p:cNvPr id="10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01</a:t>
              </a:r>
              <a:endParaRPr lang="en-US" b="1" kern="0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AI产品定位和介绍</a:t>
              </a:r>
              <a:endParaRPr lang="zh-CN" altLang="en-US" b="1" kern="0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61205" y="3975100"/>
            <a:ext cx="5400040" cy="431800"/>
            <a:chOff x="7140" y="2760"/>
            <a:chExt cx="8504" cy="680"/>
          </a:xfrm>
        </p:grpSpPr>
        <p:sp>
          <p:nvSpPr>
            <p:cNvPr id="1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05</a:t>
              </a:r>
              <a:endParaRPr 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大模型的训练、选型与评估</a:t>
              </a:r>
              <a:endParaRPr lang="zh-CN" alt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561205" y="5086350"/>
            <a:ext cx="5400040" cy="431800"/>
            <a:chOff x="7140" y="2760"/>
            <a:chExt cx="8504" cy="680"/>
          </a:xfrm>
        </p:grpSpPr>
        <p:sp>
          <p:nvSpPr>
            <p:cNvPr id="2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07</a:t>
              </a:r>
              <a:endParaRPr 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大模型的思维提示、智能体与工具</a:t>
              </a:r>
              <a:endParaRPr lang="zh-CN" alt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61205" y="2308225"/>
            <a:ext cx="5400040" cy="431800"/>
            <a:chOff x="7140" y="2760"/>
            <a:chExt cx="8504" cy="680"/>
          </a:xfrm>
        </p:grpSpPr>
        <p:sp>
          <p:nvSpPr>
            <p:cNvPr id="2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69F0AE">
                <a:alpha val="8000"/>
              </a:srgbClr>
            </a:solidFill>
            <a:ln w="12700" cap="flat" cmpd="sng">
              <a:solidFill>
                <a:srgbClr val="69F0AE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69F0AE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02</a:t>
              </a:r>
              <a:endParaRPr lang="en-US" b="1" kern="0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rgbClr val="69F0A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大模型的生成机制</a:t>
              </a:r>
              <a:endParaRPr lang="zh-CN" altLang="en-US" b="1" kern="0">
                <a:solidFill>
                  <a:srgbClr val="69F0A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61205" y="2863850"/>
            <a:ext cx="5400040" cy="431800"/>
            <a:chOff x="7140" y="2760"/>
            <a:chExt cx="8504" cy="680"/>
          </a:xfrm>
        </p:grpSpPr>
        <p:sp>
          <p:nvSpPr>
            <p:cNvPr id="3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rgbClr val="FFE3B1">
                <a:alpha val="8000"/>
              </a:srgbClr>
            </a:solidFill>
            <a:ln w="12700" cap="flat" cmpd="sng">
              <a:solidFill>
                <a:srgbClr val="FFE3B1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rgbClr val="FFE3B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03</a:t>
              </a:r>
              <a:endParaRPr lang="en-US" b="1" kern="0">
                <a:solidFill>
                  <a:srgbClr val="FFE3B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Token</a:t>
              </a:r>
              <a:r>
                <a:rPr lang="zh-CN" altLang="en-US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、</a:t>
              </a:r>
              <a:r>
                <a:rPr lang="zh-CN" altLang="en-US" b="1" kern="0">
                  <a:solidFill>
                    <a:srgbClr val="FFE3B1"/>
                  </a:solidFill>
                  <a:latin typeface="Noto Sans SC" panose="020B0200000000000000" charset="-122"/>
                  <a:ea typeface="SimSun" pitchFamily="2" charset="-122"/>
                  <a:cs typeface="Noto Sans SC" panose="020B0200000000000000" charset="-122"/>
                </a:rPr>
                <a:t>E</a:t>
              </a:r>
              <a:r>
                <a:rPr lang="en-US" altLang="zh-CN" b="1" kern="0">
                  <a:solidFill>
                    <a:srgbClr val="FFE3B1"/>
                  </a:solidFill>
                  <a:latin typeface="Noto Sans SC" panose="020B0200000000000000" charset="-122"/>
                  <a:ea typeface="SimSun" pitchFamily="2" charset="-122"/>
                  <a:cs typeface="Noto Sans SC" panose="020B0200000000000000" charset="-122"/>
                </a:rPr>
                <a:t>m</a:t>
              </a:r>
              <a:r>
                <a:rPr lang="en-US" altLang="zh-CN" b="1" kern="0">
                  <a:solidFill>
                    <a:srgbClr val="FFE3B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bedding 和 RAG</a:t>
              </a:r>
              <a:endParaRPr lang="zh-CN" altLang="en-US" b="1" kern="0">
                <a:solidFill>
                  <a:srgbClr val="FFE3B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561205" y="3419475"/>
            <a:ext cx="5400040" cy="431800"/>
            <a:chOff x="7140" y="2760"/>
            <a:chExt cx="8504" cy="680"/>
          </a:xfrm>
        </p:grpSpPr>
        <p:sp>
          <p:nvSpPr>
            <p:cNvPr id="3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04</a:t>
              </a:r>
              <a:endParaRPr 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Transformer、注意力、算力与缓存机制</a:t>
              </a:r>
              <a:endParaRPr lang="zh-CN" alt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561205" y="4530725"/>
            <a:ext cx="5400040" cy="431800"/>
            <a:chOff x="7140" y="2760"/>
            <a:chExt cx="8504" cy="680"/>
          </a:xfrm>
        </p:grpSpPr>
        <p:sp>
          <p:nvSpPr>
            <p:cNvPr id="44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06</a:t>
              </a:r>
              <a:endParaRPr 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提示词与提示词工程</a:t>
              </a:r>
              <a:endParaRPr lang="zh-CN" alt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561205" y="5641975"/>
            <a:ext cx="5400040" cy="431800"/>
            <a:chOff x="7140" y="2760"/>
            <a:chExt cx="8504" cy="680"/>
          </a:xfrm>
        </p:grpSpPr>
        <p:sp>
          <p:nvSpPr>
            <p:cNvPr id="49" name="AutoShape 6"/>
            <p:cNvSpPr/>
            <p:nvPr/>
          </p:nvSpPr>
          <p:spPr>
            <a:xfrm>
              <a:off x="7140" y="2760"/>
              <a:ext cx="8504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  <a:alpha val="8000"/>
              </a:schemeClr>
            </a:solidFill>
            <a:ln w="12700" cap="flat" cmpd="sng">
              <a:solidFill>
                <a:schemeClr val="bg1">
                  <a:lumMod val="50000"/>
                  <a:alpha val="4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AutoShape 7"/>
            <p:cNvSpPr/>
            <p:nvPr/>
          </p:nvSpPr>
          <p:spPr>
            <a:xfrm>
              <a:off x="7140" y="2760"/>
              <a:ext cx="85" cy="68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140" y="2760"/>
              <a:ext cx="850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08</a:t>
              </a:r>
              <a:endParaRPr 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990" y="2760"/>
              <a:ext cx="7654" cy="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kern="0">
                  <a:solidFill>
                    <a:schemeClr val="bg1">
                      <a:lumMod val="5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智能体记忆、技能与案例</a:t>
              </a:r>
              <a:endParaRPr lang="zh-CN" altLang="en-US" b="1" kern="0">
                <a:solidFill>
                  <a:schemeClr val="bg1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sp>
        <p:nvSpPr>
          <p:cNvPr id="3" name="AutoShape 6"/>
          <p:cNvSpPr/>
          <p:nvPr/>
        </p:nvSpPr>
        <p:spPr>
          <a:xfrm>
            <a:off x="3395980" y="1753235"/>
            <a:ext cx="899795" cy="2653665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/>
                <a:ea typeface="SimSun" charset="0"/>
                <a:cs typeface="Noto Sans SC"/>
                <a:sym typeface="Noto Sans SC"/>
              </a:rPr>
              <a:t>模型</a:t>
            </a:r>
            <a:endParaRPr lang="zh-CN" altLang="en-US" sz="2400" b="1" i="0" u="none" strike="noStrike">
              <a:solidFill>
                <a:srgbClr val="FFFFFF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原理</a:t>
            </a:r>
            <a:endParaRPr lang="zh-CN" altLang="en-US" sz="2400" b="1" i="0" u="none" strike="noStrike">
              <a:solidFill>
                <a:srgbClr val="FFFFFF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  <p:sp>
        <p:nvSpPr>
          <p:cNvPr id="9" name="AutoShape 6"/>
          <p:cNvSpPr/>
          <p:nvPr/>
        </p:nvSpPr>
        <p:spPr>
          <a:xfrm>
            <a:off x="3395980" y="4530725"/>
            <a:ext cx="899795" cy="154559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/>
                <a:ea typeface="SimSun" charset="0"/>
                <a:cs typeface="Noto Sans SC"/>
                <a:sym typeface="Noto Sans SC"/>
              </a:rPr>
              <a:t>应用</a:t>
            </a:r>
            <a:endParaRPr lang="zh-CN" altLang="en-US" sz="2400" b="1">
              <a:solidFill>
                <a:srgbClr val="FFFFFF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  <a:p>
            <a:pPr lvl="0"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/>
                <a:ea typeface="SimSun" charset="0"/>
                <a:cs typeface="Noto Sans SC"/>
                <a:sym typeface="Noto Sans SC"/>
              </a:rPr>
              <a:t>与智</a:t>
            </a:r>
            <a:endParaRPr lang="zh-CN" altLang="en-US" sz="2400" b="1">
              <a:solidFill>
                <a:srgbClr val="FFFFFF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  <a:p>
            <a:pPr lvl="0" algn="ctr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400" b="1">
                <a:solidFill>
                  <a:srgbClr val="FFFFFF"/>
                </a:solidFill>
                <a:latin typeface="Noto Sans SC"/>
                <a:ea typeface="SimSun" charset="0"/>
                <a:cs typeface="Noto Sans SC"/>
                <a:sym typeface="Noto Sans SC"/>
              </a:rPr>
              <a:t>能体</a:t>
            </a:r>
            <a:endParaRPr lang="zh-CN" altLang="en-US" sz="2400" b="1">
              <a:solidFill>
                <a:srgbClr val="FFFFFF"/>
              </a:solidFill>
              <a:latin typeface="Noto Sans SC"/>
              <a:ea typeface="SimSun" charset="0"/>
              <a:cs typeface="Noto Sans SC"/>
              <a:sym typeface="Noto Sans SC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3" grpId="0" bldLvl="0" animBg="1"/>
      <p:bldP spid="3" grpId="1" animBg="1"/>
      <p:bldP spid="9" grpId="0" bldLvl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文本处理的最小单元：词元</a:t>
            </a:r>
            <a:endParaRPr lang="zh-CN" altLang="en-US" sz="32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Token </a:t>
            </a:r>
            <a:r>
              <a:rPr lang="zh-CN" altLang="en-US"/>
              <a:t>划分的核心标准是“频率与效率的平衡”：常用词（如“</a:t>
            </a:r>
            <a:r>
              <a:rPr lang="en-US" altLang="zh-CN"/>
              <a:t>apple”）</a:t>
            </a:r>
            <a:r>
              <a:rPr lang="zh-CN" altLang="en-US"/>
              <a:t>保留为完整单元，生僻词或复合词则按统计规律拆分为更常见的子词片段（如“</a:t>
            </a:r>
            <a:r>
              <a:rPr lang="en-US" altLang="zh-CN"/>
              <a:t>playing”</a:t>
            </a:r>
            <a:r>
              <a:rPr lang="zh-CN" altLang="en-US"/>
              <a:t>拆成“</a:t>
            </a:r>
            <a:r>
              <a:rPr lang="en-US" altLang="zh-CN"/>
              <a:t>play”</a:t>
            </a:r>
            <a:r>
              <a:rPr lang="zh-CN" altLang="en-US"/>
              <a:t>和“</a:t>
            </a:r>
            <a:r>
              <a:rPr lang="en-US" altLang="zh-CN"/>
              <a:t>ing”），</a:t>
            </a:r>
            <a:r>
              <a:rPr lang="zh-CN" altLang="en-US"/>
              <a:t>而极罕见的字符则降级为单个字母，以此在固定词表大小下最大化覆盖率和语义完整性。</a:t>
            </a:r>
            <a:endParaRPr lang="zh-CN" altLang="en-US"/>
          </a:p>
          <a:p>
            <a:r>
              <a:rPr lang="zh-CN" altLang="en-US"/>
              <a:t>还要解决语言中的歧义：南京市长江大桥；我要炒鸡蛋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/>
              <a:t>为了计算方便，模型把原始句子切分成单词、子词或字符片段，这些</a:t>
            </a:r>
            <a:endParaRPr lang="zh-CN" altLang="en-US"/>
          </a:p>
          <a:p>
            <a:r>
              <a:rPr lang="zh-CN" altLang="en-US"/>
              <a:t>片段表示语义上不可拆分的概念和状态，是组成文本的最小单元，英语</a:t>
            </a:r>
            <a:endParaRPr lang="zh-CN" altLang="en-US"/>
          </a:p>
          <a:p>
            <a:r>
              <a:rPr lang="zh-CN" altLang="en-US"/>
              <a:t>中叫做“</a:t>
            </a:r>
            <a:r>
              <a:rPr lang="en-US" altLang="zh-CN"/>
              <a:t>token</a:t>
            </a:r>
            <a:r>
              <a:rPr lang="zh-CN" altLang="en-US"/>
              <a:t>”，中文译为“词元”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  <p:bldP spid="8" grpId="0" build="p"/>
      <p:bldP spid="8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不同分词器对词元的切分方式不同</a:t>
            </a:r>
            <a:endParaRPr lang="zh-CN" altLang="en-US" sz="32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例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1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：</a:t>
            </a:r>
            <a:endParaRPr lang="zh-CN" altLang="en-US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pPr lvl="1"/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港科大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/ 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在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/ 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今年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/ 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排名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/ 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第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/ 33 / 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位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/ 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。</a:t>
            </a:r>
            <a:endParaRPr lang="zh-CN" altLang="en-US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例</a:t>
            </a:r>
            <a:r>
              <a:rPr lang="en-US" altLang="zh-CN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2</a:t>
            </a:r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：</a:t>
            </a:r>
            <a:endParaRPr lang="zh-CN" altLang="en-US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pPr lvl="1"/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我 / 对 / 氧化还原反应 / 和 / 离子反应 / 总是 / 搞混 / 。</a:t>
            </a:r>
            <a:endParaRPr lang="zh-CN" altLang="en-US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pPr lvl="1"/>
            <a:r>
              <a:rPr lang="zh-CN" altLang="en-US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我 / 对 / 氧化 / 还原 / 反应 / 和 / 离子 / 反应 / 总是 / 搞混 / 。</a:t>
            </a:r>
            <a:endParaRPr lang="zh-CN" altLang="en-US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pPr lvl="0"/>
            <a:r>
              <a:rPr lang="zh-CN" altLang="en-US" sz="2000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例</a:t>
            </a:r>
            <a:r>
              <a:rPr lang="en-US" altLang="zh-CN" sz="2000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 3</a:t>
            </a:r>
            <a:r>
              <a:rPr lang="zh-CN" altLang="en-US" sz="2000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：</a:t>
            </a:r>
            <a:endParaRPr lang="zh-CN" altLang="en-US" sz="2000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pPr lvl="1"/>
            <a:r>
              <a:rPr lang="en-US" altLang="zh-CN" sz="2000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</a:rPr>
              <a:t>2 / H₂O / → / 2 / H₂ / ↑ / + / O₂ / ↑</a:t>
            </a:r>
            <a:endParaRPr lang="en-US" altLang="zh-CN" sz="2000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  <a:p>
            <a:pPr lvl="1"/>
            <a:r>
              <a:rPr lang="en-US" altLang="zh-CN" sz="2000">
                <a:latin typeface="苹方_中等" panose="020B0400000000000000" charset="-122"/>
                <a:ea typeface="苹方_中等" panose="020B0400000000000000" charset="-122"/>
                <a:cs typeface="苹方_中等" panose="020B0400000000000000" charset="-122"/>
                <a:sym typeface="+mn-ea"/>
              </a:rPr>
              <a:t>2 / H / ₂ / O / → / 2 / H / ₂ / ↑ / + / O / ₂ / ↑</a:t>
            </a:r>
            <a:endParaRPr lang="zh-CN" altLang="en-US">
              <a:latin typeface="苹方_中等" panose="020B0400000000000000" charset="-122"/>
              <a:ea typeface="苹方_中等" panose="020B0400000000000000" charset="-122"/>
              <a:cs typeface="苹方_中等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7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词元的影响</a:t>
            </a:r>
            <a:endParaRPr lang="zh-CN" altLang="en-US" sz="3200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E5FF"/>
                </a:solidFill>
              </a:rPr>
              <a:t>长输入</a:t>
            </a:r>
            <a:r>
              <a:rPr lang="zh-CN" altLang="en-US" dirty="0"/>
              <a:t>更慢、更贵，因为模型要处理更多 </a:t>
            </a:r>
            <a:r>
              <a:rPr lang="en-US" altLang="zh-CN" dirty="0"/>
              <a:t>token</a:t>
            </a:r>
            <a:endParaRPr lang="en-US" altLang="zh-CN" dirty="0"/>
          </a:p>
          <a:p>
            <a:r>
              <a:rPr lang="zh-CN" altLang="en-US" dirty="0"/>
              <a:t>长文档不宜无脑整篇塞入，需要</a:t>
            </a:r>
            <a:r>
              <a:rPr lang="zh-CN" altLang="en-US" b="1" dirty="0">
                <a:solidFill>
                  <a:srgbClr val="00E5FF"/>
                </a:solidFill>
              </a:rPr>
              <a:t>分段、摘要或检索</a:t>
            </a:r>
            <a:endParaRPr lang="zh-CN" altLang="en-US" dirty="0"/>
          </a:p>
          <a:p>
            <a:r>
              <a:rPr lang="zh-CN" altLang="en-US" dirty="0"/>
              <a:t>字母计数、精确字符统计、复杂格式对模型不友好，因为模型看到的是一个个 </a:t>
            </a:r>
            <a:r>
              <a:rPr lang="en-US" altLang="zh-CN" dirty="0"/>
              <a:t>token</a:t>
            </a:r>
            <a:r>
              <a:rPr lang="zh-CN" altLang="en-US" dirty="0"/>
              <a:t>，不是人眼中的字符表格</a:t>
            </a:r>
            <a:endParaRPr lang="zh-CN" altLang="en-US" dirty="0"/>
          </a:p>
          <a:p>
            <a:pPr lvl="1"/>
            <a:r>
              <a:rPr lang="zh-CN" altLang="en-US" sz="1800" dirty="0"/>
              <a:t>模型现在支持的比较好的文本格式：</a:t>
            </a:r>
            <a:r>
              <a:rPr lang="en-US" altLang="zh-CN" sz="1800" b="1" dirty="0">
                <a:solidFill>
                  <a:srgbClr val="00E5FF"/>
                </a:solidFill>
              </a:rPr>
              <a:t>JSON, Markdown</a:t>
            </a:r>
            <a:endParaRPr lang="zh-CN" altLang="en-US" dirty="0"/>
          </a:p>
          <a:p>
            <a:r>
              <a:rPr lang="zh-CN" altLang="en-US" dirty="0"/>
              <a:t>新词、罕见词或拼写错误会被强制“肢解”，导致</a:t>
            </a:r>
            <a:r>
              <a:rPr lang="zh-CN" altLang="en-US" b="1" dirty="0">
                <a:solidFill>
                  <a:srgbClr val="00E5FF"/>
                </a:solidFill>
              </a:rPr>
              <a:t>语义失真</a:t>
            </a:r>
            <a:endParaRPr lang="zh-CN" altLang="en-US" dirty="0"/>
          </a:p>
          <a:p>
            <a:r>
              <a:rPr lang="zh-CN" altLang="en-US" b="1" dirty="0">
                <a:solidFill>
                  <a:srgbClr val="00E5FF"/>
                </a:solidFill>
              </a:rPr>
              <a:t>数字与代码</a:t>
            </a:r>
            <a:r>
              <a:rPr lang="zh-CN" altLang="en-US" dirty="0"/>
              <a:t>本身切分方法混乱，导致数学逻辑很难做好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9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多模态词元的划分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图片：</a:t>
            </a:r>
            <a:endParaRPr lang="zh-CN" altLang="en-US"/>
          </a:p>
          <a:p>
            <a:pPr lvl="1"/>
            <a:r>
              <a:rPr lang="zh-CN" altLang="en-US"/>
              <a:t>通常会被缩放、切块或按区域编码，每一个切块作为一个</a:t>
            </a:r>
            <a:r>
              <a:rPr lang="en-US" altLang="zh-CN"/>
              <a:t> token</a:t>
            </a:r>
            <a:endParaRPr lang="zh-CN" altLang="en-US"/>
          </a:p>
          <a:p>
            <a:pPr lvl="1"/>
            <a:r>
              <a:rPr lang="zh-CN" altLang="en-US"/>
              <a:t>图像 </a:t>
            </a:r>
            <a:r>
              <a:rPr lang="en-US" altLang="zh-CN"/>
              <a:t>token </a:t>
            </a:r>
            <a:r>
              <a:rPr lang="zh-CN" altLang="en-US"/>
              <a:t>数量常和这些因素有关：</a:t>
            </a:r>
            <a:endParaRPr lang="zh-CN" altLang="en-US"/>
          </a:p>
          <a:p>
            <a:pPr lvl="2"/>
            <a:r>
              <a:rPr lang="zh-CN" altLang="en-US"/>
              <a:t>图片分辨率和尺寸：更清晰、更大的图通常需要更多视觉 </a:t>
            </a:r>
            <a:r>
              <a:rPr lang="en-US" altLang="zh-CN"/>
              <a:t>token；</a:t>
            </a:r>
            <a:endParaRPr lang="en-US" altLang="zh-CN"/>
          </a:p>
          <a:p>
            <a:pPr lvl="2"/>
            <a:r>
              <a:rPr lang="zh-CN" altLang="en-US"/>
              <a:t>细节模式：只看大概内容和读取图中文字、复杂图表，消耗可能不同；</a:t>
            </a:r>
            <a:endParaRPr lang="zh-CN" altLang="en-US"/>
          </a:p>
          <a:p>
            <a:pPr lvl="0"/>
            <a:r>
              <a:rPr lang="zh-CN" altLang="en-US"/>
              <a:t>音频：</a:t>
            </a:r>
            <a:endParaRPr lang="zh-CN" altLang="en-US"/>
          </a:p>
          <a:p>
            <a:pPr lvl="1"/>
            <a:r>
              <a:rPr lang="zh-CN" altLang="en-US"/>
              <a:t>通常会被切成时间片段或声学特征作为</a:t>
            </a:r>
            <a:r>
              <a:rPr lang="en-US" altLang="zh-CN"/>
              <a:t> token</a:t>
            </a:r>
            <a:endParaRPr lang="en-US" altLang="zh-CN"/>
          </a:p>
          <a:p>
            <a:pPr lvl="0"/>
            <a:r>
              <a:rPr lang="zh-CN" altLang="en-US"/>
              <a:t>视频：</a:t>
            </a:r>
            <a:endParaRPr lang="zh-CN" altLang="en-US"/>
          </a:p>
          <a:p>
            <a:pPr lvl="1"/>
            <a:r>
              <a:rPr lang="zh-CN" altLang="en-US"/>
              <a:t>更复杂，因为同时包含了上述两种元素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62000" y="4382135"/>
            <a:ext cx="10401300" cy="1015365"/>
          </a:xfrm>
        </p:spPr>
        <p:txBody>
          <a:bodyPr>
            <a:normAutofit fontScale="95000" lnSpcReduction="10000"/>
          </a:bodyPr>
          <a:lstStyle/>
          <a:p>
            <a:r>
              <a:rPr altLang="zh-CN">
                <a:sym typeface="+mn-ea"/>
              </a:rPr>
              <a:t>Transformer </a:t>
            </a:r>
            <a:r>
              <a:rPr lang="zh-CN" altLang="en-US">
                <a:sym typeface="+mn-ea"/>
              </a:rPr>
              <a:t>这样的神经网络模型处理的是数字，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如何让他们可以处理文字符号呢？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词元的数字化：向量嵌入</a:t>
            </a:r>
            <a:endParaRPr lang="zh-CN" altLang="en-US" sz="3200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62000" y="2880360"/>
            <a:ext cx="10401300" cy="3296920"/>
          </a:xfrm>
        </p:spPr>
        <p:txBody>
          <a:bodyPr/>
          <a:lstStyle/>
          <a:p>
            <a:r>
              <a:rPr lang="zh-CN" altLang="en-US"/>
              <a:t>数字化方式</a:t>
            </a:r>
            <a:endParaRPr lang="zh-CN" altLang="en-US"/>
          </a:p>
          <a:p>
            <a:pPr lvl="1"/>
            <a:r>
              <a:rPr lang="zh-CN" altLang="en-US"/>
              <a:t>直接设置编号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不包含语义信息，无法进行语义的计算</a:t>
            </a:r>
            <a:endParaRPr lang="zh-CN" altLang="en-US"/>
          </a:p>
          <a:p>
            <a:pPr lvl="1"/>
            <a:r>
              <a:rPr lang="zh-CN" altLang="en-US"/>
              <a:t>嵌入语义空间</a:t>
            </a:r>
            <a:endParaRPr lang="zh-CN" altLang="en-US"/>
          </a:p>
          <a:p>
            <a:pPr lvl="2"/>
            <a:r>
              <a:rPr lang="zh-CN" altLang="en-US"/>
              <a:t>语义空间：高维实数向量空间</a:t>
            </a:r>
            <a:endParaRPr lang="zh-CN" altLang="en-US"/>
          </a:p>
          <a:p>
            <a:pPr lvl="2"/>
            <a:r>
              <a:rPr lang="zh-CN" altLang="en-US"/>
              <a:t>向量运算代表语义运算</a:t>
            </a:r>
            <a:endParaRPr lang="zh-CN" altLang="en-US"/>
          </a:p>
          <a:p>
            <a:pPr lvl="2"/>
            <a:r>
              <a:rPr lang="zh-CN" altLang="en-US"/>
              <a:t>“嵌入”：空间的一部分表示特定含义，把词语“镶嵌”进这个固定的位置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sp>
        <p:nvSpPr>
          <p:cNvPr id="12" name="AutoShape 6"/>
          <p:cNvSpPr/>
          <p:nvPr/>
        </p:nvSpPr>
        <p:spPr>
          <a:xfrm>
            <a:off x="1351280" y="2066290"/>
            <a:ext cx="1080000" cy="540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0E5F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文本</a:t>
            </a:r>
            <a:endParaRPr lang="zh-CN" altLang="en-US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6"/>
          <p:cNvSpPr/>
          <p:nvPr/>
        </p:nvSpPr>
        <p:spPr>
          <a:xfrm>
            <a:off x="3302500" y="2066290"/>
            <a:ext cx="1079500" cy="54000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Token</a:t>
            </a:r>
            <a:endParaRPr lang="en-US" altLang="zh-CN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6"/>
          <p:cNvSpPr/>
          <p:nvPr/>
        </p:nvSpPr>
        <p:spPr>
          <a:xfrm>
            <a:off x="9217525" y="2066290"/>
            <a:ext cx="1767205" cy="540000"/>
          </a:xfrm>
          <a:prstGeom prst="roundRect">
            <a:avLst>
              <a:gd name="adj" fmla="val 0"/>
            </a:avLst>
          </a:prstGeom>
          <a:solidFill>
            <a:srgbClr val="69F0AE">
              <a:alpha val="8000"/>
            </a:srgbClr>
          </a:solidFill>
          <a:ln w="25400" cap="flat" cmpd="sng">
            <a:solidFill>
              <a:srgbClr val="69F0AE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 fontAlgn="auto">
              <a:spcAft>
                <a:spcPts val="600"/>
              </a:spcAft>
              <a:defRPr/>
            </a:pP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Transformer</a:t>
            </a:r>
            <a:endParaRPr lang="en-US" altLang="zh-CN" i="0" u="none" strike="noStrike">
              <a:solidFill>
                <a:schemeClr val="bg1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0" name="AutoShape 6"/>
          <p:cNvSpPr/>
          <p:nvPr/>
        </p:nvSpPr>
        <p:spPr>
          <a:xfrm>
            <a:off x="6072370" y="2066290"/>
            <a:ext cx="2292985" cy="54000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Token </a:t>
            </a: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的数字表示</a:t>
            </a:r>
            <a:endParaRPr lang="zh-CN" altLang="en-US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563360" y="2336165"/>
            <a:ext cx="607060" cy="0"/>
          </a:xfrm>
          <a:prstGeom prst="straightConnector1">
            <a:avLst/>
          </a:prstGeom>
          <a:ln w="19050">
            <a:solidFill>
              <a:srgbClr val="00E5FA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514080" y="1871345"/>
            <a:ext cx="1426845" cy="829945"/>
            <a:chOff x="7494" y="2447"/>
            <a:chExt cx="2247" cy="1307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7494" y="3179"/>
              <a:ext cx="2247" cy="0"/>
            </a:xfrm>
            <a:prstGeom prst="straightConnector1">
              <a:avLst/>
            </a:prstGeom>
            <a:ln w="19050">
              <a:solidFill>
                <a:srgbClr val="B388FF"/>
              </a:solidFill>
              <a:prstDash val="sysDash"/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7519" y="2447"/>
              <a:ext cx="219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>
                  <a:solidFill>
                    <a:srgbClr val="B388FF"/>
                  </a:solidFill>
                </a:rPr>
                <a:t>向量嵌入</a:t>
              </a:r>
              <a:endParaRPr lang="zh-CN" altLang="en-US" sz="1600">
                <a:solidFill>
                  <a:srgbClr val="B388FF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600">
                  <a:solidFill>
                    <a:srgbClr val="B388FF"/>
                  </a:solidFill>
                </a:rPr>
                <a:t>Embedding</a:t>
              </a:r>
              <a:endParaRPr lang="zh-CN" altLang="en-US" sz="1600">
                <a:solidFill>
                  <a:srgbClr val="B388FF"/>
                </a:solidFill>
              </a:endParaRPr>
            </a:p>
          </p:txBody>
        </p:sp>
      </p:grpSp>
      <p:cxnSp>
        <p:nvCxnSpPr>
          <p:cNvPr id="16" name="直接箭头连接符 15"/>
          <p:cNvCxnSpPr/>
          <p:nvPr/>
        </p:nvCxnSpPr>
        <p:spPr>
          <a:xfrm>
            <a:off x="8497435" y="2336165"/>
            <a:ext cx="588010" cy="0"/>
          </a:xfrm>
          <a:prstGeom prst="straightConnector1">
            <a:avLst/>
          </a:prstGeom>
          <a:ln w="19050">
            <a:solidFill>
              <a:srgbClr val="69F0AE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099300" y="4344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00E5FA"/>
                </a:solidFill>
                <a:sym typeface="+mn-ea"/>
              </a:rPr>
              <a:t>国王</a:t>
            </a:r>
            <a:r>
              <a:rPr lang="en-US" altLang="zh-CN" b="1">
                <a:solidFill>
                  <a:srgbClr val="00E5FA"/>
                </a:solidFill>
                <a:sym typeface="+mn-ea"/>
              </a:rPr>
              <a:t> - </a:t>
            </a:r>
            <a:r>
              <a:rPr lang="zh-CN" altLang="en-US" b="1">
                <a:solidFill>
                  <a:srgbClr val="00E5FA"/>
                </a:solidFill>
                <a:sym typeface="+mn-ea"/>
              </a:rPr>
              <a:t>男人</a:t>
            </a:r>
            <a:r>
              <a:rPr lang="en-US" altLang="zh-CN" b="1">
                <a:solidFill>
                  <a:srgbClr val="00E5FA"/>
                </a:solidFill>
                <a:sym typeface="+mn-ea"/>
              </a:rPr>
              <a:t> + </a:t>
            </a:r>
            <a:r>
              <a:rPr lang="zh-CN" altLang="en-US" b="1">
                <a:solidFill>
                  <a:srgbClr val="00E5FA"/>
                </a:solidFill>
                <a:sym typeface="+mn-ea"/>
              </a:rPr>
              <a:t>女人</a:t>
            </a:r>
            <a:r>
              <a:rPr lang="en-US" altLang="zh-CN" b="1">
                <a:solidFill>
                  <a:srgbClr val="00E5FA"/>
                </a:solidFill>
                <a:sym typeface="+mn-ea"/>
              </a:rPr>
              <a:t> </a:t>
            </a:r>
            <a:r>
              <a:rPr lang="en-US" altLang="zh-CN" b="1">
                <a:solidFill>
                  <a:srgbClr val="00E5FA"/>
                </a:solidFill>
                <a:latin typeface="Arial" panose="02080604020202020204" pitchFamily="34" charset="0"/>
                <a:ea typeface="Arial" panose="02080604020202020204" pitchFamily="34" charset="0"/>
                <a:sym typeface="+mn-ea"/>
              </a:rPr>
              <a:t>≈</a:t>
            </a:r>
            <a:r>
              <a:rPr lang="en-US" altLang="zh-CN" b="1">
                <a:solidFill>
                  <a:srgbClr val="00E5FA"/>
                </a:solidFill>
                <a:sym typeface="+mn-ea"/>
              </a:rPr>
              <a:t> </a:t>
            </a:r>
            <a:r>
              <a:rPr lang="zh-CN" altLang="en-US" b="1">
                <a:solidFill>
                  <a:srgbClr val="00E5FA"/>
                </a:solidFill>
                <a:sym typeface="+mn-ea"/>
              </a:rPr>
              <a:t>女王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 uiExpand="1" build="p"/>
      <p:bldP spid="9" grpId="1" build="p"/>
      <p:bldP spid="12" grpId="0" bldLvl="0" animBg="1"/>
      <p:bldP spid="12" grpId="1" animBg="1"/>
      <p:bldP spid="13" grpId="0" bldLvl="0" animBg="1"/>
      <p:bldP spid="13" grpId="1" animBg="1"/>
      <p:bldP spid="45" grpId="0" bldLvl="0" animBg="1"/>
      <p:bldP spid="45" grpId="1" animBg="1"/>
      <p:bldP spid="10" grpId="0" bldLvl="0" animBg="1"/>
      <p:bldP spid="10" grpId="1" animBg="1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ym typeface="+mn-ea"/>
              </a:rPr>
              <a:t>嵌入模型的训练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原则：</a:t>
            </a:r>
            <a:endParaRPr lang="zh-CN" altLang="en-US"/>
          </a:p>
          <a:p>
            <a:pPr lvl="1"/>
            <a:r>
              <a:rPr lang="zh-CN" altLang="en-US" b="1">
                <a:solidFill>
                  <a:srgbClr val="00E5FA"/>
                </a:solidFill>
                <a:sym typeface="+mn-ea"/>
              </a:rPr>
              <a:t>相近</a:t>
            </a:r>
            <a:r>
              <a:rPr lang="zh-CN" altLang="en-US">
                <a:sym typeface="+mn-ea"/>
              </a:rPr>
              <a:t>语义在向量空间中更</a:t>
            </a:r>
            <a:r>
              <a:rPr lang="zh-CN" altLang="en-US" b="1">
                <a:solidFill>
                  <a:srgbClr val="00E5FA"/>
                </a:solidFill>
                <a:sym typeface="+mn-ea"/>
              </a:rPr>
              <a:t>接近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 b="1">
                <a:solidFill>
                  <a:srgbClr val="B388FF"/>
                </a:solidFill>
                <a:sym typeface="+mn-ea"/>
              </a:rPr>
              <a:t>相反</a:t>
            </a:r>
            <a:r>
              <a:rPr lang="zh-CN" altLang="en-US">
                <a:sym typeface="+mn-ea"/>
              </a:rPr>
              <a:t>语义在向量空间中</a:t>
            </a:r>
            <a:r>
              <a:rPr lang="zh-CN" altLang="en-US" b="1">
                <a:solidFill>
                  <a:srgbClr val="B388FF"/>
                </a:solidFill>
                <a:sym typeface="+mn-ea"/>
              </a:rPr>
              <a:t>距离更远</a:t>
            </a:r>
            <a:endParaRPr lang="zh-CN" altLang="en-US"/>
          </a:p>
          <a:p>
            <a:r>
              <a:rPr lang="zh-CN" altLang="en-US"/>
              <a:t>流程：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给每个 </a:t>
            </a:r>
            <a:r>
              <a:rPr lang="en-US" altLang="zh-CN">
                <a:sym typeface="+mn-ea"/>
              </a:rPr>
              <a:t>token </a:t>
            </a:r>
            <a:r>
              <a:rPr lang="zh-CN" altLang="en-US">
                <a:sym typeface="+mn-ea"/>
              </a:rPr>
              <a:t>一个随机向量数值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让 </a:t>
            </a:r>
            <a:r>
              <a:rPr lang="en-US" altLang="zh-CN">
                <a:sym typeface="+mn-ea"/>
              </a:rPr>
              <a:t>embedding </a:t>
            </a:r>
            <a:r>
              <a:rPr lang="zh-CN" altLang="en-US">
                <a:sym typeface="+mn-ea"/>
              </a:rPr>
              <a:t>模型阅读大量的文本，把在一段上下文内同时出现的 </a:t>
            </a:r>
            <a:r>
              <a:rPr lang="en-US" altLang="zh-CN">
                <a:sym typeface="+mn-ea"/>
              </a:rPr>
              <a:t>token </a:t>
            </a:r>
            <a:r>
              <a:rPr lang="zh-CN" altLang="en-US">
                <a:sym typeface="+mn-ea"/>
              </a:rPr>
              <a:t>之间的距离调整得近一点；把没有同时出现的 </a:t>
            </a:r>
            <a:r>
              <a:rPr lang="en-US" altLang="zh-CN">
                <a:sym typeface="+mn-ea"/>
              </a:rPr>
              <a:t>token </a:t>
            </a:r>
            <a:r>
              <a:rPr lang="zh-CN" altLang="en-US">
                <a:sym typeface="+mn-ea"/>
              </a:rPr>
              <a:t>之间的距离调整的远一点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不断让大模型执行这个过程，直到 </a:t>
            </a:r>
            <a:r>
              <a:rPr lang="en-US" altLang="zh-CN">
                <a:sym typeface="+mn-ea"/>
              </a:rPr>
              <a:t>token </a:t>
            </a:r>
            <a:r>
              <a:rPr lang="zh-CN" altLang="en-US">
                <a:sym typeface="+mn-ea"/>
              </a:rPr>
              <a:t>在空间中的相对位置基本不变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>
                <a:sym typeface="Noto Sans SC" panose="020B0200000000000000" charset="-122"/>
              </a:rPr>
              <a:t>嵌入</a:t>
            </a:r>
            <a:r>
              <a:rPr lang="zh-CN" altLang="en-US" sz="3200" dirty="0">
                <a:sym typeface="Noto Sans SC" panose="020B0200000000000000" charset="-122"/>
              </a:rPr>
              <a:t>模型的训练</a:t>
            </a:r>
            <a:endParaRPr lang="zh-CN" altLang="en-US" sz="3200" dirty="0">
              <a:sym typeface="Noto Sans SC" panose="020B02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a typeface="SimSun" pitchFamily="2" charset="-122"/>
              </a:rPr>
              <a:t>词语：</a:t>
            </a:r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  <a:ea typeface="SimSun" pitchFamily="2" charset="-122"/>
              </a:rPr>
              <a:t>白天</a:t>
            </a:r>
            <a:r>
              <a:rPr lang="zh-CN" altLang="en-US">
                <a:solidFill>
                  <a:schemeClr val="bg1"/>
                </a:solidFill>
                <a:ea typeface="SimSun" pitchFamily="2" charset="-122"/>
              </a:rPr>
              <a:t>，</a:t>
            </a:r>
            <a:r>
              <a:rPr lang="zh-CN" altLang="en-US">
                <a:solidFill>
                  <a:srgbClr val="FEBC74"/>
                </a:solidFill>
                <a:ea typeface="SimSun" pitchFamily="2" charset="-122"/>
              </a:rPr>
              <a:t>燥热</a:t>
            </a:r>
            <a:r>
              <a:rPr lang="zh-CN" altLang="en-US">
                <a:solidFill>
                  <a:schemeClr val="bg1"/>
                </a:solidFill>
                <a:ea typeface="SimSun" pitchFamily="2" charset="-122"/>
              </a:rPr>
              <a:t>，</a:t>
            </a:r>
            <a:r>
              <a:rPr lang="zh-CN" altLang="en-US">
                <a:solidFill>
                  <a:srgbClr val="00E5FF"/>
                </a:solidFill>
                <a:ea typeface="SimSun" pitchFamily="2" charset="-122"/>
              </a:rPr>
              <a:t>夜晚</a:t>
            </a:r>
            <a:r>
              <a:rPr lang="zh-CN" altLang="en-US">
                <a:solidFill>
                  <a:schemeClr val="bg1"/>
                </a:solidFill>
                <a:ea typeface="SimSun" pitchFamily="2" charset="-122"/>
              </a:rPr>
              <a:t>，</a:t>
            </a:r>
            <a:r>
              <a:rPr lang="zh-CN" altLang="en-US">
                <a:solidFill>
                  <a:srgbClr val="69F0AE"/>
                </a:solidFill>
                <a:ea typeface="SimSun" pitchFamily="2" charset="-122"/>
              </a:rPr>
              <a:t>寒冷</a:t>
            </a:r>
            <a:endParaRPr lang="zh-CN" altLang="en-US">
              <a:solidFill>
                <a:srgbClr val="69F0AE"/>
              </a:solidFill>
              <a:ea typeface="SimSun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2000"/>
              <a:t>盛夏的</a:t>
            </a:r>
            <a:r>
              <a:rPr lang="zh-CN" altLang="en-US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白天</a:t>
            </a:r>
            <a:r>
              <a:rPr lang="zh-CN" altLang="en-US" sz="2000"/>
              <a:t>总是伴随着令人窒息的</a:t>
            </a:r>
            <a:r>
              <a:rPr lang="zh-CN" altLang="en-US" sz="2000" b="1">
                <a:solidFill>
                  <a:srgbClr val="FEBC74"/>
                </a:solidFill>
              </a:rPr>
              <a:t>燥热</a:t>
            </a:r>
            <a:r>
              <a:rPr lang="zh-CN" altLang="en-US" sz="2000"/>
              <a:t>。</a:t>
            </a:r>
            <a:endParaRPr lang="en-US" altLang="zh-CN" sz="2000"/>
          </a:p>
          <a:p>
            <a:pPr lvl="0"/>
            <a:r>
              <a:rPr lang="zh-CN" altLang="en-US" sz="2000"/>
              <a:t>沙漠里的气候极其分明：</a:t>
            </a:r>
            <a:r>
              <a:rPr lang="zh-CN" altLang="en-US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白天</a:t>
            </a:r>
            <a:r>
              <a:rPr lang="zh-CN" altLang="en-US" sz="2000" b="1">
                <a:solidFill>
                  <a:srgbClr val="FEBC74"/>
                </a:solidFill>
              </a:rPr>
              <a:t>燥热</a:t>
            </a:r>
            <a:r>
              <a:rPr lang="zh-CN" altLang="en-US" sz="2000"/>
              <a:t>难耐，</a:t>
            </a:r>
            <a:r>
              <a:rPr lang="zh-CN" altLang="en-US" sz="2000" b="1">
                <a:solidFill>
                  <a:srgbClr val="00E5FF"/>
                </a:solidFill>
              </a:rPr>
              <a:t>夜晚</a:t>
            </a:r>
            <a:r>
              <a:rPr lang="zh-CN" altLang="en-US" sz="2000" b="1">
                <a:solidFill>
                  <a:srgbClr val="69F0AE"/>
                </a:solidFill>
              </a:rPr>
              <a:t>寒冷</a:t>
            </a:r>
            <a:r>
              <a:rPr lang="zh-CN" altLang="en-US" sz="2000"/>
              <a:t>刺骨。</a:t>
            </a:r>
            <a:endParaRPr lang="en-US" altLang="zh-CN" sz="2000"/>
          </a:p>
          <a:p>
            <a:pPr lvl="0"/>
            <a:r>
              <a:rPr lang="zh-CN" altLang="en-US" sz="2000"/>
              <a:t>刚刚熬过</a:t>
            </a:r>
            <a:r>
              <a:rPr lang="zh-CN" altLang="en-US" sz="2000" b="1">
                <a:solidFill>
                  <a:srgbClr val="69F0AE"/>
                </a:solidFill>
              </a:rPr>
              <a:t>寒冷</a:t>
            </a:r>
            <a:r>
              <a:rPr lang="zh-CN" altLang="en-US" sz="2000">
                <a:solidFill>
                  <a:schemeClr val="bg1"/>
                </a:solidFill>
              </a:rPr>
              <a:t>的</a:t>
            </a:r>
            <a:r>
              <a:rPr lang="zh-CN" altLang="en-US" sz="2000" b="1">
                <a:solidFill>
                  <a:srgbClr val="00E5FF"/>
                </a:solidFill>
              </a:rPr>
              <a:t>夜晚</a:t>
            </a:r>
            <a:r>
              <a:rPr lang="zh-CN" altLang="en-US" sz="2000"/>
              <a:t>，这些动物们又要准备躲避天敌的追捕。</a:t>
            </a:r>
            <a:endParaRPr lang="zh-CN" altLang="en-US" sz="2000"/>
          </a:p>
          <a:p>
            <a:pPr lvl="0"/>
            <a:r>
              <a:rPr lang="zh-CN" altLang="en-US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白天</a:t>
            </a:r>
            <a:r>
              <a:rPr lang="zh-CN" altLang="en-US" sz="2000"/>
              <a:t>的喧嚣褪去后，</a:t>
            </a:r>
            <a:r>
              <a:rPr lang="zh-CN" altLang="en-US" sz="2000" b="1">
                <a:solidFill>
                  <a:srgbClr val="00E5FF"/>
                </a:solidFill>
              </a:rPr>
              <a:t>夜晚</a:t>
            </a:r>
            <a:r>
              <a:rPr lang="zh-CN" altLang="en-US" sz="2000"/>
              <a:t>的宁静便悄然笼罩大地。</a:t>
            </a:r>
            <a:endParaRPr lang="zh-CN" alt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grpSp>
        <p:nvGrpSpPr>
          <p:cNvPr id="28" name="组合 27"/>
          <p:cNvGrpSpPr/>
          <p:nvPr/>
        </p:nvGrpSpPr>
        <p:grpSpPr>
          <a:xfrm>
            <a:off x="6294755" y="1823085"/>
            <a:ext cx="1440180" cy="1809115"/>
            <a:chOff x="10424" y="2698"/>
            <a:chExt cx="2268" cy="2849"/>
          </a:xfrm>
        </p:grpSpPr>
        <p:grpSp>
          <p:nvGrpSpPr>
            <p:cNvPr id="18" name="组合 17"/>
            <p:cNvGrpSpPr/>
            <p:nvPr/>
          </p:nvGrpSpPr>
          <p:grpSpPr>
            <a:xfrm>
              <a:off x="10424" y="2698"/>
              <a:ext cx="2268" cy="2268"/>
              <a:chOff x="10424" y="2698"/>
              <a:chExt cx="2268" cy="2268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0424" y="2698"/>
                <a:ext cx="2268" cy="2268"/>
                <a:chOff x="10554" y="3039"/>
                <a:chExt cx="1700" cy="1701"/>
              </a:xfrm>
            </p:grpSpPr>
            <p:cxnSp>
              <p:nvCxnSpPr>
                <p:cNvPr id="10" name="直接箭头连接符 9"/>
                <p:cNvCxnSpPr/>
                <p:nvPr/>
              </p:nvCxnSpPr>
              <p:spPr>
                <a:xfrm>
                  <a:off x="10554" y="4740"/>
                  <a:ext cx="1701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箭头连接符 10"/>
                <p:cNvCxnSpPr/>
                <p:nvPr/>
              </p:nvCxnSpPr>
              <p:spPr>
                <a:xfrm flipV="1">
                  <a:off x="10554" y="3039"/>
                  <a:ext cx="0" cy="1701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椭圆 12"/>
              <p:cNvSpPr/>
              <p:nvPr/>
            </p:nvSpPr>
            <p:spPr>
              <a:xfrm>
                <a:off x="11200" y="3486"/>
                <a:ext cx="170" cy="170"/>
              </a:xfrm>
              <a:prstGeom prst="ellipse">
                <a:avLst/>
              </a:prstGeom>
              <a:solidFill>
                <a:srgbClr val="69F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0765" y="4185"/>
                <a:ext cx="170" cy="170"/>
              </a:xfrm>
              <a:prstGeom prst="ellipse">
                <a:avLst/>
              </a:prstGeom>
              <a:solidFill>
                <a:srgbClr val="FEBC7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1640" y="4185"/>
                <a:ext cx="170" cy="170"/>
              </a:xfrm>
              <a:prstGeom prst="ellipse">
                <a:avLst/>
              </a:prstGeom>
              <a:solidFill>
                <a:srgbClr val="00E5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2145" y="3486"/>
                <a:ext cx="170" cy="17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10978" y="4967"/>
              <a:ext cx="11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</a:rPr>
                <a:t> 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308975" y="1823085"/>
            <a:ext cx="1439545" cy="1809115"/>
            <a:chOff x="10424" y="2698"/>
            <a:chExt cx="2268" cy="2849"/>
          </a:xfrm>
        </p:grpSpPr>
        <p:grpSp>
          <p:nvGrpSpPr>
            <p:cNvPr id="31" name="组合 30"/>
            <p:cNvGrpSpPr/>
            <p:nvPr/>
          </p:nvGrpSpPr>
          <p:grpSpPr>
            <a:xfrm>
              <a:off x="10424" y="2698"/>
              <a:ext cx="2268" cy="2268"/>
              <a:chOff x="10424" y="2698"/>
              <a:chExt cx="2268" cy="2268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10424" y="2698"/>
                <a:ext cx="2268" cy="2268"/>
                <a:chOff x="10554" y="3039"/>
                <a:chExt cx="1700" cy="1701"/>
              </a:xfrm>
            </p:grpSpPr>
            <p:cxnSp>
              <p:nvCxnSpPr>
                <p:cNvPr id="33" name="直接箭头连接符 32"/>
                <p:cNvCxnSpPr/>
                <p:nvPr/>
              </p:nvCxnSpPr>
              <p:spPr>
                <a:xfrm>
                  <a:off x="10554" y="4740"/>
                  <a:ext cx="1701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/>
                <p:cNvCxnSpPr/>
                <p:nvPr/>
              </p:nvCxnSpPr>
              <p:spPr>
                <a:xfrm flipV="1">
                  <a:off x="10554" y="3039"/>
                  <a:ext cx="0" cy="1701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椭圆 34"/>
              <p:cNvSpPr/>
              <p:nvPr/>
            </p:nvSpPr>
            <p:spPr>
              <a:xfrm>
                <a:off x="10978" y="3316"/>
                <a:ext cx="170" cy="170"/>
              </a:xfrm>
              <a:prstGeom prst="ellipse">
                <a:avLst/>
              </a:prstGeom>
              <a:solidFill>
                <a:srgbClr val="69F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0890" y="4185"/>
                <a:ext cx="170" cy="170"/>
              </a:xfrm>
              <a:prstGeom prst="ellipse">
                <a:avLst/>
              </a:prstGeom>
              <a:solidFill>
                <a:srgbClr val="FEBC7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1767" y="4355"/>
                <a:ext cx="170" cy="170"/>
              </a:xfrm>
              <a:prstGeom prst="ellipse">
                <a:avLst/>
              </a:prstGeom>
              <a:solidFill>
                <a:srgbClr val="00E5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11555" y="3758"/>
                <a:ext cx="170" cy="17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10978" y="4967"/>
              <a:ext cx="11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  <a:sym typeface="+mn-ea"/>
                </a:rPr>
                <a:t>①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0322560" y="1823085"/>
            <a:ext cx="1439545" cy="1809115"/>
            <a:chOff x="10424" y="2698"/>
            <a:chExt cx="2268" cy="2849"/>
          </a:xfrm>
        </p:grpSpPr>
        <p:grpSp>
          <p:nvGrpSpPr>
            <p:cNvPr id="42" name="组合 41"/>
            <p:cNvGrpSpPr/>
            <p:nvPr/>
          </p:nvGrpSpPr>
          <p:grpSpPr>
            <a:xfrm>
              <a:off x="10424" y="2698"/>
              <a:ext cx="2268" cy="2268"/>
              <a:chOff x="10424" y="2698"/>
              <a:chExt cx="2268" cy="2268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10424" y="2698"/>
                <a:ext cx="2268" cy="2268"/>
                <a:chOff x="10554" y="3039"/>
                <a:chExt cx="1700" cy="1701"/>
              </a:xfrm>
            </p:grpSpPr>
            <p:cxnSp>
              <p:nvCxnSpPr>
                <p:cNvPr id="44" name="直接箭头连接符 43"/>
                <p:cNvCxnSpPr/>
                <p:nvPr/>
              </p:nvCxnSpPr>
              <p:spPr>
                <a:xfrm>
                  <a:off x="10554" y="4740"/>
                  <a:ext cx="1701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/>
                <p:cNvCxnSpPr/>
                <p:nvPr/>
              </p:nvCxnSpPr>
              <p:spPr>
                <a:xfrm flipV="1">
                  <a:off x="10554" y="3039"/>
                  <a:ext cx="0" cy="1701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" name="椭圆 45"/>
              <p:cNvSpPr/>
              <p:nvPr/>
            </p:nvSpPr>
            <p:spPr>
              <a:xfrm>
                <a:off x="11604" y="3246"/>
                <a:ext cx="170" cy="170"/>
              </a:xfrm>
              <a:prstGeom prst="ellipse">
                <a:avLst/>
              </a:prstGeom>
              <a:solidFill>
                <a:srgbClr val="69F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0912" y="4015"/>
                <a:ext cx="170" cy="170"/>
              </a:xfrm>
              <a:prstGeom prst="ellipse">
                <a:avLst/>
              </a:prstGeom>
              <a:solidFill>
                <a:srgbClr val="FEBC7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12034" y="3845"/>
                <a:ext cx="170" cy="170"/>
              </a:xfrm>
              <a:prstGeom prst="ellipse">
                <a:avLst/>
              </a:prstGeom>
              <a:solidFill>
                <a:srgbClr val="00E5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11184" y="3884"/>
                <a:ext cx="170" cy="17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文本框 49"/>
            <p:cNvSpPr txBox="1"/>
            <p:nvPr/>
          </p:nvSpPr>
          <p:spPr>
            <a:xfrm>
              <a:off x="10978" y="4967"/>
              <a:ext cx="11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  <a:sym typeface="+mn-ea"/>
                </a:rPr>
                <a:t>②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192010" y="3791585"/>
            <a:ext cx="1440180" cy="1809115"/>
            <a:chOff x="10424" y="2698"/>
            <a:chExt cx="2268" cy="2849"/>
          </a:xfrm>
        </p:grpSpPr>
        <p:grpSp>
          <p:nvGrpSpPr>
            <p:cNvPr id="53" name="组合 52"/>
            <p:cNvGrpSpPr/>
            <p:nvPr/>
          </p:nvGrpSpPr>
          <p:grpSpPr>
            <a:xfrm>
              <a:off x="10424" y="2698"/>
              <a:ext cx="2268" cy="2268"/>
              <a:chOff x="10424" y="2698"/>
              <a:chExt cx="2268" cy="2268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10424" y="2698"/>
                <a:ext cx="2268" cy="2268"/>
                <a:chOff x="10554" y="3039"/>
                <a:chExt cx="1700" cy="1701"/>
              </a:xfrm>
            </p:grpSpPr>
            <p:cxnSp>
              <p:nvCxnSpPr>
                <p:cNvPr id="55" name="直接箭头连接符 54"/>
                <p:cNvCxnSpPr/>
                <p:nvPr/>
              </p:nvCxnSpPr>
              <p:spPr>
                <a:xfrm>
                  <a:off x="10554" y="4740"/>
                  <a:ext cx="1701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/>
                <p:nvPr/>
              </p:nvCxnSpPr>
              <p:spPr>
                <a:xfrm flipV="1">
                  <a:off x="10554" y="3039"/>
                  <a:ext cx="0" cy="1701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椭圆 56"/>
              <p:cNvSpPr/>
              <p:nvPr/>
            </p:nvSpPr>
            <p:spPr>
              <a:xfrm>
                <a:off x="11774" y="3426"/>
                <a:ext cx="170" cy="170"/>
              </a:xfrm>
              <a:prstGeom prst="ellipse">
                <a:avLst/>
              </a:prstGeom>
              <a:solidFill>
                <a:srgbClr val="69F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10640" y="4335"/>
                <a:ext cx="170" cy="170"/>
              </a:xfrm>
              <a:prstGeom prst="ellipse">
                <a:avLst/>
              </a:prstGeom>
              <a:solidFill>
                <a:srgbClr val="FEBC7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11936" y="3656"/>
                <a:ext cx="170" cy="170"/>
              </a:xfrm>
              <a:prstGeom prst="ellipse">
                <a:avLst/>
              </a:prstGeom>
              <a:solidFill>
                <a:srgbClr val="00E5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10912" y="4257"/>
                <a:ext cx="170" cy="17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10978" y="4967"/>
              <a:ext cx="11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</a:rPr>
                <a:t>③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9424670" y="3791585"/>
            <a:ext cx="1440180" cy="1809115"/>
            <a:chOff x="10424" y="2698"/>
            <a:chExt cx="2268" cy="2849"/>
          </a:xfrm>
        </p:grpSpPr>
        <p:grpSp>
          <p:nvGrpSpPr>
            <p:cNvPr id="74" name="组合 73"/>
            <p:cNvGrpSpPr/>
            <p:nvPr/>
          </p:nvGrpSpPr>
          <p:grpSpPr>
            <a:xfrm>
              <a:off x="10424" y="2698"/>
              <a:ext cx="2268" cy="2268"/>
              <a:chOff x="10424" y="2698"/>
              <a:chExt cx="2268" cy="2268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10424" y="2698"/>
                <a:ext cx="2268" cy="2268"/>
                <a:chOff x="10554" y="3039"/>
                <a:chExt cx="1700" cy="1701"/>
              </a:xfrm>
            </p:grpSpPr>
            <p:cxnSp>
              <p:nvCxnSpPr>
                <p:cNvPr id="76" name="直接箭头连接符 75"/>
                <p:cNvCxnSpPr/>
                <p:nvPr/>
              </p:nvCxnSpPr>
              <p:spPr>
                <a:xfrm>
                  <a:off x="10554" y="4740"/>
                  <a:ext cx="1701" cy="0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箭头连接符 76"/>
                <p:cNvCxnSpPr/>
                <p:nvPr/>
              </p:nvCxnSpPr>
              <p:spPr>
                <a:xfrm flipV="1">
                  <a:off x="10554" y="3039"/>
                  <a:ext cx="0" cy="1701"/>
                </a:xfrm>
                <a:prstGeom prst="straightConnector1">
                  <a:avLst/>
                </a:prstGeom>
                <a:ln w="25400">
                  <a:solidFill>
                    <a:schemeClr val="bg1"/>
                  </a:solidFill>
                  <a:headEnd type="oval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椭圆 77"/>
              <p:cNvSpPr/>
              <p:nvPr/>
            </p:nvSpPr>
            <p:spPr>
              <a:xfrm>
                <a:off x="12138" y="3336"/>
                <a:ext cx="170" cy="170"/>
              </a:xfrm>
              <a:prstGeom prst="ellipse">
                <a:avLst/>
              </a:prstGeom>
              <a:solidFill>
                <a:srgbClr val="69F0A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10809" y="4447"/>
                <a:ext cx="170" cy="170"/>
              </a:xfrm>
              <a:prstGeom prst="ellipse">
                <a:avLst/>
              </a:prstGeom>
              <a:solidFill>
                <a:srgbClr val="FEBC7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1887" y="3767"/>
                <a:ext cx="170" cy="170"/>
              </a:xfrm>
              <a:prstGeom prst="ellipse">
                <a:avLst/>
              </a:prstGeom>
              <a:solidFill>
                <a:srgbClr val="00E5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11074" y="4107"/>
                <a:ext cx="170" cy="17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2" name="文本框 81"/>
            <p:cNvSpPr txBox="1"/>
            <p:nvPr/>
          </p:nvSpPr>
          <p:spPr>
            <a:xfrm>
              <a:off x="10978" y="4967"/>
              <a:ext cx="11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</a:rPr>
                <a:t>④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6" grpId="0" uiExpand="1" build="p"/>
      <p:bldP spid="6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ym typeface="Noto Sans SC" panose="020B0200000000000000" charset="-122"/>
              </a:rPr>
              <a:t>向量嵌入的应用</a:t>
            </a:r>
            <a:endParaRPr lang="en-US" sz="3200" dirty="0">
              <a:sym typeface="Noto Sans SC" panose="020B02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altLang="zh-CN"/>
              <a:t>Token Embedding</a:t>
            </a:r>
            <a:endParaRPr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给每一个</a:t>
            </a:r>
            <a:r>
              <a:rPr lang="en-US" altLang="zh-CN"/>
              <a:t> token </a:t>
            </a:r>
            <a:r>
              <a:rPr lang="zh-CN" altLang="en-US"/>
              <a:t>一个能表达词汇、概念的数值</a:t>
            </a:r>
            <a:endParaRPr lang="zh-CN" altLang="en-US"/>
          </a:p>
          <a:p>
            <a:r>
              <a:rPr lang="zh-CN" altLang="en-US"/>
              <a:t>基于数值计算完成一段文本内各个</a:t>
            </a:r>
            <a:r>
              <a:rPr lang="en-US" altLang="zh-CN"/>
              <a:t> token </a:t>
            </a:r>
            <a:r>
              <a:rPr lang="zh-CN" altLang="en-US"/>
              <a:t>的相关性的表示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ea typeface="SimSun" pitchFamily="2" charset="-122"/>
              </a:rPr>
              <a:t>文本</a:t>
            </a:r>
            <a:r>
              <a:rPr altLang="zh-CN">
                <a:ea typeface="SimSun" pitchFamily="2" charset="-122"/>
              </a:rPr>
              <a:t> Embedding</a:t>
            </a:r>
            <a:endParaRPr altLang="zh-CN">
              <a:ea typeface="SimSun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en-US"/>
              <a:t>给一段文本计算一个表示“总体语义”的数值</a:t>
            </a:r>
            <a:endParaRPr lang="zh-CN" altLang="en-US"/>
          </a:p>
          <a:p>
            <a:r>
              <a:rPr lang="zh-CN" altLang="en-US"/>
              <a:t>文本一般可以长达数百个</a:t>
            </a:r>
            <a:r>
              <a:rPr lang="en-US" altLang="zh-CN"/>
              <a:t> token</a:t>
            </a:r>
            <a:endParaRPr lang="en-US" altLang="zh-CN"/>
          </a:p>
          <a:p>
            <a:r>
              <a:rPr lang="zh-CN" altLang="en-US"/>
              <a:t>两段文本如果</a:t>
            </a:r>
            <a:r>
              <a:rPr lang="en-US" altLang="zh-CN"/>
              <a:t> embedding </a:t>
            </a:r>
            <a:r>
              <a:rPr lang="zh-CN" altLang="en-US"/>
              <a:t>的数值相近，就表示其含义相近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build="p"/>
      <p:bldP spid="4" grpId="1" build="p"/>
      <p:bldP spid="5" grpId="0" build="p"/>
      <p:bldP spid="5" grpId="1" build="p"/>
      <p:bldP spid="6" grpId="0" build="p"/>
      <p:bldP spid="6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检索增强生成</a:t>
            </a:r>
            <a:endParaRPr lang="en-US" altLang="zh-CN" sz="3200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762000" y="1825625"/>
            <a:ext cx="5334000" cy="4351655"/>
          </a:xfrm>
        </p:spPr>
        <p:txBody>
          <a:bodyPr/>
          <a:lstStyle/>
          <a:p>
            <a:r>
              <a:rPr lang="en-US" altLang="zh-CN"/>
              <a:t>RAG: Retrieval-Augmented Generation</a:t>
            </a:r>
            <a:endParaRPr lang="en-US" altLang="zh-CN"/>
          </a:p>
          <a:p>
            <a:r>
              <a:rPr lang="zh-CN" altLang="en-US"/>
              <a:t>系统把文本切成小段，计算</a:t>
            </a:r>
            <a:r>
              <a:rPr lang="en-US" altLang="zh-CN"/>
              <a:t> embedding </a:t>
            </a:r>
            <a:r>
              <a:rPr lang="zh-CN" altLang="en-US"/>
              <a:t>后放进文本库</a:t>
            </a:r>
            <a:endParaRPr lang="zh-CN" altLang="en-US"/>
          </a:p>
          <a:p>
            <a:r>
              <a:rPr lang="zh-CN" altLang="en-US"/>
              <a:t>用户的问题也计算</a:t>
            </a:r>
            <a:r>
              <a:rPr lang="en-US" altLang="zh-CN"/>
              <a:t> embedding</a:t>
            </a:r>
            <a:endParaRPr lang="en-US" altLang="zh-CN"/>
          </a:p>
          <a:p>
            <a:r>
              <a:rPr lang="zh-CN" altLang="en-US"/>
              <a:t>在文本库中找与问题</a:t>
            </a:r>
            <a:r>
              <a:rPr lang="en-US" altLang="zh-CN"/>
              <a:t> embedding </a:t>
            </a:r>
            <a:r>
              <a:rPr lang="zh-CN" altLang="en-US"/>
              <a:t>最相似的若干片段作为潜在证据</a:t>
            </a:r>
            <a:endParaRPr lang="zh-CN" altLang="en-US"/>
          </a:p>
          <a:p>
            <a:r>
              <a:rPr lang="zh-CN" altLang="en-US"/>
              <a:t>把问题和证据一起给大模型，让大模型选择相关证据、组织回答并标注依据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  <p:sp>
        <p:nvSpPr>
          <p:cNvPr id="12" name="AutoShape 6"/>
          <p:cNvSpPr/>
          <p:nvPr/>
        </p:nvSpPr>
        <p:spPr>
          <a:xfrm>
            <a:off x="7974965" y="1525270"/>
            <a:ext cx="3188335" cy="360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0E5F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港科大的世界排名是多少？</a:t>
            </a:r>
            <a:endParaRPr lang="zh-CN" altLang="en-US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6"/>
          <p:cNvSpPr/>
          <p:nvPr/>
        </p:nvSpPr>
        <p:spPr>
          <a:xfrm>
            <a:off x="7974965" y="2296160"/>
            <a:ext cx="3188335" cy="360000"/>
          </a:xfrm>
          <a:prstGeom prst="roundRect">
            <a:avLst>
              <a:gd name="adj" fmla="val 0"/>
            </a:avLst>
          </a:prstGeom>
          <a:solidFill>
            <a:srgbClr val="69F0AE">
              <a:alpha val="8000"/>
            </a:srgbClr>
          </a:solidFill>
          <a:ln w="25400" cap="flat" cmpd="sng">
            <a:solidFill>
              <a:srgbClr val="69F0AE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 fontAlgn="auto">
              <a:spcAft>
                <a:spcPts val="600"/>
              </a:spcAft>
              <a:defRPr/>
            </a:pP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港科大</a:t>
            </a: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2026</a:t>
            </a: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排名第</a:t>
            </a: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33</a:t>
            </a: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位</a:t>
            </a:r>
            <a:endParaRPr lang="zh-CN" altLang="en-US" i="0" u="none" strike="noStrike">
              <a:solidFill>
                <a:schemeClr val="bg1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7974965" y="2709545"/>
            <a:ext cx="3188335" cy="612000"/>
          </a:xfrm>
          <a:prstGeom prst="roundRect">
            <a:avLst>
              <a:gd name="adj" fmla="val 0"/>
            </a:avLst>
          </a:prstGeom>
          <a:solidFill>
            <a:srgbClr val="69F0AE">
              <a:alpha val="8000"/>
            </a:srgbClr>
          </a:solidFill>
          <a:ln w="25400" cap="flat" cmpd="sng">
            <a:solidFill>
              <a:srgbClr val="69F0AE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 fontAlgn="auto">
              <a:spcAft>
                <a:spcPts val="600"/>
              </a:spcAft>
              <a:defRPr/>
            </a:pPr>
            <a:r>
              <a:rPr 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2025</a:t>
            </a: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年，港科大在</a:t>
            </a: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QS</a:t>
            </a: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榜单排名第</a:t>
            </a: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47</a:t>
            </a: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位，在香港排名第</a:t>
            </a: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2</a:t>
            </a:r>
            <a:endParaRPr lang="en-US" altLang="zh-CN" i="0" u="none" strike="noStrike">
              <a:solidFill>
                <a:schemeClr val="bg1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3" name="AutoShape 6"/>
          <p:cNvSpPr/>
          <p:nvPr/>
        </p:nvSpPr>
        <p:spPr>
          <a:xfrm>
            <a:off x="7974965" y="3375025"/>
            <a:ext cx="3188335" cy="612000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  <a:alpha val="8000"/>
            </a:schemeClr>
          </a:solidFill>
          <a:ln w="25400" cap="flat" cmpd="sng">
            <a:solidFill>
              <a:schemeClr val="bg1">
                <a:lumMod val="75000"/>
                <a:alpha val="100000"/>
              </a:scheme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 fontAlgn="auto">
              <a:spcAft>
                <a:spcPts val="600"/>
              </a:spcAft>
              <a:defRPr/>
            </a:pPr>
            <a:r>
              <a:rPr 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香港科技大学成立于</a:t>
            </a:r>
            <a:r>
              <a:rPr lang="en-US" altLang="zh-CN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1991</a:t>
            </a:r>
            <a:r>
              <a:rPr lang="zh-CN" altLang="en-US" i="0" u="none" strike="noStrike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年，是香港的第三所高等学府</a:t>
            </a:r>
            <a:endParaRPr lang="zh-CN" altLang="en-US" i="0" u="none" strike="noStrike">
              <a:solidFill>
                <a:schemeClr val="bg1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44330" y="3987165"/>
            <a:ext cx="649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……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7583805" y="2296160"/>
            <a:ext cx="273685" cy="2059305"/>
          </a:xfrm>
          <a:prstGeom prst="leftBrace">
            <a:avLst>
              <a:gd name="adj1" fmla="val 88399"/>
              <a:gd name="adj2" fmla="val 50000"/>
            </a:avLst>
          </a:prstGeom>
          <a:ln>
            <a:solidFill>
              <a:srgbClr val="69F0AE"/>
            </a:solidFill>
          </a:ln>
          <a:effectLst>
            <a:outerShdw blurRad="63500" sx="102000" sy="102000" algn="ctr" rotWithShape="0">
              <a:srgbClr val="69F0AE">
                <a:alpha val="50000"/>
              </a:srgb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柱形 15"/>
          <p:cNvSpPr/>
          <p:nvPr/>
        </p:nvSpPr>
        <p:spPr>
          <a:xfrm>
            <a:off x="6720205" y="2860675"/>
            <a:ext cx="746125" cy="930910"/>
          </a:xfrm>
          <a:prstGeom prst="can">
            <a:avLst/>
          </a:prstGeom>
          <a:solidFill>
            <a:srgbClr val="69F0AE">
              <a:alpha val="8000"/>
            </a:srgbClr>
          </a:solidFill>
          <a:ln w="25400" cap="flat" cmpd="sng">
            <a:solidFill>
              <a:srgbClr val="69F0AE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>
                <a:solidFill>
                  <a:schemeClr val="bg1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+mn-ea"/>
              </a:rPr>
              <a:t>文本库</a:t>
            </a:r>
            <a:endParaRPr lang="zh-CN" altLang="en-US">
              <a:solidFill>
                <a:schemeClr val="bg1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9217025" y="2004695"/>
            <a:ext cx="704850" cy="171450"/>
          </a:xfrm>
          <a:prstGeom prst="downArrow">
            <a:avLst/>
          </a:prstGeom>
          <a:solidFill>
            <a:srgbClr val="00E5FF">
              <a:alpha val="8000"/>
            </a:srgbClr>
          </a:solidFill>
          <a:ln w="25400" cap="flat" cmpd="sng">
            <a:solidFill>
              <a:srgbClr val="00E5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0E5FF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endParaRPr lang="zh-CN" altLang="en-US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8" name="AutoShape 6"/>
          <p:cNvSpPr/>
          <p:nvPr/>
        </p:nvSpPr>
        <p:spPr>
          <a:xfrm>
            <a:off x="9029565" y="4590415"/>
            <a:ext cx="1079500" cy="36000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大模型</a:t>
            </a:r>
            <a:endParaRPr lang="zh-CN" altLang="en-US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10109200" y="3067050"/>
            <a:ext cx="1208405" cy="1581150"/>
          </a:xfrm>
          <a:custGeom>
            <a:avLst/>
            <a:gdLst>
              <a:gd name="connisteX0" fmla="*/ 1005840 w 1143000"/>
              <a:gd name="connsiteY0" fmla="*/ 0 h 1663065"/>
              <a:gd name="connisteX1" fmla="*/ 1143000 w 1143000"/>
              <a:gd name="connsiteY1" fmla="*/ 0 h 1663065"/>
              <a:gd name="connisteX2" fmla="*/ 1143000 w 1143000"/>
              <a:gd name="connsiteY2" fmla="*/ 1663065 h 1663065"/>
              <a:gd name="connisteX3" fmla="*/ 0 w 1143000"/>
              <a:gd name="connsiteY3" fmla="*/ 1663065 h 16630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143000" h="1663065">
                <a:moveTo>
                  <a:pt x="1005840" y="0"/>
                </a:moveTo>
                <a:lnTo>
                  <a:pt x="1143000" y="0"/>
                </a:lnTo>
                <a:lnTo>
                  <a:pt x="1143000" y="1663065"/>
                </a:lnTo>
                <a:lnTo>
                  <a:pt x="0" y="1663065"/>
                </a:lnTo>
              </a:path>
            </a:pathLst>
          </a:custGeom>
          <a:noFill/>
          <a:ln w="19050">
            <a:solidFill>
              <a:srgbClr val="69F0AE"/>
            </a:solidFill>
            <a:prstDash val="sysDot"/>
            <a:headEnd type="oval"/>
            <a:tailEnd type="stealth" w="med" len="lg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10109200" y="2473325"/>
            <a:ext cx="1424305" cy="2298700"/>
          </a:xfrm>
          <a:custGeom>
            <a:avLst/>
            <a:gdLst>
              <a:gd name="connisteX0" fmla="*/ 1031875 w 1381125"/>
              <a:gd name="connsiteY0" fmla="*/ 0 h 2298700"/>
              <a:gd name="connisteX1" fmla="*/ 1381125 w 1381125"/>
              <a:gd name="connsiteY1" fmla="*/ 0 h 2298700"/>
              <a:gd name="connisteX2" fmla="*/ 1381125 w 1381125"/>
              <a:gd name="connsiteY2" fmla="*/ 2298700 h 2298700"/>
              <a:gd name="connisteX3" fmla="*/ 0 w 1381125"/>
              <a:gd name="connsiteY3" fmla="*/ 2298700 h 2298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381125" h="2298700">
                <a:moveTo>
                  <a:pt x="1031875" y="0"/>
                </a:moveTo>
                <a:lnTo>
                  <a:pt x="1381125" y="0"/>
                </a:lnTo>
                <a:lnTo>
                  <a:pt x="1381125" y="2298700"/>
                </a:lnTo>
                <a:lnTo>
                  <a:pt x="0" y="2298700"/>
                </a:lnTo>
              </a:path>
            </a:pathLst>
          </a:custGeom>
          <a:noFill/>
          <a:ln w="19050">
            <a:solidFill>
              <a:srgbClr val="69F0AE"/>
            </a:solidFill>
            <a:prstDash val="sysDot"/>
            <a:headEnd type="oval"/>
            <a:tailEnd type="stealth" w="med" len="lg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10128885" y="1680845"/>
            <a:ext cx="1566545" cy="3238500"/>
          </a:xfrm>
          <a:custGeom>
            <a:avLst/>
            <a:gdLst>
              <a:gd name="connisteX0" fmla="*/ 1038225 w 1566545"/>
              <a:gd name="connsiteY0" fmla="*/ 0 h 3238500"/>
              <a:gd name="connisteX1" fmla="*/ 1566545 w 1566545"/>
              <a:gd name="connsiteY1" fmla="*/ 0 h 3238500"/>
              <a:gd name="connisteX2" fmla="*/ 1566545 w 1566545"/>
              <a:gd name="connsiteY2" fmla="*/ 3238500 h 3238500"/>
              <a:gd name="connisteX3" fmla="*/ 0 w 1566545"/>
              <a:gd name="connsiteY3" fmla="*/ 3238500 h 32385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566545" h="3238500">
                <a:moveTo>
                  <a:pt x="1038225" y="0"/>
                </a:moveTo>
                <a:lnTo>
                  <a:pt x="1566545" y="0"/>
                </a:lnTo>
                <a:lnTo>
                  <a:pt x="1566545" y="3238500"/>
                </a:lnTo>
                <a:lnTo>
                  <a:pt x="0" y="3238500"/>
                </a:lnTo>
              </a:path>
            </a:pathLst>
          </a:custGeom>
          <a:noFill/>
          <a:ln w="19050">
            <a:solidFill>
              <a:srgbClr val="00E5FF"/>
            </a:solidFill>
            <a:prstDash val="sysDot"/>
            <a:headEnd type="oval"/>
            <a:tailEnd type="stealth" w="med" len="lg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9217025" y="5062220"/>
            <a:ext cx="704850" cy="171450"/>
          </a:xfrm>
          <a:prstGeom prst="downArrow">
            <a:avLst/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endParaRPr lang="zh-CN" altLang="en-US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28" name="AutoShape 6"/>
          <p:cNvSpPr/>
          <p:nvPr/>
        </p:nvSpPr>
        <p:spPr>
          <a:xfrm>
            <a:off x="7974965" y="5346065"/>
            <a:ext cx="3187700" cy="720000"/>
          </a:xfrm>
          <a:prstGeom prst="roundRect">
            <a:avLst>
              <a:gd name="adj" fmla="val 0"/>
            </a:avLst>
          </a:prstGeom>
          <a:solidFill>
            <a:srgbClr val="B388FF">
              <a:alpha val="8000"/>
            </a:srgbClr>
          </a:solidFill>
          <a:ln w="25400" cap="flat" cmpd="sng">
            <a:solidFill>
              <a:srgbClr val="B388FF">
                <a:alpha val="100000"/>
              </a:srgbClr>
            </a:solidFill>
            <a:prstDash val="solid"/>
            <a:round/>
          </a:ln>
          <a:effectLst>
            <a:outerShdw blurRad="152400" dir="2700000" algn="tl" rotWithShape="0">
              <a:srgbClr val="06F0D2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港科大</a:t>
            </a:r>
            <a:r>
              <a:rPr lang="en-US" altLang="zh-CN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年排名</a:t>
            </a:r>
            <a:r>
              <a:rPr lang="en-US" altLang="zh-CN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33, 2025</a:t>
            </a:r>
            <a:r>
              <a:rPr lang="zh-CN" altLang="en-US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年排名</a:t>
            </a:r>
            <a:r>
              <a:rPr lang="en-US" altLang="zh-CN" i="0" u="none" strike="noStrike">
                <a:solidFill>
                  <a:srgbClr val="FFFFFF"/>
                </a:solidFill>
                <a:latin typeface="Noto Sans SC" panose="020B0200000000000000" charset="-122"/>
                <a:ea typeface="SimSun" pitchFamily="2" charset="-122"/>
                <a:cs typeface="Noto Sans SC" panose="020B0200000000000000" charset="-122"/>
                <a:sym typeface="Noto Sans SC" panose="020B0200000000000000" charset="-122"/>
              </a:rPr>
              <a:t>47</a:t>
            </a:r>
            <a:endParaRPr lang="en-US" altLang="zh-CN" i="0" u="none" strike="noStrike">
              <a:solidFill>
                <a:srgbClr val="FFFFFF"/>
              </a:solidFill>
              <a:latin typeface="Noto Sans SC" panose="020B0200000000000000" charset="-122"/>
              <a:ea typeface="SimSun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0" grpId="1" build="p"/>
      <p:bldP spid="12" grpId="0" bldLvl="0" animBg="1"/>
      <p:bldP spid="12" grpId="1" animBg="1"/>
      <p:bldP spid="45" grpId="0" bldLvl="0" animBg="1"/>
      <p:bldP spid="45" grpId="1" animBg="1"/>
      <p:bldP spid="11" grpId="0" bldLvl="0" animBg="1"/>
      <p:bldP spid="11" grpId="1" animBg="1"/>
      <p:bldP spid="13" grpId="0" bldLvl="0" animBg="1"/>
      <p:bldP spid="13" grpId="1" animBg="1"/>
      <p:bldP spid="14" grpId="0"/>
      <p:bldP spid="14" grpId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bldLvl="0" animBg="1"/>
      <p:bldP spid="18" grpId="1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bldLvl="0" animBg="1"/>
      <p:bldP spid="28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总结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1825625"/>
            <a:ext cx="10509250" cy="435165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文本被分词器拆解为若干</a:t>
            </a:r>
            <a:r>
              <a:rPr lang="zh-CN" altLang="en-US" sz="2800" b="1" dirty="0">
                <a:solidFill>
                  <a:srgbClr val="00E5FF"/>
                </a:solidFill>
              </a:rPr>
              <a:t>词元（</a:t>
            </a:r>
            <a:r>
              <a:rPr lang="en-US" altLang="zh-CN" sz="2800" b="1" dirty="0">
                <a:solidFill>
                  <a:srgbClr val="00E5FF"/>
                </a:solidFill>
              </a:rPr>
              <a:t>Token</a:t>
            </a:r>
            <a:r>
              <a:rPr lang="zh-CN" altLang="en-US" sz="2800" b="1" dirty="0">
                <a:solidFill>
                  <a:srgbClr val="00E5FF"/>
                </a:solidFill>
              </a:rPr>
              <a:t>）</a:t>
            </a:r>
            <a:endParaRPr lang="en-US" altLang="zh-CN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词元经过</a:t>
            </a:r>
            <a:r>
              <a:rPr lang="zh-CN" altLang="en-US" sz="2800" b="1" dirty="0">
                <a:solidFill>
                  <a:srgbClr val="00E5FF"/>
                </a:solidFill>
              </a:rPr>
              <a:t>向量嵌入（</a:t>
            </a:r>
            <a:r>
              <a:rPr lang="en-US" altLang="zh-CN" sz="2800" b="1" dirty="0">
                <a:solidFill>
                  <a:srgbClr val="00E5FF"/>
                </a:solidFill>
              </a:rPr>
              <a:t>Embedding</a:t>
            </a:r>
            <a:r>
              <a:rPr lang="zh-CN" altLang="en-US" sz="2800" b="1" dirty="0">
                <a:solidFill>
                  <a:srgbClr val="00E5FF"/>
                </a:solidFill>
              </a:rPr>
              <a:t>）</a:t>
            </a:r>
            <a:r>
              <a:rPr lang="zh-CN" altLang="en-US" sz="2800" dirty="0">
                <a:solidFill>
                  <a:schemeClr val="bg1"/>
                </a:solidFill>
              </a:rPr>
              <a:t>转变为向量数值输入大模型进行计算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一段文本也可以计算</a:t>
            </a:r>
            <a:r>
              <a:rPr lang="en-US" altLang="zh-CN" sz="2800" dirty="0">
                <a:solidFill>
                  <a:schemeClr val="bg1"/>
                </a:solidFill>
              </a:rPr>
              <a:t> Embedding </a:t>
            </a:r>
            <a:r>
              <a:rPr lang="zh-CN" altLang="en-US" sz="2800" dirty="0">
                <a:solidFill>
                  <a:schemeClr val="bg1"/>
                </a:solidFill>
              </a:rPr>
              <a:t>并进行</a:t>
            </a:r>
            <a:r>
              <a:rPr lang="zh-CN" altLang="en-US" sz="2800" b="1" dirty="0">
                <a:solidFill>
                  <a:srgbClr val="00E5FF"/>
                </a:solidFill>
              </a:rPr>
              <a:t>相似度查询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下一节课：</a:t>
            </a:r>
            <a:endParaRPr lang="zh-CN" altLang="en-US" sz="2800" dirty="0">
              <a:solidFill>
                <a:schemeClr val="bg1"/>
              </a:solidFill>
            </a:endParaRPr>
          </a:p>
          <a:p>
            <a:pPr lvl="1"/>
            <a:r>
              <a:rPr lang="en-US" altLang="zh-CN" sz="2400" dirty="0">
                <a:solidFill>
                  <a:schemeClr val="bg1"/>
                </a:solidFill>
              </a:rPr>
              <a:t>Token </a:t>
            </a:r>
            <a:r>
              <a:rPr lang="zh-CN" altLang="en-US" sz="2400" dirty="0">
                <a:solidFill>
                  <a:schemeClr val="bg1"/>
                </a:solidFill>
              </a:rPr>
              <a:t>对应的向量数值是如何在大模型内参与计算的？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2176</Words>
  <Application>WPS 演示</Application>
  <PresentationFormat>宽屏</PresentationFormat>
  <Paragraphs>236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SimSun</vt:lpstr>
      <vt:lpstr>Wingdings</vt:lpstr>
      <vt:lpstr>DejaVu Sans</vt:lpstr>
      <vt:lpstr>Arial</vt:lpstr>
      <vt:lpstr>Noto Sans SC</vt:lpstr>
      <vt:lpstr>苹方_细体</vt:lpstr>
      <vt:lpstr>苹方_中等</vt:lpstr>
      <vt:lpstr>Calibri</vt:lpstr>
      <vt:lpstr>Noto Serif CJK SC</vt:lpstr>
      <vt:lpstr>Calibri Light</vt:lpstr>
      <vt:lpstr>Microsoft YaHei</vt:lpstr>
      <vt:lpstr>Droid Sans Fallback</vt:lpstr>
      <vt:lpstr>Arial Unicode MS</vt:lpstr>
      <vt:lpstr>Noto Sans SC</vt:lpstr>
      <vt:lpstr>C059</vt:lpstr>
      <vt:lpstr>SimSun</vt:lpstr>
      <vt:lpstr>OpenSymbol</vt:lpstr>
      <vt:lpstr>WPS</vt:lpstr>
      <vt:lpstr>第三课 Token 是什么</vt:lpstr>
      <vt:lpstr>回顾</vt:lpstr>
      <vt:lpstr>PowerPoint 演示文稿</vt:lpstr>
      <vt:lpstr>课程路线图</vt:lpstr>
      <vt:lpstr>文本处理的最小单元：词元</vt:lpstr>
      <vt:lpstr>不同分词器对词元的切分方式不同</vt:lpstr>
      <vt:lpstr>词元的影响</vt:lpstr>
      <vt:lpstr>多模态词元的划分</vt:lpstr>
      <vt:lpstr>PowerPoint 演示文稿</vt:lpstr>
      <vt:lpstr>词元的数字化：向量嵌入</vt:lpstr>
      <vt:lpstr>嵌入模型的训练</vt:lpstr>
      <vt:lpstr>嵌入模型的训练</vt:lpstr>
      <vt:lpstr>向量嵌入的应用</vt:lpstr>
      <vt:lpstr>检索增强生成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上海钢琴师</cp:lastModifiedBy>
  <cp:revision>506</cp:revision>
  <dcterms:created xsi:type="dcterms:W3CDTF">2026-10-03T11:49:41Z</dcterms:created>
  <dcterms:modified xsi:type="dcterms:W3CDTF">2026-10-03T11:49:41Z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2052-12.1.2.28080</vt:lpwstr>
  </property>
  <property fmtid="{D5CDD505-2E9C-101B-9397-08002B2CF9AE}" pid="3" name="ICV">
    <vt:lpwstr>AF1A490D30A00710C6B26D6AE3DED764_43</vt:lpwstr>
  </property>
</Properties>
</file>