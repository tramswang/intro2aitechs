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2"/>
  </p:handoutMasterIdLst>
  <p:sldIdLst>
    <p:sldId id="256" r:id="rId3"/>
    <p:sldId id="290" r:id="rId5"/>
    <p:sldId id="292" r:id="rId6"/>
    <p:sldId id="277" r:id="rId7"/>
    <p:sldId id="288" r:id="rId8"/>
    <p:sldId id="289" r:id="rId9"/>
    <p:sldId id="291" r:id="rId10"/>
    <p:sldId id="293" r:id="rId11"/>
    <p:sldId id="296" r:id="rId12"/>
    <p:sldId id="298" r:id="rId13"/>
    <p:sldId id="303" r:id="rId14"/>
    <p:sldId id="299" r:id="rId15"/>
    <p:sldId id="300" r:id="rId16"/>
    <p:sldId id="302" r:id="rId17"/>
    <p:sldId id="301" r:id="rId18"/>
    <p:sldId id="297" r:id="rId19"/>
    <p:sldId id="307" r:id="rId20"/>
    <p:sldId id="308" r:id="rId21"/>
    <p:sldId id="309" r:id="rId22"/>
    <p:sldId id="310" r:id="rId23"/>
    <p:sldId id="311" r:id="rId24"/>
    <p:sldId id="312" r:id="rId25"/>
    <p:sldId id="313" r:id="rId26"/>
    <p:sldId id="315" r:id="rId27"/>
    <p:sldId id="314" r:id="rId28"/>
    <p:sldId id="295" r:id="rId29"/>
    <p:sldId id="317" r:id="rId30"/>
    <p:sldId id="318" r:id="rId31"/>
    <p:sldId id="323" r:id="rId32"/>
    <p:sldId id="328" r:id="rId33"/>
    <p:sldId id="324" r:id="rId34"/>
    <p:sldId id="325" r:id="rId35"/>
    <p:sldId id="329" r:id="rId36"/>
    <p:sldId id="326" r:id="rId37"/>
    <p:sldId id="322" r:id="rId38"/>
    <p:sldId id="320" r:id="rId39"/>
    <p:sldId id="316" r:id="rId40"/>
    <p:sldId id="327" r:id="rId41"/>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6" userDrawn="1">
          <p15:clr>
            <a:srgbClr val="A4A3A4"/>
          </p15:clr>
        </p15:guide>
        <p15:guide id="2" pos="37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5FF"/>
    <a:srgbClr val="69F0AE"/>
    <a:srgbClr val="FEBC74"/>
    <a:srgbClr val="061323"/>
    <a:srgbClr val="B388FF"/>
    <a:srgbClr val="00E5FA"/>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276"/>
        <p:guide pos="3766"/>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把课程核心的内容给大家串起来讲一下</a:t>
            </a:r>
            <a:endParaRPr lang="zh-CN" altLang="en-US"/>
          </a:p>
          <a:p>
            <a:pPr marL="171450" indent="-171450">
              <a:buFont typeface="Arial" panose="02080604020202020204" pitchFamily="34" charset="0"/>
              <a:buChar char="•"/>
            </a:pPr>
            <a:r>
              <a:rPr lang="zh-CN" altLang="en-US"/>
              <a:t>在稍微拓展一点，帮助大家能够应付学生的提问</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至少先让学生会“纸上谈兵”</a:t>
            </a:r>
            <a:endParaRPr lang="zh-CN" altLang="en-US"/>
          </a:p>
          <a:p>
            <a:pPr marL="171450" indent="-171450">
              <a:buFont typeface="Arial" panose="02080604020202020204" pitchFamily="34" charset="0"/>
              <a:buChar char="•"/>
            </a:pP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我们这套课程主要着眼于大模型这个领域，系统性地梳理各个概念，帮助大家认识和更好地使用大模型产品及相关的工具和系统。</a:t>
            </a:r>
            <a:endParaRPr lang="en-US" altLang="zh-CN"/>
          </a:p>
          <a:p>
            <a:endParaRPr lang="en-US" altLang="zh-CN"/>
          </a:p>
          <a:p>
            <a:r>
              <a:rPr lang="en-US" altLang="zh-CN">
                <a:sym typeface="+mn-ea"/>
              </a:rPr>
              <a:t>我们将用8节课主要了解大模型的原理、应用以及建立在它之上的智能体。</a:t>
            </a:r>
            <a:endParaRPr lang="en-US" altLang="zh-CN"/>
          </a:p>
          <a:p>
            <a:endParaRPr lang="en-US" altLang="zh-CN"/>
          </a:p>
          <a:p>
            <a:r>
              <a:rPr lang="en-US" altLang="zh-CN">
                <a:sym typeface="+mn-ea"/>
              </a:rPr>
              <a:t>- 本节课我们主要系统性介绍……</a:t>
            </a:r>
            <a:endParaRPr lang="en-US" altLang="zh-CN"/>
          </a:p>
          <a:p>
            <a:r>
              <a:rPr lang="en-US" altLang="zh-CN">
                <a:sym typeface="+mn-ea"/>
              </a:rPr>
              <a:t>- 第二、第三节讲解大模型的生成原理以及我们常听到的 token 、 embedding、上下文窗口都是什么</a:t>
            </a:r>
            <a:endParaRPr lang="en-US" altLang="zh-CN"/>
          </a:p>
          <a:p>
            <a:r>
              <a:rPr lang="en-US" altLang="zh-CN">
                <a:sym typeface="+mn-ea"/>
              </a:rPr>
              <a:t>- 后续的课程会介绍底层的注意力机制以及模型的训练过程，让大家明白为什么有时候 AI 会很蠢、为什么不同的 AI 表现千差万别</a:t>
            </a:r>
            <a:endParaRPr lang="en-US" altLang="zh-CN"/>
          </a:p>
          <a:p>
            <a:r>
              <a:rPr lang="en-US" altLang="zh-CN">
                <a:sym typeface="+mn-ea"/>
              </a:rPr>
              <a:t>- 了解了这些概念，我们会进一步升级到实用的提示词技术、智能体的结构，让大家知道如何能够更好地让 AI 为你所用</a:t>
            </a:r>
            <a:endParaRPr lang="en-US" altLang="zh-CN"/>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AI </a:t>
            </a:r>
            <a:r>
              <a:rPr lang="zh-CN" altLang="en-US">
                <a:sym typeface="+mn-ea"/>
              </a:rPr>
              <a:t>是一个很大的筐，什么都能往里装。</a:t>
            </a:r>
            <a:endParaRPr lang="zh-CN" altLang="en-US">
              <a:sym typeface="+mn-ea"/>
            </a:endParaRPr>
          </a:p>
          <a:p>
            <a:pPr marL="171450" indent="-171450">
              <a:buFont typeface="Arial" panose="02080604020202020204" pitchFamily="34" charset="0"/>
              <a:buChar char="•"/>
            </a:pPr>
            <a:r>
              <a:rPr lang="zh-CN" altLang="en-US">
                <a:sym typeface="+mn-ea"/>
              </a:rPr>
              <a:t>边界是</a:t>
            </a:r>
            <a:r>
              <a:rPr lang="en-US" altLang="zh-CN">
                <a:sym typeface="+mn-ea"/>
              </a:rPr>
              <a:t> AGI</a:t>
            </a:r>
            <a:endParaRPr lang="en-US" altLang="zh-CN">
              <a:sym typeface="+mn-ea"/>
            </a:endParaRPr>
          </a:p>
          <a:p>
            <a:pPr marL="171450" indent="-171450">
              <a:buFont typeface="Arial" panose="02080604020202020204" pitchFamily="34" charset="0"/>
              <a:buChar char="•"/>
            </a:pPr>
            <a:r>
              <a:rPr lang="zh-CN" altLang="en-US">
                <a:sym typeface="+mn-ea"/>
              </a:rPr>
              <a:t>科学家尝试了很多不同的方法，逐渐形成各个独立的领域</a:t>
            </a:r>
            <a:endParaRPr lang="zh-CN" altLang="en-US">
              <a:sym typeface="+mn-ea"/>
            </a:endParaRPr>
          </a:p>
          <a:p>
            <a:pPr marL="628650" lvl="1" indent="-171450">
              <a:buFont typeface="Arial" panose="02080604020202020204" pitchFamily="34" charset="0"/>
              <a:buChar char="•"/>
            </a:pPr>
            <a:r>
              <a:rPr lang="zh-CN" altLang="en-US">
                <a:sym typeface="+mn-ea"/>
              </a:rPr>
              <a:t>符号智能：比较偏重理论，比如知识图谱这样基于严格逻辑推理的系统</a:t>
            </a:r>
            <a:endParaRPr lang="zh-CN" altLang="en-US">
              <a:sym typeface="+mn-ea"/>
            </a:endParaRPr>
          </a:p>
          <a:p>
            <a:pPr marL="628650" lvl="1" indent="-171450">
              <a:buFont typeface="Arial" panose="02080604020202020204" pitchFamily="34" charset="0"/>
              <a:buChar char="•"/>
            </a:pPr>
            <a:r>
              <a:rPr lang="zh-CN" altLang="en-US">
                <a:sym typeface="+mn-ea"/>
              </a:rPr>
              <a:t>机器学习的各种技术在实践应用中更为广泛</a:t>
            </a:r>
            <a:endParaRPr lang="en-US" altLang="zh-CN"/>
          </a:p>
          <a:p>
            <a:endParaRPr lang="en-US" altLang="zh-CN"/>
          </a:p>
          <a:p>
            <a:r>
              <a:rPr lang="en-US" altLang="zh-CN">
                <a:sym typeface="+mn-ea"/>
              </a:rPr>
              <a:t>大语言模型所属的深度学习就是机器学习领域的其中一部分，与它平行的还有多模态模型、视觉模型等等其他的网络模型</a:t>
            </a:r>
            <a:endParaRPr lang="en-US" altLang="zh-CN">
              <a:sym typeface="+mn-ea"/>
            </a:endParaRPr>
          </a:p>
          <a:p>
            <a:pPr marL="171450" indent="-171450">
              <a:buFont typeface="Arial" panose="02080604020202020204" pitchFamily="34" charset="0"/>
              <a:buChar char="•"/>
            </a:pPr>
            <a:r>
              <a:rPr lang="zh-CN" altLang="en-US">
                <a:sym typeface="+mn-ea"/>
              </a:rPr>
              <a:t>比如现在手机和各个</a:t>
            </a:r>
            <a:r>
              <a:rPr lang="en-US" altLang="zh-CN">
                <a:sym typeface="+mn-ea"/>
              </a:rPr>
              <a:t> App </a:t>
            </a:r>
            <a:r>
              <a:rPr lang="zh-CN" altLang="en-US">
                <a:sym typeface="+mn-ea"/>
              </a:rPr>
              <a:t>应用的人脸识别技术就属于视觉模型最广泛的应用之一</a:t>
            </a:r>
            <a:endParaRPr lang="en-US" altLang="zh-CN"/>
          </a:p>
          <a:p>
            <a:endParaRPr lang="en-US" altLang="zh-CN">
              <a:sym typeface="+mn-ea"/>
            </a:endParaRPr>
          </a:p>
          <a:p>
            <a:r>
              <a:rPr lang="en-US" altLang="zh-CN">
                <a:sym typeface="+mn-ea"/>
              </a:rPr>
              <a:t>在大语言模型领域内，还能进一步划分智能体、提示词工程等等更细的领域和主题</a:t>
            </a:r>
            <a:endParaRPr lang="en-US" altLang="zh-CN"/>
          </a:p>
          <a:p>
            <a:endParaRPr lang="zh-CN" altLang="en-US"/>
          </a:p>
          <a:p>
            <a:r>
              <a:rPr lang="zh-CN" altLang="en-US"/>
              <a:t>本课（以及整门课）聚焦在 大语言模型</a:t>
            </a:r>
            <a:r>
              <a:rPr lang="en-US" altLang="zh-CN"/>
              <a:t> </a:t>
            </a:r>
            <a:r>
              <a:rPr lang="zh-CN" altLang="en-US"/>
              <a:t>这一层——也就是 </a:t>
            </a:r>
            <a:r>
              <a:rPr lang="en-US" altLang="zh-CN"/>
              <a:t>ChatGPT、</a:t>
            </a:r>
            <a:r>
              <a:rPr lang="zh-CN" altLang="en-US"/>
              <a:t>豆包、</a:t>
            </a:r>
            <a:r>
              <a:rPr lang="en-US" altLang="zh-CN"/>
              <a:t>DeepSeek </a:t>
            </a:r>
            <a:r>
              <a:rPr lang="zh-CN" altLang="en-US"/>
              <a:t>这类「会说话的大模型」。</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首先我们要让学生区分</a:t>
            </a:r>
            <a:r>
              <a:rPr lang="zh-CN" altLang="en-US">
                <a:sym typeface="+mn-ea"/>
              </a:rPr>
              <a:t>什么是模型本体，什么是围绕模型搭建的产品。</a:t>
            </a:r>
            <a:r>
              <a:rPr lang="zh-CN" altLang="en-US"/>
              <a:t>。</a:t>
            </a:r>
            <a:endParaRPr lang="zh-CN" altLang="en-US"/>
          </a:p>
          <a:p>
            <a:endParaRPr lang="zh-CN" altLang="en-US"/>
          </a:p>
          <a:p>
            <a:pPr marL="228600" indent="-228600">
              <a:buAutoNum type="arabicPeriod"/>
            </a:pPr>
            <a:r>
              <a:rPr lang="zh-CN" altLang="en-US"/>
              <a:t>发动机：提供最核心的能力，对于车来说就是前进的动力，对于</a:t>
            </a:r>
            <a:r>
              <a:rPr lang="en-US" altLang="zh-CN"/>
              <a:t>AI</a:t>
            </a:r>
            <a:r>
              <a:rPr lang="zh-CN" altLang="en-US"/>
              <a:t>产品来说，就是提供的判断力、各种内容的生成能力</a:t>
            </a:r>
            <a:endParaRPr lang="zh-CN" altLang="en-US"/>
          </a:p>
          <a:p>
            <a:pPr marL="228600" indent="-228600">
              <a:buAutoNum type="arabicPeriod"/>
            </a:pPr>
            <a:r>
              <a:rPr lang="zh-CN" altLang="en-US"/>
              <a:t>车轮：对应</a:t>
            </a:r>
            <a:r>
              <a:rPr lang="en-US" altLang="zh-CN"/>
              <a:t> tools, </a:t>
            </a:r>
            <a:r>
              <a:rPr lang="zh-CN" altLang="en-US"/>
              <a:t>辅助模型本体去获取信息，把系统的状态变更落实到具体的行为之上，比如运行代码</a:t>
            </a:r>
            <a:endParaRPr lang="zh-CN" altLang="en-US"/>
          </a:p>
          <a:p>
            <a:pPr marL="228600" indent="-228600">
              <a:buAutoNum type="arabicPeriod"/>
            </a:pPr>
            <a:r>
              <a:rPr lang="zh-CN" altLang="en-US"/>
              <a:t>车架</a:t>
            </a:r>
            <a:r>
              <a:rPr lang="en-US" altLang="zh-CN"/>
              <a:t>+</a:t>
            </a:r>
            <a:r>
              <a:rPr lang="zh-CN" altLang="en-US"/>
              <a:t>底盘：这个为模型的整体运行提供了一套编排好的流程，比如最近很火的</a:t>
            </a:r>
            <a:r>
              <a:rPr lang="en-US" altLang="zh-CN"/>
              <a:t> Harness </a:t>
            </a:r>
            <a:r>
              <a:rPr lang="zh-CN" altLang="en-US"/>
              <a:t>概念</a:t>
            </a:r>
            <a:endParaRPr lang="zh-CN" altLang="en-US"/>
          </a:p>
          <a:p>
            <a:pPr marL="228600" indent="-228600">
              <a:buAutoNum type="arabicPeriod"/>
            </a:pPr>
            <a:r>
              <a:rPr lang="zh-CN" altLang="en-US"/>
              <a:t>方向盘：这个就是我们直接操作、写入对话的</a:t>
            </a:r>
            <a:r>
              <a:rPr lang="en-US" altLang="zh-CN"/>
              <a:t> App </a:t>
            </a:r>
            <a:r>
              <a:rPr lang="zh-CN" altLang="en-US"/>
              <a:t>或者</a:t>
            </a:r>
            <a:r>
              <a:rPr lang="en-US" altLang="zh-CN"/>
              <a:t> Web </a:t>
            </a:r>
            <a:r>
              <a:rPr lang="zh-CN" altLang="en-US"/>
              <a:t>界面</a:t>
            </a:r>
            <a:endParaRPr lang="zh-CN" altLang="en-US"/>
          </a:p>
          <a:p>
            <a:pPr marL="228600" indent="-228600">
              <a:buAutoNum type="arabicPeriod"/>
            </a:pPr>
            <a:r>
              <a:rPr lang="zh-CN" altLang="en-US"/>
              <a:t>整车：大模型产品，比如</a:t>
            </a:r>
            <a:r>
              <a:rPr lang="en-US" altLang="zh-CN"/>
              <a:t> </a:t>
            </a:r>
            <a:r>
              <a:rPr lang="zh-CN" altLang="en-US"/>
              <a:t>豆包，</a:t>
            </a:r>
            <a:r>
              <a:rPr lang="en-US" altLang="zh-CN"/>
              <a:t>Workbuddy</a:t>
            </a:r>
            <a:endParaRPr lang="zh-CN" altLang="en-US"/>
          </a:p>
          <a:p>
            <a:pPr marL="228600" indent="-228600">
              <a:buAutoNum type="arabicPeriod"/>
            </a:pPr>
            <a:endParaRPr lang="zh-CN" altLang="en-US"/>
          </a:p>
          <a:p>
            <a:pPr indent="0">
              <a:buNone/>
            </a:pPr>
            <a:r>
              <a:rPr lang="zh-CN" altLang="en-US"/>
              <a:t>我们可以从这两个方面去区分：</a:t>
            </a:r>
            <a:endParaRPr lang="zh-CN" altLang="en-US"/>
          </a:p>
          <a:p>
            <a:pPr marL="228600" indent="-228600">
              <a:buAutoNum type="arabicPeriod"/>
            </a:pPr>
            <a:r>
              <a:rPr lang="zh-CN" altLang="en-US"/>
              <a:t>模型本体无状态</a:t>
            </a:r>
            <a:endParaRPr lang="zh-CN" altLang="en-US"/>
          </a:p>
          <a:p>
            <a:pPr marL="228600" indent="-228600">
              <a:buAutoNum type="arabicPeriod"/>
            </a:pPr>
            <a:r>
              <a:rPr lang="zh-CN" altLang="en-US"/>
              <a:t>模型</a:t>
            </a:r>
            <a:r>
              <a:rPr lang="zh-CN" altLang="en-US">
                <a:solidFill>
                  <a:schemeClr val="bg1"/>
                </a:solidFill>
                <a:sym typeface="+mn-ea"/>
              </a:rPr>
              <a:t>本体的知识有截止日期</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我们以豆包为例做一下区分，看一下什么时候是大模型本体在起作用，什么是大模型产品的最外层包装。</a:t>
            </a:r>
            <a:endParaRPr lang="zh-CN" altLang="en-US"/>
          </a:p>
          <a:p>
            <a:endParaRPr lang="zh-CN" altLang="en-US"/>
          </a:p>
          <a:p>
            <a:r>
              <a:rPr lang="zh-CN" altLang="en-US"/>
              <a:t>【看一下豆包界面，整体是产品，左上角是工具，右下角是模型】</a:t>
            </a:r>
            <a:endParaRPr lang="zh-CN" altLang="en-US"/>
          </a:p>
          <a:p>
            <a:endParaRPr lang="zh-CN" altLang="en-US"/>
          </a:p>
          <a:p>
            <a:r>
              <a:rPr lang="zh-CN" altLang="en-US"/>
              <a:t>假设你想要让豆包来帮你分析一道考试里的错题，你拍了照作为附件上传，然后通过语音输入给它发了一段话，我们来看看豆包内部发生了什么变化：</a:t>
            </a:r>
            <a:endParaRPr lang="zh-CN" altLang="en-US"/>
          </a:p>
          <a:p>
            <a:endParaRPr lang="zh-CN" altLang="en-US"/>
          </a:p>
          <a:p>
            <a:r>
              <a:rPr lang="zh-CN" altLang="en-US"/>
              <a:t>首先先明确一点，我们平常接触到的豆包已经是包装好的产品，它内部使用的</a:t>
            </a:r>
            <a:r>
              <a:rPr lang="en-US" altLang="zh-CN"/>
              <a:t> Seed </a:t>
            </a:r>
            <a:r>
              <a:rPr lang="zh-CN" altLang="en-US"/>
              <a:t>系列模型才是大模型本体。</a:t>
            </a:r>
            <a:endParaRPr lang="zh-CN" altLang="en-US"/>
          </a:p>
          <a:p>
            <a:endParaRPr lang="zh-CN" altLang="en-US"/>
          </a:p>
          <a:p>
            <a:r>
              <a:rPr lang="zh-CN" altLang="en-US"/>
              <a:t>【讲解流程】</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【大家看到这张图不用害怕啊，我只是把它放在这边显得这一页</a:t>
            </a:r>
            <a:r>
              <a:rPr lang="en-US" altLang="zh-CN"/>
              <a:t>PPT</a:t>
            </a:r>
            <a:r>
              <a:rPr lang="zh-CN" altLang="en-US"/>
              <a:t>会显得很高大上，不去深究里面的数学原理】</a:t>
            </a:r>
            <a:endParaRPr lang="zh-CN" altLang="en-US"/>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港科大在</a:t>
            </a:r>
            <a:r>
              <a:rPr lang="zh-CN"/>
              <a:t>今年排名第</a:t>
            </a:r>
            <a:r>
              <a:rPr lang="en-US" altLang="zh-CN"/>
              <a:t>44</a:t>
            </a:r>
            <a:r>
              <a:rPr lang="zh-CN" altLang="en-US"/>
              <a:t>位。</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因为模型输出不是按照文本的符号输出的，而是按照意思输出的，每次输出的是语义的一个最小单元</a:t>
            </a:r>
            <a:endParaRPr lang="zh-CN" altLang="en-US"/>
          </a:p>
          <a:p>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a:t>
            </a:r>
            <a:r>
              <a:rPr lang="en-US" altLang="zh-CN">
                <a:sym typeface="+mn-ea"/>
              </a:rPr>
              <a:t>Transformer </a:t>
            </a:r>
            <a:r>
              <a:rPr lang="zh-CN" altLang="en-US">
                <a:sym typeface="+mn-ea"/>
              </a:rPr>
              <a:t>这样的神经网络模型处理的是数字，如何让他们可以处理文字符号呢？】</a:t>
            </a:r>
            <a:endParaRPr lang="zh-CN" altLang="en-US"/>
          </a:p>
          <a:p>
            <a:endParaRPr lang="zh-CN" altLang="en-US"/>
          </a:p>
          <a:p>
            <a:r>
              <a:rPr lang="zh-CN" altLang="en-US"/>
              <a:t>一般有</a:t>
            </a:r>
            <a:r>
              <a:rPr lang="en-US" altLang="zh-CN"/>
              <a:t> 1536 </a:t>
            </a:r>
            <a:r>
              <a:rPr lang="zh-CN" altLang="en-US"/>
              <a:t>维</a:t>
            </a:r>
            <a:endParaRPr lang="zh-CN" altLang="en-US"/>
          </a:p>
          <a:p>
            <a:endParaRPr lang="zh-CN" altLang="en-US"/>
          </a:p>
          <a:p>
            <a:pPr marL="171450" indent="-171450">
              <a:buFont typeface="Arial" panose="02080604020202020204" pitchFamily="34" charset="0"/>
              <a:buChar char="•"/>
            </a:pPr>
            <a:r>
              <a:rPr lang="zh-CN" altLang="en-US"/>
              <a:t>相近语义在向量空间中更接近，相反语义距离更远</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在我们构造的这个小小空间里</a:t>
            </a:r>
            <a:endParaRPr lang="zh-CN" altLang="en-US"/>
          </a:p>
          <a:p>
            <a:pPr marL="171450" indent="-171450">
              <a:buFont typeface="Arial" panose="02080604020202020204" pitchFamily="34" charset="0"/>
              <a:buChar char="•"/>
            </a:pPr>
            <a:r>
              <a:rPr lang="zh-CN" altLang="en-US"/>
              <a:t>。。。</a:t>
            </a:r>
            <a:endParaRPr lang="zh-CN" altLang="en-US"/>
          </a:p>
          <a:p>
            <a:pPr marL="171450" indent="-171450">
              <a:buFont typeface="Arial" panose="02080604020202020204" pitchFamily="34" charset="0"/>
              <a:buChar char="•"/>
            </a:pPr>
            <a:r>
              <a:rPr lang="zh-CN" altLang="en-US"/>
              <a:t>最后白天</a:t>
            </a:r>
            <a:r>
              <a:rPr lang="en-US" altLang="zh-CN"/>
              <a:t>-</a:t>
            </a:r>
            <a:r>
              <a:rPr lang="zh-CN" altLang="en-US"/>
              <a:t>夜晚都描述时间，所以相对更近一点</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RNN/LSTM </a:t>
            </a:r>
            <a:r>
              <a:rPr lang="zh-CN" altLang="en-US"/>
              <a:t>同样是解析数字化后的文本，也可以顺序读取文本后给出后续内容，为什么要用</a:t>
            </a:r>
            <a:r>
              <a:rPr lang="en-US" altLang="zh-CN"/>
              <a:t> </a:t>
            </a:r>
            <a:r>
              <a:rPr lang="zh-CN" altLang="en-US"/>
              <a:t>。。。</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从实现注意力的这个结构可以看出，同一批计算被拆分为了好几个互相独立的部分。。。</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讲解这个部分的互动游戏大家可以参考我去年讲的公开课的时候拉学生们一起做的一个游戏：后背写字传递</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en-US" altLang="zh-CN"/>
              <a:t>7</a:t>
            </a:r>
            <a:r>
              <a:rPr lang="zh-CN" altLang="en-US"/>
              <a:t>年里主要是在做硬件的迭代升级：</a:t>
            </a:r>
            <a:r>
              <a:rPr lang="en-US" altLang="zh-CN"/>
              <a:t>GPU</a:t>
            </a:r>
            <a:r>
              <a:rPr lang="zh-CN" altLang="en-US"/>
              <a:t>显存</a:t>
            </a:r>
            <a:r>
              <a:rPr lang="en-US" altLang="zh-CN"/>
              <a:t>↑</a:t>
            </a:r>
            <a:r>
              <a:rPr lang="zh-CN" altLang="en-US"/>
              <a:t>，集群化，计算速度</a:t>
            </a:r>
            <a:r>
              <a:rPr lang="en-US" altLang="zh-CN"/>
              <a:t>↑</a:t>
            </a:r>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参数量受限所以上下文长度会受限</a:t>
            </a:r>
            <a:endParaRPr lang="zh-CN" altLang="en-US"/>
          </a:p>
          <a:p>
            <a:pPr marL="171450" indent="-171450">
              <a:buFont typeface="Arial" panose="02080604020202020204" pitchFamily="34" charset="0"/>
              <a:buChar char="•"/>
            </a:pPr>
            <a:r>
              <a:rPr lang="zh-CN" altLang="en-US"/>
              <a:t>大家可能觉得一百万字很长了，已经相当于一本《基督山伯爵》</a:t>
            </a:r>
            <a:endParaRPr lang="zh-CN" altLang="en-US"/>
          </a:p>
          <a:p>
            <a:pPr marL="171450" indent="-171450">
              <a:buFont typeface="Arial" panose="02080604020202020204" pitchFamily="34" charset="0"/>
              <a:buChar char="•"/>
            </a:pPr>
            <a:r>
              <a:rPr lang="zh-CN" altLang="en-US"/>
              <a:t>生产环境中一轮对话差不多要几十</a:t>
            </a:r>
            <a:r>
              <a:rPr lang="en-US" altLang="zh-CN"/>
              <a:t>K</a:t>
            </a:r>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我们说</a:t>
            </a:r>
            <a:r>
              <a:rPr lang="en-US" altLang="zh-CN"/>
              <a:t>LLM</a:t>
            </a:r>
            <a:r>
              <a:rPr lang="zh-CN" altLang="en-US"/>
              <a:t>从表现上模拟了人类思考和说话的过程，但本质上是否一致还存在争议，并且可以预见，这种争议还会存在很久</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使用模型前，要先了解它的使用说明</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模型能力的差异主要来源于模型架构和训练过程</a:t>
            </a:r>
            <a:endParaRPr lang="zh-CN" altLang="en-US"/>
          </a:p>
          <a:p>
            <a:pPr marL="628650" lvl="1" indent="-171450">
              <a:buFont typeface="Arial" panose="02080604020202020204" pitchFamily="34" charset="0"/>
              <a:buChar char="•"/>
            </a:pPr>
            <a:r>
              <a:rPr lang="zh-CN" altLang="en-US"/>
              <a:t>模型架构比较理论我们不做深入讲解</a:t>
            </a:r>
            <a:endParaRPr lang="zh-CN" altLang="en-US"/>
          </a:p>
          <a:p>
            <a:pPr marL="628650" lvl="1" indent="-171450">
              <a:buFont typeface="Arial" panose="02080604020202020204" pitchFamily="34" charset="0"/>
              <a:buChar char="•"/>
            </a:pPr>
            <a:r>
              <a:rPr lang="zh-CN" altLang="en-US"/>
              <a:t>主要看一下训练的过程是怎么回事</a:t>
            </a:r>
            <a:endParaRPr lang="zh-CN" altLang="en-US"/>
          </a:p>
          <a:p>
            <a:pPr marL="171450" indent="-171450">
              <a:buFont typeface="Arial" panose="02080604020202020204" pitchFamily="34" charset="0"/>
              <a:buChar char="•"/>
            </a:pPr>
            <a:endParaRPr lang="zh-CN" altLang="en-US"/>
          </a:p>
          <a:p>
            <a:pPr marL="171450" indent="-171450">
              <a:buFont typeface="Arial" panose="02080604020202020204" pitchFamily="34" charset="0"/>
              <a:buChar char="•"/>
            </a:pPr>
            <a:r>
              <a:rPr lang="zh-CN" altLang="en-US"/>
              <a:t>本质：函数空间寻找最小值</a:t>
            </a:r>
            <a:endParaRPr lang="zh-CN" altLang="en-US"/>
          </a:p>
          <a:p>
            <a:pPr marL="628650" lvl="1" indent="-171450">
              <a:buFont typeface="Arial" panose="02080604020202020204" pitchFamily="34" charset="0"/>
              <a:buChar char="•"/>
            </a:pPr>
            <a:r>
              <a:rPr lang="zh-CN" altLang="en-US"/>
              <a:t>类比下山坡，空间形状是由训练数据勾勒出来的</a:t>
            </a:r>
            <a:endParaRPr lang="zh-CN" altLang="en-US"/>
          </a:p>
          <a:p>
            <a:pPr marL="628650" lvl="1" indent="-171450">
              <a:buFont typeface="Arial" panose="02080604020202020204" pitchFamily="34" charset="0"/>
              <a:buChar char="•"/>
            </a:pPr>
            <a:r>
              <a:rPr lang="zh-CN" altLang="en-US"/>
              <a:t>从一个出发点走到一个坑底，就完成了一次训练</a:t>
            </a:r>
            <a:endParaRPr lang="zh-CN" altLang="en-US"/>
          </a:p>
          <a:p>
            <a:pPr indent="0">
              <a:buFont typeface="Arial" panose="02080604020202020204" pitchFamily="34" charset="0"/>
              <a:buNone/>
            </a:pP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目标：</a:t>
            </a:r>
            <a:endParaRPr lang="zh-CN" altLang="en-US"/>
          </a:p>
          <a:p>
            <a:pPr marL="628650" lvl="1" indent="-171450">
              <a:buFont typeface="Arial" panose="02080604020202020204" pitchFamily="34" charset="0"/>
              <a:buChar char="•"/>
            </a:pPr>
            <a:r>
              <a:rPr lang="zh-CN" altLang="en-US"/>
              <a:t>有一个技术叫做“</a:t>
            </a:r>
            <a:r>
              <a:rPr lang="en-US" altLang="zh-CN"/>
              <a:t>fine tuning</a:t>
            </a:r>
            <a:r>
              <a:rPr lang="zh-CN" altLang="en-US"/>
              <a:t>”，模型调优，就是针对性地再给模型一些数据做额外训练</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有点需要大家额外注意：</a:t>
            </a:r>
            <a:endParaRPr lang="zh-CN" altLang="en-US"/>
          </a:p>
          <a:p>
            <a:pPr marL="171450" indent="-171450">
              <a:buFont typeface="Arial" panose="02080604020202020204" pitchFamily="34" charset="0"/>
              <a:buChar char="•"/>
            </a:pPr>
            <a:r>
              <a:rPr lang="zh-CN" altLang="en-US"/>
              <a:t>模型实际看到的文本和我们不同，会有很多特殊的指引符号</a:t>
            </a:r>
            <a:endParaRPr lang="zh-CN" altLang="en-US"/>
          </a:p>
          <a:p>
            <a:pPr marL="171450" indent="-171450">
              <a:buFont typeface="Arial" panose="02080604020202020204" pitchFamily="34" charset="0"/>
              <a:buChar char="•"/>
            </a:pPr>
            <a:r>
              <a:rPr lang="zh-CN" altLang="en-US"/>
              <a:t>正因为有了这些不同“角色”的文本，我们在写</a:t>
            </a:r>
            <a:r>
              <a:rPr lang="en-US" altLang="zh-CN"/>
              <a:t> prompt </a:t>
            </a:r>
            <a:r>
              <a:rPr lang="zh-CN" altLang="en-US"/>
              <a:t>的时候就要注意一些技巧，比如给</a:t>
            </a:r>
            <a:r>
              <a:rPr lang="en-US" altLang="zh-CN"/>
              <a:t>LLM</a:t>
            </a:r>
            <a:r>
              <a:rPr lang="zh-CN" altLang="en-US"/>
              <a:t>一个人设</a:t>
            </a:r>
            <a:endParaRPr lang="zh-CN" altLang="en-US"/>
          </a:p>
          <a:p>
            <a:endParaRPr lang="zh-CN" altLang="en-US"/>
          </a:p>
          <a:p>
            <a:r>
              <a:rPr lang="zh-CN" altLang="en-US"/>
              <a:t>我们平常使用模型，其实就是在执行一次次的推理任务</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t>在第</a:t>
            </a:r>
            <a:r>
              <a:rPr lang="en-US" altLang="zh-CN"/>
              <a:t> 6 </a:t>
            </a:r>
            <a:r>
              <a:rPr lang="zh-CN" altLang="en-US"/>
              <a:t>课的时候，我们要教给学生一些与</a:t>
            </a:r>
            <a:r>
              <a:rPr lang="en-US" altLang="zh-CN"/>
              <a:t> AI </a:t>
            </a:r>
            <a:r>
              <a:rPr lang="zh-CN" altLang="en-US"/>
              <a:t>交互的技巧，比如提示词工程</a:t>
            </a:r>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这些技巧比较琐碎，但是都不难，这里不详细展开，大家在看了课纲和我们之后给大家的课件以及视频之后一定能够学会</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我们已经知道如何与大模型直接进行对话了，那么如何指挥它完成复杂任务呢</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给大家看一个我们实际用到的</a:t>
            </a:r>
            <a:r>
              <a:rPr lang="en-US" altLang="zh-CN"/>
              <a:t> prompt </a:t>
            </a:r>
            <a:r>
              <a:rPr lang="zh-CN" altLang="en-US"/>
              <a:t>案例：</a:t>
            </a:r>
            <a:endParaRPr lang="zh-CN" altLang="en-US"/>
          </a:p>
          <a:p>
            <a:pPr marL="171450" indent="-171450">
              <a:buFont typeface="Arial" panose="02080604020202020204" pitchFamily="34" charset="0"/>
              <a:buChar char="•"/>
            </a:pPr>
            <a:r>
              <a:rPr lang="zh-CN" altLang="en-US"/>
              <a:t>这个是节选</a:t>
            </a:r>
            <a:endParaRPr lang="zh-CN" altLang="en-US"/>
          </a:p>
          <a:p>
            <a:pPr marL="171450" indent="-171450">
              <a:buFont typeface="Arial" panose="02080604020202020204" pitchFamily="34" charset="0"/>
              <a:buChar char="•"/>
            </a:pPr>
            <a:r>
              <a:rPr lang="zh-CN" altLang="en-US"/>
              <a:t>顶层是一个</a:t>
            </a:r>
            <a:r>
              <a:rPr lang="en-US" altLang="zh-CN"/>
              <a:t> CoT, </a:t>
            </a:r>
            <a:r>
              <a:rPr lang="zh-CN" altLang="en-US"/>
              <a:t>一步一步指引做法</a:t>
            </a:r>
            <a:endParaRPr lang="zh-CN" altLang="en-US"/>
          </a:p>
          <a:p>
            <a:pPr marL="171450" indent="-171450">
              <a:buFont typeface="Arial" panose="02080604020202020204" pitchFamily="34" charset="0"/>
              <a:buChar char="•"/>
            </a:pPr>
            <a:r>
              <a:rPr lang="zh-CN" altLang="en-US"/>
              <a:t>里面又包含了</a:t>
            </a:r>
            <a:r>
              <a:rPr lang="en-US" altLang="zh-CN"/>
              <a:t> ToT</a:t>
            </a:r>
            <a:endParaRPr lang="en-US" altLang="zh-CN"/>
          </a:p>
          <a:p>
            <a:pPr marL="171450" indent="-171450">
              <a:buFont typeface="Arial" panose="02080604020202020204" pitchFamily="34" charset="0"/>
              <a:buChar char="•"/>
            </a:pPr>
            <a:r>
              <a:rPr lang="zh-CN" altLang="en-US"/>
              <a:t>整体的系统又可以看作是</a:t>
            </a:r>
            <a:r>
              <a:rPr lang="en-US" altLang="zh-CN"/>
              <a:t> GoT</a:t>
            </a:r>
            <a:r>
              <a:rPr lang="zh-CN" altLang="en-US"/>
              <a:t>，因为有各种状态</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有了刚才的思维模式，我们就可以让</a:t>
            </a:r>
            <a:r>
              <a:rPr lang="en-US" altLang="zh-CN"/>
              <a:t> AI </a:t>
            </a:r>
            <a:r>
              <a:rPr lang="zh-CN" altLang="en-US"/>
              <a:t>按照某种特定的行为模式运行</a:t>
            </a:r>
            <a:endParaRPr lang="zh-CN" altLang="en-US"/>
          </a:p>
          <a:p>
            <a:pPr marL="171450" indent="-171450">
              <a:buFont typeface="Arial" panose="02080604020202020204" pitchFamily="34" charset="0"/>
              <a:buChar char="•"/>
            </a:pPr>
            <a:r>
              <a:rPr lang="zh-CN" altLang="en-US"/>
              <a:t>第一种比较直接，但是容错率比较低</a:t>
            </a:r>
            <a:endParaRPr lang="zh-CN" altLang="en-US"/>
          </a:p>
          <a:p>
            <a:pPr marL="171450" indent="-171450">
              <a:buFont typeface="Arial" panose="02080604020202020204" pitchFamily="34" charset="0"/>
              <a:buChar char="•"/>
            </a:pPr>
            <a:r>
              <a:rPr lang="zh-CN" altLang="en-US"/>
              <a:t>第二种</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有很多非文本化的任务</a:t>
            </a:r>
            <a:r>
              <a:rPr lang="en-US" altLang="zh-CN"/>
              <a:t>LLM</a:t>
            </a:r>
            <a:r>
              <a:rPr lang="zh-CN" altLang="en-US"/>
              <a:t>本体并不擅长或者根本没有办法执行：</a:t>
            </a:r>
            <a:endParaRPr lang="zh-CN" altLang="en-US"/>
          </a:p>
          <a:p>
            <a:pPr marL="628650" lvl="1" indent="-171450">
              <a:buFont typeface="Arial" panose="02080604020202020204" pitchFamily="34" charset="0"/>
              <a:buChar char="•"/>
            </a:pPr>
            <a:r>
              <a:rPr lang="zh-CN" altLang="en-US"/>
              <a:t>数学计算</a:t>
            </a:r>
            <a:endParaRPr lang="zh-CN" altLang="en-US"/>
          </a:p>
          <a:p>
            <a:pPr marL="628650" lvl="1" indent="-171450">
              <a:buFont typeface="Arial" panose="02080604020202020204" pitchFamily="34" charset="0"/>
              <a:buChar char="•"/>
            </a:pPr>
            <a:r>
              <a:rPr lang="en-US" altLang="zh-CN"/>
              <a:t>PPT </a:t>
            </a:r>
            <a:r>
              <a:rPr lang="zh-CN" altLang="en-US"/>
              <a:t>编写</a:t>
            </a:r>
            <a:endParaRPr lang="zh-CN" altLang="en-US"/>
          </a:p>
          <a:p>
            <a:pPr marL="171450" lvl="0" indent="-171450">
              <a:buFont typeface="Arial" panose="02080604020202020204" pitchFamily="34" charset="0"/>
              <a:buChar char="•"/>
            </a:pPr>
            <a:r>
              <a:rPr lang="zh-CN" altLang="en-US"/>
              <a:t>怎么办？可以让它们调用工具，就在执行阶段做就可以</a:t>
            </a:r>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buFont typeface="Arial" panose="02080604020202020204" pitchFamily="34" charset="0"/>
              <a:buNone/>
            </a:pPr>
            <a:r>
              <a:rPr lang="zh-CN" altLang="en-US"/>
              <a:t>教</a:t>
            </a:r>
            <a:r>
              <a:rPr lang="en-US" altLang="zh-CN"/>
              <a:t> AI </a:t>
            </a:r>
            <a:r>
              <a:rPr lang="zh-CN" altLang="en-US"/>
              <a:t>使用工具这事儿听起来很高大上，好像又涉及到训练啊，模型啊什么的，但实际很简单：</a:t>
            </a:r>
            <a:endParaRPr lang="zh-CN" altLang="en-US"/>
          </a:p>
          <a:p>
            <a:pPr marL="171450" indent="-171450">
              <a:buFont typeface="Arial" panose="02080604020202020204" pitchFamily="34" charset="0"/>
              <a:buChar char="•"/>
            </a:pPr>
            <a:r>
              <a:rPr lang="zh-CN" altLang="en-US"/>
              <a:t>给他一本工具说明，让他自己选，然后给出使用工具的准备材料即可</a:t>
            </a:r>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Tx/>
              <a:buChar char="-"/>
            </a:pPr>
            <a:r>
              <a:rPr lang="zh-CN" altLang="en-US" dirty="0">
                <a:sym typeface="+mn-ea"/>
              </a:rPr>
              <a:t>智能体大脑：</a:t>
            </a:r>
            <a:r>
              <a:rPr lang="en-US" altLang="zh-CN" dirty="0" err="1">
                <a:sym typeface="+mn-ea"/>
              </a:rPr>
              <a:t>ReAct模式</a:t>
            </a:r>
            <a:endParaRPr lang="en-US" altLang="zh-CN" dirty="0"/>
          </a:p>
          <a:p>
            <a:pPr marL="628650" lvl="1" indent="-171450">
              <a:buFontTx/>
              <a:buChar char="-"/>
            </a:pPr>
            <a:r>
              <a:rPr lang="zh-CN" altLang="en-US" dirty="0">
                <a:sym typeface="+mn-ea"/>
              </a:rPr>
              <a:t>天线 </a:t>
            </a:r>
            <a:r>
              <a:rPr lang="en-US" altLang="zh-CN" dirty="0">
                <a:sym typeface="+mn-ea"/>
              </a:rPr>
              <a:t>-&gt; </a:t>
            </a:r>
            <a:r>
              <a:rPr lang="zh-CN" altLang="en-US" dirty="0">
                <a:sym typeface="+mn-ea"/>
              </a:rPr>
              <a:t>外部的大模型</a:t>
            </a:r>
            <a:endParaRPr lang="en-US" altLang="zh-CN" dirty="0"/>
          </a:p>
          <a:p>
            <a:pPr marL="628650" lvl="1" indent="-171450">
              <a:buFontTx/>
              <a:buChar char="-"/>
            </a:pPr>
            <a:endParaRPr lang="en-US" altLang="zh-CN" dirty="0"/>
          </a:p>
          <a:p>
            <a:pPr marL="171450" indent="-171450">
              <a:buFontTx/>
              <a:buChar char="-"/>
            </a:pPr>
            <a:r>
              <a:rPr lang="zh-CN" altLang="en-US" dirty="0">
                <a:sym typeface="+mn-ea"/>
              </a:rPr>
              <a:t>数据存储：</a:t>
            </a:r>
            <a:endParaRPr lang="en-US" altLang="zh-CN" dirty="0"/>
          </a:p>
          <a:p>
            <a:pPr marL="628650" lvl="1" indent="-171450">
              <a:buFontTx/>
              <a:buChar char="-"/>
            </a:pPr>
            <a:r>
              <a:rPr lang="zh-CN" altLang="en-US" dirty="0">
                <a:sym typeface="+mn-ea"/>
              </a:rPr>
              <a:t>人设、记忆（对话数据，存储在特定的文本文件中）</a:t>
            </a:r>
            <a:endParaRPr lang="en-US" altLang="zh-CN" dirty="0"/>
          </a:p>
          <a:p>
            <a:pPr marL="628650" lvl="1" indent="-171450">
              <a:buFontTx/>
              <a:buChar char="-"/>
            </a:pPr>
            <a:r>
              <a:rPr lang="zh-CN" altLang="en-US" dirty="0">
                <a:sym typeface="+mn-ea"/>
              </a:rPr>
              <a:t>每次对话的时候都会参考这些数据，拼接在提示词的特定位置</a:t>
            </a:r>
            <a:endParaRPr lang="en-US" altLang="zh-CN" dirty="0"/>
          </a:p>
          <a:p>
            <a:pPr marL="628650" lvl="1" indent="-171450">
              <a:buFontTx/>
              <a:buChar char="-"/>
            </a:pPr>
            <a:r>
              <a:rPr lang="zh-CN" altLang="en-US" dirty="0">
                <a:sym typeface="+mn-ea"/>
              </a:rPr>
              <a:t>每轮对话的内容都很长</a:t>
            </a:r>
            <a:endParaRPr lang="en-US" altLang="zh-CN" dirty="0"/>
          </a:p>
          <a:p>
            <a:pPr marL="628650" lvl="1" indent="-171450">
              <a:buFontTx/>
              <a:buChar char="-"/>
            </a:pPr>
            <a:endParaRPr lang="en-US" altLang="zh-CN" dirty="0"/>
          </a:p>
          <a:p>
            <a:pPr marL="171450" indent="-171450">
              <a:buFontTx/>
              <a:buChar char="-"/>
            </a:pPr>
            <a:r>
              <a:rPr lang="en-US" altLang="zh-CN" dirty="0">
                <a:sym typeface="+mn-ea"/>
              </a:rPr>
              <a:t>Skills</a:t>
            </a:r>
            <a:r>
              <a:rPr lang="zh-CN" altLang="en-US" dirty="0">
                <a:sym typeface="+mn-ea"/>
              </a:rPr>
              <a:t>（短爪子：操作手册）</a:t>
            </a:r>
            <a:r>
              <a:rPr lang="en-US" altLang="zh-CN" dirty="0">
                <a:sym typeface="+mn-ea"/>
              </a:rPr>
              <a:t>：</a:t>
            </a:r>
            <a:r>
              <a:rPr lang="en-US" altLang="zh-CN" dirty="0" err="1">
                <a:sym typeface="+mn-ea"/>
              </a:rPr>
              <a:t>Prompt的一种索引和管理方式</a:t>
            </a:r>
            <a:endParaRPr lang="en-US" altLang="zh-CN" dirty="0"/>
          </a:p>
          <a:p>
            <a:pPr marL="628650" lvl="1" indent="-171450">
              <a:buFontTx/>
              <a:buChar char="-"/>
            </a:pPr>
            <a:r>
              <a:rPr lang="zh-CN" altLang="en-US" dirty="0">
                <a:sym typeface="+mn-ea"/>
              </a:rPr>
              <a:t>大分类</a:t>
            </a:r>
            <a:r>
              <a:rPr lang="en-US" altLang="zh-CN" dirty="0">
                <a:sym typeface="+mn-ea"/>
              </a:rPr>
              <a:t> -&gt; </a:t>
            </a:r>
            <a:r>
              <a:rPr lang="zh-CN" altLang="en-US" dirty="0">
                <a:sym typeface="+mn-ea"/>
              </a:rPr>
              <a:t>小分类 </a:t>
            </a:r>
            <a:r>
              <a:rPr lang="en-US" altLang="zh-CN" dirty="0">
                <a:sym typeface="+mn-ea"/>
              </a:rPr>
              <a:t>-&gt; </a:t>
            </a:r>
            <a:r>
              <a:rPr lang="zh-CN" altLang="en-US" dirty="0">
                <a:sym typeface="+mn-ea"/>
              </a:rPr>
              <a:t>具体的操作流程</a:t>
            </a:r>
            <a:endParaRPr lang="en-US" altLang="zh-CN" dirty="0"/>
          </a:p>
          <a:p>
            <a:pPr marL="628650" lvl="1" indent="-171450">
              <a:buFontTx/>
              <a:buChar char="-"/>
            </a:pPr>
            <a:r>
              <a:rPr lang="zh-CN" altLang="en-US" dirty="0">
                <a:sym typeface="+mn-ea"/>
              </a:rPr>
              <a:t>每一次检索都需要和大模型交互</a:t>
            </a:r>
            <a:endParaRPr lang="en-US" altLang="zh-CN" dirty="0"/>
          </a:p>
          <a:p>
            <a:pPr marL="628650" lvl="1" indent="-171450">
              <a:buFontTx/>
              <a:buChar char="-"/>
            </a:pPr>
            <a:r>
              <a:rPr lang="zh-CN" altLang="en-US" dirty="0">
                <a:sym typeface="+mn-ea"/>
              </a:rPr>
              <a:t>对话的伦次很长，上下文很长</a:t>
            </a:r>
            <a:endParaRPr lang="en-US" altLang="zh-CN" dirty="0"/>
          </a:p>
          <a:p>
            <a:pPr marL="628650" lvl="1" indent="-171450">
              <a:buFontTx/>
              <a:buChar char="-"/>
            </a:pPr>
            <a:endParaRPr lang="en-US" altLang="zh-CN" dirty="0"/>
          </a:p>
          <a:p>
            <a:pPr marL="171450" indent="-171450">
              <a:buFontTx/>
              <a:buChar char="-"/>
            </a:pPr>
            <a:r>
              <a:rPr lang="en-US" altLang="zh-CN" dirty="0">
                <a:sym typeface="+mn-ea"/>
              </a:rPr>
              <a:t>Gateway</a:t>
            </a:r>
            <a:r>
              <a:rPr lang="zh-CN" altLang="en-US" dirty="0">
                <a:sym typeface="+mn-ea"/>
              </a:rPr>
              <a:t>（长爪子：工具包）</a:t>
            </a:r>
            <a:r>
              <a:rPr lang="en-US" altLang="zh-CN" dirty="0">
                <a:sym typeface="+mn-ea"/>
              </a:rPr>
              <a:t>：MCP + </a:t>
            </a:r>
            <a:r>
              <a:rPr lang="en-US" altLang="zh-CN" dirty="0" err="1">
                <a:sym typeface="+mn-ea"/>
              </a:rPr>
              <a:t>类似MCP的特殊协议</a:t>
            </a:r>
            <a:endParaRPr lang="en-US" altLang="zh-CN" dirty="0"/>
          </a:p>
          <a:p>
            <a:pPr marL="628650" lvl="1" indent="-171450">
              <a:buFontTx/>
              <a:buChar char="-"/>
            </a:pPr>
            <a:r>
              <a:rPr lang="zh-CN" altLang="en-US" dirty="0">
                <a:sym typeface="+mn-ea"/>
              </a:rPr>
              <a:t>需要大模型对工具的结果进行评估、筛选和总结</a:t>
            </a:r>
            <a:endParaRPr lang="en-US" altLang="zh-CN" dirty="0"/>
          </a:p>
          <a:p>
            <a:pPr lvl="1" indent="0">
              <a:buFontTx/>
              <a:buNone/>
            </a:pP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模型选择方面：</a:t>
            </a:r>
            <a:endParaRPr lang="zh-CN" altLang="en-US"/>
          </a:p>
          <a:p>
            <a:pPr marL="171450" indent="-171450">
              <a:buFont typeface="Arial" panose="02080604020202020204" pitchFamily="34" charset="0"/>
              <a:buChar char="•"/>
            </a:pPr>
            <a:r>
              <a:rPr lang="zh-CN" altLang="en-US"/>
              <a:t>非</a:t>
            </a:r>
            <a:r>
              <a:rPr lang="en-US" altLang="zh-CN"/>
              <a:t> Agent </a:t>
            </a:r>
            <a:r>
              <a:rPr lang="zh-CN" altLang="en-US"/>
              <a:t>类型：</a:t>
            </a:r>
            <a:r>
              <a:rPr lang="en-US" altLang="zh-CN"/>
              <a:t>DeepSeek</a:t>
            </a:r>
            <a:endParaRPr lang="en-US" altLang="zh-CN"/>
          </a:p>
          <a:p>
            <a:pPr marL="171450" indent="-171450">
              <a:buFont typeface="Arial" panose="02080604020202020204" pitchFamily="34" charset="0"/>
              <a:buChar char="•"/>
            </a:pPr>
            <a:r>
              <a:rPr lang="zh-CN" altLang="en-US"/>
              <a:t>直接调用模型</a:t>
            </a:r>
            <a:r>
              <a:rPr lang="en-US" altLang="zh-CN"/>
              <a:t> API</a:t>
            </a:r>
            <a:r>
              <a:rPr lang="zh-CN" altLang="en-US"/>
              <a:t>，自己构建一个简单的对话机器人</a:t>
            </a:r>
            <a:endParaRPr lang="zh-CN" altLang="en-US"/>
          </a:p>
          <a:p>
            <a:pPr marL="171450" indent="-171450">
              <a:buFont typeface="Arial" panose="02080604020202020204" pitchFamily="34" charset="0"/>
              <a:buChar char="•"/>
            </a:pPr>
            <a:r>
              <a:rPr lang="zh-CN" altLang="en-US"/>
              <a:t>本地</a:t>
            </a:r>
            <a:r>
              <a:rPr lang="en-US" altLang="zh-CN"/>
              <a:t> Ollama </a:t>
            </a:r>
            <a:r>
              <a:rPr lang="zh-CN" altLang="en-US"/>
              <a:t>或</a:t>
            </a:r>
            <a:r>
              <a:rPr lang="en-US" altLang="zh-CN"/>
              <a:t> VLLM </a:t>
            </a:r>
            <a:r>
              <a:rPr lang="zh-CN" altLang="en-US"/>
              <a:t>部署超小型的模型，比如</a:t>
            </a:r>
            <a:r>
              <a:rPr lang="en-US" altLang="zh-CN"/>
              <a:t> Qwen </a:t>
            </a:r>
            <a:r>
              <a:rPr lang="zh-CN" altLang="en-US"/>
              <a:t>系列</a:t>
            </a:r>
            <a:r>
              <a:rPr lang="en-US" altLang="zh-CN"/>
              <a:t> 8B </a:t>
            </a:r>
            <a:r>
              <a:rPr lang="zh-CN" altLang="en-US"/>
              <a:t>及以下的模型</a:t>
            </a:r>
            <a:endParaRPr lang="zh-CN" altLang="en-US"/>
          </a:p>
          <a:p>
            <a:pPr marL="171450" indent="-171450">
              <a:buFont typeface="Arial" panose="02080604020202020204" pitchFamily="34" charset="0"/>
              <a:buChar char="•"/>
            </a:pPr>
            <a:endParaRPr lang="zh-CN" altLang="en-US"/>
          </a:p>
          <a:p>
            <a:pPr indent="0">
              <a:buFont typeface="Arial" panose="02080604020202020204" pitchFamily="34" charset="0"/>
              <a:buNone/>
            </a:pPr>
            <a:r>
              <a:rPr lang="zh-CN" altLang="en-US"/>
              <a:t>【演示、对比</a:t>
            </a:r>
            <a:r>
              <a:rPr lang="en-US" altLang="zh-CN"/>
              <a:t> DeepSeek </a:t>
            </a:r>
            <a:r>
              <a:rPr lang="zh-CN" altLang="en-US"/>
              <a:t>关闭思考和联网的状态】</a:t>
            </a:r>
            <a:endParaRPr lang="zh-CN" altLang="en-US"/>
          </a:p>
          <a:p>
            <a:pPr marL="171450" indent="-171450">
              <a:buFont typeface="Arial" panose="02080604020202020204" pitchFamily="34" charset="0"/>
              <a:buChar char="•"/>
            </a:pPr>
            <a:endParaRPr lang="zh-CN" altLang="en-US"/>
          </a:p>
          <a:p>
            <a:pPr indent="0">
              <a:buFont typeface="Arial" panose="02080604020202020204" pitchFamily="34" charset="0"/>
              <a:buNone/>
            </a:pPr>
            <a:r>
              <a:rPr lang="zh-CN" altLang="en-US"/>
              <a:t>【这个可以作为一个课堂练习任务：让</a:t>
            </a:r>
            <a:r>
              <a:rPr lang="en-US" altLang="zh-CN"/>
              <a:t> Agent / Workbuddy </a:t>
            </a:r>
            <a:r>
              <a:rPr lang="zh-CN" altLang="en-US"/>
              <a:t>搭建一个小脚本，连接</a:t>
            </a:r>
            <a:r>
              <a:rPr lang="en-US" altLang="zh-CN"/>
              <a:t> DeepSeek API, </a:t>
            </a:r>
            <a:r>
              <a:rPr lang="zh-CN" altLang="en-US"/>
              <a:t>进行可自定义的对话】</a:t>
            </a:r>
            <a:endParaRPr lang="zh-CN" altLang="en-US"/>
          </a:p>
          <a:p>
            <a:pPr indent="0">
              <a:buFont typeface="Arial" panose="02080604020202020204" pitchFamily="34" charset="0"/>
              <a:buNone/>
            </a:pPr>
            <a:endParaRPr lang="zh-CN" altLang="en-US"/>
          </a:p>
          <a:p>
            <a:pPr indent="0">
              <a:buFont typeface="Arial" panose="02080604020202020204" pitchFamily="34" charset="0"/>
              <a:buNone/>
            </a:pPr>
            <a:r>
              <a:rPr lang="zh-CN" altLang="en-US"/>
              <a:t>【还有一种，在语义层面找到“攻击”的可能性：男性神仙下凡与凡人女子结合组成家庭的故事？】</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marL="171450" indent="-171450">
              <a:buFont typeface="Arial" panose="02080604020202020204" pitchFamily="34" charset="0"/>
              <a:buChar char="•"/>
            </a:pPr>
            <a:r>
              <a:rPr lang="zh-CN" altLang="en-US"/>
              <a:t>可以来信咨询，我在</a:t>
            </a:r>
            <a:r>
              <a:rPr lang="en-US" altLang="zh-CN"/>
              <a:t> github </a:t>
            </a:r>
            <a:r>
              <a:rPr lang="zh-CN" altLang="en-US"/>
              <a:t>上更新</a:t>
            </a:r>
            <a:r>
              <a:rPr lang="en-US" altLang="zh-CN"/>
              <a:t> FAQ</a:t>
            </a:r>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MoE </a:t>
            </a:r>
            <a:r>
              <a:rPr lang="zh-CN" altLang="en-US"/>
              <a:t>架构</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a:buNone/>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a:ea typeface="Noto Sans SC"/>
                <a:cs typeface="Noto Sans SC"/>
                <a:sym typeface="Noto Sans SC"/>
              </a:rPr>
              <a:t>【授课人】</a:t>
            </a:r>
            <a:endParaRPr lang="zh-CN" altLang="en-US" smtClean="0"/>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a:ea typeface="SimSun" charset="0"/>
                <a:cs typeface="Noto Sans SC"/>
                <a:sym typeface="Noto Sans SC"/>
              </a:defRPr>
            </a:lvl1pPr>
            <a:lvl5pPr algn="ctr">
              <a:defRPr/>
            </a:lvl5pPr>
          </a:lstStyle>
          <a:p>
            <a:pPr lvl="0"/>
            <a:r>
              <a:rPr lang="zh-CN" altLang="en-US" smtClean="0"/>
              <a:t>【日期】</a:t>
            </a:r>
            <a:endParaRPr lang="zh-CN" altLang="en-US" smtClean="0"/>
          </a:p>
          <a:p>
            <a:pPr lvl="0"/>
            <a:endParaRPr lang="zh-CN" altLang="en-US" smtClean="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smtClean="0"/>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smtClean="0"/>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smtClean="0"/>
              <a:t>插入定义文本</a:t>
            </a:r>
            <a:endParaRPr lang="zh-CN" altLang="en-US" smtClean="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sym typeface="+mn-ea"/>
              </a:rPr>
              <a:t>单击此处编辑母版标题样式</a:t>
            </a:r>
            <a:endParaRPr lang="zh-CN" altLang="en-US" dirty="0"/>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endParaRPr lang="zh-CN" altLang="en-US" dirty="0"/>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fld>
            <a:endParaRPr lang="en-US" altLang="zh-CN" smtClean="0"/>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a:ea typeface="Noto Sans SC"/>
                <a:cs typeface="Noto Sans SC"/>
                <a:sym typeface="Noto Sans SC"/>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kumimoji="0" lang="zh-CN" altLang="en-US" sz="1800" b="0" i="0" u="none" strike="noStrike" kern="1200" cap="none" spc="0" normalizeH="0" baseline="0" noProof="1" dirty="0">
                <a:solidFill>
                  <a:schemeClr val="bg1"/>
                </a:solidFill>
                <a:effectLst>
                  <a:outerShdw blurRad="38100" dist="38100" dir="2700000" algn="tl">
                    <a:srgbClr val="000000">
                      <a:alpha val="43137"/>
                    </a:srgbClr>
                  </a:outerShdw>
                </a:effectLst>
                <a:latin typeface="+mn-ea"/>
                <a:ea typeface="+mn-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lvl1pPr marL="0" marR="0" lvl="0" algn="l" defTabSz="914400" rtl="0" eaLnBrk="1" fontAlgn="auto" latinLnBrk="0" hangingPunct="1">
              <a:lnSpc>
                <a:spcPct val="90000"/>
              </a:lnSpc>
              <a:spcBef>
                <a:spcPct val="0"/>
              </a:spcBef>
              <a:buClrTx/>
              <a:buSzTx/>
              <a:buFontTx/>
              <a:buNone/>
              <a:defRPr kumimoji="0" lang="zh-CN" altLang="en-US" sz="3600" b="1" i="0" u="none" strike="noStrike" kern="0" cap="none" spc="200" normalizeH="0" baseline="0" noProof="1" dirty="0">
                <a:solidFill>
                  <a:srgbClr val="FFFFFF"/>
                </a:solidFill>
                <a:effectLst>
                  <a:outerShdw blurRad="38100" dist="38100" dir="2700000" algn="tl">
                    <a:srgbClr val="000000">
                      <a:alpha val="43137"/>
                    </a:srgbClr>
                  </a:outerShdw>
                </a:effectLst>
                <a:latin typeface="Noto Sans SC"/>
                <a:ea typeface="Noto Sans SC"/>
                <a:cs typeface="Noto Sans SC"/>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smtClean="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p>
            <a:r>
              <a:rPr lang="zh-CN" altLang="en-US" dirty="0">
                <a:sym typeface="+mn-ea"/>
              </a:rPr>
              <a:t>单击此处编辑母版标题样式</a:t>
            </a:r>
            <a:endParaRPr lang="zh-CN" altLang="en-US"/>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fld>
            <a:endParaRPr lang="en-US" altLang="zh-CN" smtClean="0"/>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3" name="AutoShape 3"/>
          <p:cNvSpPr/>
          <p:nvPr userDrawn="1"/>
        </p:nvSpPr>
        <p:spPr>
          <a:xfrm>
            <a:off x="5588000"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14" name="AutoShape 4"/>
          <p:cNvSpPr/>
          <p:nvPr userDrawn="1"/>
        </p:nvSpPr>
        <p:spPr>
          <a:xfrm>
            <a:off x="889000" y="1905000"/>
            <a:ext cx="4826000" cy="2794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6000" b="1" i="0" u="none" strike="noStrike" spc="600">
                <a:solidFill>
                  <a:schemeClr val="bg1">
                    <a:lumMod val="75000"/>
                  </a:schemeClr>
                </a:solidFill>
                <a:latin typeface="Poppins"/>
                <a:ea typeface="Poppins"/>
                <a:cs typeface="Poppins"/>
                <a:sym typeface="Poppins"/>
              </a:rPr>
              <a:t>01</a:t>
            </a:r>
            <a:endParaRPr lang="en-US" sz="16000" b="1" i="0" u="none" strike="noStrike" spc="600">
              <a:solidFill>
                <a:schemeClr val="bg1">
                  <a:lumMod val="75000"/>
                </a:schemeClr>
              </a:solidFill>
              <a:latin typeface="Poppins"/>
              <a:ea typeface="Poppins"/>
              <a:cs typeface="Poppins"/>
              <a:sym typeface="Poppins"/>
            </a:endParaRPr>
          </a:p>
        </p:txBody>
      </p:sp>
      <p:sp>
        <p:nvSpPr>
          <p:cNvPr id="16" name="AutoShape 6"/>
          <p:cNvSpPr/>
          <p:nvPr userDrawn="1"/>
        </p:nvSpPr>
        <p:spPr>
          <a:xfrm>
            <a:off x="6350000" y="3784600"/>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p>
        </p:txBody>
      </p:sp>
      <p:sp>
        <p:nvSpPr>
          <p:cNvPr id="17" name="AutoShape 7"/>
          <p:cNvSpPr/>
          <p:nvPr userDrawn="1"/>
        </p:nvSpPr>
        <p:spPr>
          <a:xfrm>
            <a:off x="6350000" y="4064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spc="300">
                <a:solidFill>
                  <a:srgbClr val="B4B4BE"/>
                </a:solidFill>
                <a:latin typeface="Noto Sans SC"/>
                <a:ea typeface="Noto Sans SC"/>
                <a:cs typeface="Noto Sans SC"/>
                <a:sym typeface="Noto Sans SC"/>
              </a:rPr>
              <a:t>【章节副标题 / 引言】</a:t>
            </a:r>
            <a:endParaRPr lang="en-US" sz="110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a:ea typeface="Noto Sans SC"/>
                <a:cs typeface="Noto Sans SC"/>
                <a:sym typeface="Noto Sans SC"/>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a:ea typeface="Noto Sans SC"/>
                <a:cs typeface="Noto Sans SC"/>
                <a:sym typeface="Noto Sans SC"/>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a:sym typeface="Noto Sans SC"/>
              </a:rPr>
              <a:t>contact@xxx.com</a:t>
            </a:r>
            <a:endParaRPr lang="en-US" altLang="zh-CN" smtClean="0"/>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lang="zh-CN" altLang="en-US" smtClean="0"/>
              <a:t>公众号：</a:t>
            </a:r>
            <a:r>
              <a:rPr altLang="zh-CN" smtClean="0"/>
              <a:t>XXX</a:t>
            </a:r>
            <a:endParaRPr altLang="zh-CN" smtClean="0"/>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SimSun" charset="0"/>
                <a:cs typeface="Noto Sans SC"/>
                <a:sym typeface="Noto Sans SC"/>
              </a:defRPr>
            </a:lvl1pPr>
          </a:lstStyle>
          <a:p>
            <a:pPr marL="0" indent="0" algn="l">
              <a:lnSpc>
                <a:spcPct val="100000"/>
              </a:lnSpc>
              <a:defRPr/>
            </a:pPr>
            <a:r>
              <a:rPr lang="zh-CN" altLang="en-US" smtClean="0"/>
              <a:t>公众号：</a:t>
            </a:r>
            <a:r>
              <a:rPr altLang="zh-CN" smtClean="0"/>
              <a:t>XXX</a:t>
            </a:r>
            <a:r>
              <a:rPr lang="zh-CN" altLang="en-US" smtClean="0"/>
              <a:t>事实</a:t>
            </a:r>
            <a:endParaRPr lang="zh-CN" altLang="en-US" smtClean="0"/>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a:ea typeface="Noto Sans SC"/>
                <a:cs typeface="Noto Sans SC"/>
                <a:sym typeface="Noto Sans SC"/>
              </a:defRPr>
            </a:lvl1pPr>
          </a:lstStyle>
          <a:p>
            <a:pPr marL="0" indent="0" algn="ctr">
              <a:lnSpc>
                <a:spcPct val="100000"/>
              </a:lnSpc>
              <a:defRPr/>
            </a:pPr>
            <a:r>
              <a:rPr>
                <a:sym typeface="Noto Sans SC"/>
              </a:rPr>
              <a:t>【课程名称 / 机构名】</a:t>
            </a:r>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7.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pic>
        <p:nvPicPr>
          <p:cNvPr id="34" name="Image 0" descr="香港科技大学与上海产教融合中心反白Logo"/>
          <p:cNvPicPr>
            <a:picLocks noChangeAspect="1"/>
          </p:cNvPicPr>
          <p:nvPr userDrawn="1"/>
        </p:nvPicPr>
        <p:blipFill>
          <a:blip r:embed="rId15"/>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4.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1" Type="http://schemas.openxmlformats.org/officeDocument/2006/relationships/notesSlide" Target="../notesSlides/notesSlide29.xml"/><Relationship Id="rId20" Type="http://schemas.openxmlformats.org/officeDocument/2006/relationships/slideLayout" Target="../slideLayouts/slideLayout2.xml"/><Relationship Id="rId2" Type="http://schemas.openxmlformats.org/officeDocument/2006/relationships/image" Target="../media/image22.png"/><Relationship Id="rId19" Type="http://schemas.openxmlformats.org/officeDocument/2006/relationships/image" Target="../media/image39.png"/><Relationship Id="rId18" Type="http://schemas.openxmlformats.org/officeDocument/2006/relationships/image" Target="../media/image38.png"/><Relationship Id="rId17" Type="http://schemas.openxmlformats.org/officeDocument/2006/relationships/image" Target="../media/image37.png"/><Relationship Id="rId16" Type="http://schemas.openxmlformats.org/officeDocument/2006/relationships/image" Target="../media/image36.png"/><Relationship Id="rId15" Type="http://schemas.openxmlformats.org/officeDocument/2006/relationships/image" Target="../media/image35.png"/><Relationship Id="rId14"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32.png"/><Relationship Id="rId11" Type="http://schemas.openxmlformats.org/officeDocument/2006/relationships/image" Target="../media/image31.png"/><Relationship Id="rId10" Type="http://schemas.openxmlformats.org/officeDocument/2006/relationships/image" Target="../media/image30.png"/><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normAutofit/>
          </a:bodyPr>
          <a:p>
            <a:r>
              <a:rPr lang="zh-CN" altLang="en-US" sz="6000"/>
              <a:t>大模型基础通识课</a:t>
            </a:r>
            <a:br>
              <a:rPr lang="zh-CN" altLang="en-US" sz="6000"/>
            </a:br>
            <a:r>
              <a:rPr lang="zh-CN" altLang="en-US" sz="6000"/>
              <a:t>教师课前培训</a:t>
            </a:r>
            <a:endParaRPr lang="zh-CN" altLang="en-US" sz="6000"/>
          </a:p>
        </p:txBody>
      </p:sp>
      <p:sp>
        <p:nvSpPr>
          <p:cNvPr id="11" name="副标题 10"/>
          <p:cNvSpPr>
            <a:spLocks noGrp="1"/>
          </p:cNvSpPr>
          <p:nvPr>
            <p:ph type="subTitle" idx="1"/>
          </p:nvPr>
        </p:nvSpPr>
        <p:spPr/>
        <p:txBody>
          <a:bodyPr/>
          <a:p>
            <a:r>
              <a:rPr lang="zh-CN" altLang="en-US"/>
              <a:t>港科大人工智能前沿系列课程——大模型基础通识</a:t>
            </a:r>
            <a:endParaRPr lang="zh-CN" altLang="en-US"/>
          </a:p>
          <a:p>
            <a:endParaRPr lang="zh-CN" altLang="en-US"/>
          </a:p>
        </p:txBody>
      </p:sp>
      <p:sp>
        <p:nvSpPr>
          <p:cNvPr id="12" name="文本占位符 11"/>
          <p:cNvSpPr>
            <a:spLocks noGrp="1"/>
          </p:cNvSpPr>
          <p:nvPr>
            <p:ph type="body" idx="13"/>
          </p:nvPr>
        </p:nvSpPr>
        <p:spPr/>
        <p:txBody>
          <a:bodyPr/>
          <a:p>
            <a:r>
              <a:rPr lang="zh-CN" altLang="en-US"/>
              <a:t>授课人：王若愚</a:t>
            </a:r>
            <a:endParaRPr lang="zh-CN" altLang="en-US"/>
          </a:p>
        </p:txBody>
      </p:sp>
      <p:sp>
        <p:nvSpPr>
          <p:cNvPr id="13" name="文本占位符 12"/>
          <p:cNvSpPr>
            <a:spLocks noGrp="1"/>
          </p:cNvSpPr>
          <p:nvPr>
            <p:ph type="body" idx="16"/>
          </p:nvPr>
        </p:nvSpPr>
        <p:spPr/>
        <p:txBody>
          <a:bodyPr/>
          <a:p>
            <a:r>
              <a:rPr lang="en-US" altLang="zh-CN"/>
              <a:t>2026/08/30</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normAutofit fontScale="90000"/>
          </a:bodyPr>
          <a:p>
            <a:r>
              <a:rPr lang="zh-CN" altLang="en-US">
                <a:ea typeface="SimSun" charset="0"/>
              </a:rPr>
              <a:t>课程总体目标</a:t>
            </a:r>
            <a:endParaRPr lang="zh-CN" altLang="en-US">
              <a:ea typeface="SimSun" charset="0"/>
            </a:endParaRPr>
          </a:p>
        </p:txBody>
      </p:sp>
      <p:sp>
        <p:nvSpPr>
          <p:cNvPr id="6" name="内容占位符 5"/>
          <p:cNvSpPr>
            <a:spLocks noGrp="1"/>
          </p:cNvSpPr>
          <p:nvPr>
            <p:ph idx="1"/>
          </p:nvPr>
        </p:nvSpPr>
        <p:spPr/>
        <p:txBody>
          <a:bodyPr/>
          <a:p>
            <a:r>
              <a:rPr lang="zh-CN" altLang="en-US" b="1"/>
              <a:t>初步理解原理</a:t>
            </a:r>
            <a:r>
              <a:rPr lang="zh-CN" altLang="en-US"/>
              <a:t>：知道模型为什么能生成、为什么会出错、为什么会有知识与上下文边界</a:t>
            </a:r>
            <a:endParaRPr lang="zh-CN" altLang="en-US"/>
          </a:p>
          <a:p>
            <a:r>
              <a:rPr lang="zh-CN" altLang="en-US" b="1"/>
              <a:t>能自己动手实操</a:t>
            </a:r>
            <a:r>
              <a:rPr lang="zh-CN" altLang="en-US"/>
              <a:t>：能写清楚提示词，能按任务使用思考、联网、文件/</a:t>
            </a:r>
            <a:r>
              <a:rPr lang="en-US" altLang="zh-CN"/>
              <a:t>RAG、</a:t>
            </a:r>
            <a:r>
              <a:rPr lang="zh-CN" altLang="en-US"/>
              <a:t>代码等能力</a:t>
            </a:r>
            <a:endParaRPr lang="zh-CN" altLang="en-US"/>
          </a:p>
          <a:p>
            <a:r>
              <a:rPr lang="zh-CN" altLang="en-US" b="1"/>
              <a:t>将原理对应到使用结果</a:t>
            </a:r>
            <a:r>
              <a:rPr lang="zh-CN" altLang="en-US"/>
              <a:t>：面对“答得很好”或“答错了”，能回到上下文、资料、工具、模型与流程中判断原因</a:t>
            </a:r>
            <a:endParaRPr lang="zh-CN" altLang="en-US"/>
          </a:p>
        </p:txBody>
      </p:sp>
      <p:sp>
        <p:nvSpPr>
          <p:cNvPr id="7" name="内容占位符 6"/>
          <p:cNvSpPr>
            <a:spLocks noGrp="1"/>
          </p:cNvSpPr>
          <p:nvPr>
            <p:ph idx="13"/>
          </p:nvPr>
        </p:nvSpPr>
        <p:spPr/>
        <p:txBody>
          <a:bodyPr/>
          <a:p>
            <a:r>
              <a:rPr lang="zh-CN" altLang="en-US"/>
              <a:t>让学生</a:t>
            </a:r>
            <a:r>
              <a:rPr lang="zh-CN" altLang="en-US">
                <a:solidFill>
                  <a:srgbClr val="00E5FA"/>
                </a:solidFill>
              </a:rPr>
              <a:t>会用</a:t>
            </a:r>
            <a:r>
              <a:rPr lang="zh-CN" altLang="en-US"/>
              <a:t>且能</a:t>
            </a:r>
            <a:r>
              <a:rPr lang="zh-CN" altLang="en-US">
                <a:solidFill>
                  <a:srgbClr val="00E5FA"/>
                </a:solidFill>
              </a:rPr>
              <a:t>用好</a:t>
            </a:r>
            <a:r>
              <a:rPr lang="zh-CN" altLang="en-US"/>
              <a:t>大模型</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6" grpId="0" build="p"/>
      <p:bldP spid="7" grpId="1" build="p"/>
      <p:bldP spid="6"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课程路线图</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大</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模</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型</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产</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品</a:t>
            </a:r>
            <a:endParaRPr lang="zh-CN" altLang="en-US" sz="3200" b="1" i="0" u="none" strike="noStrike">
              <a:solidFill>
                <a:srgbClr val="FFFFFF"/>
              </a:solidFill>
              <a:latin typeface="Noto Sans SC"/>
              <a:ea typeface="SimSun" charset="0"/>
              <a:cs typeface="Noto Sans SC"/>
              <a:sym typeface="Noto Sans SC"/>
            </a:endParaRPr>
          </a:p>
        </p:txBody>
      </p:sp>
      <p:sp>
        <p:nvSpPr>
          <p:cNvPr id="5" name="AutoShape 6"/>
          <p:cNvSpPr/>
          <p:nvPr/>
        </p:nvSpPr>
        <p:spPr>
          <a:xfrm>
            <a:off x="3395980" y="1753235"/>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模型</a:t>
            </a:r>
            <a:endParaRPr lang="zh-CN" altLang="en-US" sz="24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原理</a:t>
            </a:r>
            <a:endParaRPr lang="zh-CN" altLang="en-US" sz="2400" b="1" i="0" u="none" strike="noStrike">
              <a:solidFill>
                <a:srgbClr val="FFFFFF"/>
              </a:solidFill>
              <a:latin typeface="Noto Sans SC"/>
              <a:ea typeface="SimSun" charset="0"/>
              <a:cs typeface="Noto Sans SC"/>
              <a:sym typeface="Noto Sans SC"/>
            </a:endParaRPr>
          </a:p>
        </p:txBody>
      </p:sp>
      <p:sp>
        <p:nvSpPr>
          <p:cNvPr id="7" name="AutoShape 6"/>
          <p:cNvSpPr/>
          <p:nvPr/>
        </p:nvSpPr>
        <p:spPr>
          <a:xfrm>
            <a:off x="3395980" y="3416935"/>
            <a:ext cx="899795" cy="154749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模型</a:t>
            </a:r>
            <a:endParaRPr lang="zh-CN" altLang="en-US" sz="2400" b="1">
              <a:solidFill>
                <a:srgbClr val="FFFFFF"/>
              </a:solidFill>
              <a:latin typeface="Noto Sans SC"/>
              <a:ea typeface="SimSun" charset="0"/>
              <a:cs typeface="Noto Sans SC"/>
              <a:sym typeface="Noto Sans SC"/>
            </a:endParaRPr>
          </a:p>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应用</a:t>
            </a:r>
            <a:endParaRPr lang="zh-CN" altLang="en-US" sz="2400" b="1">
              <a:solidFill>
                <a:srgbClr val="FFFFFF"/>
              </a:solidFill>
              <a:latin typeface="Noto Sans SC"/>
              <a:ea typeface="SimSun" charset="0"/>
              <a:cs typeface="Noto Sans SC"/>
              <a:sym typeface="Noto Sans SC"/>
            </a:endParaRPr>
          </a:p>
        </p:txBody>
      </p:sp>
      <p:sp>
        <p:nvSpPr>
          <p:cNvPr id="8" name="AutoShape 6"/>
          <p:cNvSpPr/>
          <p:nvPr/>
        </p:nvSpPr>
        <p:spPr>
          <a:xfrm>
            <a:off x="3395980" y="5085715"/>
            <a:ext cx="899795" cy="99060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智能</a:t>
            </a:r>
            <a:endParaRPr lang="zh-CN" altLang="en-US" sz="2400" b="1">
              <a:solidFill>
                <a:srgbClr val="FFFFFF"/>
              </a:solidFill>
              <a:latin typeface="Noto Sans SC"/>
              <a:ea typeface="SimSun" charset="0"/>
              <a:cs typeface="Noto Sans SC"/>
              <a:sym typeface="Noto Sans SC"/>
            </a:endParaRPr>
          </a:p>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体</a:t>
            </a:r>
            <a:endParaRPr lang="zh-CN" altLang="en-US" sz="2400" b="1">
              <a:solidFill>
                <a:srgbClr val="FFFFFF"/>
              </a:solidFill>
              <a:latin typeface="Noto Sans SC"/>
              <a:ea typeface="SimSun" charset="0"/>
              <a:cs typeface="Noto Sans SC"/>
              <a:sym typeface="Noto Sans SC"/>
            </a:endParaRPr>
          </a:p>
        </p:txBody>
      </p:sp>
      <p:grpSp>
        <p:nvGrpSpPr>
          <p:cNvPr id="17" name="组合 16"/>
          <p:cNvGrpSpPr/>
          <p:nvPr/>
        </p:nvGrpSpPr>
        <p:grpSpPr>
          <a:xfrm rot="0">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11"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文本框 12"/>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01</a:t>
              </a:r>
              <a:endParaRPr lang="en-US" b="1" kern="0">
                <a:solidFill>
                  <a:srgbClr val="69F0AE"/>
                </a:solidFill>
                <a:latin typeface="Noto Sans SC"/>
                <a:ea typeface="Noto Sans SC"/>
                <a:cs typeface="Noto Sans SC"/>
              </a:endParaRPr>
            </a:p>
          </p:txBody>
        </p:sp>
        <p:sp>
          <p:nvSpPr>
            <p:cNvPr id="15" name="文本框 14"/>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模型定位和介绍</a:t>
              </a:r>
              <a:endParaRPr lang="zh-CN" altLang="en-US" b="1" kern="0">
                <a:solidFill>
                  <a:srgbClr val="69F0AE"/>
                </a:solidFill>
                <a:latin typeface="Noto Sans SC"/>
                <a:ea typeface="Noto Sans SC"/>
                <a:cs typeface="Noto Sans SC"/>
              </a:endParaRPr>
            </a:p>
          </p:txBody>
        </p:sp>
      </p:grpSp>
      <p:grpSp>
        <p:nvGrpSpPr>
          <p:cNvPr id="18" name="组合 17"/>
          <p:cNvGrpSpPr/>
          <p:nvPr/>
        </p:nvGrpSpPr>
        <p:grpSpPr>
          <a:xfrm rot="0">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2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文本框 20"/>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05</a:t>
              </a:r>
              <a:endParaRPr lang="en-US" b="1" kern="0">
                <a:solidFill>
                  <a:srgbClr val="69F0AE"/>
                </a:solidFill>
                <a:latin typeface="Noto Sans SC"/>
                <a:ea typeface="Noto Sans SC"/>
                <a:cs typeface="Noto Sans SC"/>
              </a:endParaRPr>
            </a:p>
          </p:txBody>
        </p:sp>
        <p:sp>
          <p:nvSpPr>
            <p:cNvPr id="22" name="文本框 21"/>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模型训练、选型与评估</a:t>
              </a:r>
              <a:endParaRPr lang="zh-CN" altLang="en-US" b="1" kern="0">
                <a:solidFill>
                  <a:srgbClr val="69F0AE"/>
                </a:solidFill>
                <a:latin typeface="Noto Sans SC"/>
                <a:ea typeface="Noto Sans SC"/>
                <a:cs typeface="Noto Sans SC"/>
              </a:endParaRPr>
            </a:p>
          </p:txBody>
        </p:sp>
      </p:grpSp>
      <p:grpSp>
        <p:nvGrpSpPr>
          <p:cNvPr id="23" name="组合 22"/>
          <p:cNvGrpSpPr/>
          <p:nvPr/>
        </p:nvGrpSpPr>
        <p:grpSpPr>
          <a:xfrm rot="0">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2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文本框 25"/>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07</a:t>
              </a:r>
              <a:endParaRPr lang="en-US" b="1" kern="0">
                <a:solidFill>
                  <a:srgbClr val="69F0AE"/>
                </a:solidFill>
                <a:latin typeface="Noto Sans SC"/>
                <a:ea typeface="Noto Sans SC"/>
                <a:cs typeface="Noto Sans SC"/>
              </a:endParaRPr>
            </a:p>
          </p:txBody>
        </p:sp>
        <p:sp>
          <p:nvSpPr>
            <p:cNvPr id="27" name="文本框 26"/>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智能体框架与工具使用</a:t>
              </a:r>
              <a:endParaRPr lang="zh-CN" altLang="en-US" b="1" kern="0">
                <a:solidFill>
                  <a:srgbClr val="69F0AE"/>
                </a:solidFill>
                <a:latin typeface="Noto Sans SC"/>
                <a:ea typeface="Noto Sans SC"/>
                <a:cs typeface="Noto Sans SC"/>
              </a:endParaRPr>
            </a:p>
          </p:txBody>
        </p:sp>
      </p:grpSp>
      <p:grpSp>
        <p:nvGrpSpPr>
          <p:cNvPr id="28" name="组合 27"/>
          <p:cNvGrpSpPr/>
          <p:nvPr/>
        </p:nvGrpSpPr>
        <p:grpSpPr>
          <a:xfrm rot="0">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3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文本框 30"/>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02</a:t>
              </a:r>
              <a:endParaRPr lang="en-US" b="1" kern="0">
                <a:solidFill>
                  <a:srgbClr val="69F0AE"/>
                </a:solidFill>
                <a:latin typeface="Noto Sans SC"/>
                <a:ea typeface="Noto Sans SC"/>
                <a:cs typeface="Noto Sans SC"/>
              </a:endParaRPr>
            </a:p>
          </p:txBody>
        </p:sp>
        <p:sp>
          <p:nvSpPr>
            <p:cNvPr id="32" name="文本框 31"/>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生成机制</a:t>
              </a:r>
              <a:endParaRPr lang="zh-CN" altLang="en-US" b="1" kern="0">
                <a:solidFill>
                  <a:srgbClr val="69F0AE"/>
                </a:solidFill>
                <a:latin typeface="Noto Sans SC"/>
                <a:ea typeface="Noto Sans SC"/>
                <a:cs typeface="Noto Sans SC"/>
              </a:endParaRPr>
            </a:p>
          </p:txBody>
        </p:sp>
      </p:grpSp>
      <p:grpSp>
        <p:nvGrpSpPr>
          <p:cNvPr id="33" name="组合 32"/>
          <p:cNvGrpSpPr/>
          <p:nvPr/>
        </p:nvGrpSpPr>
        <p:grpSpPr>
          <a:xfrm rot="0">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3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文本框 35"/>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03</a:t>
              </a:r>
              <a:endParaRPr lang="en-US" b="1" kern="0">
                <a:solidFill>
                  <a:srgbClr val="69F0AE"/>
                </a:solidFill>
                <a:latin typeface="Noto Sans SC"/>
                <a:ea typeface="Noto Sans SC"/>
                <a:cs typeface="Noto Sans SC"/>
              </a:endParaRPr>
            </a:p>
          </p:txBody>
        </p:sp>
        <p:sp>
          <p:nvSpPr>
            <p:cNvPr id="37" name="文本框 36"/>
            <p:cNvSpPr txBox="1"/>
            <p:nvPr/>
          </p:nvSpPr>
          <p:spPr>
            <a:xfrm>
              <a:off x="7990" y="2760"/>
              <a:ext cx="7654" cy="680"/>
            </a:xfrm>
            <a:prstGeom prst="rect">
              <a:avLst/>
            </a:prstGeom>
            <a:noFill/>
          </p:spPr>
          <p:txBody>
            <a:bodyPr wrap="square" rtlCol="0" anchor="ctr" anchorCtr="0">
              <a:noAutofit/>
            </a:bodyPr>
            <a:p>
              <a:pPr algn="ctr"/>
              <a:r>
                <a:rPr lang="en-US" altLang="zh-CN" b="1" kern="0">
                  <a:solidFill>
                    <a:srgbClr val="69F0AE"/>
                  </a:solidFill>
                  <a:latin typeface="Noto Sans SC"/>
                  <a:ea typeface="Noto Sans SC"/>
                  <a:cs typeface="Noto Sans SC"/>
                </a:rPr>
                <a:t>token、embedding </a:t>
              </a:r>
              <a:r>
                <a:rPr lang="zh-CN" altLang="en-US" b="1" kern="0">
                  <a:solidFill>
                    <a:srgbClr val="69F0AE"/>
                  </a:solidFill>
                  <a:latin typeface="Noto Sans SC"/>
                  <a:ea typeface="Noto Sans SC"/>
                  <a:cs typeface="Noto Sans SC"/>
                </a:rPr>
                <a:t>和上下文窗口</a:t>
              </a:r>
              <a:endParaRPr lang="zh-CN" altLang="en-US" b="1" kern="0">
                <a:solidFill>
                  <a:srgbClr val="69F0AE"/>
                </a:solidFill>
                <a:latin typeface="Noto Sans SC"/>
                <a:ea typeface="Noto Sans SC"/>
                <a:cs typeface="Noto Sans SC"/>
              </a:endParaRPr>
            </a:p>
          </p:txBody>
        </p:sp>
      </p:grpSp>
      <p:grpSp>
        <p:nvGrpSpPr>
          <p:cNvPr id="38" name="组合 37"/>
          <p:cNvGrpSpPr/>
          <p:nvPr/>
        </p:nvGrpSpPr>
        <p:grpSpPr>
          <a:xfrm rot="0">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4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1" name="文本框 40"/>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04</a:t>
              </a:r>
              <a:endParaRPr lang="en-US" b="1" kern="0">
                <a:solidFill>
                  <a:srgbClr val="69F0AE"/>
                </a:solidFill>
                <a:latin typeface="Noto Sans SC"/>
                <a:ea typeface="Noto Sans SC"/>
                <a:cs typeface="Noto Sans SC"/>
              </a:endParaRPr>
            </a:p>
          </p:txBody>
        </p:sp>
        <p:sp>
          <p:nvSpPr>
            <p:cNvPr id="42" name="文本框 41"/>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注意力、算力和模型大小</a:t>
              </a:r>
              <a:endParaRPr lang="zh-CN" altLang="en-US" b="1" kern="0">
                <a:solidFill>
                  <a:srgbClr val="69F0AE"/>
                </a:solidFill>
                <a:latin typeface="Noto Sans SC"/>
                <a:ea typeface="Noto Sans SC"/>
                <a:cs typeface="Noto Sans SC"/>
              </a:endParaRPr>
            </a:p>
          </p:txBody>
        </p:sp>
      </p:grpSp>
      <p:grpSp>
        <p:nvGrpSpPr>
          <p:cNvPr id="43" name="组合 42"/>
          <p:cNvGrpSpPr/>
          <p:nvPr/>
        </p:nvGrpSpPr>
        <p:grpSpPr>
          <a:xfrm rot="0">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4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6" name="文本框 45"/>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06</a:t>
              </a:r>
              <a:endParaRPr lang="en-US" b="1" kern="0">
                <a:solidFill>
                  <a:srgbClr val="69F0AE"/>
                </a:solidFill>
                <a:latin typeface="Noto Sans SC"/>
                <a:ea typeface="Noto Sans SC"/>
                <a:cs typeface="Noto Sans SC"/>
              </a:endParaRPr>
            </a:p>
          </p:txBody>
        </p:sp>
        <p:sp>
          <p:nvSpPr>
            <p:cNvPr id="47" name="文本框 46"/>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提示词技术</a:t>
              </a:r>
              <a:endParaRPr lang="en-US" altLang="zh-CN" b="1" kern="0">
                <a:solidFill>
                  <a:srgbClr val="69F0AE"/>
                </a:solidFill>
                <a:latin typeface="Noto Sans SC"/>
                <a:ea typeface="Noto Sans SC"/>
                <a:cs typeface="Noto Sans SC"/>
              </a:endParaRPr>
            </a:p>
          </p:txBody>
        </p:sp>
      </p:grpSp>
      <p:grpSp>
        <p:nvGrpSpPr>
          <p:cNvPr id="48" name="组合 47"/>
          <p:cNvGrpSpPr/>
          <p:nvPr/>
        </p:nvGrpSpPr>
        <p:grpSpPr>
          <a:xfrm rot="0">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p>
          </p:txBody>
        </p:sp>
        <p:sp>
          <p:nvSpPr>
            <p:cNvPr id="5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1" name="文本框 50"/>
            <p:cNvSpPr txBox="1"/>
            <p:nvPr/>
          </p:nvSpPr>
          <p:spPr>
            <a:xfrm>
              <a:off x="7140" y="2760"/>
              <a:ext cx="850" cy="680"/>
            </a:xfrm>
            <a:prstGeom prst="rect">
              <a:avLst/>
            </a:prstGeom>
            <a:noFill/>
          </p:spPr>
          <p:txBody>
            <a:bodyPr wrap="square" rtlCol="0" anchor="ctr" anchorCtr="0">
              <a:noAutofit/>
            </a:bodyPr>
            <a:p>
              <a:pPr algn="ctr"/>
              <a:r>
                <a:rPr lang="en-US" b="1" kern="0">
                  <a:solidFill>
                    <a:srgbClr val="69F0AE"/>
                  </a:solidFill>
                  <a:latin typeface="Noto Sans SC"/>
                  <a:ea typeface="Noto Sans SC"/>
                  <a:cs typeface="Noto Sans SC"/>
                </a:rPr>
                <a:t>08</a:t>
              </a:r>
              <a:endParaRPr lang="en-US" b="1" kern="0">
                <a:solidFill>
                  <a:srgbClr val="69F0AE"/>
                </a:solidFill>
                <a:latin typeface="Noto Sans SC"/>
                <a:ea typeface="Noto Sans SC"/>
                <a:cs typeface="Noto Sans SC"/>
              </a:endParaRPr>
            </a:p>
          </p:txBody>
        </p:sp>
        <p:sp>
          <p:nvSpPr>
            <p:cNvPr id="52" name="文本框 51"/>
            <p:cNvSpPr txBox="1"/>
            <p:nvPr/>
          </p:nvSpPr>
          <p:spPr>
            <a:xfrm>
              <a:off x="7990" y="2760"/>
              <a:ext cx="7654" cy="680"/>
            </a:xfrm>
            <a:prstGeom prst="rect">
              <a:avLst/>
            </a:prstGeom>
            <a:noFill/>
          </p:spPr>
          <p:txBody>
            <a:bodyPr wrap="square" rtlCol="0" anchor="ctr" anchorCtr="0">
              <a:noAutofit/>
            </a:bodyPr>
            <a:p>
              <a:pPr algn="ctr"/>
              <a:r>
                <a:rPr lang="zh-CN" altLang="en-US" b="1" kern="0">
                  <a:solidFill>
                    <a:srgbClr val="69F0AE"/>
                  </a:solidFill>
                  <a:latin typeface="Noto Sans SC"/>
                  <a:ea typeface="Noto Sans SC"/>
                  <a:cs typeface="Noto Sans SC"/>
                </a:rPr>
                <a:t>智能体记忆与案例剖析</a:t>
              </a:r>
              <a:endParaRPr lang="zh-CN" altLang="en-US" b="1" kern="0">
                <a:solidFill>
                  <a:srgbClr val="69F0AE"/>
                </a:solidFill>
                <a:latin typeface="Noto Sans SC"/>
                <a:ea typeface="Noto Sans SC"/>
                <a:cs typeface="Noto Sans SC"/>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500"/>
                                        <p:tgtEl>
                                          <p:spTgt spid="28"/>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par>
                          <p:cTn id="42" fill="hold">
                            <p:stCondLst>
                              <p:cond delay="2500"/>
                            </p:stCondLst>
                            <p:childTnLst>
                              <p:par>
                                <p:cTn id="43" presetID="10" presetClass="entr" presetSubtype="0" fill="hold" nodeType="after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500"/>
                                        <p:tgtEl>
                                          <p:spTgt spid="43"/>
                                        </p:tgtEl>
                                      </p:cBhvr>
                                    </p:animEffect>
                                  </p:childTnLst>
                                </p:cTn>
                              </p:par>
                            </p:childTnLst>
                          </p:cTn>
                        </p:par>
                        <p:par>
                          <p:cTn id="46" fill="hold">
                            <p:stCondLst>
                              <p:cond delay="3000"/>
                            </p:stCondLst>
                            <p:childTnLst>
                              <p:par>
                                <p:cTn id="47" presetID="10" presetClass="entr" presetSubtype="0" fill="hold" nodeType="after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par>
                          <p:cTn id="50" fill="hold">
                            <p:stCondLst>
                              <p:cond delay="3500"/>
                            </p:stCondLst>
                            <p:childTnLst>
                              <p:par>
                                <p:cTn id="51" presetID="10" presetClass="entr" presetSubtype="0" fill="hold" nodeType="after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bldLvl="0" animBg="1"/>
      <p:bldP spid="7" grpId="0" bldLvl="0" animBg="1"/>
      <p:bldP spid="8" grpId="0" bldLvl="0" animBg="1"/>
      <p:bldP spid="5" grpId="1" animBg="1"/>
      <p:bldP spid="7" grpId="1" animBg="1"/>
      <p:bldP spid="8"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 name="组合 25"/>
          <p:cNvGrpSpPr/>
          <p:nvPr/>
        </p:nvGrpSpPr>
        <p:grpSpPr>
          <a:xfrm>
            <a:off x="762635" y="1779270"/>
            <a:ext cx="10844530" cy="4284980"/>
            <a:chOff x="3320" y="2802"/>
            <a:chExt cx="12840" cy="6748"/>
          </a:xfrm>
        </p:grpSpPr>
        <p:sp>
          <p:nvSpPr>
            <p:cNvPr id="6" name="椭圆 5"/>
            <p:cNvSpPr/>
            <p:nvPr/>
          </p:nvSpPr>
          <p:spPr>
            <a:xfrm>
              <a:off x="3320" y="2802"/>
              <a:ext cx="12840" cy="6748"/>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6" name="文本框 15"/>
            <p:cNvSpPr txBox="1"/>
            <p:nvPr/>
          </p:nvSpPr>
          <p:spPr>
            <a:xfrm>
              <a:off x="8636" y="3073"/>
              <a:ext cx="2208" cy="725"/>
            </a:xfrm>
            <a:prstGeom prst="rect">
              <a:avLst/>
            </a:prstGeom>
            <a:noFill/>
          </p:spPr>
          <p:txBody>
            <a:bodyPr wrap="square" rtlCol="0">
              <a:spAutoFit/>
            </a:bodyPr>
            <a:p>
              <a:r>
                <a:rPr lang="en-US" altLang="zh-CN" sz="2400">
                  <a:solidFill>
                    <a:schemeClr val="bg1"/>
                  </a:solidFill>
                </a:rPr>
                <a:t>人工智能</a:t>
              </a:r>
              <a:endParaRPr lang="en-US" altLang="zh-CN" sz="2400">
                <a:solidFill>
                  <a:schemeClr val="bg1"/>
                </a:solidFill>
              </a:endParaRPr>
            </a:p>
          </p:txBody>
        </p:sp>
      </p:grpSp>
      <p:sp>
        <p:nvSpPr>
          <p:cNvPr id="4" name="标题 3"/>
          <p:cNvSpPr>
            <a:spLocks noGrp="1"/>
          </p:cNvSpPr>
          <p:nvPr>
            <p:ph type="title"/>
          </p:nvPr>
        </p:nvSpPr>
        <p:spPr/>
        <p:txBody>
          <a:bodyPr>
            <a:normAutofit fontScale="90000"/>
          </a:bodyPr>
          <a:p>
            <a:r>
              <a:rPr lang="zh-CN" altLang="en-US"/>
              <a:t>大模型技术全景图</a:t>
            </a:r>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en-US" altLang="zh-CN" smtClean="0"/>
          </a:p>
        </p:txBody>
      </p:sp>
      <p:grpSp>
        <p:nvGrpSpPr>
          <p:cNvPr id="2" name="组合 1"/>
          <p:cNvGrpSpPr/>
          <p:nvPr/>
        </p:nvGrpSpPr>
        <p:grpSpPr>
          <a:xfrm>
            <a:off x="1905000" y="2565400"/>
            <a:ext cx="6492240" cy="3392170"/>
            <a:chOff x="4628" y="4208"/>
            <a:chExt cx="10224" cy="5342"/>
          </a:xfrm>
        </p:grpSpPr>
        <p:sp>
          <p:nvSpPr>
            <p:cNvPr id="7" name="椭圆 6"/>
            <p:cNvSpPr/>
            <p:nvPr/>
          </p:nvSpPr>
          <p:spPr>
            <a:xfrm>
              <a:off x="4628" y="4208"/>
              <a:ext cx="10224" cy="5343"/>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7" name="文本框 16"/>
            <p:cNvSpPr txBox="1"/>
            <p:nvPr/>
          </p:nvSpPr>
          <p:spPr>
            <a:xfrm>
              <a:off x="8742" y="4607"/>
              <a:ext cx="2208" cy="725"/>
            </a:xfrm>
            <a:prstGeom prst="rect">
              <a:avLst/>
            </a:prstGeom>
            <a:noFill/>
          </p:spPr>
          <p:txBody>
            <a:bodyPr wrap="none" rtlCol="0">
              <a:spAutoFit/>
            </a:bodyPr>
            <a:p>
              <a:r>
                <a:rPr lang="en-US" altLang="en-US" sz="2400">
                  <a:solidFill>
                    <a:schemeClr val="bg1"/>
                  </a:solidFill>
                </a:rPr>
                <a:t>机器学习</a:t>
              </a:r>
              <a:endParaRPr lang="en-US" altLang="en-US" sz="2400">
                <a:solidFill>
                  <a:schemeClr val="bg1"/>
                </a:solidFill>
              </a:endParaRPr>
            </a:p>
          </p:txBody>
        </p:sp>
      </p:grpSp>
      <p:grpSp>
        <p:nvGrpSpPr>
          <p:cNvPr id="28" name="组合 27"/>
          <p:cNvGrpSpPr/>
          <p:nvPr/>
        </p:nvGrpSpPr>
        <p:grpSpPr>
          <a:xfrm>
            <a:off x="2724150" y="3310255"/>
            <a:ext cx="4852670" cy="2633980"/>
            <a:chOff x="16160" y="5630"/>
            <a:chExt cx="7642" cy="4148"/>
          </a:xfrm>
        </p:grpSpPr>
        <p:sp>
          <p:nvSpPr>
            <p:cNvPr id="8" name="椭圆 7"/>
            <p:cNvSpPr/>
            <p:nvPr/>
          </p:nvSpPr>
          <p:spPr>
            <a:xfrm>
              <a:off x="16160" y="5630"/>
              <a:ext cx="7643" cy="4149"/>
            </a:xfrm>
            <a:prstGeom prst="ellipse">
              <a:avLst/>
            </a:prstGeom>
            <a:gradFill rotWithShape="1">
              <a:gsLst>
                <a:gs pos="0">
                  <a:srgbClr val="69F0AE">
                    <a:alpha val="30000"/>
                  </a:srgbClr>
                </a:gs>
                <a:gs pos="55000">
                  <a:srgbClr val="69F0AE">
                    <a:alpha val="8000"/>
                  </a:srgbClr>
                </a:gs>
                <a:gs pos="100000">
                  <a:srgbClr val="69F0AE">
                    <a:alpha val="2000"/>
                  </a:srgbClr>
                </a:gs>
              </a:gsLst>
              <a:path path="circle">
                <a:fillToRect l="50000" t="50000" r="50000" b="50000"/>
              </a:path>
              <a:tileRect/>
            </a:gradFill>
            <a:ln w="25400" cap="flat" cmpd="sng">
              <a:solidFill>
                <a:srgbClr val="69F0AE">
                  <a:alpha val="100000"/>
                </a:srgbClr>
              </a:solidFill>
              <a:prstDash val="solid"/>
              <a:round/>
            </a:ln>
            <a:effectLst>
              <a:outerShdw blurRad="355600" dir="5400000" algn="ctr" rotWithShape="0">
                <a:srgbClr val="69F0AE">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8" name="文本框 17"/>
            <p:cNvSpPr txBox="1"/>
            <p:nvPr/>
          </p:nvSpPr>
          <p:spPr>
            <a:xfrm>
              <a:off x="19012" y="5910"/>
              <a:ext cx="2208" cy="725"/>
            </a:xfrm>
            <a:prstGeom prst="rect">
              <a:avLst/>
            </a:prstGeom>
            <a:noFill/>
          </p:spPr>
          <p:txBody>
            <a:bodyPr wrap="none" rtlCol="0">
              <a:spAutoFit/>
            </a:bodyPr>
            <a:p>
              <a:r>
                <a:rPr lang="en-US" altLang="en-US" sz="2400">
                  <a:solidFill>
                    <a:schemeClr val="bg1"/>
                  </a:solidFill>
                </a:rPr>
                <a:t>深度学习</a:t>
              </a:r>
              <a:endParaRPr lang="en-US" altLang="en-US" sz="2400">
                <a:solidFill>
                  <a:schemeClr val="bg1"/>
                </a:solidFill>
              </a:endParaRPr>
            </a:p>
          </p:txBody>
        </p:sp>
      </p:grpSp>
      <p:grpSp>
        <p:nvGrpSpPr>
          <p:cNvPr id="29" name="组合 28"/>
          <p:cNvGrpSpPr/>
          <p:nvPr/>
        </p:nvGrpSpPr>
        <p:grpSpPr>
          <a:xfrm>
            <a:off x="2973705" y="4060190"/>
            <a:ext cx="2188210" cy="1502410"/>
            <a:chOff x="16664" y="6918"/>
            <a:chExt cx="3446" cy="2366"/>
          </a:xfrm>
        </p:grpSpPr>
        <p:sp>
          <p:nvSpPr>
            <p:cNvPr id="10" name="椭圆 9"/>
            <p:cNvSpPr/>
            <p:nvPr/>
          </p:nvSpPr>
          <p:spPr>
            <a:xfrm>
              <a:off x="16664" y="6918"/>
              <a:ext cx="3446" cy="2366"/>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9" name="文本框 18"/>
            <p:cNvSpPr txBox="1"/>
            <p:nvPr/>
          </p:nvSpPr>
          <p:spPr>
            <a:xfrm>
              <a:off x="17173" y="7184"/>
              <a:ext cx="2288" cy="628"/>
            </a:xfrm>
            <a:prstGeom prst="rect">
              <a:avLst/>
            </a:prstGeom>
            <a:noFill/>
          </p:spPr>
          <p:txBody>
            <a:bodyPr wrap="none" rtlCol="0">
              <a:spAutoFit/>
            </a:bodyPr>
            <a:p>
              <a:r>
                <a:rPr lang="en-US" altLang="en-US" sz="2000">
                  <a:solidFill>
                    <a:schemeClr val="bg1"/>
                  </a:solidFill>
                </a:rPr>
                <a:t>大语言模型</a:t>
              </a:r>
              <a:endParaRPr lang="en-US" altLang="en-US" sz="2000">
                <a:solidFill>
                  <a:schemeClr val="bg1"/>
                </a:solidFill>
              </a:endParaRPr>
            </a:p>
          </p:txBody>
        </p:sp>
      </p:grpSp>
      <p:grpSp>
        <p:nvGrpSpPr>
          <p:cNvPr id="30" name="组合 29"/>
          <p:cNvGrpSpPr/>
          <p:nvPr/>
        </p:nvGrpSpPr>
        <p:grpSpPr>
          <a:xfrm>
            <a:off x="5683885" y="4060190"/>
            <a:ext cx="1540510" cy="735330"/>
            <a:chOff x="20779" y="6918"/>
            <a:chExt cx="2426" cy="1158"/>
          </a:xfrm>
        </p:grpSpPr>
        <p:sp>
          <p:nvSpPr>
            <p:cNvPr id="11" name="椭圆 10"/>
            <p:cNvSpPr/>
            <p:nvPr/>
          </p:nvSpPr>
          <p:spPr>
            <a:xfrm>
              <a:off x="20779" y="6918"/>
              <a:ext cx="2427" cy="1159"/>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0" name="文本框 19"/>
            <p:cNvSpPr txBox="1"/>
            <p:nvPr/>
          </p:nvSpPr>
          <p:spPr>
            <a:xfrm>
              <a:off x="20848" y="7183"/>
              <a:ext cx="2288" cy="628"/>
            </a:xfrm>
            <a:prstGeom prst="rect">
              <a:avLst/>
            </a:prstGeom>
            <a:noFill/>
          </p:spPr>
          <p:txBody>
            <a:bodyPr wrap="none" rtlCol="0">
              <a:spAutoFit/>
            </a:bodyPr>
            <a:p>
              <a:r>
                <a:rPr lang="en-US" altLang="en-US" sz="2000">
                  <a:solidFill>
                    <a:schemeClr val="bg1"/>
                  </a:solidFill>
                </a:rPr>
                <a:t>多模态模型</a:t>
              </a:r>
              <a:endParaRPr lang="en-US" altLang="en-US" sz="2000">
                <a:solidFill>
                  <a:schemeClr val="bg1"/>
                </a:solidFill>
              </a:endParaRPr>
            </a:p>
          </p:txBody>
        </p:sp>
      </p:grpSp>
      <p:grpSp>
        <p:nvGrpSpPr>
          <p:cNvPr id="31" name="组合 30"/>
          <p:cNvGrpSpPr/>
          <p:nvPr/>
        </p:nvGrpSpPr>
        <p:grpSpPr>
          <a:xfrm>
            <a:off x="5161915" y="5014595"/>
            <a:ext cx="1540510" cy="735330"/>
            <a:chOff x="20110" y="8324"/>
            <a:chExt cx="2426" cy="1158"/>
          </a:xfrm>
        </p:grpSpPr>
        <p:sp>
          <p:nvSpPr>
            <p:cNvPr id="13" name="椭圆 12"/>
            <p:cNvSpPr/>
            <p:nvPr/>
          </p:nvSpPr>
          <p:spPr>
            <a:xfrm>
              <a:off x="20110" y="8324"/>
              <a:ext cx="2427" cy="1159"/>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1" name="文本框 20"/>
            <p:cNvSpPr txBox="1"/>
            <p:nvPr/>
          </p:nvSpPr>
          <p:spPr>
            <a:xfrm>
              <a:off x="20219" y="8638"/>
              <a:ext cx="2208" cy="531"/>
            </a:xfrm>
            <a:prstGeom prst="rect">
              <a:avLst/>
            </a:prstGeom>
            <a:noFill/>
          </p:spPr>
          <p:txBody>
            <a:bodyPr wrap="none" rtlCol="0">
              <a:spAutoFit/>
            </a:bodyPr>
            <a:p>
              <a:r>
                <a:rPr lang="en-US" altLang="en-US" sz="1600">
                  <a:solidFill>
                    <a:schemeClr val="bg1"/>
                  </a:solidFill>
                </a:rPr>
                <a:t>其他网络模型</a:t>
              </a:r>
              <a:endParaRPr lang="en-US" altLang="en-US" sz="1600">
                <a:solidFill>
                  <a:schemeClr val="bg1"/>
                </a:solidFill>
              </a:endParaRPr>
            </a:p>
          </p:txBody>
        </p:sp>
      </p:grpSp>
      <p:grpSp>
        <p:nvGrpSpPr>
          <p:cNvPr id="32" name="组合 31"/>
          <p:cNvGrpSpPr/>
          <p:nvPr/>
        </p:nvGrpSpPr>
        <p:grpSpPr>
          <a:xfrm>
            <a:off x="3168015" y="4704080"/>
            <a:ext cx="775916" cy="669290"/>
            <a:chOff x="17173" y="7988"/>
            <a:chExt cx="2171" cy="1054"/>
          </a:xfrm>
        </p:grpSpPr>
        <p:sp>
          <p:nvSpPr>
            <p:cNvPr id="14" name="椭圆 13"/>
            <p:cNvSpPr/>
            <p:nvPr/>
          </p:nvSpPr>
          <p:spPr>
            <a:xfrm>
              <a:off x="17173" y="7988"/>
              <a:ext cx="2171" cy="1054"/>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2" name="文本框 21"/>
            <p:cNvSpPr txBox="1"/>
            <p:nvPr/>
          </p:nvSpPr>
          <p:spPr>
            <a:xfrm>
              <a:off x="17573" y="8253"/>
              <a:ext cx="1487" cy="561"/>
            </a:xfrm>
            <a:prstGeom prst="rect">
              <a:avLst/>
            </a:prstGeom>
            <a:noFill/>
          </p:spPr>
          <p:txBody>
            <a:bodyPr wrap="none" rtlCol="0">
              <a:noAutofit/>
            </a:bodyPr>
            <a:p>
              <a:pPr algn="ctr"/>
              <a:r>
                <a:rPr lang="en-US" altLang="en-US" sz="1600">
                  <a:solidFill>
                    <a:schemeClr val="bg1"/>
                  </a:solidFill>
                </a:rPr>
                <a:t>智能体</a:t>
              </a:r>
              <a:endParaRPr lang="en-US" altLang="en-US" sz="1600">
                <a:solidFill>
                  <a:schemeClr val="bg1"/>
                </a:solidFill>
              </a:endParaRPr>
            </a:p>
          </p:txBody>
        </p:sp>
      </p:grpSp>
      <p:grpSp>
        <p:nvGrpSpPr>
          <p:cNvPr id="5" name="组合 4"/>
          <p:cNvGrpSpPr/>
          <p:nvPr/>
        </p:nvGrpSpPr>
        <p:grpSpPr>
          <a:xfrm>
            <a:off x="4077335" y="4704080"/>
            <a:ext cx="775916" cy="669290"/>
            <a:chOff x="17173" y="7988"/>
            <a:chExt cx="2171" cy="1054"/>
          </a:xfrm>
        </p:grpSpPr>
        <p:sp>
          <p:nvSpPr>
            <p:cNvPr id="9" name="椭圆 8"/>
            <p:cNvSpPr/>
            <p:nvPr/>
          </p:nvSpPr>
          <p:spPr>
            <a:xfrm>
              <a:off x="17173" y="7988"/>
              <a:ext cx="2171" cy="1054"/>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2" name="文本框 11"/>
            <p:cNvSpPr txBox="1"/>
            <p:nvPr/>
          </p:nvSpPr>
          <p:spPr>
            <a:xfrm>
              <a:off x="17573" y="8230"/>
              <a:ext cx="1487" cy="561"/>
            </a:xfrm>
            <a:prstGeom prst="rect">
              <a:avLst/>
            </a:prstGeom>
            <a:noFill/>
          </p:spPr>
          <p:txBody>
            <a:bodyPr wrap="none" rtlCol="0" anchor="ctr" anchorCtr="0">
              <a:noAutofit/>
            </a:bodyPr>
            <a:p>
              <a:pPr algn="ctr"/>
              <a:r>
                <a:rPr lang="zh-CN" altLang="en-US" sz="1600">
                  <a:solidFill>
                    <a:schemeClr val="bg1"/>
                  </a:solidFill>
                </a:rPr>
                <a:t>提示词</a:t>
              </a:r>
              <a:endParaRPr lang="zh-CN" altLang="en-US" sz="1600">
                <a:solidFill>
                  <a:schemeClr val="bg1"/>
                </a:solidFill>
              </a:endParaRPr>
            </a:p>
            <a:p>
              <a:pPr algn="ctr"/>
              <a:r>
                <a:rPr lang="zh-CN" altLang="en-US" sz="1600">
                  <a:solidFill>
                    <a:schemeClr val="bg1"/>
                  </a:solidFill>
                </a:rPr>
                <a:t>工程</a:t>
              </a:r>
              <a:endParaRPr lang="zh-CN" altLang="en-US" sz="1600">
                <a:solidFill>
                  <a:schemeClr val="bg1"/>
                </a:solidFill>
              </a:endParaRPr>
            </a:p>
          </p:txBody>
        </p:sp>
      </p:grpSp>
      <p:grpSp>
        <p:nvGrpSpPr>
          <p:cNvPr id="15" name="组合 14"/>
          <p:cNvGrpSpPr/>
          <p:nvPr/>
        </p:nvGrpSpPr>
        <p:grpSpPr>
          <a:xfrm>
            <a:off x="8600440" y="3074670"/>
            <a:ext cx="2860040" cy="1782779"/>
            <a:chOff x="4628" y="4208"/>
            <a:chExt cx="10224" cy="5343"/>
          </a:xfrm>
        </p:grpSpPr>
        <p:sp>
          <p:nvSpPr>
            <p:cNvPr id="23" name="椭圆 22"/>
            <p:cNvSpPr/>
            <p:nvPr/>
          </p:nvSpPr>
          <p:spPr>
            <a:xfrm>
              <a:off x="4628" y="4208"/>
              <a:ext cx="10224" cy="5343"/>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4" name="文本框 23"/>
            <p:cNvSpPr txBox="1"/>
            <p:nvPr/>
          </p:nvSpPr>
          <p:spPr>
            <a:xfrm>
              <a:off x="5963" y="6190"/>
              <a:ext cx="7555" cy="1380"/>
            </a:xfrm>
            <a:prstGeom prst="rect">
              <a:avLst/>
            </a:prstGeom>
            <a:noFill/>
          </p:spPr>
          <p:txBody>
            <a:bodyPr wrap="square" rtlCol="0">
              <a:spAutoFit/>
            </a:bodyPr>
            <a:p>
              <a:pPr algn="ctr"/>
              <a:r>
                <a:rPr lang="zh-CN" altLang="en-US" sz="2400">
                  <a:solidFill>
                    <a:schemeClr val="bg1"/>
                  </a:solidFill>
                </a:rPr>
                <a:t>符号智能</a:t>
              </a:r>
              <a:endParaRPr lang="zh-CN" altLang="en-US" sz="240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大模型产品</a:t>
            </a:r>
            <a:r>
              <a:rPr altLang="zh-CN"/>
              <a:t> vs </a:t>
            </a:r>
            <a:r>
              <a:rPr lang="zh-CN" altLang="en-US">
                <a:ea typeface="SimSun" charset="0"/>
              </a:rPr>
              <a:t>本体</a:t>
            </a:r>
            <a:endParaRPr lang="zh-CN" altLang="en-US">
              <a:ea typeface="SimSun"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pic>
        <p:nvPicPr>
          <p:cNvPr id="5" name="图片 4"/>
          <p:cNvPicPr>
            <a:picLocks noChangeAspect="1"/>
          </p:cNvPicPr>
          <p:nvPr/>
        </p:nvPicPr>
        <p:blipFill>
          <a:blip r:embed="rId1">
            <a:alphaModFix amt="50000"/>
          </a:blip>
          <a:stretch>
            <a:fillRect/>
          </a:stretch>
        </p:blipFill>
        <p:spPr>
          <a:xfrm>
            <a:off x="1595755" y="1221105"/>
            <a:ext cx="9000000" cy="5067118"/>
          </a:xfrm>
          <a:prstGeom prst="rect">
            <a:avLst/>
          </a:prstGeom>
        </p:spPr>
      </p:pic>
      <p:sp>
        <p:nvSpPr>
          <p:cNvPr id="6" name="文本框 5"/>
          <p:cNvSpPr txBox="1"/>
          <p:nvPr/>
        </p:nvSpPr>
        <p:spPr>
          <a:xfrm>
            <a:off x="3162935" y="3429000"/>
            <a:ext cx="2392680" cy="645160"/>
          </a:xfrm>
          <a:prstGeom prst="rect">
            <a:avLst/>
          </a:prstGeom>
          <a:noFill/>
        </p:spPr>
        <p:txBody>
          <a:bodyPr wrap="square" rtlCol="0">
            <a:spAutoFit/>
          </a:bodyPr>
          <a:p>
            <a:pPr algn="ctr"/>
            <a:r>
              <a:rPr lang="zh-CN" altLang="en-US">
                <a:solidFill>
                  <a:schemeClr val="bg1"/>
                </a:solidFill>
              </a:rPr>
              <a:t>发动机</a:t>
            </a:r>
            <a:endParaRPr lang="zh-CN" altLang="en-US">
              <a:solidFill>
                <a:schemeClr val="bg1"/>
              </a:solidFill>
            </a:endParaRPr>
          </a:p>
          <a:p>
            <a:pPr algn="ctr"/>
            <a:r>
              <a:rPr lang="zh-CN" altLang="en-US">
                <a:solidFill>
                  <a:schemeClr val="bg1"/>
                </a:solidFill>
              </a:rPr>
              <a:t>（模型本体</a:t>
            </a:r>
            <a:r>
              <a:rPr lang="en-US" altLang="zh-CN">
                <a:solidFill>
                  <a:schemeClr val="bg1"/>
                </a:solidFill>
              </a:rPr>
              <a:t>/Model</a:t>
            </a:r>
            <a:r>
              <a:rPr lang="zh-CN" altLang="en-US">
                <a:solidFill>
                  <a:schemeClr val="bg1"/>
                </a:solidFill>
              </a:rPr>
              <a:t>）</a:t>
            </a:r>
            <a:endParaRPr lang="zh-CN" altLang="en-US">
              <a:solidFill>
                <a:schemeClr val="bg1"/>
              </a:solidFill>
            </a:endParaRPr>
          </a:p>
        </p:txBody>
      </p:sp>
      <p:sp>
        <p:nvSpPr>
          <p:cNvPr id="7" name="文本框 6"/>
          <p:cNvSpPr txBox="1"/>
          <p:nvPr/>
        </p:nvSpPr>
        <p:spPr>
          <a:xfrm>
            <a:off x="5542280" y="4318000"/>
            <a:ext cx="1388745" cy="645160"/>
          </a:xfrm>
          <a:prstGeom prst="rect">
            <a:avLst/>
          </a:prstGeom>
          <a:noFill/>
        </p:spPr>
        <p:txBody>
          <a:bodyPr wrap="square" rtlCol="0">
            <a:spAutoFit/>
          </a:bodyPr>
          <a:p>
            <a:pPr algn="ctr"/>
            <a:r>
              <a:rPr lang="zh-CN" altLang="en-US">
                <a:solidFill>
                  <a:schemeClr val="bg1"/>
                </a:solidFill>
              </a:rPr>
              <a:t>车轮</a:t>
            </a:r>
            <a:endParaRPr lang="zh-CN" altLang="en-US">
              <a:solidFill>
                <a:schemeClr val="bg1"/>
              </a:solidFill>
            </a:endParaRPr>
          </a:p>
          <a:p>
            <a:pPr algn="ctr"/>
            <a:r>
              <a:rPr lang="zh-CN" altLang="en-US">
                <a:solidFill>
                  <a:schemeClr val="bg1"/>
                </a:solidFill>
              </a:rPr>
              <a:t>（工具</a:t>
            </a:r>
            <a:r>
              <a:rPr lang="en-US" altLang="zh-CN">
                <a:solidFill>
                  <a:schemeClr val="bg1"/>
                </a:solidFill>
              </a:rPr>
              <a:t>/Tool</a:t>
            </a:r>
            <a:r>
              <a:rPr lang="zh-CN" altLang="en-US">
                <a:solidFill>
                  <a:schemeClr val="bg1"/>
                </a:solidFill>
              </a:rPr>
              <a:t>）</a:t>
            </a:r>
            <a:endParaRPr lang="zh-CN" altLang="en-US">
              <a:solidFill>
                <a:schemeClr val="bg1"/>
              </a:solidFill>
            </a:endParaRPr>
          </a:p>
        </p:txBody>
      </p:sp>
      <p:sp>
        <p:nvSpPr>
          <p:cNvPr id="8" name="文本框 7"/>
          <p:cNvSpPr txBox="1"/>
          <p:nvPr/>
        </p:nvSpPr>
        <p:spPr>
          <a:xfrm>
            <a:off x="6789420" y="3672840"/>
            <a:ext cx="2748280" cy="645160"/>
          </a:xfrm>
          <a:prstGeom prst="rect">
            <a:avLst/>
          </a:prstGeom>
          <a:noFill/>
        </p:spPr>
        <p:txBody>
          <a:bodyPr wrap="square" rtlCol="0">
            <a:spAutoFit/>
          </a:bodyPr>
          <a:p>
            <a:pPr algn="ctr"/>
            <a:r>
              <a:rPr lang="zh-CN" altLang="en-US">
                <a:solidFill>
                  <a:schemeClr val="bg1"/>
                </a:solidFill>
              </a:rPr>
              <a:t>车架</a:t>
            </a:r>
            <a:r>
              <a:rPr lang="en-US" altLang="zh-CN">
                <a:solidFill>
                  <a:schemeClr val="bg1"/>
                </a:solidFill>
              </a:rPr>
              <a:t>+</a:t>
            </a:r>
            <a:r>
              <a:rPr lang="zh-CN" altLang="en-US">
                <a:solidFill>
                  <a:schemeClr val="bg1"/>
                </a:solidFill>
              </a:rPr>
              <a:t>底盘</a:t>
            </a:r>
            <a:endParaRPr lang="zh-CN" altLang="en-US">
              <a:solidFill>
                <a:schemeClr val="bg1"/>
              </a:solidFill>
            </a:endParaRPr>
          </a:p>
          <a:p>
            <a:pPr algn="ctr"/>
            <a:r>
              <a:rPr lang="zh-CN" altLang="en-US">
                <a:solidFill>
                  <a:schemeClr val="bg1"/>
                </a:solidFill>
              </a:rPr>
              <a:t>（驾驭层</a:t>
            </a:r>
            <a:r>
              <a:rPr lang="en-US" altLang="zh-CN">
                <a:solidFill>
                  <a:schemeClr val="bg1"/>
                </a:solidFill>
              </a:rPr>
              <a:t>/Harness</a:t>
            </a:r>
            <a:r>
              <a:rPr lang="zh-CN" altLang="en-US">
                <a:solidFill>
                  <a:schemeClr val="bg1"/>
                </a:solidFill>
              </a:rPr>
              <a:t>）</a:t>
            </a:r>
            <a:endParaRPr lang="zh-CN" altLang="en-US">
              <a:solidFill>
                <a:schemeClr val="bg1"/>
              </a:solidFill>
            </a:endParaRPr>
          </a:p>
        </p:txBody>
      </p:sp>
      <p:sp>
        <p:nvSpPr>
          <p:cNvPr id="9" name="文本框 8"/>
          <p:cNvSpPr txBox="1"/>
          <p:nvPr/>
        </p:nvSpPr>
        <p:spPr>
          <a:xfrm>
            <a:off x="5189855" y="2864485"/>
            <a:ext cx="2748280" cy="645160"/>
          </a:xfrm>
          <a:prstGeom prst="rect">
            <a:avLst/>
          </a:prstGeom>
          <a:noFill/>
        </p:spPr>
        <p:txBody>
          <a:bodyPr wrap="square" rtlCol="0">
            <a:spAutoFit/>
          </a:bodyPr>
          <a:p>
            <a:pPr algn="ctr"/>
            <a:r>
              <a:rPr lang="zh-CN">
                <a:solidFill>
                  <a:schemeClr val="bg1"/>
                </a:solidFill>
              </a:rPr>
              <a:t>方向盘</a:t>
            </a:r>
            <a:endParaRPr lang="zh-CN">
              <a:solidFill>
                <a:schemeClr val="bg1"/>
              </a:solidFill>
            </a:endParaRPr>
          </a:p>
          <a:p>
            <a:pPr algn="ctr"/>
            <a:r>
              <a:rPr lang="zh-CN">
                <a:solidFill>
                  <a:schemeClr val="bg1"/>
                </a:solidFill>
              </a:rPr>
              <a:t>（操作界面</a:t>
            </a:r>
            <a:r>
              <a:rPr lang="en-US" altLang="zh-CN">
                <a:solidFill>
                  <a:schemeClr val="bg1"/>
                </a:solidFill>
              </a:rPr>
              <a:t>/UI</a:t>
            </a:r>
            <a:r>
              <a:rPr lang="zh-CN" altLang="en-US">
                <a:solidFill>
                  <a:schemeClr val="bg1"/>
                </a:solidFill>
              </a:rPr>
              <a:t>）</a:t>
            </a:r>
            <a:endParaRPr lang="zh-CN" altLang="en-US">
              <a:solidFill>
                <a:schemeClr val="bg1"/>
              </a:solidFill>
            </a:endParaRPr>
          </a:p>
        </p:txBody>
      </p:sp>
      <p:sp>
        <p:nvSpPr>
          <p:cNvPr id="10" name="文本框 9"/>
          <p:cNvSpPr txBox="1"/>
          <p:nvPr/>
        </p:nvSpPr>
        <p:spPr>
          <a:xfrm>
            <a:off x="4721860" y="5422900"/>
            <a:ext cx="2748280" cy="645160"/>
          </a:xfrm>
          <a:prstGeom prst="rect">
            <a:avLst/>
          </a:prstGeom>
          <a:noFill/>
        </p:spPr>
        <p:txBody>
          <a:bodyPr wrap="square" rtlCol="0">
            <a:spAutoFit/>
          </a:bodyPr>
          <a:p>
            <a:pPr algn="ctr"/>
            <a:r>
              <a:rPr lang="zh-CN">
                <a:solidFill>
                  <a:schemeClr val="bg1"/>
                </a:solidFill>
              </a:rPr>
              <a:t>整车</a:t>
            </a:r>
            <a:endParaRPr lang="zh-CN">
              <a:solidFill>
                <a:schemeClr val="bg1"/>
              </a:solidFill>
            </a:endParaRPr>
          </a:p>
          <a:p>
            <a:pPr algn="ctr"/>
            <a:r>
              <a:rPr lang="zh-CN">
                <a:solidFill>
                  <a:schemeClr val="bg1"/>
                </a:solidFill>
              </a:rPr>
              <a:t>（大模型产品</a:t>
            </a:r>
            <a:r>
              <a:rPr lang="en-US" altLang="zh-CN">
                <a:solidFill>
                  <a:schemeClr val="bg1"/>
                </a:solidFill>
              </a:rPr>
              <a:t>/Product</a:t>
            </a:r>
            <a:r>
              <a:rPr lang="zh-CN" altLang="en-US">
                <a:solidFill>
                  <a:schemeClr val="bg1"/>
                </a:solidFill>
              </a:rPr>
              <a:t>）</a:t>
            </a:r>
            <a:endParaRPr lang="zh-CN" altLang="en-US">
              <a:solidFill>
                <a:schemeClr val="bg1"/>
              </a:solidFill>
            </a:endParaRPr>
          </a:p>
        </p:txBody>
      </p:sp>
      <p:sp>
        <p:nvSpPr>
          <p:cNvPr id="14" name="文本框 13"/>
          <p:cNvSpPr txBox="1"/>
          <p:nvPr/>
        </p:nvSpPr>
        <p:spPr>
          <a:xfrm>
            <a:off x="7641590" y="2462530"/>
            <a:ext cx="4064000" cy="2584450"/>
          </a:xfrm>
          <a:prstGeom prst="rect">
            <a:avLst/>
          </a:prstGeom>
          <a:noFill/>
        </p:spPr>
        <p:txBody>
          <a:bodyPr wrap="square" rtlCol="0">
            <a:spAutoFit/>
          </a:bodyPr>
          <a:p>
            <a:pPr marL="285750" indent="-285750">
              <a:lnSpc>
                <a:spcPct val="150000"/>
              </a:lnSpc>
              <a:buFont typeface="Arial" panose="02080604020202020204" pitchFamily="34" charset="0"/>
              <a:buChar char="•"/>
            </a:pPr>
            <a:r>
              <a:rPr lang="zh-CN" altLang="en-US" b="1">
                <a:solidFill>
                  <a:schemeClr val="bg1"/>
                </a:solidFill>
              </a:rPr>
              <a:t>模型本体无状态：</a:t>
            </a:r>
            <a:r>
              <a:rPr lang="zh-CN" altLang="en-US">
                <a:solidFill>
                  <a:schemeClr val="bg1"/>
                </a:solidFill>
              </a:rPr>
              <a:t>模型本体无记忆，对话上下文都在外部存储</a:t>
            </a:r>
            <a:endParaRPr lang="zh-CN" altLang="en-US">
              <a:solidFill>
                <a:schemeClr val="bg1"/>
              </a:solidFill>
            </a:endParaRPr>
          </a:p>
          <a:p>
            <a:pPr marL="285750" indent="-285750">
              <a:lnSpc>
                <a:spcPct val="150000"/>
              </a:lnSpc>
              <a:buFont typeface="Arial" panose="02080604020202020204" pitchFamily="34" charset="0"/>
              <a:buChar char="•"/>
            </a:pPr>
            <a:endParaRPr lang="zh-CN" altLang="en-US">
              <a:solidFill>
                <a:schemeClr val="bg1"/>
              </a:solidFill>
            </a:endParaRPr>
          </a:p>
          <a:p>
            <a:pPr marL="285750" indent="-285750">
              <a:lnSpc>
                <a:spcPct val="150000"/>
              </a:lnSpc>
              <a:buFont typeface="Arial" panose="02080604020202020204" pitchFamily="34" charset="0"/>
              <a:buChar char="•"/>
            </a:pPr>
            <a:r>
              <a:rPr lang="zh-CN" altLang="en-US" b="1">
                <a:solidFill>
                  <a:schemeClr val="bg1"/>
                </a:solidFill>
              </a:rPr>
              <a:t>模型本体的知识有截止日期：</a:t>
            </a:r>
            <a:r>
              <a:rPr lang="zh-CN" altLang="en-US">
                <a:solidFill>
                  <a:schemeClr val="bg1"/>
                </a:solidFill>
              </a:rPr>
              <a:t>模型本体不具备训练截止之后的信息，新的信息都是通过工具获取的</a:t>
            </a:r>
            <a:endParaRPr lang="en-US" altLang="zh-CN">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5" presetClass="path" presetSubtype="0" accel="50000" decel="50000" fill="hold" nodeType="clickEffect">
                                  <p:stCondLst>
                                    <p:cond delay="0"/>
                                  </p:stCondLst>
                                  <p:childTnLst>
                                    <p:animMotion origin="layout" path="M 0 0 L -0.165312 0 " pathEditMode="relative" rAng="0" ptsTypes="">
                                      <p:cBhvr>
                                        <p:cTn id="36" dur="1000" fill="hold"/>
                                        <p:tgtEl>
                                          <p:spTgt spid="5"/>
                                        </p:tgtEl>
                                        <p:attrNameLst>
                                          <p:attrName>ppt_x</p:attrName>
                                          <p:attrName>ppt_y</p:attrName>
                                        </p:attrNameLst>
                                      </p:cBhvr>
                                      <p:rCtr x="-98" y="0"/>
                                    </p:animMotion>
                                  </p:childTnLst>
                                </p:cTn>
                              </p:par>
                              <p:par>
                                <p:cTn id="37" presetID="35" presetClass="path" presetSubtype="0" accel="50000" decel="50000" fill="hold" grpId="0" nodeType="withEffect">
                                  <p:stCondLst>
                                    <p:cond delay="0"/>
                                  </p:stCondLst>
                                  <p:childTnLst>
                                    <p:animMotion origin="layout" path="M 0 0 L -0.165312 0 " pathEditMode="relative" rAng="0" ptsTypes="">
                                      <p:cBhvr>
                                        <p:cTn id="38" dur="1000" fill="hold"/>
                                        <p:tgtEl>
                                          <p:spTgt spid="6"/>
                                        </p:tgtEl>
                                        <p:attrNameLst>
                                          <p:attrName>ppt_x</p:attrName>
                                          <p:attrName>ppt_y</p:attrName>
                                        </p:attrNameLst>
                                      </p:cBhvr>
                                      <p:rCtr x="-98" y="0"/>
                                    </p:animMotion>
                                  </p:childTnLst>
                                </p:cTn>
                              </p:par>
                              <p:par>
                                <p:cTn id="39" presetID="35" presetClass="path" presetSubtype="0" accel="50000" decel="50000" fill="hold" grpId="0" nodeType="withEffect">
                                  <p:stCondLst>
                                    <p:cond delay="0"/>
                                  </p:stCondLst>
                                  <p:childTnLst>
                                    <p:animMotion origin="layout" path="M 0 0 L -0.165312 0 " pathEditMode="relative" rAng="0" ptsTypes="">
                                      <p:cBhvr>
                                        <p:cTn id="40" dur="1000" fill="hold"/>
                                        <p:tgtEl>
                                          <p:spTgt spid="9"/>
                                        </p:tgtEl>
                                        <p:attrNameLst>
                                          <p:attrName>ppt_x</p:attrName>
                                          <p:attrName>ppt_y</p:attrName>
                                        </p:attrNameLst>
                                      </p:cBhvr>
                                      <p:rCtr x="-98" y="0"/>
                                    </p:animMotion>
                                  </p:childTnLst>
                                </p:cTn>
                              </p:par>
                              <p:par>
                                <p:cTn id="41" presetID="35" presetClass="path" presetSubtype="0" accel="50000" decel="50000" fill="hold" grpId="0" nodeType="withEffect">
                                  <p:stCondLst>
                                    <p:cond delay="0"/>
                                  </p:stCondLst>
                                  <p:childTnLst>
                                    <p:animMotion origin="layout" path="M 0 0 L -0.165312 0 " pathEditMode="relative" rAng="0" ptsTypes="">
                                      <p:cBhvr>
                                        <p:cTn id="42" dur="1000" fill="hold"/>
                                        <p:tgtEl>
                                          <p:spTgt spid="7"/>
                                        </p:tgtEl>
                                        <p:attrNameLst>
                                          <p:attrName>ppt_x</p:attrName>
                                          <p:attrName>ppt_y</p:attrName>
                                        </p:attrNameLst>
                                      </p:cBhvr>
                                      <p:rCtr x="-98" y="0"/>
                                    </p:animMotion>
                                  </p:childTnLst>
                                </p:cTn>
                              </p:par>
                              <p:par>
                                <p:cTn id="43" presetID="35" presetClass="path" presetSubtype="0" accel="50000" decel="50000" fill="hold" grpId="0" nodeType="withEffect">
                                  <p:stCondLst>
                                    <p:cond delay="0"/>
                                  </p:stCondLst>
                                  <p:childTnLst>
                                    <p:animMotion origin="layout" path="M 0 0 L -0.165312 0 " pathEditMode="relative" rAng="0" ptsTypes="">
                                      <p:cBhvr>
                                        <p:cTn id="44" dur="1000" fill="hold"/>
                                        <p:tgtEl>
                                          <p:spTgt spid="8"/>
                                        </p:tgtEl>
                                        <p:attrNameLst>
                                          <p:attrName>ppt_x</p:attrName>
                                          <p:attrName>ppt_y</p:attrName>
                                        </p:attrNameLst>
                                      </p:cBhvr>
                                      <p:rCtr x="-98" y="0"/>
                                    </p:animMotion>
                                  </p:childTnLst>
                                </p:cTn>
                              </p:par>
                              <p:par>
                                <p:cTn id="45" presetID="35" presetClass="path" presetSubtype="0" accel="50000" decel="50000" fill="hold" grpId="0" nodeType="withEffect">
                                  <p:stCondLst>
                                    <p:cond delay="0"/>
                                  </p:stCondLst>
                                  <p:childTnLst>
                                    <p:animMotion origin="layout" path="M 0 0 L -0.165312 0 " pathEditMode="relative" rAng="0" ptsTypes="">
                                      <p:cBhvr>
                                        <p:cTn id="46" dur="1000" fill="hold"/>
                                        <p:tgtEl>
                                          <p:spTgt spid="10"/>
                                        </p:tgtEl>
                                        <p:attrNameLst>
                                          <p:attrName>ppt_x</p:attrName>
                                          <p:attrName>ppt_y</p:attrName>
                                        </p:attrNameLst>
                                      </p:cBhvr>
                                      <p:rCtr x="-98" y="0"/>
                                    </p:animMotion>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7" grpId="0"/>
      <p:bldP spid="8" grpId="0"/>
      <p:bldP spid="10" grpId="0"/>
      <p:bldP spid="6" grpId="1"/>
      <p:bldP spid="7" grpId="1"/>
      <p:bldP spid="8" grpId="1"/>
      <p:bldP spid="9" grpId="1"/>
      <p:bldP spid="10" grpId="1"/>
      <p:bldP spid="14" grpId="0"/>
      <p:bldP spid="1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一个例子</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6" name="AutoShape 6"/>
          <p:cNvSpPr/>
          <p:nvPr/>
        </p:nvSpPr>
        <p:spPr>
          <a:xfrm>
            <a:off x="7515860" y="2012950"/>
            <a:ext cx="899795" cy="360045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豆</a:t>
            </a:r>
            <a:endParaRPr lang="zh-CN" altLang="en-US" sz="32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包</a:t>
            </a:r>
            <a:endParaRPr lang="zh-CN" altLang="en-US" sz="3200" b="1" i="0" u="none" strike="noStrike">
              <a:solidFill>
                <a:srgbClr val="FFFFFF"/>
              </a:solidFill>
              <a:latin typeface="Noto Sans SC"/>
              <a:ea typeface="SimSun" charset="0"/>
              <a:cs typeface="Noto Sans SC"/>
              <a:sym typeface="Noto Sans SC"/>
            </a:endParaRPr>
          </a:p>
        </p:txBody>
      </p:sp>
      <p:sp>
        <p:nvSpPr>
          <p:cNvPr id="5" name="AutoShape 6"/>
          <p:cNvSpPr/>
          <p:nvPr/>
        </p:nvSpPr>
        <p:spPr>
          <a:xfrm>
            <a:off x="10584180" y="4070350"/>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en-US" altLang="zh-CN" sz="2400" b="1" i="0" u="none" strike="noStrike">
                <a:solidFill>
                  <a:srgbClr val="FFFFFF"/>
                </a:solidFill>
                <a:latin typeface="Noto Sans SC"/>
                <a:ea typeface="SimSun" charset="0"/>
                <a:cs typeface="Noto Sans SC"/>
                <a:sym typeface="Noto Sans SC"/>
              </a:rPr>
              <a:t>Seed</a:t>
            </a:r>
            <a:endParaRPr lang="en-US" altLang="zh-CN" sz="2400" b="1"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系列</a:t>
            </a:r>
            <a:endParaRPr lang="zh-CN" altLang="en-US" sz="2400" b="1" i="0" u="none" strike="noStrike">
              <a:solidFill>
                <a:srgbClr val="FFFFFF"/>
              </a:solidFill>
              <a:latin typeface="Noto Sans SC"/>
              <a:ea typeface="SimSun" charset="0"/>
              <a:cs typeface="Noto Sans SC"/>
              <a:sym typeface="Noto Sans SC"/>
            </a:endParaRPr>
          </a:p>
        </p:txBody>
      </p:sp>
      <p:sp>
        <p:nvSpPr>
          <p:cNvPr id="8" name="文本框 7"/>
          <p:cNvSpPr txBox="1"/>
          <p:nvPr/>
        </p:nvSpPr>
        <p:spPr>
          <a:xfrm>
            <a:off x="7392035" y="5780405"/>
            <a:ext cx="1146810" cy="368300"/>
          </a:xfrm>
          <a:prstGeom prst="rect">
            <a:avLst/>
          </a:prstGeom>
          <a:noFill/>
        </p:spPr>
        <p:txBody>
          <a:bodyPr wrap="square" rtlCol="0">
            <a:spAutoFit/>
          </a:bodyPr>
          <a:p>
            <a:pPr algn="ctr"/>
            <a:r>
              <a:rPr lang="zh-CN" altLang="en-US">
                <a:solidFill>
                  <a:schemeClr val="bg1"/>
                </a:solidFill>
              </a:rPr>
              <a:t>【产品】</a:t>
            </a:r>
            <a:endParaRPr lang="zh-CN" altLang="en-US">
              <a:solidFill>
                <a:schemeClr val="bg1"/>
              </a:solidFill>
            </a:endParaRPr>
          </a:p>
        </p:txBody>
      </p:sp>
      <p:sp>
        <p:nvSpPr>
          <p:cNvPr id="10" name="文本框 9"/>
          <p:cNvSpPr txBox="1"/>
          <p:nvPr/>
        </p:nvSpPr>
        <p:spPr>
          <a:xfrm>
            <a:off x="10460355" y="5780405"/>
            <a:ext cx="1146810" cy="368300"/>
          </a:xfrm>
          <a:prstGeom prst="rect">
            <a:avLst/>
          </a:prstGeom>
          <a:noFill/>
        </p:spPr>
        <p:txBody>
          <a:bodyPr wrap="square" rtlCol="0">
            <a:spAutoFit/>
          </a:bodyPr>
          <a:p>
            <a:pPr algn="ctr"/>
            <a:r>
              <a:rPr lang="zh-CN" altLang="en-US">
                <a:solidFill>
                  <a:schemeClr val="bg1"/>
                </a:solidFill>
              </a:rPr>
              <a:t>【模型】</a:t>
            </a:r>
            <a:endParaRPr lang="zh-CN" altLang="en-US">
              <a:solidFill>
                <a:schemeClr val="bg1"/>
              </a:solidFill>
            </a:endParaRPr>
          </a:p>
        </p:txBody>
      </p:sp>
      <p:grpSp>
        <p:nvGrpSpPr>
          <p:cNvPr id="20" name="组合 19"/>
          <p:cNvGrpSpPr/>
          <p:nvPr/>
        </p:nvGrpSpPr>
        <p:grpSpPr>
          <a:xfrm>
            <a:off x="5490210" y="2999740"/>
            <a:ext cx="1880870" cy="306705"/>
            <a:chOff x="7760" y="3351"/>
            <a:chExt cx="2962" cy="483"/>
          </a:xfrm>
        </p:grpSpPr>
        <p:cxnSp>
          <p:nvCxnSpPr>
            <p:cNvPr id="18" name="直接箭头连接符 17"/>
            <p:cNvCxnSpPr/>
            <p:nvPr/>
          </p:nvCxnSpPr>
          <p:spPr>
            <a:xfrm>
              <a:off x="7760" y="3834"/>
              <a:ext cx="2962" cy="0"/>
            </a:xfrm>
            <a:prstGeom prst="straightConnector1">
              <a:avLst/>
            </a:prstGeom>
            <a:ln w="19050">
              <a:solidFill>
                <a:schemeClr val="accent6">
                  <a:lumMod val="60000"/>
                  <a:lumOff val="40000"/>
                </a:schemeClr>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8071" y="3351"/>
              <a:ext cx="2342" cy="483"/>
            </a:xfrm>
            <a:prstGeom prst="rect">
              <a:avLst/>
            </a:prstGeom>
            <a:noFill/>
          </p:spPr>
          <p:txBody>
            <a:bodyPr wrap="square" rtlCol="0">
              <a:spAutoFit/>
            </a:bodyPr>
            <a:p>
              <a:pPr algn="ctr"/>
              <a:r>
                <a:rPr lang="zh-CN" altLang="en-US" sz="1400">
                  <a:solidFill>
                    <a:schemeClr val="accent6">
                      <a:lumMod val="60000"/>
                      <a:lumOff val="40000"/>
                    </a:schemeClr>
                  </a:solidFill>
                </a:rPr>
                <a:t>语音</a:t>
              </a:r>
              <a:r>
                <a:rPr lang="en-US" altLang="zh-CN" sz="1400">
                  <a:solidFill>
                    <a:schemeClr val="accent6">
                      <a:lumMod val="60000"/>
                      <a:lumOff val="40000"/>
                    </a:schemeClr>
                  </a:solidFill>
                </a:rPr>
                <a:t>+</a:t>
              </a:r>
              <a:r>
                <a:rPr lang="zh-CN" altLang="en-US" sz="1400">
                  <a:solidFill>
                    <a:schemeClr val="accent6">
                      <a:lumMod val="60000"/>
                      <a:lumOff val="40000"/>
                    </a:schemeClr>
                  </a:solidFill>
                </a:rPr>
                <a:t>图片</a:t>
              </a:r>
              <a:endParaRPr lang="zh-CN" altLang="en-US" sz="1400">
                <a:solidFill>
                  <a:schemeClr val="accent6">
                    <a:lumMod val="60000"/>
                    <a:lumOff val="40000"/>
                  </a:schemeClr>
                </a:solidFill>
              </a:endParaRPr>
            </a:p>
          </p:txBody>
        </p:sp>
      </p:grpSp>
      <p:grpSp>
        <p:nvGrpSpPr>
          <p:cNvPr id="21" name="组合 20"/>
          <p:cNvGrpSpPr/>
          <p:nvPr/>
        </p:nvGrpSpPr>
        <p:grpSpPr>
          <a:xfrm>
            <a:off x="8558530" y="2013585"/>
            <a:ext cx="1880870" cy="306705"/>
            <a:chOff x="7760" y="3351"/>
            <a:chExt cx="2962" cy="483"/>
          </a:xfrm>
        </p:grpSpPr>
        <p:cxnSp>
          <p:nvCxnSpPr>
            <p:cNvPr id="22" name="直接箭头连接符 21"/>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8071" y="3351"/>
              <a:ext cx="2342" cy="483"/>
            </a:xfrm>
            <a:prstGeom prst="rect">
              <a:avLst/>
            </a:prstGeom>
            <a:noFill/>
          </p:spPr>
          <p:txBody>
            <a:bodyPr wrap="square" rtlCol="0">
              <a:spAutoFit/>
            </a:bodyPr>
            <a:p>
              <a:pPr algn="ctr"/>
              <a:r>
                <a:rPr lang="zh-CN" altLang="en-US" sz="1400">
                  <a:solidFill>
                    <a:srgbClr val="00E5FA"/>
                  </a:solidFill>
                </a:rPr>
                <a:t>语音</a:t>
              </a:r>
              <a:endParaRPr lang="zh-CN" altLang="en-US" sz="1400">
                <a:solidFill>
                  <a:srgbClr val="00E5FA"/>
                </a:solidFill>
              </a:endParaRPr>
            </a:p>
          </p:txBody>
        </p:sp>
      </p:grpSp>
      <p:grpSp>
        <p:nvGrpSpPr>
          <p:cNvPr id="24" name="组合 23"/>
          <p:cNvGrpSpPr/>
          <p:nvPr/>
        </p:nvGrpSpPr>
        <p:grpSpPr>
          <a:xfrm>
            <a:off x="8560435" y="2447290"/>
            <a:ext cx="1880870" cy="306705"/>
            <a:chOff x="7760" y="3351"/>
            <a:chExt cx="2962" cy="483"/>
          </a:xfrm>
        </p:grpSpPr>
        <p:cxnSp>
          <p:nvCxnSpPr>
            <p:cNvPr id="25" name="直接箭头连接符 24"/>
            <p:cNvCxnSpPr/>
            <p:nvPr/>
          </p:nvCxnSpPr>
          <p:spPr>
            <a:xfrm>
              <a:off x="7760" y="3834"/>
              <a:ext cx="2962" cy="0"/>
            </a:xfrm>
            <a:prstGeom prst="straightConnector1">
              <a:avLst/>
            </a:prstGeom>
            <a:ln w="19050">
              <a:solidFill>
                <a:srgbClr val="69F0AE"/>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8071" y="3351"/>
              <a:ext cx="2342" cy="483"/>
            </a:xfrm>
            <a:prstGeom prst="rect">
              <a:avLst/>
            </a:prstGeom>
            <a:noFill/>
          </p:spPr>
          <p:txBody>
            <a:bodyPr wrap="square" rtlCol="0">
              <a:spAutoFit/>
            </a:bodyPr>
            <a:p>
              <a:pPr algn="ctr"/>
              <a:r>
                <a:rPr lang="zh-CN" altLang="en-US" sz="1400">
                  <a:solidFill>
                    <a:srgbClr val="69F0AE"/>
                  </a:solidFill>
                </a:rPr>
                <a:t>文本</a:t>
              </a:r>
              <a:endParaRPr lang="zh-CN" altLang="en-US" sz="1400">
                <a:solidFill>
                  <a:srgbClr val="69F0AE"/>
                </a:solidFill>
              </a:endParaRPr>
            </a:p>
          </p:txBody>
        </p:sp>
      </p:grpSp>
      <p:grpSp>
        <p:nvGrpSpPr>
          <p:cNvPr id="27" name="组合 26"/>
          <p:cNvGrpSpPr/>
          <p:nvPr/>
        </p:nvGrpSpPr>
        <p:grpSpPr>
          <a:xfrm>
            <a:off x="8558530" y="4330700"/>
            <a:ext cx="1880870" cy="306705"/>
            <a:chOff x="7760" y="3351"/>
            <a:chExt cx="2962" cy="483"/>
          </a:xfrm>
        </p:grpSpPr>
        <p:cxnSp>
          <p:nvCxnSpPr>
            <p:cNvPr id="28" name="直接箭头连接符 27"/>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8071" y="3351"/>
              <a:ext cx="2342" cy="483"/>
            </a:xfrm>
            <a:prstGeom prst="rect">
              <a:avLst/>
            </a:prstGeom>
            <a:noFill/>
          </p:spPr>
          <p:txBody>
            <a:bodyPr wrap="square" rtlCol="0">
              <a:spAutoFit/>
            </a:bodyPr>
            <a:p>
              <a:pPr algn="ctr"/>
              <a:r>
                <a:rPr lang="zh-CN" altLang="en-US" sz="1400">
                  <a:solidFill>
                    <a:srgbClr val="00E5FA"/>
                  </a:solidFill>
                </a:rPr>
                <a:t>文本</a:t>
              </a:r>
              <a:r>
                <a:rPr lang="en-US" altLang="zh-CN" sz="1400">
                  <a:solidFill>
                    <a:srgbClr val="00E5FA"/>
                  </a:solidFill>
                </a:rPr>
                <a:t>+</a:t>
              </a:r>
              <a:r>
                <a:rPr lang="zh-CN" altLang="en-US" sz="1400">
                  <a:solidFill>
                    <a:srgbClr val="00E5FA"/>
                  </a:solidFill>
                </a:rPr>
                <a:t>图片</a:t>
              </a:r>
              <a:endParaRPr lang="zh-CN" altLang="en-US" sz="1400">
                <a:solidFill>
                  <a:srgbClr val="00E5FA"/>
                </a:solidFill>
              </a:endParaRPr>
            </a:p>
          </p:txBody>
        </p:sp>
      </p:grpSp>
      <p:grpSp>
        <p:nvGrpSpPr>
          <p:cNvPr id="33" name="组合 32"/>
          <p:cNvGrpSpPr/>
          <p:nvPr/>
        </p:nvGrpSpPr>
        <p:grpSpPr>
          <a:xfrm>
            <a:off x="8558530" y="4798695"/>
            <a:ext cx="1880870" cy="306705"/>
            <a:chOff x="7760" y="3351"/>
            <a:chExt cx="2962" cy="483"/>
          </a:xfrm>
        </p:grpSpPr>
        <p:cxnSp>
          <p:nvCxnSpPr>
            <p:cNvPr id="34" name="直接箭头连接符 33"/>
            <p:cNvCxnSpPr/>
            <p:nvPr/>
          </p:nvCxnSpPr>
          <p:spPr>
            <a:xfrm>
              <a:off x="7760" y="3834"/>
              <a:ext cx="2962" cy="0"/>
            </a:xfrm>
            <a:prstGeom prst="straightConnector1">
              <a:avLst/>
            </a:prstGeom>
            <a:ln w="19050">
              <a:solidFill>
                <a:srgbClr val="B388FF"/>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8071" y="3351"/>
              <a:ext cx="2342" cy="483"/>
            </a:xfrm>
            <a:prstGeom prst="rect">
              <a:avLst/>
            </a:prstGeom>
            <a:noFill/>
          </p:spPr>
          <p:txBody>
            <a:bodyPr wrap="square" rtlCol="0">
              <a:spAutoFit/>
            </a:bodyPr>
            <a:p>
              <a:pPr algn="ctr"/>
              <a:r>
                <a:rPr lang="zh-CN" altLang="en-US" sz="1400">
                  <a:solidFill>
                    <a:srgbClr val="B388FF"/>
                  </a:solidFill>
                </a:rPr>
                <a:t>文本</a:t>
              </a:r>
              <a:endParaRPr lang="zh-CN" altLang="en-US" sz="1400">
                <a:solidFill>
                  <a:srgbClr val="B388FF"/>
                </a:solidFill>
              </a:endParaRPr>
            </a:p>
          </p:txBody>
        </p:sp>
      </p:grpSp>
      <p:grpSp>
        <p:nvGrpSpPr>
          <p:cNvPr id="36" name="组合 35"/>
          <p:cNvGrpSpPr/>
          <p:nvPr/>
        </p:nvGrpSpPr>
        <p:grpSpPr>
          <a:xfrm>
            <a:off x="8558530" y="2935605"/>
            <a:ext cx="1880870" cy="306705"/>
            <a:chOff x="7760" y="3351"/>
            <a:chExt cx="2962" cy="483"/>
          </a:xfrm>
        </p:grpSpPr>
        <p:cxnSp>
          <p:nvCxnSpPr>
            <p:cNvPr id="37" name="直接箭头连接符 36"/>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8071" y="3351"/>
              <a:ext cx="2342" cy="483"/>
            </a:xfrm>
            <a:prstGeom prst="rect">
              <a:avLst/>
            </a:prstGeom>
            <a:noFill/>
          </p:spPr>
          <p:txBody>
            <a:bodyPr wrap="square" rtlCol="0">
              <a:spAutoFit/>
            </a:bodyPr>
            <a:p>
              <a:pPr algn="ctr"/>
              <a:r>
                <a:rPr lang="zh-CN" altLang="en-US" sz="1400">
                  <a:solidFill>
                    <a:srgbClr val="00E5FA"/>
                  </a:solidFill>
                </a:rPr>
                <a:t>工具指令</a:t>
              </a:r>
              <a:endParaRPr lang="zh-CN" altLang="en-US" sz="1400">
                <a:solidFill>
                  <a:srgbClr val="00E5FA"/>
                </a:solidFill>
              </a:endParaRPr>
            </a:p>
          </p:txBody>
        </p:sp>
      </p:grpSp>
      <p:grpSp>
        <p:nvGrpSpPr>
          <p:cNvPr id="39" name="组合 38"/>
          <p:cNvGrpSpPr/>
          <p:nvPr/>
        </p:nvGrpSpPr>
        <p:grpSpPr>
          <a:xfrm>
            <a:off x="8559165" y="3423920"/>
            <a:ext cx="1880870" cy="306705"/>
            <a:chOff x="7760" y="3351"/>
            <a:chExt cx="2962" cy="483"/>
          </a:xfrm>
        </p:grpSpPr>
        <p:cxnSp>
          <p:nvCxnSpPr>
            <p:cNvPr id="40" name="直接箭头连接符 39"/>
            <p:cNvCxnSpPr/>
            <p:nvPr/>
          </p:nvCxnSpPr>
          <p:spPr>
            <a:xfrm>
              <a:off x="7760" y="3834"/>
              <a:ext cx="2962" cy="0"/>
            </a:xfrm>
            <a:prstGeom prst="straightConnector1">
              <a:avLst/>
            </a:prstGeom>
            <a:ln w="19050">
              <a:solidFill>
                <a:srgbClr val="69F0AE"/>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41" name="文本框 40"/>
            <p:cNvSpPr txBox="1"/>
            <p:nvPr/>
          </p:nvSpPr>
          <p:spPr>
            <a:xfrm>
              <a:off x="8071" y="3351"/>
              <a:ext cx="2342" cy="483"/>
            </a:xfrm>
            <a:prstGeom prst="rect">
              <a:avLst/>
            </a:prstGeom>
            <a:noFill/>
          </p:spPr>
          <p:txBody>
            <a:bodyPr wrap="square" rtlCol="0">
              <a:spAutoFit/>
            </a:bodyPr>
            <a:p>
              <a:pPr algn="ctr"/>
              <a:r>
                <a:rPr lang="zh-CN" altLang="en-US" sz="1400">
                  <a:solidFill>
                    <a:srgbClr val="69F0AE"/>
                  </a:solidFill>
                </a:rPr>
                <a:t>工具结果</a:t>
              </a:r>
              <a:endParaRPr lang="zh-CN" altLang="en-US" sz="1400">
                <a:solidFill>
                  <a:srgbClr val="69F0AE"/>
                </a:solidFill>
              </a:endParaRPr>
            </a:p>
          </p:txBody>
        </p:sp>
      </p:grpSp>
      <p:grpSp>
        <p:nvGrpSpPr>
          <p:cNvPr id="42" name="组合 41"/>
          <p:cNvGrpSpPr/>
          <p:nvPr/>
        </p:nvGrpSpPr>
        <p:grpSpPr>
          <a:xfrm>
            <a:off x="5490845" y="4330700"/>
            <a:ext cx="1880870" cy="306705"/>
            <a:chOff x="7760" y="3351"/>
            <a:chExt cx="2962" cy="483"/>
          </a:xfrm>
        </p:grpSpPr>
        <p:cxnSp>
          <p:nvCxnSpPr>
            <p:cNvPr id="43" name="直接箭头连接符 42"/>
            <p:cNvCxnSpPr/>
            <p:nvPr/>
          </p:nvCxnSpPr>
          <p:spPr>
            <a:xfrm>
              <a:off x="7760" y="3834"/>
              <a:ext cx="2962" cy="0"/>
            </a:xfrm>
            <a:prstGeom prst="straightConnector1">
              <a:avLst/>
            </a:prstGeom>
            <a:ln w="19050">
              <a:solidFill>
                <a:srgbClr val="00E5FA"/>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7867" y="3351"/>
              <a:ext cx="2750" cy="483"/>
            </a:xfrm>
            <a:prstGeom prst="rect">
              <a:avLst/>
            </a:prstGeom>
            <a:noFill/>
          </p:spPr>
          <p:txBody>
            <a:bodyPr wrap="square" rtlCol="0">
              <a:spAutoFit/>
            </a:bodyPr>
            <a:p>
              <a:pPr algn="ctr"/>
              <a:r>
                <a:rPr lang="zh-CN" altLang="en-US" sz="1400">
                  <a:solidFill>
                    <a:srgbClr val="00E5FA"/>
                  </a:solidFill>
                </a:rPr>
                <a:t>文本</a:t>
              </a:r>
              <a:r>
                <a:rPr lang="en-US" altLang="zh-CN" sz="1400">
                  <a:solidFill>
                    <a:srgbClr val="00E5FA"/>
                  </a:solidFill>
                </a:rPr>
                <a:t>+</a:t>
              </a:r>
              <a:r>
                <a:rPr lang="zh-CN" altLang="en-US" sz="1400">
                  <a:solidFill>
                    <a:srgbClr val="00E5FA"/>
                  </a:solidFill>
                </a:rPr>
                <a:t>图片</a:t>
              </a:r>
              <a:r>
                <a:rPr lang="en-US" altLang="zh-CN" sz="1400">
                  <a:solidFill>
                    <a:srgbClr val="00E5FA"/>
                  </a:solidFill>
                </a:rPr>
                <a:t>+</a:t>
              </a:r>
              <a:r>
                <a:rPr lang="zh-CN" altLang="en-US" sz="1400">
                  <a:solidFill>
                    <a:srgbClr val="00E5FA"/>
                  </a:solidFill>
                </a:rPr>
                <a:t>引用</a:t>
              </a:r>
              <a:endParaRPr lang="zh-CN" altLang="en-US" sz="1400">
                <a:solidFill>
                  <a:srgbClr val="00E5FA"/>
                </a:solidFill>
              </a:endParaRPr>
            </a:p>
          </p:txBody>
        </p:sp>
      </p:grpSp>
      <p:sp>
        <p:nvSpPr>
          <p:cNvPr id="45" name="AutoShape 6"/>
          <p:cNvSpPr/>
          <p:nvPr/>
        </p:nvSpPr>
        <p:spPr>
          <a:xfrm>
            <a:off x="10584180" y="2009775"/>
            <a:ext cx="899795" cy="189357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en-US" altLang="zh-CN" b="1">
                <a:solidFill>
                  <a:schemeClr val="bg1"/>
                </a:solidFill>
                <a:sym typeface="+mn-ea"/>
              </a:rPr>
              <a:t>· </a:t>
            </a:r>
            <a:r>
              <a:rPr lang="zh-CN">
                <a:solidFill>
                  <a:schemeClr val="bg1"/>
                </a:solidFill>
                <a:sym typeface="+mn-ea"/>
              </a:rPr>
              <a:t>语音转换</a:t>
            </a:r>
            <a:endParaRPr lang="zh-CN">
              <a:solidFill>
                <a:schemeClr val="bg1"/>
              </a:solidFill>
            </a:endParaRPr>
          </a:p>
          <a:p>
            <a:pPr indent="0" algn="ctr" fontAlgn="auto">
              <a:spcAft>
                <a:spcPts val="600"/>
              </a:spcAft>
              <a:defRPr/>
            </a:pPr>
            <a:r>
              <a:rPr lang="en-US" altLang="zh-CN" b="1">
                <a:solidFill>
                  <a:schemeClr val="bg1"/>
                </a:solidFill>
                <a:sym typeface="+mn-ea"/>
              </a:rPr>
              <a:t>· </a:t>
            </a:r>
            <a:r>
              <a:rPr lang="zh-CN">
                <a:solidFill>
                  <a:schemeClr val="bg1"/>
                </a:solidFill>
                <a:sym typeface="+mn-ea"/>
              </a:rPr>
              <a:t>网络搜索</a:t>
            </a:r>
            <a:endParaRPr lang="zh-CN">
              <a:solidFill>
                <a:schemeClr val="bg1"/>
              </a:solidFill>
            </a:endParaRPr>
          </a:p>
          <a:p>
            <a:pPr indent="0" algn="ctr" fontAlgn="auto">
              <a:spcAft>
                <a:spcPts val="600"/>
              </a:spcAft>
              <a:defRPr/>
            </a:pPr>
            <a:r>
              <a:rPr lang="en-US" altLang="zh-CN" b="1">
                <a:solidFill>
                  <a:schemeClr val="bg1"/>
                </a:solidFill>
                <a:sym typeface="+mn-ea"/>
              </a:rPr>
              <a:t>· </a:t>
            </a:r>
            <a:r>
              <a:rPr lang="zh-CN">
                <a:solidFill>
                  <a:schemeClr val="bg1"/>
                </a:solidFill>
                <a:sym typeface="+mn-ea"/>
              </a:rPr>
              <a:t>知识库</a:t>
            </a:r>
            <a:endParaRPr lang="zh-CN" altLang="en-US" b="1" i="0" u="none" strike="noStrike">
              <a:solidFill>
                <a:schemeClr val="bg1"/>
              </a:solidFill>
              <a:latin typeface="Noto Sans SC"/>
              <a:ea typeface="SimSun" charset="0"/>
              <a:cs typeface="Noto Sans SC"/>
              <a:sym typeface="+mn-ea"/>
            </a:endParaRPr>
          </a:p>
        </p:txBody>
      </p:sp>
      <p:pic>
        <p:nvPicPr>
          <p:cNvPr id="3" name="图片 2"/>
          <p:cNvPicPr>
            <a:picLocks noChangeAspect="1"/>
          </p:cNvPicPr>
          <p:nvPr/>
        </p:nvPicPr>
        <p:blipFill>
          <a:blip r:embed="rId1"/>
          <a:stretch>
            <a:fillRect/>
          </a:stretch>
        </p:blipFill>
        <p:spPr>
          <a:xfrm>
            <a:off x="763270" y="2013585"/>
            <a:ext cx="4583587" cy="3600000"/>
          </a:xfrm>
          <a:prstGeom prst="rect">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righ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left)">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right)">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wipe(right)">
                                      <p:cBhvr>
                                        <p:cTn id="64" dur="500"/>
                                        <p:tgtEl>
                                          <p:spTgt spid="3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wipe(right)">
                                      <p:cBhvr>
                                        <p:cTn id="6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bldLvl="0" animBg="1"/>
      <p:bldP spid="5" grpId="1" animBg="1"/>
      <p:bldP spid="45" grpId="0" bldLvl="0" animBg="1"/>
      <p:bldP spid="45" grpId="1" animBg="1"/>
      <p:bldP spid="8" grpId="0"/>
      <p:bldP spid="10" grpId="0"/>
      <p:bldP spid="8" grpId="1"/>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内容占位符 6"/>
          <p:cNvSpPr>
            <a:spLocks noGrp="1"/>
          </p:cNvSpPr>
          <p:nvPr>
            <p:ph idx="1"/>
          </p:nvPr>
        </p:nvSpPr>
        <p:spPr/>
        <p:txBody>
          <a:bodyPr/>
          <a:p>
            <a:r>
              <a:rPr lang="zh-CN" altLang="en-US"/>
              <a:t>文本是如何在模型本体内部处理的？</a:t>
            </a:r>
            <a:endParaRPr lang="zh-CN" altLang="en-US"/>
          </a:p>
        </p:txBody>
      </p:sp>
      <p:sp>
        <p:nvSpPr>
          <p:cNvPr id="8" name="内容占位符 7"/>
          <p:cNvSpPr>
            <a:spLocks noGrp="1"/>
          </p:cNvSpPr>
          <p:nvPr>
            <p:ph idx="13"/>
          </p:nvPr>
        </p:nvSpPr>
        <p:spPr/>
        <p:txBody>
          <a:bodyPr/>
          <a:p>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normAutofit fontScale="90000"/>
          </a:bodyPr>
          <a:p>
            <a:r>
              <a:rPr lang="zh-CN" altLang="en-US"/>
              <a:t>大模型的生成机制</a:t>
            </a:r>
            <a:endParaRPr lang="zh-CN" altLang="en-US"/>
          </a:p>
        </p:txBody>
      </p:sp>
      <p:sp>
        <p:nvSpPr>
          <p:cNvPr id="9" name="内容占位符 8"/>
          <p:cNvSpPr>
            <a:spLocks noGrp="1"/>
          </p:cNvSpPr>
          <p:nvPr>
            <p:ph idx="1"/>
          </p:nvPr>
        </p:nvSpPr>
        <p:spPr/>
        <p:txBody>
          <a:bodyPr/>
          <a:p>
            <a:r>
              <a:rPr lang="en-US" altLang="zh-CN"/>
              <a:t>Transformer</a:t>
            </a:r>
            <a:r>
              <a:rPr lang="zh-CN" altLang="en-US"/>
              <a:t>：</a:t>
            </a:r>
            <a:endParaRPr lang="zh-CN" altLang="en-US"/>
          </a:p>
          <a:p>
            <a:pPr lvl="1"/>
            <a:r>
              <a:rPr lang="zh-CN" altLang="en-US" sz="1800"/>
              <a:t>神经网络模型</a:t>
            </a:r>
            <a:endParaRPr lang="zh-CN" altLang="en-US" sz="1800"/>
          </a:p>
          <a:p>
            <a:pPr lvl="1"/>
            <a:r>
              <a:rPr lang="zh-CN" altLang="en-US" sz="1800"/>
              <a:t>注意力机制可以捕捉内部关联</a:t>
            </a:r>
            <a:endParaRPr lang="zh-CN" altLang="en-US"/>
          </a:p>
          <a:p>
            <a:r>
              <a:rPr lang="zh-CN" altLang="en-US"/>
              <a:t>自回归</a:t>
            </a:r>
            <a:endParaRPr lang="zh-CN" altLang="en-US"/>
          </a:p>
          <a:p>
            <a:pPr lvl="1"/>
            <a:r>
              <a:rPr lang="zh-CN" altLang="en-US"/>
              <a:t>文本续写</a:t>
            </a:r>
            <a:endParaRPr lang="zh-CN" altLang="en-US"/>
          </a:p>
        </p:txBody>
      </p:sp>
      <p:sp>
        <p:nvSpPr>
          <p:cNvPr id="11" name="内容占位符 10"/>
          <p:cNvSpPr>
            <a:spLocks noGrp="1"/>
          </p:cNvSpPr>
          <p:nvPr>
            <p:ph idx="13"/>
          </p:nvPr>
        </p:nvSpPr>
        <p:spPr/>
        <p:txBody>
          <a:bodyPr/>
          <a:p>
            <a:r>
              <a:rPr lang="zh-CN" altLang="en-US">
                <a:sym typeface="+mn-ea"/>
              </a:rPr>
              <a:t>基于</a:t>
            </a:r>
            <a:r>
              <a:rPr lang="en-US" altLang="zh-CN">
                <a:sym typeface="+mn-ea"/>
              </a:rPr>
              <a:t> Transformer </a:t>
            </a:r>
            <a:r>
              <a:rPr lang="zh-CN" altLang="en-US">
                <a:sym typeface="+mn-ea"/>
              </a:rPr>
              <a:t>架构的自回归生成机制</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12" name="AutoShape 6"/>
          <p:cNvSpPr/>
          <p:nvPr/>
        </p:nvSpPr>
        <p:spPr>
          <a:xfrm>
            <a:off x="10083165" y="3298825"/>
            <a:ext cx="1080000" cy="108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i="0" u="none" strike="noStrike">
                <a:solidFill>
                  <a:srgbClr val="FFFFFF"/>
                </a:solidFill>
                <a:latin typeface="Noto Sans SC"/>
                <a:ea typeface="SimSun" charset="0"/>
                <a:cs typeface="Noto Sans SC"/>
                <a:sym typeface="Noto Sans SC"/>
              </a:rPr>
              <a:t>初始</a:t>
            </a:r>
            <a:endParaRPr lang="zh-CN" altLang="en-US"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altLang="en-US" i="0" u="none" strike="noStrike">
                <a:solidFill>
                  <a:srgbClr val="FFFFFF"/>
                </a:solidFill>
                <a:latin typeface="Noto Sans SC"/>
                <a:ea typeface="SimSun" charset="0"/>
                <a:cs typeface="Noto Sans SC"/>
                <a:sym typeface="Noto Sans SC"/>
              </a:rPr>
              <a:t>文本</a:t>
            </a:r>
            <a:endParaRPr lang="zh-CN" altLang="en-US" i="0" u="none" strike="noStrike">
              <a:solidFill>
                <a:srgbClr val="FFFFFF"/>
              </a:solidFill>
              <a:latin typeface="Noto Sans SC"/>
              <a:ea typeface="SimSun" charset="0"/>
              <a:cs typeface="Noto Sans SC"/>
              <a:sym typeface="Noto Sans SC"/>
            </a:endParaRPr>
          </a:p>
        </p:txBody>
      </p:sp>
      <p:sp>
        <p:nvSpPr>
          <p:cNvPr id="13" name="AutoShape 6"/>
          <p:cNvSpPr/>
          <p:nvPr/>
        </p:nvSpPr>
        <p:spPr>
          <a:xfrm>
            <a:off x="7832725" y="3298825"/>
            <a:ext cx="1080000" cy="108000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i="0" u="none" strike="noStrike">
                <a:solidFill>
                  <a:srgbClr val="FFFFFF"/>
                </a:solidFill>
                <a:latin typeface="Noto Sans SC"/>
                <a:ea typeface="SimSun" charset="0"/>
                <a:cs typeface="Noto Sans SC"/>
                <a:sym typeface="Noto Sans SC"/>
              </a:rPr>
              <a:t>输入</a:t>
            </a:r>
            <a:endParaRPr lang="zh-CN" i="0" u="none" strike="noStrike">
              <a:solidFill>
                <a:srgbClr val="FFFFFF"/>
              </a:solidFill>
              <a:latin typeface="Noto Sans SC"/>
              <a:ea typeface="SimSun" charset="0"/>
              <a:cs typeface="Noto Sans SC"/>
              <a:sym typeface="Noto Sans SC"/>
            </a:endParaRPr>
          </a:p>
          <a:p>
            <a:pPr marL="0" indent="0" algn="ctr">
              <a:lnSpc>
                <a:spcPct val="125000"/>
              </a:lnSpc>
              <a:defRPr/>
            </a:pPr>
            <a:r>
              <a:rPr lang="zh-CN" i="0" u="none" strike="noStrike">
                <a:solidFill>
                  <a:srgbClr val="FFFFFF"/>
                </a:solidFill>
                <a:latin typeface="Noto Sans SC"/>
                <a:ea typeface="SimSun" charset="0"/>
                <a:cs typeface="Noto Sans SC"/>
                <a:sym typeface="Noto Sans SC"/>
              </a:rPr>
              <a:t>文本</a:t>
            </a:r>
            <a:endParaRPr lang="zh-CN" i="0" u="none" strike="noStrike">
              <a:solidFill>
                <a:srgbClr val="FFFFFF"/>
              </a:solidFill>
              <a:latin typeface="Noto Sans SC"/>
              <a:ea typeface="SimSun" charset="0"/>
              <a:cs typeface="Noto Sans SC"/>
              <a:sym typeface="Noto Sans SC"/>
            </a:endParaRPr>
          </a:p>
        </p:txBody>
      </p:sp>
      <p:sp>
        <p:nvSpPr>
          <p:cNvPr id="45" name="AutoShape 6"/>
          <p:cNvSpPr/>
          <p:nvPr/>
        </p:nvSpPr>
        <p:spPr>
          <a:xfrm>
            <a:off x="7832725" y="4977130"/>
            <a:ext cx="1080000" cy="108000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zh-CN" i="0" u="none" strike="noStrike">
                <a:solidFill>
                  <a:schemeClr val="bg1"/>
                </a:solidFill>
                <a:latin typeface="Noto Sans SC"/>
                <a:ea typeface="SimSun" charset="0"/>
                <a:cs typeface="Noto Sans SC"/>
                <a:sym typeface="+mn-ea"/>
              </a:rPr>
              <a:t>后续</a:t>
            </a:r>
            <a:endParaRPr lang="zh-CN" i="0" u="none" strike="noStrike">
              <a:solidFill>
                <a:schemeClr val="bg1"/>
              </a:solidFill>
              <a:latin typeface="Noto Sans SC"/>
              <a:ea typeface="SimSun" charset="0"/>
              <a:cs typeface="Noto Sans SC"/>
              <a:sym typeface="+mn-ea"/>
            </a:endParaRPr>
          </a:p>
          <a:p>
            <a:pPr indent="0" algn="ctr" fontAlgn="auto">
              <a:spcAft>
                <a:spcPts val="600"/>
              </a:spcAft>
              <a:defRPr/>
            </a:pPr>
            <a:r>
              <a:rPr lang="zh-CN" i="0" u="none" strike="noStrike">
                <a:solidFill>
                  <a:schemeClr val="bg1"/>
                </a:solidFill>
                <a:latin typeface="Noto Sans SC"/>
                <a:ea typeface="SimSun" charset="0"/>
                <a:cs typeface="Noto Sans SC"/>
                <a:sym typeface="+mn-ea"/>
              </a:rPr>
              <a:t>文本</a:t>
            </a:r>
            <a:endParaRPr lang="zh-CN" i="0" u="none" strike="noStrike">
              <a:solidFill>
                <a:schemeClr val="bg1"/>
              </a:solidFill>
              <a:latin typeface="Noto Sans SC"/>
              <a:ea typeface="SimSun" charset="0"/>
              <a:cs typeface="Noto Sans SC"/>
              <a:sym typeface="+mn-ea"/>
            </a:endParaRPr>
          </a:p>
        </p:txBody>
      </p:sp>
      <p:cxnSp>
        <p:nvCxnSpPr>
          <p:cNvPr id="25" name="直接箭头连接符 24"/>
          <p:cNvCxnSpPr/>
          <p:nvPr/>
        </p:nvCxnSpPr>
        <p:spPr>
          <a:xfrm>
            <a:off x="6798310" y="5516880"/>
            <a:ext cx="900000" cy="0"/>
          </a:xfrm>
          <a:prstGeom prst="straightConnector1">
            <a:avLst/>
          </a:prstGeom>
          <a:ln w="19050">
            <a:solidFill>
              <a:srgbClr val="69F0AE"/>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a:off x="6798310" y="3839210"/>
            <a:ext cx="900000" cy="0"/>
          </a:xfrm>
          <a:prstGeom prst="straightConnector1">
            <a:avLst/>
          </a:prstGeom>
          <a:ln w="19050">
            <a:solidFill>
              <a:srgbClr val="B388FF"/>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9048115" y="3839210"/>
            <a:ext cx="900000" cy="0"/>
          </a:xfrm>
          <a:prstGeom prst="straightConnector1">
            <a:avLst/>
          </a:prstGeom>
          <a:ln w="19050">
            <a:solidFill>
              <a:srgbClr val="00E5FA"/>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8373110" y="4498340"/>
            <a:ext cx="294640" cy="368300"/>
            <a:chOff x="13186" y="7084"/>
            <a:chExt cx="464" cy="580"/>
          </a:xfrm>
        </p:grpSpPr>
        <p:cxnSp>
          <p:nvCxnSpPr>
            <p:cNvPr id="16" name="直接箭头连接符 15"/>
            <p:cNvCxnSpPr/>
            <p:nvPr/>
          </p:nvCxnSpPr>
          <p:spPr>
            <a:xfrm flipV="1">
              <a:off x="13186" y="7084"/>
              <a:ext cx="0" cy="567"/>
            </a:xfrm>
            <a:prstGeom prst="straightConnector1">
              <a:avLst/>
            </a:prstGeom>
            <a:ln w="19050">
              <a:solidFill>
                <a:srgbClr val="69F0AE"/>
              </a:solidFill>
              <a:prstDash val="sysDash"/>
              <a:headEnd type="none" w="lg" len="lg"/>
              <a:tailEnd type="stealth" w="lg" len="lg"/>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13258" y="7084"/>
              <a:ext cx="392" cy="580"/>
            </a:xfrm>
            <a:prstGeom prst="rect">
              <a:avLst/>
            </a:prstGeom>
            <a:noFill/>
          </p:spPr>
          <p:txBody>
            <a:bodyPr wrap="square" rtlCol="0">
              <a:spAutoFit/>
            </a:bodyPr>
            <a:p>
              <a:pPr algn="ctr"/>
              <a:r>
                <a:rPr lang="en-US" altLang="zh-CN">
                  <a:solidFill>
                    <a:srgbClr val="69F0AE"/>
                  </a:solidFill>
                </a:rPr>
                <a:t>+</a:t>
              </a:r>
              <a:endParaRPr lang="en-US" altLang="zh-CN">
                <a:solidFill>
                  <a:srgbClr val="69F0AE"/>
                </a:solidFill>
              </a:endParaRPr>
            </a:p>
          </p:txBody>
        </p:sp>
      </p:grpSp>
      <p:pic>
        <p:nvPicPr>
          <p:cNvPr id="2" name="图片 1" descr="Transformer-modified"/>
          <p:cNvPicPr>
            <a:picLocks noChangeAspect="1"/>
          </p:cNvPicPr>
          <p:nvPr/>
        </p:nvPicPr>
        <p:blipFill>
          <a:blip r:embed="rId1"/>
          <a:stretch>
            <a:fillRect/>
          </a:stretch>
        </p:blipFill>
        <p:spPr>
          <a:xfrm>
            <a:off x="4785995" y="3298825"/>
            <a:ext cx="1876425" cy="27933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fade">
                                      <p:cBhvr>
                                        <p:cTn id="20" dur="500"/>
                                        <p:tgtEl>
                                          <p:spTgt spid="9">
                                            <p:txEl>
                                              <p:pRg st="1" end="1"/>
                                            </p:txEl>
                                          </p:spTgt>
                                        </p:tgtEl>
                                      </p:cBhvr>
                                    </p:animEffect>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9">
                                            <p:txEl>
                                              <p:pRg st="2" end="2"/>
                                            </p:txEl>
                                          </p:spTgt>
                                        </p:tgtEl>
                                        <p:attrNameLst>
                                          <p:attrName>style.visibility</p:attrName>
                                        </p:attrNameLst>
                                      </p:cBhvr>
                                      <p:to>
                                        <p:strVal val="visible"/>
                                      </p:to>
                                    </p:set>
                                    <p:animEffect transition="in" filter="fade">
                                      <p:cBhvr>
                                        <p:cTn id="24" dur="500"/>
                                        <p:tgtEl>
                                          <p:spTgt spid="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animEffect transition="in" filter="fade">
                                      <p:cBhvr>
                                        <p:cTn id="29" dur="500"/>
                                        <p:tgtEl>
                                          <p:spTgt spid="9">
                                            <p:txEl>
                                              <p:pRg st="3" end="3"/>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9">
                                            <p:txEl>
                                              <p:pRg st="4" end="4"/>
                                            </p:txEl>
                                          </p:spTgt>
                                        </p:tgtEl>
                                        <p:attrNameLst>
                                          <p:attrName>style.visibility</p:attrName>
                                        </p:attrNameLst>
                                      </p:cBhvr>
                                      <p:to>
                                        <p:strVal val="visible"/>
                                      </p:to>
                                    </p:set>
                                    <p:animEffect transition="in" filter="fade">
                                      <p:cBhvr>
                                        <p:cTn id="33" dur="500"/>
                                        <p:tgtEl>
                                          <p:spTgt spid="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ipe(right)">
                                      <p:cBhvr>
                                        <p:cTn id="43" dur="500"/>
                                        <p:tgtEl>
                                          <p:spTgt spid="43"/>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right)">
                                      <p:cBhvr>
                                        <p:cTn id="52" dur="500"/>
                                        <p:tgtEl>
                                          <p:spTgt spid="34"/>
                                        </p:tgtEl>
                                      </p:cBhvr>
                                    </p:animEffect>
                                  </p:childTnLst>
                                </p:cTn>
                              </p:par>
                            </p:childTnLst>
                          </p:cTn>
                        </p:par>
                        <p:par>
                          <p:cTn id="53" fill="hold">
                            <p:stCondLst>
                              <p:cond delay="500"/>
                            </p:stCondLst>
                            <p:childTnLst>
                              <p:par>
                                <p:cTn id="54" presetID="22" presetClass="entr" presetSubtype="8" fill="hold" nodeType="afterEffect">
                                  <p:stCondLst>
                                    <p:cond delay="500"/>
                                  </p:stCondLst>
                                  <p:childTnLst>
                                    <p:set>
                                      <p:cBhvr>
                                        <p:cTn id="55" dur="1" fill="hold">
                                          <p:stCondLst>
                                            <p:cond delay="0"/>
                                          </p:stCondLst>
                                        </p:cTn>
                                        <p:tgtEl>
                                          <p:spTgt spid="25"/>
                                        </p:tgtEl>
                                        <p:attrNameLst>
                                          <p:attrName>style.visibility</p:attrName>
                                        </p:attrNameLst>
                                      </p:cBhvr>
                                      <p:to>
                                        <p:strVal val="visible"/>
                                      </p:to>
                                    </p:set>
                                    <p:animEffect transition="in" filter="wipe(left)">
                                      <p:cBhvr>
                                        <p:cTn id="56" dur="500"/>
                                        <p:tgtEl>
                                          <p:spTgt spid="25"/>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500"/>
                                        <p:tgtEl>
                                          <p:spTgt spid="4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down)">
                                      <p:cBhvr>
                                        <p:cTn id="6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1" grpId="1" build="p"/>
      <p:bldP spid="9" grpId="0" uiExpand="1" build="p"/>
      <p:bldP spid="9" grpId="1" build="p"/>
      <p:bldP spid="12" grpId="0" animBg="1"/>
      <p:bldP spid="13" grpId="0" animBg="1"/>
      <p:bldP spid="45" grpId="0" animBg="1"/>
      <p:bldP spid="12" grpId="1" animBg="1"/>
      <p:bldP spid="13" grpId="1" animBg="1"/>
      <p:bldP spid="4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ea typeface="SimSun" charset="0"/>
              </a:rPr>
              <a:t>注意力机制</a:t>
            </a:r>
            <a:endParaRPr lang="zh-CN" altLang="en-US">
              <a:ea typeface="SimSun" charset="0"/>
            </a:endParaRPr>
          </a:p>
        </p:txBody>
      </p:sp>
      <p:sp>
        <p:nvSpPr>
          <p:cNvPr id="4" name="内容占位符 3"/>
          <p:cNvSpPr>
            <a:spLocks noGrp="1"/>
          </p:cNvSpPr>
          <p:nvPr>
            <p:ph idx="13"/>
          </p:nvPr>
        </p:nvSpPr>
        <p:spPr/>
        <p:txBody>
          <a:bodyPr/>
          <a:p>
            <a:r>
              <a:rPr lang="zh-CN" altLang="en-US"/>
              <a:t>注意力机制是一种让模型在处理每个词时，能同时“关注”所有其他词，</a:t>
            </a:r>
            <a:endParaRPr lang="zh-CN" altLang="en-US"/>
          </a:p>
          <a:p>
            <a:r>
              <a:rPr lang="zh-CN" altLang="en-US"/>
              <a:t>并根据相关性动态分配权重来聚合全局信息的计算方式。</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graphicFrame>
        <p:nvGraphicFramePr>
          <p:cNvPr id="8" name="Table 3"/>
          <p:cNvGraphicFramePr/>
          <p:nvPr/>
        </p:nvGraphicFramePr>
        <p:xfrm>
          <a:off x="3001963" y="3366135"/>
          <a:ext cx="2369300" cy="2160270"/>
        </p:xfrm>
        <a:graphic>
          <a:graphicData uri="http://schemas.openxmlformats.org/drawingml/2006/table">
            <a:tbl>
              <a:tblPr firstRow="1" bandRow="1">
                <a:effectLst>
                  <a:outerShdw blurRad="50800" dist="38100" dir="2700000" algn="tl" rotWithShape="0">
                    <a:srgbClr val="69F0AE">
                      <a:alpha val="40000"/>
                    </a:srgbClr>
                  </a:outerShdw>
                </a:effectLst>
                <a:tableStyleId>{2D5ABB26-0587-4C30-8999-92F81FD0307C}</a:tableStyleId>
              </a:tblPr>
              <a:tblGrid>
                <a:gridCol w="749300"/>
                <a:gridCol w="540000"/>
                <a:gridCol w="540000"/>
                <a:gridCol w="540000"/>
              </a:tblGrid>
              <a:tr h="540000">
                <a:tc>
                  <a:txBody>
                    <a:bodyPr/>
                    <a:lstStyle/>
                    <a:p>
                      <a:pPr algn="ctr">
                        <a:buNone/>
                      </a:pPr>
                      <a:endParaRPr lang="en-US" sz="1400">
                        <a:solidFill>
                          <a:schemeClr val="bg1"/>
                        </a:solidFill>
                        <a:latin typeface="Microsoft YaHei" charset="-122"/>
                        <a:ea typeface="Microsoft YaHei" charset="-122"/>
                      </a:endParaRPr>
                    </a:p>
                  </a:txBody>
                  <a:tcPr anchor="ctr"/>
                </a:tc>
                <a:tc>
                  <a:txBody>
                    <a:bodyPr/>
                    <a:lstStyle/>
                    <a:p>
                      <a:pPr algn="ctr">
                        <a:buNone/>
                      </a:pPr>
                      <a:r>
                        <a:rPr lang="en-US" altLang="en-US" sz="1400" dirty="0">
                          <a:solidFill>
                            <a:schemeClr val="bg1"/>
                          </a:solidFill>
                          <a:latin typeface="Microsoft YaHei" charset="-122"/>
                          <a:ea typeface="Microsoft YaHei" charset="-122"/>
                        </a:rPr>
                        <a:t>我</a:t>
                      </a:r>
                      <a:endParaRPr lang="en-US" altLang="en-US" sz="1400" dirty="0">
                        <a:solidFill>
                          <a:schemeClr val="bg1"/>
                        </a:solidFill>
                        <a:latin typeface="Microsoft YaHei" charset="-122"/>
                        <a:ea typeface="Microsoft YaHei" charset="-122"/>
                      </a:endParaRPr>
                    </a:p>
                  </a:txBody>
                  <a:tcPr anchor="ctr"/>
                </a:tc>
                <a:tc>
                  <a:txBody>
                    <a:bodyPr/>
                    <a:lstStyle/>
                    <a:p>
                      <a:pPr algn="ctr">
                        <a:buNone/>
                      </a:pPr>
                      <a:r>
                        <a:rPr lang="en-US" altLang="en-US" sz="1400">
                          <a:solidFill>
                            <a:schemeClr val="bg1"/>
                          </a:solidFill>
                          <a:latin typeface="Microsoft YaHei" charset="-122"/>
                          <a:ea typeface="Microsoft YaHei" charset="-122"/>
                        </a:rPr>
                        <a:t>爱</a:t>
                      </a:r>
                      <a:endParaRPr lang="en-US" altLang="en-US" sz="1400">
                        <a:solidFill>
                          <a:schemeClr val="bg1"/>
                        </a:solidFill>
                        <a:latin typeface="Microsoft YaHei" charset="-122"/>
                        <a:ea typeface="Microsoft YaHei" charset="-122"/>
                      </a:endParaRPr>
                    </a:p>
                  </a:txBody>
                  <a:tcPr anchor="ctr"/>
                </a:tc>
                <a:tc>
                  <a:txBody>
                    <a:bodyPr/>
                    <a:lstStyle/>
                    <a:p>
                      <a:pPr algn="ctr">
                        <a:buNone/>
                      </a:pPr>
                      <a:r>
                        <a:rPr lang="en-US" altLang="en-US" sz="1400">
                          <a:solidFill>
                            <a:schemeClr val="bg1"/>
                          </a:solidFill>
                          <a:latin typeface="Microsoft YaHei" charset="-122"/>
                          <a:ea typeface="Microsoft YaHei" charset="-122"/>
                        </a:rPr>
                        <a:t>你</a:t>
                      </a:r>
                      <a:endParaRPr lang="en-US" altLang="en-US" sz="1400">
                        <a:solidFill>
                          <a:schemeClr val="bg1"/>
                        </a:solidFill>
                        <a:latin typeface="Microsoft YaHei" charset="-122"/>
                        <a:ea typeface="Microsoft YaHei" charset="-122"/>
                      </a:endParaRPr>
                    </a:p>
                  </a:txBody>
                  <a:tcPr anchor="ctr"/>
                </a:tc>
              </a:tr>
              <a:tr h="540000">
                <a:tc>
                  <a:txBody>
                    <a:bodyPr/>
                    <a:lstStyle/>
                    <a:p>
                      <a:pPr algn="ctr">
                        <a:buNone/>
                      </a:pPr>
                      <a:r>
                        <a:rPr lang="en-US" altLang="en-US" sz="1400" dirty="0">
                          <a:solidFill>
                            <a:schemeClr val="bg1"/>
                          </a:solidFill>
                          <a:latin typeface="Microsoft YaHei" charset="-122"/>
                          <a:ea typeface="Microsoft YaHei" charset="-122"/>
                        </a:rPr>
                        <a:t>I</a:t>
                      </a:r>
                      <a:endParaRPr lang="en-US" altLang="en-US" sz="1400" dirty="0">
                        <a:solidFill>
                          <a:schemeClr val="bg1"/>
                        </a:solidFill>
                        <a:latin typeface="Microsoft YaHei" charset="-122"/>
                        <a:ea typeface="Microsoft YaHei" charset="-122"/>
                      </a:endParaRPr>
                    </a:p>
                  </a:txBody>
                  <a:tcPr anchor="ctr"/>
                </a:tc>
                <a:tc>
                  <a:txBody>
                    <a:bodyPr/>
                    <a:lstStyle/>
                    <a:p>
                      <a:pPr algn="ctr">
                        <a:buNone/>
                      </a:pPr>
                      <a:r>
                        <a:rPr lang="en-US" altLang="en-US" sz="1400" dirty="0">
                          <a:solidFill>
                            <a:schemeClr val="bg1"/>
                          </a:solidFill>
                          <a:latin typeface="Microsoft YaHei" charset="-122"/>
                          <a:ea typeface="Microsoft YaHei" charset="-122"/>
                        </a:rPr>
                        <a:t>.96</a:t>
                      </a:r>
                      <a:endParaRPr lang="en-US" altLang="en-US" sz="1400" dirty="0">
                        <a:solidFill>
                          <a:schemeClr val="bg1"/>
                        </a:solidFill>
                        <a:latin typeface="Microsoft YaHei" charset="-122"/>
                        <a:ea typeface="Microsoft YaHei" charset="-122"/>
                      </a:endParaRPr>
                    </a:p>
                  </a:txBody>
                  <a:tcPr anchor="ctr">
                    <a:solidFill>
                      <a:srgbClr val="69F0AE">
                        <a:alpha val="96000"/>
                      </a:srgbClr>
                    </a:solidFill>
                  </a:tcPr>
                </a:tc>
                <a:tc>
                  <a:txBody>
                    <a:bodyPr/>
                    <a:lstStyle/>
                    <a:p>
                      <a:pPr algn="ctr">
                        <a:buNone/>
                      </a:pPr>
                      <a:r>
                        <a:rPr lang="en-US" altLang="en-US" sz="1400" dirty="0">
                          <a:solidFill>
                            <a:schemeClr val="bg1"/>
                          </a:solidFill>
                          <a:latin typeface="Microsoft YaHei" charset="-122"/>
                          <a:ea typeface="Microsoft YaHei" charset="-122"/>
                        </a:rPr>
                        <a:t>.01</a:t>
                      </a:r>
                      <a:endParaRPr lang="en-US" altLang="en-US" sz="1400" dirty="0">
                        <a:solidFill>
                          <a:schemeClr val="bg1"/>
                        </a:solidFill>
                        <a:latin typeface="Microsoft YaHei" charset="-122"/>
                        <a:ea typeface="Microsoft YaHei" charset="-122"/>
                      </a:endParaRPr>
                    </a:p>
                  </a:txBody>
                  <a:tcPr anchor="ctr">
                    <a:solidFill>
                      <a:srgbClr val="69F0AE">
                        <a:alpha val="1000"/>
                      </a:srgbClr>
                    </a:solidFill>
                  </a:tcPr>
                </a:tc>
                <a:tc>
                  <a:txBody>
                    <a:bodyPr/>
                    <a:lstStyle/>
                    <a:p>
                      <a:pPr algn="ctr">
                        <a:buNone/>
                      </a:pPr>
                      <a:r>
                        <a:rPr lang="en-US" altLang="en-US" sz="1400" dirty="0">
                          <a:solidFill>
                            <a:schemeClr val="bg1"/>
                          </a:solidFill>
                          <a:latin typeface="Microsoft YaHei" charset="-122"/>
                          <a:ea typeface="Microsoft YaHei" charset="-122"/>
                        </a:rPr>
                        <a:t>.03</a:t>
                      </a:r>
                      <a:endParaRPr lang="en-US" altLang="en-US" sz="1400" dirty="0">
                        <a:solidFill>
                          <a:schemeClr val="bg1"/>
                        </a:solidFill>
                        <a:latin typeface="Microsoft YaHei" charset="-122"/>
                        <a:ea typeface="Microsoft YaHei" charset="-122"/>
                      </a:endParaRPr>
                    </a:p>
                  </a:txBody>
                  <a:tcPr anchor="ctr">
                    <a:solidFill>
                      <a:srgbClr val="69F0AE">
                        <a:alpha val="3000"/>
                      </a:srgbClr>
                    </a:solidFill>
                  </a:tcPr>
                </a:tc>
              </a:tr>
              <a:tr h="540000">
                <a:tc>
                  <a:txBody>
                    <a:bodyPr/>
                    <a:lstStyle/>
                    <a:p>
                      <a:pPr algn="ctr">
                        <a:buNone/>
                      </a:pPr>
                      <a:r>
                        <a:rPr lang="en-US" altLang="en-US" sz="1400">
                          <a:solidFill>
                            <a:schemeClr val="bg1"/>
                          </a:solidFill>
                          <a:latin typeface="Microsoft YaHei" charset="-122"/>
                          <a:ea typeface="Microsoft YaHei" charset="-122"/>
                        </a:rPr>
                        <a:t>love</a:t>
                      </a:r>
                      <a:endParaRPr lang="en-US" altLang="en-US" sz="1400">
                        <a:solidFill>
                          <a:schemeClr val="bg1"/>
                        </a:solidFill>
                        <a:latin typeface="Microsoft YaHei" charset="-122"/>
                        <a:ea typeface="Microsoft YaHei" charset="-122"/>
                      </a:endParaRPr>
                    </a:p>
                  </a:txBody>
                  <a:tcPr anchor="ctr"/>
                </a:tc>
                <a:tc>
                  <a:txBody>
                    <a:bodyPr/>
                    <a:lstStyle/>
                    <a:p>
                      <a:pPr algn="ctr">
                        <a:buNone/>
                      </a:pPr>
                      <a:r>
                        <a:rPr lang="en-US" altLang="en-US" sz="1400" dirty="0">
                          <a:solidFill>
                            <a:schemeClr val="bg1"/>
                          </a:solidFill>
                          <a:latin typeface="Microsoft YaHei" charset="-122"/>
                          <a:ea typeface="Microsoft YaHei" charset="-122"/>
                        </a:rPr>
                        <a:t>.05</a:t>
                      </a:r>
                      <a:endParaRPr lang="en-US" altLang="en-US" sz="1400" dirty="0">
                        <a:solidFill>
                          <a:schemeClr val="bg1"/>
                        </a:solidFill>
                        <a:latin typeface="Microsoft YaHei" charset="-122"/>
                        <a:ea typeface="Microsoft YaHei" charset="-122"/>
                      </a:endParaRPr>
                    </a:p>
                  </a:txBody>
                  <a:tcPr anchor="ctr">
                    <a:solidFill>
                      <a:srgbClr val="69F0AE">
                        <a:alpha val="5000"/>
                      </a:srgbClr>
                    </a:solidFill>
                  </a:tcPr>
                </a:tc>
                <a:tc>
                  <a:txBody>
                    <a:bodyPr/>
                    <a:lstStyle/>
                    <a:p>
                      <a:pPr algn="ctr">
                        <a:buNone/>
                      </a:pPr>
                      <a:r>
                        <a:rPr lang="en-US" altLang="en-US" sz="1400" dirty="0">
                          <a:solidFill>
                            <a:schemeClr val="bg1"/>
                          </a:solidFill>
                          <a:latin typeface="Microsoft YaHei" charset="-122"/>
                          <a:ea typeface="Microsoft YaHei" charset="-122"/>
                        </a:rPr>
                        <a:t>.90</a:t>
                      </a:r>
                      <a:endParaRPr lang="en-US" altLang="en-US" sz="1400" dirty="0">
                        <a:solidFill>
                          <a:schemeClr val="bg1"/>
                        </a:solidFill>
                        <a:latin typeface="Microsoft YaHei" charset="-122"/>
                        <a:ea typeface="Microsoft YaHei" charset="-122"/>
                      </a:endParaRPr>
                    </a:p>
                  </a:txBody>
                  <a:tcPr anchor="ctr">
                    <a:solidFill>
                      <a:srgbClr val="69F0AE">
                        <a:alpha val="90000"/>
                      </a:srgbClr>
                    </a:solidFill>
                  </a:tcPr>
                </a:tc>
                <a:tc>
                  <a:txBody>
                    <a:bodyPr/>
                    <a:lstStyle/>
                    <a:p>
                      <a:pPr algn="ctr">
                        <a:buNone/>
                      </a:pPr>
                      <a:r>
                        <a:rPr lang="en-US" altLang="en-US" sz="1400" dirty="0">
                          <a:solidFill>
                            <a:schemeClr val="bg1"/>
                          </a:solidFill>
                          <a:latin typeface="Microsoft YaHei" charset="-122"/>
                          <a:ea typeface="Microsoft YaHei" charset="-122"/>
                        </a:rPr>
                        <a:t>.05</a:t>
                      </a:r>
                      <a:endParaRPr lang="en-US" altLang="en-US" sz="1400" dirty="0">
                        <a:solidFill>
                          <a:schemeClr val="bg1"/>
                        </a:solidFill>
                        <a:latin typeface="Microsoft YaHei" charset="-122"/>
                        <a:ea typeface="Microsoft YaHei" charset="-122"/>
                      </a:endParaRPr>
                    </a:p>
                  </a:txBody>
                  <a:tcPr anchor="ctr">
                    <a:solidFill>
                      <a:srgbClr val="69F0AE">
                        <a:alpha val="5000"/>
                      </a:srgbClr>
                    </a:solidFill>
                  </a:tcPr>
                </a:tc>
              </a:tr>
              <a:tr h="540000">
                <a:tc>
                  <a:txBody>
                    <a:bodyPr/>
                    <a:lstStyle/>
                    <a:p>
                      <a:pPr algn="ctr">
                        <a:buNone/>
                      </a:pPr>
                      <a:r>
                        <a:rPr lang="en-US" altLang="en-US" sz="1400">
                          <a:solidFill>
                            <a:schemeClr val="bg1"/>
                          </a:solidFill>
                          <a:latin typeface="Microsoft YaHei" charset="-122"/>
                          <a:ea typeface="Microsoft YaHei" charset="-122"/>
                        </a:rPr>
                        <a:t>you</a:t>
                      </a:r>
                      <a:endParaRPr lang="en-US" altLang="en-US" sz="1400">
                        <a:solidFill>
                          <a:schemeClr val="bg1"/>
                        </a:solidFill>
                        <a:latin typeface="Microsoft YaHei" charset="-122"/>
                        <a:ea typeface="Microsoft YaHei" charset="-122"/>
                      </a:endParaRPr>
                    </a:p>
                  </a:txBody>
                  <a:tcPr anchor="ctr"/>
                </a:tc>
                <a:tc>
                  <a:txBody>
                    <a:bodyPr/>
                    <a:lstStyle/>
                    <a:p>
                      <a:pPr algn="ctr">
                        <a:buNone/>
                      </a:pPr>
                      <a:r>
                        <a:rPr lang="en-US" altLang="en-US" sz="1400" dirty="0">
                          <a:solidFill>
                            <a:schemeClr val="bg1"/>
                          </a:solidFill>
                          <a:latin typeface="Microsoft YaHei" charset="-122"/>
                          <a:ea typeface="Microsoft YaHei" charset="-122"/>
                        </a:rPr>
                        <a:t>.09</a:t>
                      </a:r>
                      <a:endParaRPr lang="en-US" altLang="en-US" sz="1400" dirty="0">
                        <a:solidFill>
                          <a:schemeClr val="bg1"/>
                        </a:solidFill>
                        <a:latin typeface="Microsoft YaHei" charset="-122"/>
                        <a:ea typeface="Microsoft YaHei" charset="-122"/>
                      </a:endParaRPr>
                    </a:p>
                  </a:txBody>
                  <a:tcPr anchor="ctr">
                    <a:solidFill>
                      <a:srgbClr val="69F0AE">
                        <a:alpha val="9000"/>
                      </a:srgbClr>
                    </a:solidFill>
                  </a:tcPr>
                </a:tc>
                <a:tc>
                  <a:txBody>
                    <a:bodyPr/>
                    <a:lstStyle/>
                    <a:p>
                      <a:pPr algn="ctr">
                        <a:buNone/>
                      </a:pPr>
                      <a:r>
                        <a:rPr lang="en-US" altLang="en-US" sz="1400" dirty="0">
                          <a:solidFill>
                            <a:schemeClr val="bg1"/>
                          </a:solidFill>
                          <a:latin typeface="Microsoft YaHei" charset="-122"/>
                          <a:ea typeface="Microsoft YaHei" charset="-122"/>
                        </a:rPr>
                        <a:t>.12</a:t>
                      </a:r>
                      <a:endParaRPr lang="en-US" altLang="en-US" sz="1400" dirty="0">
                        <a:solidFill>
                          <a:schemeClr val="bg1"/>
                        </a:solidFill>
                        <a:latin typeface="Microsoft YaHei" charset="-122"/>
                        <a:ea typeface="Microsoft YaHei" charset="-122"/>
                      </a:endParaRPr>
                    </a:p>
                  </a:txBody>
                  <a:tcPr anchor="ctr">
                    <a:solidFill>
                      <a:srgbClr val="69F0AE">
                        <a:alpha val="12000"/>
                      </a:srgbClr>
                    </a:solidFill>
                  </a:tcPr>
                </a:tc>
                <a:tc>
                  <a:txBody>
                    <a:bodyPr/>
                    <a:lstStyle/>
                    <a:p>
                      <a:pPr algn="ctr">
                        <a:buNone/>
                      </a:pPr>
                      <a:r>
                        <a:rPr lang="en-US" altLang="en-US" sz="1400" dirty="0">
                          <a:solidFill>
                            <a:schemeClr val="bg1"/>
                          </a:solidFill>
                          <a:latin typeface="Microsoft YaHei" charset="-122"/>
                          <a:ea typeface="Microsoft YaHei" charset="-122"/>
                        </a:rPr>
                        <a:t>.79</a:t>
                      </a:r>
                      <a:endParaRPr lang="en-US" altLang="en-US" sz="1400" dirty="0">
                        <a:solidFill>
                          <a:schemeClr val="bg1"/>
                        </a:solidFill>
                        <a:latin typeface="Microsoft YaHei" charset="-122"/>
                        <a:ea typeface="Microsoft YaHei" charset="-122"/>
                      </a:endParaRPr>
                    </a:p>
                  </a:txBody>
                  <a:tcPr anchor="ctr">
                    <a:solidFill>
                      <a:srgbClr val="69F0AE">
                        <a:alpha val="79000"/>
                      </a:srgbClr>
                    </a:solidFill>
                  </a:tcPr>
                </a:tc>
              </a:tr>
            </a:tbl>
          </a:graphicData>
        </a:graphic>
      </p:graphicFrame>
      <p:graphicFrame>
        <p:nvGraphicFramePr>
          <p:cNvPr id="13" name="Table 4"/>
          <p:cNvGraphicFramePr/>
          <p:nvPr/>
        </p:nvGraphicFramePr>
        <p:xfrm>
          <a:off x="6878320" y="3366135"/>
          <a:ext cx="2398510" cy="2160270"/>
        </p:xfrm>
        <a:graphic>
          <a:graphicData uri="http://schemas.openxmlformats.org/drawingml/2006/table">
            <a:tbl>
              <a:tblPr firstRow="1" bandRow="1">
                <a:effectLst>
                  <a:outerShdw blurRad="50800" dist="38100" dir="2700000" algn="tl" rotWithShape="0">
                    <a:srgbClr val="B388FF">
                      <a:alpha val="40000"/>
                    </a:srgbClr>
                  </a:outerShdw>
                </a:effectLst>
                <a:tableStyleId>{2D5ABB26-0587-4C30-8999-92F81FD0307C}</a:tableStyleId>
              </a:tblPr>
              <a:tblGrid>
                <a:gridCol w="778510"/>
                <a:gridCol w="540000"/>
                <a:gridCol w="540000"/>
                <a:gridCol w="540000"/>
              </a:tblGrid>
              <a:tr h="540000">
                <a:tc>
                  <a:txBody>
                    <a:bodyPr/>
                    <a:lstStyle/>
                    <a:p>
                      <a:pPr algn="ctr">
                        <a:buNone/>
                      </a:pPr>
                      <a:endParaRPr lang="en-US" sz="140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c>
                  <a:txBody>
                    <a:bodyPr/>
                    <a:lstStyle/>
                    <a:p>
                      <a:pPr algn="ctr">
                        <a:buNone/>
                      </a:pPr>
                      <a:r>
                        <a:rPr lang="en-US" altLang="en-US" sz="1400">
                          <a:solidFill>
                            <a:schemeClr val="bg1"/>
                          </a:solidFill>
                          <a:latin typeface="Microsoft YaHei" charset="-122"/>
                          <a:ea typeface="Microsoft YaHei" charset="-122"/>
                        </a:rPr>
                        <a:t>我</a:t>
                      </a:r>
                      <a:endParaRPr lang="en-US" altLang="en-US" sz="140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c>
                  <a:txBody>
                    <a:bodyPr/>
                    <a:lstStyle/>
                    <a:p>
                      <a:pPr algn="ctr">
                        <a:buNone/>
                      </a:pPr>
                      <a:r>
                        <a:rPr lang="en-US" altLang="en-US" sz="1400">
                          <a:solidFill>
                            <a:schemeClr val="bg1"/>
                          </a:solidFill>
                          <a:latin typeface="Microsoft YaHei" charset="-122"/>
                          <a:ea typeface="Microsoft YaHei" charset="-122"/>
                        </a:rPr>
                        <a:t>爱</a:t>
                      </a:r>
                      <a:endParaRPr lang="en-US" altLang="en-US" sz="140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c>
                  <a:txBody>
                    <a:bodyPr/>
                    <a:lstStyle/>
                    <a:p>
                      <a:pPr algn="ctr">
                        <a:buNone/>
                      </a:pPr>
                      <a:r>
                        <a:rPr lang="en-US" altLang="en-US" sz="1400">
                          <a:solidFill>
                            <a:schemeClr val="bg1"/>
                          </a:solidFill>
                          <a:latin typeface="Microsoft YaHei" charset="-122"/>
                          <a:ea typeface="Microsoft YaHei" charset="-122"/>
                        </a:rPr>
                        <a:t>你</a:t>
                      </a:r>
                      <a:endParaRPr lang="en-US" altLang="en-US" sz="140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r>
              <a:tr h="540000">
                <a:tc>
                  <a:txBody>
                    <a:bodyPr/>
                    <a:lstStyle/>
                    <a:p>
                      <a:pPr algn="ctr">
                        <a:buNone/>
                      </a:pPr>
                      <a:r>
                        <a:rPr lang="en-US" altLang="en-US" sz="1400" dirty="0">
                          <a:solidFill>
                            <a:schemeClr val="bg1"/>
                          </a:solidFill>
                          <a:latin typeface="Microsoft YaHei" charset="-122"/>
                          <a:ea typeface="Microsoft YaHei" charset="-122"/>
                        </a:rPr>
                        <a:t>je</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c>
                  <a:txBody>
                    <a:bodyPr/>
                    <a:lstStyle/>
                    <a:p>
                      <a:pPr algn="ctr">
                        <a:buNone/>
                      </a:pPr>
                      <a:r>
                        <a:rPr lang="en-US" altLang="en-US" sz="1400" dirty="0">
                          <a:solidFill>
                            <a:schemeClr val="bg1"/>
                          </a:solidFill>
                          <a:latin typeface="Microsoft YaHei" charset="-122"/>
                          <a:ea typeface="Microsoft YaHei" charset="-122"/>
                        </a:rPr>
                        <a:t>.94</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94000"/>
                      </a:srgbClr>
                    </a:solidFill>
                  </a:tcPr>
                </a:tc>
                <a:tc>
                  <a:txBody>
                    <a:bodyPr/>
                    <a:lstStyle/>
                    <a:p>
                      <a:pPr algn="ctr">
                        <a:buNone/>
                      </a:pPr>
                      <a:r>
                        <a:rPr lang="en-US" altLang="en-US" sz="1400" dirty="0">
                          <a:solidFill>
                            <a:schemeClr val="bg1"/>
                          </a:solidFill>
                          <a:latin typeface="Microsoft YaHei" charset="-122"/>
                          <a:ea typeface="Microsoft YaHei" charset="-122"/>
                        </a:rPr>
                        <a:t>.02</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2000"/>
                      </a:srgbClr>
                    </a:solidFill>
                  </a:tcPr>
                </a:tc>
                <a:tc>
                  <a:txBody>
                    <a:bodyPr/>
                    <a:lstStyle/>
                    <a:p>
                      <a:pPr algn="ctr">
                        <a:buNone/>
                      </a:pPr>
                      <a:r>
                        <a:rPr lang="en-US" altLang="en-US" sz="1400" dirty="0">
                          <a:solidFill>
                            <a:schemeClr val="bg1"/>
                          </a:solidFill>
                          <a:latin typeface="Microsoft YaHei" charset="-122"/>
                          <a:ea typeface="Microsoft YaHei" charset="-122"/>
                        </a:rPr>
                        <a:t>.04</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4000"/>
                      </a:srgbClr>
                    </a:solidFill>
                  </a:tcPr>
                </a:tc>
              </a:tr>
              <a:tr h="540000">
                <a:tc>
                  <a:txBody>
                    <a:bodyPr/>
                    <a:lstStyle/>
                    <a:p>
                      <a:pPr algn="ctr">
                        <a:buNone/>
                      </a:pPr>
                      <a:r>
                        <a:rPr lang="en-US" altLang="en-US" sz="1400" dirty="0">
                          <a:solidFill>
                            <a:schemeClr val="bg1"/>
                          </a:solidFill>
                          <a:latin typeface="Microsoft YaHei" charset="-122"/>
                          <a:ea typeface="Microsoft YaHei" charset="-122"/>
                        </a:rPr>
                        <a:t>t'</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c>
                  <a:txBody>
                    <a:bodyPr/>
                    <a:lstStyle/>
                    <a:p>
                      <a:pPr algn="ctr">
                        <a:buNone/>
                      </a:pPr>
                      <a:r>
                        <a:rPr lang="en-US" altLang="en-US" sz="1400" dirty="0">
                          <a:solidFill>
                            <a:schemeClr val="bg1"/>
                          </a:solidFill>
                          <a:latin typeface="Microsoft YaHei" charset="-122"/>
                          <a:ea typeface="Microsoft YaHei" charset="-122"/>
                        </a:rPr>
                        <a:t>.11</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11000"/>
                      </a:srgbClr>
                    </a:solidFill>
                  </a:tcPr>
                </a:tc>
                <a:tc>
                  <a:txBody>
                    <a:bodyPr/>
                    <a:lstStyle/>
                    <a:p>
                      <a:pPr algn="ctr">
                        <a:buNone/>
                      </a:pPr>
                      <a:r>
                        <a:rPr lang="en-US" altLang="en-US" sz="1400" dirty="0">
                          <a:solidFill>
                            <a:schemeClr val="bg1"/>
                          </a:solidFill>
                          <a:latin typeface="Microsoft YaHei" charset="-122"/>
                          <a:ea typeface="Microsoft YaHei" charset="-122"/>
                        </a:rPr>
                        <a:t>.01</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1000"/>
                      </a:srgbClr>
                    </a:solidFill>
                  </a:tcPr>
                </a:tc>
                <a:tc>
                  <a:txBody>
                    <a:bodyPr/>
                    <a:lstStyle/>
                    <a:p>
                      <a:pPr algn="ctr">
                        <a:buNone/>
                      </a:pPr>
                      <a:r>
                        <a:rPr lang="en-US" altLang="en-US" sz="1400" dirty="0">
                          <a:solidFill>
                            <a:schemeClr val="bg1"/>
                          </a:solidFill>
                          <a:latin typeface="Microsoft YaHei" charset="-122"/>
                          <a:ea typeface="Microsoft YaHei" charset="-122"/>
                        </a:rPr>
                        <a:t>.88</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88000"/>
                      </a:srgbClr>
                    </a:solidFill>
                  </a:tcPr>
                </a:tc>
              </a:tr>
              <a:tr h="540000">
                <a:tc>
                  <a:txBody>
                    <a:bodyPr/>
                    <a:lstStyle/>
                    <a:p>
                      <a:pPr algn="ctr">
                        <a:buNone/>
                      </a:pPr>
                      <a:r>
                        <a:rPr lang="en-US" altLang="en-US" sz="1400">
                          <a:solidFill>
                            <a:schemeClr val="bg1"/>
                          </a:solidFill>
                          <a:latin typeface="Microsoft YaHei" charset="-122"/>
                          <a:ea typeface="Microsoft YaHei" charset="-122"/>
                        </a:rPr>
                        <a:t>aime</a:t>
                      </a:r>
                      <a:endParaRPr lang="en-US" altLang="en-US" sz="140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tcPr>
                </a:tc>
                <a:tc>
                  <a:txBody>
                    <a:bodyPr/>
                    <a:lstStyle/>
                    <a:p>
                      <a:pPr algn="ctr">
                        <a:buNone/>
                      </a:pPr>
                      <a:r>
                        <a:rPr lang="en-US" altLang="en-US" sz="1400" dirty="0">
                          <a:solidFill>
                            <a:schemeClr val="bg1"/>
                          </a:solidFill>
                          <a:latin typeface="Microsoft YaHei" charset="-122"/>
                          <a:ea typeface="Microsoft YaHei" charset="-122"/>
                        </a:rPr>
                        <a:t>.03</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3000"/>
                      </a:srgbClr>
                    </a:solidFill>
                  </a:tcPr>
                </a:tc>
                <a:tc>
                  <a:txBody>
                    <a:bodyPr/>
                    <a:lstStyle/>
                    <a:p>
                      <a:pPr algn="ctr">
                        <a:buNone/>
                      </a:pPr>
                      <a:r>
                        <a:rPr lang="en-US" altLang="en-US" sz="1400" dirty="0">
                          <a:solidFill>
                            <a:schemeClr val="bg1"/>
                          </a:solidFill>
                          <a:latin typeface="Microsoft YaHei" charset="-122"/>
                          <a:ea typeface="Microsoft YaHei" charset="-122"/>
                        </a:rPr>
                        <a:t>.95</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95000"/>
                      </a:srgbClr>
                    </a:solidFill>
                  </a:tcPr>
                </a:tc>
                <a:tc>
                  <a:txBody>
                    <a:bodyPr/>
                    <a:lstStyle/>
                    <a:p>
                      <a:pPr algn="ctr">
                        <a:buNone/>
                      </a:pPr>
                      <a:r>
                        <a:rPr lang="en-US" altLang="en-US" sz="1400" dirty="0">
                          <a:solidFill>
                            <a:schemeClr val="bg1"/>
                          </a:solidFill>
                          <a:latin typeface="Microsoft YaHei" charset="-122"/>
                          <a:ea typeface="Microsoft YaHei" charset="-122"/>
                        </a:rPr>
                        <a:t>.02</a:t>
                      </a:r>
                      <a:endParaRPr lang="en-US" altLang="en-US" sz="1400" dirty="0">
                        <a:solidFill>
                          <a:schemeClr val="bg1"/>
                        </a:solidFill>
                        <a:latin typeface="Microsoft YaHei" charset="-122"/>
                        <a:ea typeface="Microsoft YaHei" charset="-122"/>
                      </a:endParaRPr>
                    </a:p>
                  </a:txBody>
                  <a:tcPr anchor="ctr">
                    <a:lnL>
                      <a:noFill/>
                    </a:lnL>
                    <a:lnR>
                      <a:noFill/>
                    </a:lnR>
                    <a:lnT>
                      <a:noFill/>
                    </a:lnT>
                    <a:lnB>
                      <a:noFill/>
                    </a:lnB>
                    <a:lnTlToBr>
                      <a:noFill/>
                    </a:lnTlToBr>
                    <a:lnBlToTr>
                      <a:noFill/>
                    </a:lnBlToTr>
                    <a:solidFill>
                      <a:srgbClr val="B388FF">
                        <a:alpha val="2000"/>
                      </a:srgbClr>
                    </a:solidFill>
                  </a:tcPr>
                </a:tc>
              </a:tr>
            </a:tbl>
          </a:graphicData>
        </a:graphic>
      </p:graphicFrame>
      <p:sp>
        <p:nvSpPr>
          <p:cNvPr id="15" name="AutoShape 6"/>
          <p:cNvSpPr/>
          <p:nvPr/>
        </p:nvSpPr>
        <p:spPr>
          <a:xfrm>
            <a:off x="6878638" y="5777230"/>
            <a:ext cx="2397760" cy="39878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sz="1600" i="0" u="none" strike="noStrike">
                <a:solidFill>
                  <a:srgbClr val="FFFFFF"/>
                </a:solidFill>
                <a:latin typeface="Noto Sans SC"/>
                <a:ea typeface="SimSun" charset="0"/>
                <a:cs typeface="Noto Sans SC"/>
                <a:sym typeface="Noto Sans SC"/>
              </a:rPr>
              <a:t>中译法</a:t>
            </a:r>
            <a:endParaRPr lang="zh-CN" sz="1600" i="0" u="none" strike="noStrike">
              <a:solidFill>
                <a:srgbClr val="FFFFFF"/>
              </a:solidFill>
              <a:latin typeface="Noto Sans SC"/>
              <a:ea typeface="SimSun" charset="0"/>
              <a:cs typeface="Noto Sans SC"/>
              <a:sym typeface="Noto Sans SC"/>
            </a:endParaRPr>
          </a:p>
        </p:txBody>
      </p:sp>
      <p:sp>
        <p:nvSpPr>
          <p:cNvPr id="45" name="AutoShape 6"/>
          <p:cNvSpPr/>
          <p:nvPr/>
        </p:nvSpPr>
        <p:spPr>
          <a:xfrm>
            <a:off x="3001645" y="5777865"/>
            <a:ext cx="2369820" cy="398145"/>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zh-CN" sz="1600" i="0" u="none" strike="noStrike">
                <a:solidFill>
                  <a:schemeClr val="bg1"/>
                </a:solidFill>
                <a:latin typeface="Noto Sans SC"/>
                <a:ea typeface="SimSun" charset="0"/>
                <a:cs typeface="Noto Sans SC"/>
                <a:sym typeface="+mn-ea"/>
              </a:rPr>
              <a:t>中译英</a:t>
            </a:r>
            <a:endParaRPr lang="zh-CN" sz="1600" i="0" u="none" strike="noStrike">
              <a:solidFill>
                <a:schemeClr val="bg1"/>
              </a:solidFill>
              <a:latin typeface="Noto Sans SC"/>
              <a:ea typeface="SimSun" charset="0"/>
              <a:cs typeface="Noto Sans SC"/>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5" grpId="1" animBg="1"/>
      <p:bldP spid="45" grpId="0" bldLvl="0" animBg="1"/>
      <p:bldP spid="45" grpId="1" animBg="1"/>
      <p:bldP spid="4" grpId="0" uiExpand="1" build="p"/>
      <p:bldP spid="4" grpI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结合注意力的</a:t>
            </a:r>
            <a:r>
              <a:rPr lang="zh-CN" altLang="en-US">
                <a:ea typeface="SimSun" charset="0"/>
              </a:rPr>
              <a:t>自回归生成：一个例子</a:t>
            </a:r>
            <a:endParaRPr lang="zh-CN" altLang="en-US">
              <a:ea typeface="SimSun" charset="0"/>
            </a:endParaRPr>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graphicFrame>
        <p:nvGraphicFramePr>
          <p:cNvPr id="7" name="表格 6"/>
          <p:cNvGraphicFramePr/>
          <p:nvPr/>
        </p:nvGraphicFramePr>
        <p:xfrm>
          <a:off x="1332230" y="5587365"/>
          <a:ext cx="912114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gridCol w="1013460"/>
                <a:gridCol w="1013460"/>
                <a:gridCol w="1013460"/>
              </a:tblGrid>
              <a:tr h="381000">
                <a:tc>
                  <a:txBody>
                    <a:bodyPr/>
                    <a:p>
                      <a:pPr algn="ctr">
                        <a:buNone/>
                      </a:pPr>
                      <a:r>
                        <a:rPr lang="zh-CN" altLang="en-US"/>
                        <a:t>港科大</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000"/>
                      </a:srgbClr>
                    </a:solidFill>
                  </a:tcPr>
                </a:tc>
                <a:tc>
                  <a:txBody>
                    <a:bodyPr/>
                    <a:p>
                      <a:pPr algn="ctr">
                        <a:buNone/>
                      </a:pPr>
                      <a:r>
                        <a:rPr lang="zh-CN" altLang="en-US"/>
                        <a:t>在</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5000"/>
                      </a:srgbClr>
                    </a:solidFill>
                  </a:tcPr>
                </a:tc>
                <a:tc>
                  <a:txBody>
                    <a:bodyPr/>
                    <a:p>
                      <a:pPr algn="ctr">
                        <a:buNone/>
                      </a:pPr>
                      <a:r>
                        <a:rPr lang="zh-CN" altLang="en-US"/>
                        <a:t>今年</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5000"/>
                      </a:srgbClr>
                    </a:solidFill>
                  </a:tcPr>
                </a:tc>
                <a:tc>
                  <a:txBody>
                    <a:bodyPr/>
                    <a:p>
                      <a:pPr algn="ctr">
                        <a:buNone/>
                      </a:pPr>
                      <a:r>
                        <a:rPr lang="zh-CN" altLang="en-US"/>
                        <a:t>排名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5000"/>
                      </a:srgbClr>
                    </a:solidFill>
                  </a:tcPr>
                </a:tc>
                <a:tc>
                  <a:txBody>
                    <a:bodyPr/>
                    <a:p>
                      <a:pPr algn="ctr">
                        <a:buNone/>
                      </a:pPr>
                      <a:r>
                        <a:rPr lang="zh-CN" altLang="en-US"/>
                        <a:t>第</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5000"/>
                      </a:srgbClr>
                    </a:solidFill>
                  </a:tcPr>
                </a:tc>
                <a:tc>
                  <a:txBody>
                    <a:bodyPr/>
                    <a:p>
                      <a:pPr algn="ctr">
                        <a:buNone/>
                      </a:pPr>
                      <a:r>
                        <a:rPr lang="en-US" altLang="zh-CN"/>
                        <a:t>33</a:t>
                      </a:r>
                      <a:endParaRPr lang="en-US" altLang="zh-CN"/>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5000"/>
                      </a:srgbClr>
                    </a:solidFill>
                  </a:tcPr>
                </a:tc>
                <a:tc>
                  <a:txBody>
                    <a:bodyPr/>
                    <a:p>
                      <a:pPr algn="ctr">
                        <a:buNone/>
                      </a:pPr>
                      <a:r>
                        <a:rPr lang="zh-CN" altLang="en-US"/>
                        <a:t>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5000"/>
                      </a:srgbClr>
                    </a:solidFill>
                  </a:tcPr>
                </a:tc>
                <a:tc>
                  <a:txBody>
                    <a:bodyPr/>
                    <a:p>
                      <a:pPr algn="ctr">
                        <a:buNone/>
                      </a:pPr>
                      <a:r>
                        <a:rPr lang="zh-CN" altLang="en-US"/>
                        <a:t>。</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5000"/>
                      </a:srgbClr>
                    </a:solidFill>
                  </a:tcPr>
                </a:tc>
                <a:tc>
                  <a:txBody>
                    <a:bodyPr/>
                    <a:p>
                      <a:pPr algn="ctr">
                        <a:buNone/>
                      </a:pPr>
                      <a:endParaRPr lang="en-US" altLang="zh-CN" sz="1400">
                        <a:solidFill>
                          <a:srgbClr val="69F0AE"/>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8" name="表格 7"/>
          <p:cNvGraphicFramePr/>
          <p:nvPr/>
        </p:nvGraphicFramePr>
        <p:xfrm>
          <a:off x="1332230" y="1777365"/>
          <a:ext cx="9121140" cy="381000"/>
        </p:xfrm>
        <a:graphic>
          <a:graphicData uri="http://schemas.openxmlformats.org/drawingml/2006/table">
            <a:tbl>
              <a:tblPr firstRow="1" bandRow="1">
                <a:tableStyleId>{5C22544A-7EE6-4342-B048-85BDC9FD1C3A}</a:tableStyleId>
              </a:tblPr>
              <a:tblGrid>
                <a:gridCol w="1013460"/>
                <a:gridCol w="1013460"/>
                <a:gridCol w="1013460"/>
                <a:gridCol w="1013460"/>
              </a:tblGrid>
              <a:tr h="381000">
                <a:tc>
                  <a:txBody>
                    <a:bodyPr/>
                    <a:p>
                      <a:pPr algn="ctr">
                        <a:buNone/>
                      </a:pPr>
                      <a:r>
                        <a:rPr lang="zh-CN" altLang="en-US"/>
                        <a:t>港科大</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0000"/>
                      </a:srgbClr>
                    </a:solidFill>
                  </a:tcPr>
                </a:tc>
                <a:tc>
                  <a:txBody>
                    <a:bodyPr/>
                    <a:p>
                      <a:pPr algn="ctr">
                        <a:buNone/>
                      </a:pPr>
                      <a:r>
                        <a:rPr lang="zh-CN" altLang="en-US"/>
                        <a:t>在</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0000"/>
                      </a:srgbClr>
                    </a:solidFill>
                  </a:tcPr>
                </a:tc>
                <a:tc>
                  <a:txBody>
                    <a:bodyPr/>
                    <a:p>
                      <a:pPr algn="ctr">
                        <a:buNone/>
                      </a:pPr>
                      <a:r>
                        <a:rPr lang="zh-CN" altLang="en-US"/>
                        <a:t>今年</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5000"/>
                      </a:srgbClr>
                    </a:solidFill>
                  </a:tcPr>
                </a:tc>
                <a:tc>
                  <a:txBody>
                    <a:bodyPr/>
                    <a:p>
                      <a:pPr algn="ctr">
                        <a:buNone/>
                      </a:pPr>
                      <a:endParaRPr lang="zh-CN" altLang="en-US">
                        <a:solidFill>
                          <a:srgbClr val="69F0AE"/>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0" name="表格 9"/>
          <p:cNvGraphicFramePr/>
          <p:nvPr/>
        </p:nvGraphicFramePr>
        <p:xfrm>
          <a:off x="1332230" y="2539365"/>
          <a:ext cx="506730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tblGrid>
              <a:tr h="381000">
                <a:tc>
                  <a:txBody>
                    <a:bodyPr/>
                    <a:p>
                      <a:pPr algn="ctr">
                        <a:buNone/>
                      </a:pPr>
                      <a:r>
                        <a:rPr lang="zh-CN" altLang="en-US"/>
                        <a:t>港科大</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0000"/>
                      </a:srgbClr>
                    </a:solidFill>
                  </a:tcPr>
                </a:tc>
                <a:tc>
                  <a:txBody>
                    <a:bodyPr/>
                    <a:p>
                      <a:pPr algn="ctr">
                        <a:buNone/>
                      </a:pPr>
                      <a:r>
                        <a:rPr lang="zh-CN" altLang="en-US"/>
                        <a:t>在</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0000"/>
                      </a:srgbClr>
                    </a:solidFill>
                  </a:tcPr>
                </a:tc>
                <a:tc>
                  <a:txBody>
                    <a:bodyPr/>
                    <a:p>
                      <a:pPr algn="ctr">
                        <a:buNone/>
                      </a:pPr>
                      <a:r>
                        <a:rPr lang="zh-CN" altLang="en-US"/>
                        <a:t>今年</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000"/>
                      </a:srgbClr>
                    </a:solidFill>
                  </a:tcPr>
                </a:tc>
                <a:tc>
                  <a:txBody>
                    <a:bodyPr/>
                    <a:p>
                      <a:pPr algn="ctr">
                        <a:buNone/>
                      </a:pPr>
                      <a:r>
                        <a:rPr lang="zh-CN" altLang="en-US"/>
                        <a:t>排名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0000"/>
                      </a:srgbClr>
                    </a:solidFill>
                  </a:tcPr>
                </a:tc>
                <a:tc>
                  <a:txBody>
                    <a:bodyPr/>
                    <a:p>
                      <a:pPr algn="ctr">
                        <a:buNone/>
                      </a:pPr>
                      <a:endParaRPr lang="zh-CN" altLang="en-US">
                        <a:solidFill>
                          <a:srgbClr val="69F0AE"/>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1" name="表格 10"/>
          <p:cNvGraphicFramePr/>
          <p:nvPr/>
        </p:nvGraphicFramePr>
        <p:xfrm>
          <a:off x="1332230" y="3301365"/>
          <a:ext cx="608076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tblGrid>
              <a:tr h="381000">
                <a:tc>
                  <a:txBody>
                    <a:bodyPr/>
                    <a:p>
                      <a:pPr algn="ctr">
                        <a:buNone/>
                      </a:pPr>
                      <a:r>
                        <a:rPr lang="zh-CN" altLang="en-US"/>
                        <a:t>港科大</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5000"/>
                      </a:srgbClr>
                    </a:solidFill>
                  </a:tcPr>
                </a:tc>
                <a:tc>
                  <a:txBody>
                    <a:bodyPr/>
                    <a:p>
                      <a:pPr algn="ctr">
                        <a:buNone/>
                      </a:pPr>
                      <a:r>
                        <a:rPr lang="zh-CN" altLang="en-US"/>
                        <a:t>在</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000"/>
                      </a:srgbClr>
                    </a:solidFill>
                  </a:tcPr>
                </a:tc>
                <a:tc>
                  <a:txBody>
                    <a:bodyPr/>
                    <a:p>
                      <a:pPr algn="ctr">
                        <a:buNone/>
                      </a:pPr>
                      <a:r>
                        <a:rPr lang="zh-CN" altLang="en-US"/>
                        <a:t>今年</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5000"/>
                      </a:srgbClr>
                    </a:solidFill>
                  </a:tcPr>
                </a:tc>
                <a:tc>
                  <a:txBody>
                    <a:bodyPr/>
                    <a:p>
                      <a:pPr algn="ctr">
                        <a:buNone/>
                      </a:pPr>
                      <a:r>
                        <a:rPr lang="zh-CN" altLang="en-US"/>
                        <a:t>排名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5000"/>
                      </a:srgbClr>
                    </a:solidFill>
                  </a:tcPr>
                </a:tc>
                <a:tc>
                  <a:txBody>
                    <a:bodyPr/>
                    <a:p>
                      <a:pPr algn="ctr">
                        <a:buNone/>
                      </a:pPr>
                      <a:r>
                        <a:rPr lang="zh-CN" altLang="en-US"/>
                        <a:t>第</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5000"/>
                      </a:srgbClr>
                    </a:solidFill>
                  </a:tcPr>
                </a:tc>
                <a:tc>
                  <a:txBody>
                    <a:bodyPr/>
                    <a:p>
                      <a:pPr algn="ctr">
                        <a:buNone/>
                      </a:pPr>
                      <a:endParaRPr lang="en-US" altLang="zh-CN">
                        <a:solidFill>
                          <a:srgbClr val="69F0AE"/>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2" name="表格 11"/>
          <p:cNvGraphicFramePr/>
          <p:nvPr/>
        </p:nvGraphicFramePr>
        <p:xfrm>
          <a:off x="1332230" y="4063365"/>
          <a:ext cx="709422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gridCol w="1013460"/>
              </a:tblGrid>
              <a:tr h="381000">
                <a:tc>
                  <a:txBody>
                    <a:bodyPr/>
                    <a:p>
                      <a:pPr algn="ctr">
                        <a:buNone/>
                      </a:pPr>
                      <a:r>
                        <a:rPr lang="zh-CN" altLang="en-US"/>
                        <a:t>港科大</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5000"/>
                      </a:srgbClr>
                    </a:solidFill>
                  </a:tcPr>
                </a:tc>
                <a:tc>
                  <a:txBody>
                    <a:bodyPr/>
                    <a:p>
                      <a:pPr algn="ctr">
                        <a:buNone/>
                      </a:pPr>
                      <a:r>
                        <a:rPr lang="zh-CN" altLang="en-US"/>
                        <a:t>在</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0000"/>
                      </a:srgbClr>
                    </a:solidFill>
                  </a:tcPr>
                </a:tc>
                <a:tc>
                  <a:txBody>
                    <a:bodyPr/>
                    <a:p>
                      <a:pPr algn="ctr">
                        <a:buNone/>
                      </a:pPr>
                      <a:r>
                        <a:rPr lang="zh-CN" altLang="en-US"/>
                        <a:t>今年</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0000"/>
                      </a:srgbClr>
                    </a:solidFill>
                  </a:tcPr>
                </a:tc>
                <a:tc>
                  <a:txBody>
                    <a:bodyPr/>
                    <a:p>
                      <a:pPr algn="ctr">
                        <a:buNone/>
                      </a:pPr>
                      <a:r>
                        <a:rPr lang="zh-CN" altLang="en-US"/>
                        <a:t>排名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0000"/>
                      </a:srgbClr>
                    </a:solidFill>
                  </a:tcPr>
                </a:tc>
                <a:tc>
                  <a:txBody>
                    <a:bodyPr/>
                    <a:p>
                      <a:pPr algn="ctr">
                        <a:buNone/>
                      </a:pPr>
                      <a:r>
                        <a:rPr lang="zh-CN" altLang="en-US"/>
                        <a:t>第</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5000"/>
                      </a:srgbClr>
                    </a:solidFill>
                  </a:tcPr>
                </a:tc>
                <a:tc>
                  <a:txBody>
                    <a:bodyPr/>
                    <a:p>
                      <a:pPr algn="ctr">
                        <a:buNone/>
                      </a:pPr>
                      <a:r>
                        <a:rPr lang="en-US" altLang="zh-CN"/>
                        <a:t>33</a:t>
                      </a:r>
                      <a:endParaRPr lang="en-US" altLang="zh-CN"/>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0000"/>
                      </a:srgbClr>
                    </a:solidFill>
                  </a:tcPr>
                </a:tc>
                <a:tc>
                  <a:txBody>
                    <a:bodyPr/>
                    <a:p>
                      <a:pPr algn="ctr">
                        <a:buNone/>
                      </a:pPr>
                      <a:endParaRPr lang="zh-CN" altLang="en-US">
                        <a:solidFill>
                          <a:srgbClr val="69F0AE"/>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graphicFrame>
        <p:nvGraphicFramePr>
          <p:cNvPr id="13" name="表格 12"/>
          <p:cNvGraphicFramePr/>
          <p:nvPr/>
        </p:nvGraphicFramePr>
        <p:xfrm>
          <a:off x="1332230" y="4825365"/>
          <a:ext cx="8107680" cy="381000"/>
        </p:xfrm>
        <a:graphic>
          <a:graphicData uri="http://schemas.openxmlformats.org/drawingml/2006/table">
            <a:tbl>
              <a:tblPr firstRow="1" bandRow="1">
                <a:tableStyleId>{5C22544A-7EE6-4342-B048-85BDC9FD1C3A}</a:tableStyleId>
              </a:tblPr>
              <a:tblGrid>
                <a:gridCol w="1013460"/>
                <a:gridCol w="1013460"/>
                <a:gridCol w="1013460"/>
                <a:gridCol w="1013460"/>
                <a:gridCol w="1013460"/>
                <a:gridCol w="1013460"/>
                <a:gridCol w="1013460"/>
                <a:gridCol w="1013460"/>
              </a:tblGrid>
              <a:tr h="381000">
                <a:tc>
                  <a:txBody>
                    <a:bodyPr/>
                    <a:p>
                      <a:pPr algn="ctr">
                        <a:buNone/>
                      </a:pPr>
                      <a:r>
                        <a:rPr lang="zh-CN" altLang="en-US"/>
                        <a:t>港科大</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000"/>
                      </a:srgbClr>
                    </a:solidFill>
                  </a:tcPr>
                </a:tc>
                <a:tc>
                  <a:txBody>
                    <a:bodyPr/>
                    <a:p>
                      <a:pPr algn="ctr">
                        <a:buNone/>
                      </a:pPr>
                      <a:r>
                        <a:rPr lang="zh-CN" altLang="en-US"/>
                        <a:t>在</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5000"/>
                      </a:srgbClr>
                    </a:solidFill>
                  </a:tcPr>
                </a:tc>
                <a:tc>
                  <a:txBody>
                    <a:bodyPr/>
                    <a:p>
                      <a:pPr algn="ctr">
                        <a:buNone/>
                      </a:pPr>
                      <a:r>
                        <a:rPr lang="zh-CN" altLang="en-US"/>
                        <a:t>今年</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5000"/>
                      </a:srgbClr>
                    </a:solidFill>
                  </a:tcPr>
                </a:tc>
                <a:tc>
                  <a:txBody>
                    <a:bodyPr/>
                    <a:p>
                      <a:pPr algn="ctr">
                        <a:buNone/>
                      </a:pPr>
                      <a:r>
                        <a:rPr lang="zh-CN" altLang="en-US"/>
                        <a:t>排名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5000"/>
                      </a:srgbClr>
                    </a:solidFill>
                  </a:tcPr>
                </a:tc>
                <a:tc>
                  <a:txBody>
                    <a:bodyPr/>
                    <a:p>
                      <a:pPr algn="ctr">
                        <a:buNone/>
                      </a:pPr>
                      <a:r>
                        <a:rPr lang="zh-CN" altLang="en-US"/>
                        <a:t>第</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5000"/>
                      </a:srgbClr>
                    </a:solidFill>
                  </a:tcPr>
                </a:tc>
                <a:tc>
                  <a:txBody>
                    <a:bodyPr/>
                    <a:p>
                      <a:pPr algn="ctr">
                        <a:buNone/>
                      </a:pPr>
                      <a:r>
                        <a:rPr lang="en-US" altLang="zh-CN"/>
                        <a:t>33</a:t>
                      </a:r>
                      <a:endParaRPr lang="en-US" altLang="zh-CN"/>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5000"/>
                      </a:srgbClr>
                    </a:solidFill>
                  </a:tcPr>
                </a:tc>
                <a:tc>
                  <a:txBody>
                    <a:bodyPr/>
                    <a:p>
                      <a:pPr algn="ctr">
                        <a:buNone/>
                      </a:pPr>
                      <a:r>
                        <a:rPr lang="zh-CN" altLang="en-US"/>
                        <a:t>位</a:t>
                      </a:r>
                      <a:endParaRPr lang="zh-CN" altLang="en-US"/>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5000"/>
                      </a:srgbClr>
                    </a:solidFill>
                  </a:tcPr>
                </a:tc>
                <a:tc>
                  <a:txBody>
                    <a:bodyPr/>
                    <a:p>
                      <a:pPr algn="ctr">
                        <a:buNone/>
                      </a:pPr>
                      <a:endParaRPr lang="zh-CN" altLang="en-US">
                        <a:solidFill>
                          <a:srgbClr val="69F0AE"/>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sp>
        <p:nvSpPr>
          <p:cNvPr id="16" name="环形箭头 15"/>
          <p:cNvSpPr/>
          <p:nvPr/>
        </p:nvSpPr>
        <p:spPr>
          <a:xfrm>
            <a:off x="5002530" y="1777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7" name="环形箭头 16"/>
          <p:cNvSpPr/>
          <p:nvPr/>
        </p:nvSpPr>
        <p:spPr>
          <a:xfrm>
            <a:off x="6035040" y="2539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8" name="环形箭头 17"/>
          <p:cNvSpPr/>
          <p:nvPr/>
        </p:nvSpPr>
        <p:spPr>
          <a:xfrm>
            <a:off x="7018655" y="3301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9" name="环形箭头 18"/>
          <p:cNvSpPr/>
          <p:nvPr/>
        </p:nvSpPr>
        <p:spPr>
          <a:xfrm>
            <a:off x="8036560" y="4063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20" name="环形箭头 19"/>
          <p:cNvSpPr/>
          <p:nvPr/>
        </p:nvSpPr>
        <p:spPr>
          <a:xfrm>
            <a:off x="9074785" y="4825365"/>
            <a:ext cx="1186180" cy="1186180"/>
          </a:xfrm>
          <a:prstGeom prst="circularArrow">
            <a:avLst>
              <a:gd name="adj1" fmla="val 8606"/>
              <a:gd name="adj2" fmla="val 1142319"/>
              <a:gd name="adj3" fmla="val 20385647"/>
              <a:gd name="adj4" fmla="val 16064854"/>
              <a:gd name="adj5" fmla="val 9651"/>
            </a:avLst>
          </a:prstGeom>
          <a:solidFill>
            <a:srgbClr val="00E5F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 name="文本框 2"/>
          <p:cNvSpPr txBox="1"/>
          <p:nvPr/>
        </p:nvSpPr>
        <p:spPr>
          <a:xfrm>
            <a:off x="14166215" y="4756150"/>
            <a:ext cx="4064000" cy="368300"/>
          </a:xfrm>
          <a:prstGeom prst="rect">
            <a:avLst/>
          </a:prstGeom>
          <a:noFill/>
        </p:spPr>
        <p:txBody>
          <a:bodyPr wrap="square" rtlCol="0">
            <a:spAutoFit/>
          </a:bodyPr>
          <a:p>
            <a:endParaRPr lang="zh-CN" altLang="en-US"/>
          </a:p>
        </p:txBody>
      </p:sp>
      <p:sp>
        <p:nvSpPr>
          <p:cNvPr id="4" name="文本框 3"/>
          <p:cNvSpPr txBox="1"/>
          <p:nvPr/>
        </p:nvSpPr>
        <p:spPr>
          <a:xfrm>
            <a:off x="4372610" y="1774825"/>
            <a:ext cx="1012825" cy="375920"/>
          </a:xfrm>
          <a:prstGeom prst="rect">
            <a:avLst/>
          </a:prstGeom>
          <a:noFill/>
        </p:spPr>
        <p:txBody>
          <a:bodyPr wrap="square" rtlCol="0" anchor="ctr" anchorCtr="0">
            <a:noAutofit/>
          </a:bodyPr>
          <a:p>
            <a:pPr algn="ctr"/>
            <a:r>
              <a:rPr lang="zh-CN" altLang="en-US" b="1">
                <a:solidFill>
                  <a:srgbClr val="69F0AE"/>
                </a:solidFill>
              </a:rPr>
              <a:t>排名</a:t>
            </a:r>
            <a:endParaRPr lang="zh-CN" altLang="en-US" b="1">
              <a:solidFill>
                <a:srgbClr val="69F0AE"/>
              </a:solidFill>
            </a:endParaRPr>
          </a:p>
        </p:txBody>
      </p:sp>
      <p:sp>
        <p:nvSpPr>
          <p:cNvPr id="6" name="文本框 5"/>
          <p:cNvSpPr txBox="1"/>
          <p:nvPr/>
        </p:nvSpPr>
        <p:spPr>
          <a:xfrm>
            <a:off x="5385435" y="2541905"/>
            <a:ext cx="1012825" cy="375920"/>
          </a:xfrm>
          <a:prstGeom prst="rect">
            <a:avLst/>
          </a:prstGeom>
          <a:noFill/>
        </p:spPr>
        <p:txBody>
          <a:bodyPr wrap="square" rtlCol="0" anchor="ctr" anchorCtr="0">
            <a:noAutofit/>
          </a:bodyPr>
          <a:p>
            <a:pPr algn="ctr"/>
            <a:r>
              <a:rPr lang="zh-CN" altLang="en-US" b="1">
                <a:solidFill>
                  <a:srgbClr val="69F0AE"/>
                </a:solidFill>
              </a:rPr>
              <a:t>第</a:t>
            </a:r>
            <a:endParaRPr lang="zh-CN" altLang="en-US" b="1">
              <a:solidFill>
                <a:srgbClr val="69F0AE"/>
              </a:solidFill>
            </a:endParaRPr>
          </a:p>
        </p:txBody>
      </p:sp>
      <p:sp>
        <p:nvSpPr>
          <p:cNvPr id="9" name="文本框 8"/>
          <p:cNvSpPr txBox="1"/>
          <p:nvPr/>
        </p:nvSpPr>
        <p:spPr>
          <a:xfrm>
            <a:off x="6400165" y="3306445"/>
            <a:ext cx="1012825" cy="375920"/>
          </a:xfrm>
          <a:prstGeom prst="rect">
            <a:avLst/>
          </a:prstGeom>
          <a:noFill/>
        </p:spPr>
        <p:txBody>
          <a:bodyPr wrap="square" rtlCol="0" anchor="ctr" anchorCtr="0">
            <a:noAutofit/>
          </a:bodyPr>
          <a:p>
            <a:pPr algn="ctr"/>
            <a:r>
              <a:rPr lang="en-US" altLang="zh-CN" b="1">
                <a:solidFill>
                  <a:srgbClr val="69F0AE"/>
                </a:solidFill>
              </a:rPr>
              <a:t>33</a:t>
            </a:r>
            <a:endParaRPr lang="en-US" altLang="zh-CN" b="1">
              <a:solidFill>
                <a:srgbClr val="69F0AE"/>
              </a:solidFill>
            </a:endParaRPr>
          </a:p>
        </p:txBody>
      </p:sp>
      <p:sp>
        <p:nvSpPr>
          <p:cNvPr id="14" name="文本框 13"/>
          <p:cNvSpPr txBox="1"/>
          <p:nvPr/>
        </p:nvSpPr>
        <p:spPr>
          <a:xfrm>
            <a:off x="7412990" y="4068445"/>
            <a:ext cx="1012825" cy="375920"/>
          </a:xfrm>
          <a:prstGeom prst="rect">
            <a:avLst/>
          </a:prstGeom>
          <a:noFill/>
        </p:spPr>
        <p:txBody>
          <a:bodyPr wrap="square" rtlCol="0" anchor="ctr" anchorCtr="0">
            <a:noAutofit/>
          </a:bodyPr>
          <a:p>
            <a:pPr algn="ctr"/>
            <a:r>
              <a:rPr lang="zh-CN" altLang="en-US" b="1">
                <a:solidFill>
                  <a:srgbClr val="69F0AE"/>
                </a:solidFill>
              </a:rPr>
              <a:t>位</a:t>
            </a:r>
            <a:endParaRPr lang="zh-CN" altLang="en-US" b="1">
              <a:solidFill>
                <a:srgbClr val="69F0AE"/>
              </a:solidFill>
            </a:endParaRPr>
          </a:p>
        </p:txBody>
      </p:sp>
      <p:sp>
        <p:nvSpPr>
          <p:cNvPr id="15" name="文本框 14"/>
          <p:cNvSpPr txBox="1"/>
          <p:nvPr/>
        </p:nvSpPr>
        <p:spPr>
          <a:xfrm>
            <a:off x="8425815" y="4827905"/>
            <a:ext cx="1012825" cy="375920"/>
          </a:xfrm>
          <a:prstGeom prst="rect">
            <a:avLst/>
          </a:prstGeom>
          <a:noFill/>
        </p:spPr>
        <p:txBody>
          <a:bodyPr wrap="square" rtlCol="0" anchor="ctr" anchorCtr="0">
            <a:noAutofit/>
          </a:bodyPr>
          <a:p>
            <a:pPr algn="ctr"/>
            <a:r>
              <a:rPr lang="zh-CN" altLang="en-US" b="1">
                <a:solidFill>
                  <a:srgbClr val="69F0AE"/>
                </a:solidFill>
              </a:rPr>
              <a:t>。</a:t>
            </a:r>
            <a:endParaRPr lang="zh-CN" altLang="en-US" b="1">
              <a:solidFill>
                <a:srgbClr val="69F0AE"/>
              </a:solidFill>
            </a:endParaRPr>
          </a:p>
        </p:txBody>
      </p:sp>
      <p:sp>
        <p:nvSpPr>
          <p:cNvPr id="21" name="文本框 20"/>
          <p:cNvSpPr txBox="1"/>
          <p:nvPr/>
        </p:nvSpPr>
        <p:spPr>
          <a:xfrm>
            <a:off x="9440545" y="5587365"/>
            <a:ext cx="1012825" cy="375920"/>
          </a:xfrm>
          <a:prstGeom prst="rect">
            <a:avLst/>
          </a:prstGeom>
          <a:noFill/>
        </p:spPr>
        <p:txBody>
          <a:bodyPr wrap="square" rtlCol="0" anchor="ctr" anchorCtr="0">
            <a:noAutofit/>
          </a:bodyPr>
          <a:p>
            <a:pPr algn="ctr"/>
            <a:r>
              <a:rPr lang="en-US" altLang="zh-CN" sz="1400" b="1">
                <a:solidFill>
                  <a:srgbClr val="69F0AE"/>
                </a:solidFill>
              </a:rPr>
              <a:t>&lt;|end|&gt;</a:t>
            </a:r>
            <a:endParaRPr lang="en-US" altLang="zh-CN" sz="1400" b="1">
              <a:solidFill>
                <a:srgbClr val="69F0A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par>
                          <p:cTn id="46" fill="hold">
                            <p:stCondLst>
                              <p:cond delay="500"/>
                            </p:stCondLst>
                            <p:childTnLst>
                              <p:par>
                                <p:cTn id="47" presetID="10" presetClass="entr" presetSubtype="0"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500"/>
                                        <p:tgtEl>
                                          <p:spTgt spid="19"/>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childTnLst>
                          </p:cTn>
                        </p:par>
                        <p:par>
                          <p:cTn id="74" fill="hold">
                            <p:stCondLst>
                              <p:cond delay="500"/>
                            </p:stCondLst>
                            <p:childTnLst>
                              <p:par>
                                <p:cTn id="75" presetID="10" presetClass="entr" presetSubtype="0" fill="hold" nodeType="after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fade">
                                      <p:cBhvr>
                                        <p:cTn id="77" dur="500"/>
                                        <p:tgtEl>
                                          <p:spTgt spid="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16" grpId="1" animBg="1"/>
      <p:bldP spid="17" grpId="1" animBg="1"/>
      <p:bldP spid="18" grpId="1" animBg="1"/>
      <p:bldP spid="19" grpId="1" animBg="1"/>
      <p:bldP spid="20" grpId="1" animBg="1"/>
      <p:bldP spid="4" grpId="0"/>
      <p:bldP spid="6" grpId="0"/>
      <p:bldP spid="9" grpId="0"/>
      <p:bldP spid="14" grpId="0"/>
      <p:bldP spid="15" grpId="0"/>
      <p:bldP spid="21" grpId="0"/>
      <p:bldP spid="4" grpId="1"/>
      <p:bldP spid="6" grpId="1"/>
      <p:bldP spid="9" grpId="1"/>
      <p:bldP spid="14" grpId="1"/>
      <p:bldP spid="15" grpId="1"/>
      <p:bldP spid="21"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内容占位符 6"/>
          <p:cNvSpPr>
            <a:spLocks noGrp="1"/>
          </p:cNvSpPr>
          <p:nvPr>
            <p:ph idx="1"/>
          </p:nvPr>
        </p:nvSpPr>
        <p:spPr/>
        <p:txBody>
          <a:bodyPr/>
          <a:p>
            <a:r>
              <a:rPr lang="zh-CN" altLang="en-US"/>
              <a:t>为什么不是一个字一个字生成？</a:t>
            </a:r>
            <a:endParaRPr lang="zh-CN" altLang="en-US"/>
          </a:p>
        </p:txBody>
      </p:sp>
      <p:sp>
        <p:nvSpPr>
          <p:cNvPr id="8" name="内容占位符 7"/>
          <p:cNvSpPr>
            <a:spLocks noGrp="1"/>
          </p:cNvSpPr>
          <p:nvPr>
            <p:ph idx="13"/>
          </p:nvPr>
        </p:nvSpPr>
        <p:spPr/>
        <p:txBody>
          <a:bodyPr/>
          <a:p>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normAutofit fontScale="90000"/>
          </a:bodyPr>
          <a:p>
            <a:r>
              <a:rPr lang="zh-CN" altLang="en-US"/>
              <a:t>文本处理的最小单元：</a:t>
            </a:r>
            <a:r>
              <a:rPr altLang="zh-CN"/>
              <a:t>Token</a:t>
            </a:r>
            <a:endParaRPr altLang="zh-CN"/>
          </a:p>
        </p:txBody>
      </p:sp>
      <p:sp>
        <p:nvSpPr>
          <p:cNvPr id="7" name="内容占位符 6"/>
          <p:cNvSpPr>
            <a:spLocks noGrp="1"/>
          </p:cNvSpPr>
          <p:nvPr>
            <p:ph idx="1"/>
          </p:nvPr>
        </p:nvSpPr>
        <p:spPr/>
        <p:txBody>
          <a:bodyPr/>
          <a:p>
            <a:r>
              <a:rPr lang="en-US" altLang="zh-CN"/>
              <a:t>Token </a:t>
            </a:r>
            <a:r>
              <a:rPr lang="zh-CN" altLang="en-US"/>
              <a:t>划分的核心标准是“频率与效率的平衡”：常用词（如“</a:t>
            </a:r>
            <a:r>
              <a:rPr lang="en-US" altLang="zh-CN"/>
              <a:t>apple”）</a:t>
            </a:r>
            <a:r>
              <a:rPr lang="zh-CN" altLang="en-US"/>
              <a:t>保留为完整单元，生僻词或复合词则按统计规律拆分为更常见的子词片段（如“</a:t>
            </a:r>
            <a:r>
              <a:rPr lang="en-US" altLang="zh-CN"/>
              <a:t>playing”</a:t>
            </a:r>
            <a:r>
              <a:rPr lang="zh-CN" altLang="en-US"/>
              <a:t>拆成“</a:t>
            </a:r>
            <a:r>
              <a:rPr lang="en-US" altLang="zh-CN"/>
              <a:t>play”</a:t>
            </a:r>
            <a:r>
              <a:rPr lang="zh-CN" altLang="en-US"/>
              <a:t>和“</a:t>
            </a:r>
            <a:r>
              <a:rPr lang="en-US" altLang="zh-CN"/>
              <a:t>ing”），</a:t>
            </a:r>
            <a:r>
              <a:rPr lang="zh-CN" altLang="en-US"/>
              <a:t>而极罕见的字符则降级为单个字母，以此在固定词表大小下最大化覆盖率和语义完整性。</a:t>
            </a:r>
            <a:endParaRPr lang="zh-CN" altLang="en-US"/>
          </a:p>
        </p:txBody>
      </p:sp>
      <p:sp>
        <p:nvSpPr>
          <p:cNvPr id="8" name="内容占位符 7"/>
          <p:cNvSpPr>
            <a:spLocks noGrp="1"/>
          </p:cNvSpPr>
          <p:nvPr>
            <p:ph idx="13"/>
          </p:nvPr>
        </p:nvSpPr>
        <p:spPr/>
        <p:txBody>
          <a:bodyPr/>
          <a:p>
            <a:r>
              <a:rPr lang="zh-CN" altLang="en-US"/>
              <a:t>为了计算方便，模型把原始句子切分成单词、子词或字符片段，这些</a:t>
            </a:r>
            <a:endParaRPr lang="zh-CN" altLang="en-US"/>
          </a:p>
          <a:p>
            <a:r>
              <a:rPr lang="zh-CN" altLang="en-US"/>
              <a:t>片段表示语义上不可拆分的概念和状态，是组成文本的最小单元，英语</a:t>
            </a:r>
            <a:endParaRPr lang="zh-CN" altLang="en-US"/>
          </a:p>
          <a:p>
            <a:r>
              <a:rPr lang="zh-CN" altLang="en-US"/>
              <a:t>中叫做“</a:t>
            </a:r>
            <a:r>
              <a:rPr lang="en-US" altLang="zh-CN"/>
              <a:t>token</a:t>
            </a:r>
            <a:r>
              <a:rPr lang="zh-CN" altLang="en-US"/>
              <a:t>”，中文译为“词元”</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fade">
                                      <p:cBhvr>
                                        <p:cTn id="11" dur="500"/>
                                        <p:tgtEl>
                                          <p:spTgt spid="8">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8" grpId="1" build="p"/>
      <p:bldP spid="7" grpId="0" build="p"/>
      <p:bldP spid="7"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ltLang="zh-CN"/>
              <a:t>Token </a:t>
            </a:r>
            <a:r>
              <a:rPr lang="zh-CN" altLang="en-US">
                <a:ea typeface="SimSun" charset="0"/>
              </a:rPr>
              <a:t>的数字化：</a:t>
            </a:r>
            <a:r>
              <a:rPr altLang="zh-CN">
                <a:ea typeface="SimSun" charset="0"/>
              </a:rPr>
              <a:t>Embedding</a:t>
            </a:r>
            <a:endParaRPr altLang="zh-CN">
              <a:ea typeface="SimSun" charset="0"/>
            </a:endParaRPr>
          </a:p>
        </p:txBody>
      </p:sp>
      <p:sp>
        <p:nvSpPr>
          <p:cNvPr id="9" name="内容占位符 8"/>
          <p:cNvSpPr>
            <a:spLocks noGrp="1"/>
          </p:cNvSpPr>
          <p:nvPr>
            <p:ph idx="1"/>
          </p:nvPr>
        </p:nvSpPr>
        <p:spPr>
          <a:xfrm>
            <a:off x="762000" y="2880360"/>
            <a:ext cx="10401300" cy="3296920"/>
          </a:xfrm>
        </p:spPr>
        <p:txBody>
          <a:bodyPr/>
          <a:p>
            <a:r>
              <a:rPr lang="zh-CN" altLang="en-US"/>
              <a:t>数字化方式</a:t>
            </a:r>
            <a:endParaRPr lang="zh-CN" altLang="en-US"/>
          </a:p>
          <a:p>
            <a:pPr lvl="1"/>
            <a:r>
              <a:rPr lang="zh-CN" altLang="en-US"/>
              <a:t>直接设置编号</a:t>
            </a:r>
            <a:endParaRPr lang="zh-CN" altLang="en-US"/>
          </a:p>
          <a:p>
            <a:pPr lvl="2"/>
            <a:r>
              <a:rPr lang="zh-CN" altLang="en-US">
                <a:sym typeface="+mn-ea"/>
              </a:rPr>
              <a:t>不包含语义信息，无法进行语义的计算</a:t>
            </a:r>
            <a:endParaRPr lang="zh-CN" altLang="en-US"/>
          </a:p>
          <a:p>
            <a:pPr lvl="1"/>
            <a:r>
              <a:rPr lang="zh-CN" altLang="en-US"/>
              <a:t>嵌入语义空间</a:t>
            </a:r>
            <a:endParaRPr lang="zh-CN" altLang="en-US"/>
          </a:p>
          <a:p>
            <a:pPr lvl="2"/>
            <a:r>
              <a:rPr lang="zh-CN" altLang="en-US"/>
              <a:t>语义空间：高维实数向量空间</a:t>
            </a:r>
            <a:endParaRPr lang="zh-CN" altLang="en-US"/>
          </a:p>
          <a:p>
            <a:pPr lvl="2"/>
            <a:r>
              <a:rPr lang="zh-CN" altLang="en-US"/>
              <a:t>向量运算代表语义运算</a:t>
            </a:r>
            <a:endParaRPr lang="zh-CN" altLang="en-US"/>
          </a:p>
          <a:p>
            <a:pPr lvl="2"/>
            <a:r>
              <a:rPr lang="zh-CN" altLang="en-US"/>
              <a:t>“嵌入”：空间的一部分表示特定含义，把词语“镶嵌”进这个固定的位置</a:t>
            </a:r>
            <a:endParaRPr lang="zh-CN" altLang="en-US"/>
          </a:p>
          <a:p>
            <a:pPr lvl="1"/>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12" name="AutoShape 6"/>
          <p:cNvSpPr/>
          <p:nvPr/>
        </p:nvSpPr>
        <p:spPr>
          <a:xfrm>
            <a:off x="1351280" y="2066290"/>
            <a:ext cx="1080000" cy="54000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i="0" u="none" strike="noStrike">
                <a:solidFill>
                  <a:srgbClr val="FFFFFF"/>
                </a:solidFill>
                <a:latin typeface="Noto Sans SC"/>
                <a:ea typeface="SimSun" charset="0"/>
                <a:cs typeface="Noto Sans SC"/>
                <a:sym typeface="Noto Sans SC"/>
              </a:rPr>
              <a:t>文本</a:t>
            </a:r>
            <a:endParaRPr lang="zh-CN" altLang="en-US" i="0" u="none" strike="noStrike">
              <a:solidFill>
                <a:srgbClr val="FFFFFF"/>
              </a:solidFill>
              <a:latin typeface="Noto Sans SC"/>
              <a:ea typeface="SimSun" charset="0"/>
              <a:cs typeface="Noto Sans SC"/>
              <a:sym typeface="Noto Sans SC"/>
            </a:endParaRPr>
          </a:p>
        </p:txBody>
      </p:sp>
      <p:sp>
        <p:nvSpPr>
          <p:cNvPr id="13" name="AutoShape 6"/>
          <p:cNvSpPr/>
          <p:nvPr/>
        </p:nvSpPr>
        <p:spPr>
          <a:xfrm>
            <a:off x="3302500" y="2066290"/>
            <a:ext cx="1079500" cy="54000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en-US" altLang="zh-CN" i="0" u="none" strike="noStrike">
                <a:solidFill>
                  <a:srgbClr val="FFFFFF"/>
                </a:solidFill>
                <a:latin typeface="Noto Sans SC"/>
                <a:ea typeface="SimSun" charset="0"/>
                <a:cs typeface="Noto Sans SC"/>
                <a:sym typeface="Noto Sans SC"/>
              </a:rPr>
              <a:t>Token</a:t>
            </a:r>
            <a:endParaRPr lang="en-US" altLang="zh-CN" i="0" u="none" strike="noStrike">
              <a:solidFill>
                <a:srgbClr val="FFFFFF"/>
              </a:solidFill>
              <a:latin typeface="Noto Sans SC"/>
              <a:ea typeface="SimSun" charset="0"/>
              <a:cs typeface="Noto Sans SC"/>
              <a:sym typeface="Noto Sans SC"/>
            </a:endParaRPr>
          </a:p>
        </p:txBody>
      </p:sp>
      <p:sp>
        <p:nvSpPr>
          <p:cNvPr id="45" name="AutoShape 6"/>
          <p:cNvSpPr/>
          <p:nvPr/>
        </p:nvSpPr>
        <p:spPr>
          <a:xfrm>
            <a:off x="9217525" y="2066290"/>
            <a:ext cx="1767205" cy="54000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en-US" altLang="zh-CN" i="0" u="none" strike="noStrike">
                <a:solidFill>
                  <a:schemeClr val="bg1"/>
                </a:solidFill>
                <a:latin typeface="Noto Sans SC"/>
                <a:ea typeface="SimSun" charset="0"/>
                <a:cs typeface="Noto Sans SC"/>
                <a:sym typeface="+mn-ea"/>
              </a:rPr>
              <a:t>Transformer</a:t>
            </a:r>
            <a:endParaRPr lang="en-US" altLang="zh-CN" i="0" u="none" strike="noStrike">
              <a:solidFill>
                <a:schemeClr val="bg1"/>
              </a:solidFill>
              <a:latin typeface="Noto Sans SC"/>
              <a:ea typeface="SimSun" charset="0"/>
              <a:cs typeface="Noto Sans SC"/>
              <a:sym typeface="+mn-ea"/>
            </a:endParaRPr>
          </a:p>
        </p:txBody>
      </p:sp>
      <p:sp>
        <p:nvSpPr>
          <p:cNvPr id="10" name="AutoShape 6"/>
          <p:cNvSpPr/>
          <p:nvPr/>
        </p:nvSpPr>
        <p:spPr>
          <a:xfrm>
            <a:off x="6072370" y="2066290"/>
            <a:ext cx="2292985" cy="54000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en-US" altLang="zh-CN" i="0" u="none" strike="noStrike">
                <a:solidFill>
                  <a:srgbClr val="FFFFFF"/>
                </a:solidFill>
                <a:latin typeface="Noto Sans SC"/>
                <a:ea typeface="SimSun" charset="0"/>
                <a:cs typeface="Noto Sans SC"/>
                <a:sym typeface="Noto Sans SC"/>
              </a:rPr>
              <a:t>Token </a:t>
            </a:r>
            <a:r>
              <a:rPr lang="zh-CN" altLang="en-US" i="0" u="none" strike="noStrike">
                <a:solidFill>
                  <a:srgbClr val="FFFFFF"/>
                </a:solidFill>
                <a:latin typeface="Noto Sans SC"/>
                <a:ea typeface="SimSun" charset="0"/>
                <a:cs typeface="Noto Sans SC"/>
                <a:sym typeface="Noto Sans SC"/>
              </a:rPr>
              <a:t>的数字表示</a:t>
            </a:r>
            <a:endParaRPr lang="zh-CN" altLang="en-US" i="0" u="none" strike="noStrike">
              <a:solidFill>
                <a:srgbClr val="FFFFFF"/>
              </a:solidFill>
              <a:latin typeface="Noto Sans SC"/>
              <a:ea typeface="SimSun" charset="0"/>
              <a:cs typeface="Noto Sans SC"/>
              <a:sym typeface="Noto Sans SC"/>
            </a:endParaRPr>
          </a:p>
        </p:txBody>
      </p:sp>
      <p:cxnSp>
        <p:nvCxnSpPr>
          <p:cNvPr id="22" name="直接箭头连接符 21"/>
          <p:cNvCxnSpPr/>
          <p:nvPr/>
        </p:nvCxnSpPr>
        <p:spPr>
          <a:xfrm>
            <a:off x="2563360" y="2336165"/>
            <a:ext cx="607060"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grpSp>
        <p:nvGrpSpPr>
          <p:cNvPr id="17" name="组合 16"/>
          <p:cNvGrpSpPr/>
          <p:nvPr/>
        </p:nvGrpSpPr>
        <p:grpSpPr>
          <a:xfrm>
            <a:off x="4514080" y="1971040"/>
            <a:ext cx="1426210" cy="365125"/>
            <a:chOff x="7494" y="2604"/>
            <a:chExt cx="2246" cy="575"/>
          </a:xfrm>
        </p:grpSpPr>
        <p:cxnSp>
          <p:nvCxnSpPr>
            <p:cNvPr id="11" name="直接箭头连接符 10"/>
            <p:cNvCxnSpPr/>
            <p:nvPr/>
          </p:nvCxnSpPr>
          <p:spPr>
            <a:xfrm>
              <a:off x="7494" y="3179"/>
              <a:ext cx="2247" cy="0"/>
            </a:xfrm>
            <a:prstGeom prst="straightConnector1">
              <a:avLst/>
            </a:prstGeom>
            <a:ln w="19050">
              <a:solidFill>
                <a:srgbClr val="B388FF"/>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7519" y="2604"/>
              <a:ext cx="2196" cy="531"/>
            </a:xfrm>
            <a:prstGeom prst="rect">
              <a:avLst/>
            </a:prstGeom>
            <a:noFill/>
          </p:spPr>
          <p:txBody>
            <a:bodyPr wrap="square" rtlCol="0">
              <a:spAutoFit/>
            </a:bodyPr>
            <a:p>
              <a:pPr algn="ctr"/>
              <a:r>
                <a:rPr lang="en-US" altLang="zh-CN" sz="1600">
                  <a:solidFill>
                    <a:srgbClr val="B388FF"/>
                  </a:solidFill>
                </a:rPr>
                <a:t>Embedding</a:t>
              </a:r>
              <a:endParaRPr lang="en-US" altLang="zh-CN" sz="1600">
                <a:solidFill>
                  <a:srgbClr val="B388FF"/>
                </a:solidFill>
              </a:endParaRPr>
            </a:p>
          </p:txBody>
        </p:sp>
      </p:grpSp>
      <p:cxnSp>
        <p:nvCxnSpPr>
          <p:cNvPr id="16" name="直接箭头连接符 15"/>
          <p:cNvCxnSpPr/>
          <p:nvPr/>
        </p:nvCxnSpPr>
        <p:spPr>
          <a:xfrm>
            <a:off x="8497435" y="2336165"/>
            <a:ext cx="588010" cy="0"/>
          </a:xfrm>
          <a:prstGeom prst="straightConnector1">
            <a:avLst/>
          </a:prstGeom>
          <a:ln w="19050">
            <a:solidFill>
              <a:srgbClr val="69F0AE"/>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3" name="文本框 2"/>
          <p:cNvSpPr txBox="1"/>
          <p:nvPr/>
        </p:nvSpPr>
        <p:spPr>
          <a:xfrm>
            <a:off x="7099300" y="4344670"/>
            <a:ext cx="4064000" cy="368300"/>
          </a:xfrm>
          <a:prstGeom prst="rect">
            <a:avLst/>
          </a:prstGeom>
          <a:noFill/>
        </p:spPr>
        <p:txBody>
          <a:bodyPr wrap="square" rtlCol="0">
            <a:spAutoFit/>
          </a:bodyPr>
          <a:p>
            <a:pPr algn="ctr"/>
            <a:r>
              <a:rPr lang="zh-CN" altLang="en-US" b="1">
                <a:solidFill>
                  <a:srgbClr val="00E5FA"/>
                </a:solidFill>
                <a:sym typeface="+mn-ea"/>
              </a:rPr>
              <a:t>国王</a:t>
            </a:r>
            <a:r>
              <a:rPr lang="en-US" altLang="zh-CN" b="1">
                <a:solidFill>
                  <a:srgbClr val="00E5FA"/>
                </a:solidFill>
                <a:sym typeface="+mn-ea"/>
              </a:rPr>
              <a:t> - </a:t>
            </a:r>
            <a:r>
              <a:rPr lang="zh-CN" altLang="en-US" b="1">
                <a:solidFill>
                  <a:srgbClr val="00E5FA"/>
                </a:solidFill>
                <a:sym typeface="+mn-ea"/>
              </a:rPr>
              <a:t>男人</a:t>
            </a:r>
            <a:r>
              <a:rPr lang="en-US" altLang="zh-CN" b="1">
                <a:solidFill>
                  <a:srgbClr val="00E5FA"/>
                </a:solidFill>
                <a:sym typeface="+mn-ea"/>
              </a:rPr>
              <a:t> + </a:t>
            </a:r>
            <a:r>
              <a:rPr lang="zh-CN" altLang="en-US" b="1">
                <a:solidFill>
                  <a:srgbClr val="00E5FA"/>
                </a:solidFill>
                <a:sym typeface="+mn-ea"/>
              </a:rPr>
              <a:t>女人</a:t>
            </a:r>
            <a:r>
              <a:rPr lang="en-US" altLang="zh-CN" b="1">
                <a:solidFill>
                  <a:srgbClr val="00E5FA"/>
                </a:solidFill>
                <a:sym typeface="+mn-ea"/>
              </a:rPr>
              <a:t> </a:t>
            </a:r>
            <a:r>
              <a:rPr lang="en-US" altLang="zh-CN" b="1">
                <a:solidFill>
                  <a:srgbClr val="00E5FA"/>
                </a:solidFill>
                <a:latin typeface="Arial" panose="02080604020202020204" pitchFamily="34" charset="0"/>
                <a:ea typeface="Arial" panose="02080604020202020204" pitchFamily="34" charset="0"/>
                <a:sym typeface="+mn-ea"/>
              </a:rPr>
              <a:t>≈</a:t>
            </a:r>
            <a:r>
              <a:rPr lang="en-US" altLang="zh-CN" b="1">
                <a:solidFill>
                  <a:srgbClr val="00E5FA"/>
                </a:solidFill>
                <a:sym typeface="+mn-ea"/>
              </a:rPr>
              <a:t> </a:t>
            </a:r>
            <a:r>
              <a:rPr lang="zh-CN" altLang="en-US" b="1">
                <a:solidFill>
                  <a:srgbClr val="00E5FA"/>
                </a:solidFill>
                <a:sym typeface="+mn-ea"/>
              </a:rPr>
              <a:t>女王</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29" fill="hold">
                            <p:stCondLst>
                              <p:cond delay="1000"/>
                            </p:stCondLst>
                            <p:childTnLst>
                              <p:par>
                                <p:cTn id="30" presetID="10" presetClass="entr" presetSubtype="0" fill="hold"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par>
                          <p:cTn id="33" fill="hold">
                            <p:stCondLst>
                              <p:cond delay="1500"/>
                            </p:stCondLst>
                            <p:childTnLst>
                              <p:par>
                                <p:cTn id="34" presetID="10" presetClass="entr" presetSubtype="0" fill="hold" grpId="0"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xEl>
                                              <p:pRg st="0" end="0"/>
                                            </p:txEl>
                                          </p:spTgt>
                                        </p:tgtEl>
                                        <p:attrNameLst>
                                          <p:attrName>style.visibility</p:attrName>
                                        </p:attrNameLst>
                                      </p:cBhvr>
                                      <p:to>
                                        <p:strVal val="visible"/>
                                      </p:to>
                                    </p:set>
                                    <p:animEffect transition="in" filter="fade">
                                      <p:cBhvr>
                                        <p:cTn id="41" dur="500"/>
                                        <p:tgtEl>
                                          <p:spTgt spid="9">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9">
                                            <p:txEl>
                                              <p:pRg st="1" end="1"/>
                                            </p:txEl>
                                          </p:spTgt>
                                        </p:tgtEl>
                                        <p:attrNameLst>
                                          <p:attrName>style.visibility</p:attrName>
                                        </p:attrNameLst>
                                      </p:cBhvr>
                                      <p:to>
                                        <p:strVal val="visible"/>
                                      </p:to>
                                    </p:set>
                                    <p:animEffect transition="in" filter="fade">
                                      <p:cBhvr>
                                        <p:cTn id="46" dur="500"/>
                                        <p:tgtEl>
                                          <p:spTgt spid="9">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xEl>
                                              <p:pRg st="2" end="2"/>
                                            </p:txEl>
                                          </p:spTgt>
                                        </p:tgtEl>
                                        <p:attrNameLst>
                                          <p:attrName>style.visibility</p:attrName>
                                        </p:attrNameLst>
                                      </p:cBhvr>
                                      <p:to>
                                        <p:strVal val="visible"/>
                                      </p:to>
                                    </p:set>
                                    <p:animEffect transition="in" filter="fade">
                                      <p:cBhvr>
                                        <p:cTn id="51" dur="500"/>
                                        <p:tgtEl>
                                          <p:spTgt spid="9">
                                            <p:txEl>
                                              <p:pRg st="2" end="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fade">
                                      <p:cBhvr>
                                        <p:cTn id="56" dur="500"/>
                                        <p:tgtEl>
                                          <p:spTgt spid="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9">
                                            <p:txEl>
                                              <p:pRg st="3" end="3"/>
                                            </p:txEl>
                                          </p:spTgt>
                                        </p:tgtEl>
                                        <p:attrNameLst>
                                          <p:attrName>style.visibility</p:attrName>
                                        </p:attrNameLst>
                                      </p:cBhvr>
                                      <p:to>
                                        <p:strVal val="visible"/>
                                      </p:to>
                                    </p:set>
                                    <p:animEffect transition="in" filter="fade">
                                      <p:cBhvr>
                                        <p:cTn id="61" dur="500"/>
                                        <p:tgtEl>
                                          <p:spTgt spid="9">
                                            <p:txEl>
                                              <p:pRg st="3" end="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9">
                                            <p:txEl>
                                              <p:pRg st="4" end="4"/>
                                            </p:txEl>
                                          </p:spTgt>
                                        </p:tgtEl>
                                        <p:attrNameLst>
                                          <p:attrName>style.visibility</p:attrName>
                                        </p:attrNameLst>
                                      </p:cBhvr>
                                      <p:to>
                                        <p:strVal val="visible"/>
                                      </p:to>
                                    </p:set>
                                    <p:animEffect transition="in" filter="fade">
                                      <p:cBhvr>
                                        <p:cTn id="66" dur="500"/>
                                        <p:tgtEl>
                                          <p:spTgt spid="9">
                                            <p:txEl>
                                              <p:pRg st="4" end="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9">
                                            <p:txEl>
                                              <p:pRg st="5" end="5"/>
                                            </p:txEl>
                                          </p:spTgt>
                                        </p:tgtEl>
                                        <p:attrNameLst>
                                          <p:attrName>style.visibility</p:attrName>
                                        </p:attrNameLst>
                                      </p:cBhvr>
                                      <p:to>
                                        <p:strVal val="visible"/>
                                      </p:to>
                                    </p:set>
                                    <p:animEffect transition="in" filter="fade">
                                      <p:cBhvr>
                                        <p:cTn id="71" dur="500"/>
                                        <p:tgtEl>
                                          <p:spTgt spid="9">
                                            <p:txEl>
                                              <p:pRg st="5" end="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9">
                                            <p:txEl>
                                              <p:pRg st="6" end="6"/>
                                            </p:txEl>
                                          </p:spTgt>
                                        </p:tgtEl>
                                        <p:attrNameLst>
                                          <p:attrName>style.visibility</p:attrName>
                                        </p:attrNameLst>
                                      </p:cBhvr>
                                      <p:to>
                                        <p:strVal val="visible"/>
                                      </p:to>
                                    </p:set>
                                    <p:animEffect transition="in" filter="fade">
                                      <p:cBhvr>
                                        <p:cTn id="76"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P spid="13" grpId="0" bldLvl="0" animBg="1"/>
      <p:bldP spid="13" grpId="1" animBg="1"/>
      <p:bldP spid="45" grpId="0" bldLvl="0" animBg="1"/>
      <p:bldP spid="45" grpId="1" animBg="1"/>
      <p:bldP spid="10" grpId="0" bldLvl="0" animBg="1"/>
      <p:bldP spid="10" grpId="1" animBg="1"/>
      <p:bldP spid="2" grpId="0"/>
      <p:bldP spid="2" grpId="1"/>
      <p:bldP spid="9" grpId="0" uiExpand="1" build="p"/>
      <p:bldP spid="9" grpId="1" build="p"/>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ltLang="zh-CN">
                <a:sym typeface="+mn-ea"/>
              </a:rPr>
              <a:t>Embedding </a:t>
            </a:r>
            <a:r>
              <a:rPr lang="zh-CN">
                <a:sym typeface="+mn-ea"/>
              </a:rPr>
              <a:t>模型</a:t>
            </a:r>
            <a:r>
              <a:rPr lang="zh-CN" altLang="en-US">
                <a:ea typeface="SimSun" charset="0"/>
                <a:sym typeface="+mn-ea"/>
              </a:rPr>
              <a:t>的训练</a:t>
            </a:r>
            <a:endParaRPr lang="zh-CN" altLang="en-US"/>
          </a:p>
        </p:txBody>
      </p:sp>
      <p:sp>
        <p:nvSpPr>
          <p:cNvPr id="3" name="内容占位符 2"/>
          <p:cNvSpPr>
            <a:spLocks noGrp="1"/>
          </p:cNvSpPr>
          <p:nvPr>
            <p:ph idx="1"/>
          </p:nvPr>
        </p:nvSpPr>
        <p:spPr/>
        <p:txBody>
          <a:bodyPr/>
          <a:p>
            <a:r>
              <a:rPr lang="zh-CN" altLang="en-US"/>
              <a:t>原则：</a:t>
            </a:r>
            <a:endParaRPr lang="zh-CN" altLang="en-US"/>
          </a:p>
          <a:p>
            <a:pPr lvl="1"/>
            <a:r>
              <a:rPr lang="zh-CN" altLang="en-US" b="1">
                <a:solidFill>
                  <a:srgbClr val="00E5FA"/>
                </a:solidFill>
                <a:sym typeface="+mn-ea"/>
              </a:rPr>
              <a:t>相近</a:t>
            </a:r>
            <a:r>
              <a:rPr lang="zh-CN" altLang="en-US">
                <a:sym typeface="+mn-ea"/>
              </a:rPr>
              <a:t>语义在向量空间中更</a:t>
            </a:r>
            <a:r>
              <a:rPr lang="zh-CN" altLang="en-US" b="1">
                <a:solidFill>
                  <a:srgbClr val="00E5FA"/>
                </a:solidFill>
                <a:sym typeface="+mn-ea"/>
              </a:rPr>
              <a:t>接近</a:t>
            </a:r>
            <a:endParaRPr lang="zh-CN" altLang="en-US">
              <a:sym typeface="+mn-ea"/>
            </a:endParaRPr>
          </a:p>
          <a:p>
            <a:pPr lvl="1"/>
            <a:r>
              <a:rPr lang="zh-CN" altLang="en-US" b="1">
                <a:solidFill>
                  <a:srgbClr val="B388FF"/>
                </a:solidFill>
                <a:sym typeface="+mn-ea"/>
              </a:rPr>
              <a:t>相反</a:t>
            </a:r>
            <a:r>
              <a:rPr lang="zh-CN" altLang="en-US">
                <a:sym typeface="+mn-ea"/>
              </a:rPr>
              <a:t>语义</a:t>
            </a:r>
            <a:r>
              <a:rPr lang="zh-CN" altLang="en-US">
                <a:sym typeface="+mn-ea"/>
              </a:rPr>
              <a:t>在向量空间中</a:t>
            </a:r>
            <a:r>
              <a:rPr lang="zh-CN" altLang="en-US" b="1">
                <a:solidFill>
                  <a:srgbClr val="B388FF"/>
                </a:solidFill>
                <a:sym typeface="+mn-ea"/>
              </a:rPr>
              <a:t>距离更远</a:t>
            </a:r>
            <a:endParaRPr lang="zh-CN" altLang="en-US"/>
          </a:p>
          <a:p>
            <a:r>
              <a:rPr lang="zh-CN" altLang="en-US"/>
              <a:t>流程：</a:t>
            </a:r>
            <a:endParaRPr lang="zh-CN" altLang="en-US"/>
          </a:p>
          <a:p>
            <a:pPr lvl="1"/>
            <a:r>
              <a:rPr lang="zh-CN" altLang="en-US">
                <a:sym typeface="+mn-ea"/>
              </a:rPr>
              <a:t>给每个 </a:t>
            </a:r>
            <a:r>
              <a:rPr lang="en-US" altLang="zh-CN">
                <a:sym typeface="+mn-ea"/>
              </a:rPr>
              <a:t>token </a:t>
            </a:r>
            <a:r>
              <a:rPr lang="zh-CN" altLang="en-US">
                <a:sym typeface="+mn-ea"/>
              </a:rPr>
              <a:t>一个随机向量数值</a:t>
            </a:r>
            <a:endParaRPr lang="zh-CN" altLang="en-US"/>
          </a:p>
          <a:p>
            <a:pPr lvl="1"/>
            <a:r>
              <a:rPr lang="zh-CN" altLang="en-US">
                <a:sym typeface="+mn-ea"/>
              </a:rPr>
              <a:t>让 </a:t>
            </a:r>
            <a:r>
              <a:rPr lang="en-US" altLang="zh-CN">
                <a:sym typeface="+mn-ea"/>
              </a:rPr>
              <a:t>embedding </a:t>
            </a:r>
            <a:r>
              <a:rPr lang="zh-CN" altLang="en-US">
                <a:sym typeface="+mn-ea"/>
              </a:rPr>
              <a:t>模型阅读大量的文本，把在一段上下文内同时出现的 </a:t>
            </a:r>
            <a:r>
              <a:rPr lang="en-US" altLang="zh-CN">
                <a:sym typeface="+mn-ea"/>
              </a:rPr>
              <a:t>token </a:t>
            </a:r>
            <a:r>
              <a:rPr lang="zh-CN" altLang="en-US">
                <a:sym typeface="+mn-ea"/>
              </a:rPr>
              <a:t>之间的距离调整得近一点；把没有同时出现的 </a:t>
            </a:r>
            <a:r>
              <a:rPr lang="en-US" altLang="zh-CN">
                <a:sym typeface="+mn-ea"/>
              </a:rPr>
              <a:t>token </a:t>
            </a:r>
            <a:r>
              <a:rPr lang="zh-CN" altLang="en-US">
                <a:sym typeface="+mn-ea"/>
              </a:rPr>
              <a:t>之间的距离调整的远一点</a:t>
            </a:r>
            <a:endParaRPr lang="zh-CN" altLang="en-US"/>
          </a:p>
          <a:p>
            <a:pPr lvl="1"/>
            <a:r>
              <a:rPr lang="zh-CN" altLang="en-US">
                <a:sym typeface="+mn-ea"/>
              </a:rPr>
              <a:t>不断让大模型执行这个过程，直到 </a:t>
            </a:r>
            <a:r>
              <a:rPr lang="en-US" altLang="zh-CN">
                <a:sym typeface="+mn-ea"/>
              </a:rPr>
              <a:t>token </a:t>
            </a:r>
            <a:r>
              <a:rPr lang="zh-CN" altLang="en-US">
                <a:sym typeface="+mn-ea"/>
              </a:rPr>
              <a:t>在空间中的相对位置基本不变</a:t>
            </a:r>
            <a:endParaRPr lang="zh-CN" altLang="en-US"/>
          </a:p>
          <a:p>
            <a:pPr lvl="0"/>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ltLang="zh-CN" sz="3200"/>
              <a:t>Embedding </a:t>
            </a:r>
            <a:r>
              <a:rPr lang="zh-CN" sz="3200"/>
              <a:t>模型</a:t>
            </a:r>
            <a:r>
              <a:rPr lang="zh-CN" altLang="en-US" sz="3200">
                <a:ea typeface="SimSun" charset="0"/>
              </a:rPr>
              <a:t>的训练</a:t>
            </a:r>
            <a:endParaRPr lang="zh-CN" altLang="en-US" sz="3200">
              <a:ea typeface="SimSun" charset="0"/>
            </a:endParaRPr>
          </a:p>
        </p:txBody>
      </p:sp>
      <p:sp>
        <p:nvSpPr>
          <p:cNvPr id="5" name="文本占位符 4"/>
          <p:cNvSpPr>
            <a:spLocks noGrp="1"/>
          </p:cNvSpPr>
          <p:nvPr>
            <p:ph type="body" idx="1"/>
          </p:nvPr>
        </p:nvSpPr>
        <p:spPr/>
        <p:txBody>
          <a:bodyPr/>
          <a:p>
            <a:r>
              <a:rPr lang="zh-CN" altLang="en-US">
                <a:solidFill>
                  <a:schemeClr val="bg1"/>
                </a:solidFill>
                <a:ea typeface="SimSun" charset="0"/>
              </a:rPr>
              <a:t>词语：</a:t>
            </a:r>
            <a:r>
              <a:rPr lang="zh-CN" altLang="en-US">
                <a:solidFill>
                  <a:schemeClr val="accent6">
                    <a:lumMod val="60000"/>
                    <a:lumOff val="40000"/>
                  </a:schemeClr>
                </a:solidFill>
                <a:ea typeface="SimSun" charset="0"/>
              </a:rPr>
              <a:t>白天</a:t>
            </a:r>
            <a:r>
              <a:rPr lang="zh-CN" altLang="en-US">
                <a:solidFill>
                  <a:schemeClr val="bg1"/>
                </a:solidFill>
                <a:ea typeface="SimSun" charset="0"/>
              </a:rPr>
              <a:t>，</a:t>
            </a:r>
            <a:r>
              <a:rPr lang="zh-CN" altLang="en-US">
                <a:solidFill>
                  <a:srgbClr val="FEBC74"/>
                </a:solidFill>
                <a:ea typeface="SimSun" charset="0"/>
              </a:rPr>
              <a:t>燥热</a:t>
            </a:r>
            <a:r>
              <a:rPr lang="zh-CN" altLang="en-US">
                <a:solidFill>
                  <a:schemeClr val="bg1"/>
                </a:solidFill>
                <a:ea typeface="SimSun" charset="0"/>
              </a:rPr>
              <a:t>，</a:t>
            </a:r>
            <a:r>
              <a:rPr lang="zh-CN" altLang="en-US">
                <a:solidFill>
                  <a:srgbClr val="00E5FF"/>
                </a:solidFill>
                <a:ea typeface="SimSun" charset="0"/>
              </a:rPr>
              <a:t>夜晚</a:t>
            </a:r>
            <a:r>
              <a:rPr lang="zh-CN" altLang="en-US">
                <a:solidFill>
                  <a:schemeClr val="bg1"/>
                </a:solidFill>
                <a:ea typeface="SimSun" charset="0"/>
              </a:rPr>
              <a:t>，</a:t>
            </a:r>
            <a:r>
              <a:rPr lang="zh-CN" altLang="en-US">
                <a:solidFill>
                  <a:srgbClr val="69F0AE"/>
                </a:solidFill>
                <a:ea typeface="SimSun" charset="0"/>
              </a:rPr>
              <a:t>寒冷</a:t>
            </a:r>
            <a:endParaRPr lang="zh-CN" altLang="en-US">
              <a:solidFill>
                <a:srgbClr val="69F0AE"/>
              </a:solidFill>
              <a:ea typeface="SimSun" charset="0"/>
            </a:endParaRPr>
          </a:p>
        </p:txBody>
      </p:sp>
      <p:sp>
        <p:nvSpPr>
          <p:cNvPr id="6" name="内容占位符 5"/>
          <p:cNvSpPr>
            <a:spLocks noGrp="1"/>
          </p:cNvSpPr>
          <p:nvPr>
            <p:ph sz="half" idx="2"/>
          </p:nvPr>
        </p:nvSpPr>
        <p:spPr/>
        <p:txBody>
          <a:bodyPr>
            <a:normAutofit lnSpcReduction="20000"/>
          </a:bodyPr>
          <a:p>
            <a:pPr lvl="0"/>
            <a:r>
              <a:rPr lang="zh-CN" altLang="en-US" sz="2000"/>
              <a:t>盛夏的</a:t>
            </a:r>
            <a:r>
              <a:rPr lang="zh-CN" altLang="en-US" sz="2000" b="1">
                <a:solidFill>
                  <a:schemeClr val="accent6">
                    <a:lumMod val="60000"/>
                    <a:lumOff val="40000"/>
                  </a:schemeClr>
                </a:solidFill>
              </a:rPr>
              <a:t>白天</a:t>
            </a:r>
            <a:r>
              <a:rPr lang="zh-CN" altLang="en-US" sz="2000"/>
              <a:t>总是伴随着令人窒息的</a:t>
            </a:r>
            <a:r>
              <a:rPr lang="zh-CN" altLang="en-US" sz="2000" b="1">
                <a:solidFill>
                  <a:srgbClr val="FEBC74"/>
                </a:solidFill>
              </a:rPr>
              <a:t>燥热</a:t>
            </a:r>
            <a:r>
              <a:rPr lang="zh-CN" altLang="en-US" sz="2000"/>
              <a:t>。</a:t>
            </a:r>
            <a:endParaRPr lang="en-US" altLang="zh-CN" sz="2000"/>
          </a:p>
          <a:p>
            <a:pPr lvl="0"/>
            <a:r>
              <a:rPr lang="zh-CN" altLang="en-US" sz="2000"/>
              <a:t>沙漠里的气候极其分明：</a:t>
            </a:r>
            <a:r>
              <a:rPr lang="zh-CN" altLang="en-US" sz="2000" b="1">
                <a:solidFill>
                  <a:schemeClr val="accent6">
                    <a:lumMod val="60000"/>
                    <a:lumOff val="40000"/>
                  </a:schemeClr>
                </a:solidFill>
              </a:rPr>
              <a:t>白天</a:t>
            </a:r>
            <a:r>
              <a:rPr lang="zh-CN" altLang="en-US" sz="2000" b="1">
                <a:solidFill>
                  <a:srgbClr val="FEBC74"/>
                </a:solidFill>
              </a:rPr>
              <a:t>燥热</a:t>
            </a:r>
            <a:r>
              <a:rPr lang="zh-CN" altLang="en-US" sz="2000"/>
              <a:t>难耐，</a:t>
            </a:r>
            <a:r>
              <a:rPr lang="zh-CN" altLang="en-US" sz="2000" b="1">
                <a:solidFill>
                  <a:srgbClr val="00E5FF"/>
                </a:solidFill>
              </a:rPr>
              <a:t>夜晚</a:t>
            </a:r>
            <a:r>
              <a:rPr lang="zh-CN" altLang="en-US" sz="2000" b="1">
                <a:solidFill>
                  <a:srgbClr val="69F0AE"/>
                </a:solidFill>
              </a:rPr>
              <a:t>寒冷</a:t>
            </a:r>
            <a:r>
              <a:rPr lang="zh-CN" altLang="en-US" sz="2000"/>
              <a:t>刺骨。</a:t>
            </a:r>
            <a:endParaRPr lang="en-US" altLang="zh-CN" sz="2000"/>
          </a:p>
          <a:p>
            <a:pPr lvl="0"/>
            <a:r>
              <a:rPr lang="zh-CN" altLang="en-US" sz="2000"/>
              <a:t>刚刚熬过</a:t>
            </a:r>
            <a:r>
              <a:rPr lang="zh-CN" altLang="en-US" sz="2000" b="1">
                <a:solidFill>
                  <a:srgbClr val="69F0AE"/>
                </a:solidFill>
              </a:rPr>
              <a:t>寒冷</a:t>
            </a:r>
            <a:r>
              <a:rPr lang="zh-CN" altLang="en-US" sz="2000">
                <a:solidFill>
                  <a:schemeClr val="bg1"/>
                </a:solidFill>
              </a:rPr>
              <a:t>的</a:t>
            </a:r>
            <a:r>
              <a:rPr lang="zh-CN" altLang="en-US" sz="2000" b="1">
                <a:solidFill>
                  <a:srgbClr val="00E5FF"/>
                </a:solidFill>
              </a:rPr>
              <a:t>夜晚</a:t>
            </a:r>
            <a:r>
              <a:rPr lang="zh-CN" altLang="en-US" sz="2000"/>
              <a:t>，这些动物们又要准备躲避天敌的追捕。</a:t>
            </a:r>
            <a:endParaRPr lang="zh-CN" altLang="en-US" sz="2000"/>
          </a:p>
          <a:p>
            <a:pPr lvl="0"/>
            <a:r>
              <a:rPr lang="zh-CN" altLang="en-US" sz="2000" b="1">
                <a:solidFill>
                  <a:schemeClr val="accent6">
                    <a:lumMod val="60000"/>
                    <a:lumOff val="40000"/>
                  </a:schemeClr>
                </a:solidFill>
              </a:rPr>
              <a:t>白天</a:t>
            </a:r>
            <a:r>
              <a:rPr lang="zh-CN" altLang="en-US" sz="2000"/>
              <a:t>的喧嚣褪去后，</a:t>
            </a:r>
            <a:r>
              <a:rPr lang="zh-CN" altLang="en-US" sz="2000" b="1">
                <a:solidFill>
                  <a:srgbClr val="00E5FF"/>
                </a:solidFill>
              </a:rPr>
              <a:t>夜晚</a:t>
            </a:r>
            <a:r>
              <a:rPr lang="zh-CN" altLang="en-US" sz="2000"/>
              <a:t>的宁静便悄然笼罩大地。</a:t>
            </a:r>
            <a:endParaRPr lang="zh-CN" altLang="en-US" sz="20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grpSp>
        <p:nvGrpSpPr>
          <p:cNvPr id="28" name="组合 27"/>
          <p:cNvGrpSpPr/>
          <p:nvPr/>
        </p:nvGrpSpPr>
        <p:grpSpPr>
          <a:xfrm rot="0">
            <a:off x="6294755" y="1823085"/>
            <a:ext cx="1440180" cy="1809115"/>
            <a:chOff x="10424" y="2698"/>
            <a:chExt cx="2268" cy="2849"/>
          </a:xfrm>
        </p:grpSpPr>
        <p:grpSp>
          <p:nvGrpSpPr>
            <p:cNvPr id="18" name="组合 17"/>
            <p:cNvGrpSpPr/>
            <p:nvPr/>
          </p:nvGrpSpPr>
          <p:grpSpPr>
            <a:xfrm>
              <a:off x="10424" y="2698"/>
              <a:ext cx="2268" cy="2268"/>
              <a:chOff x="10424" y="2698"/>
              <a:chExt cx="2268" cy="2268"/>
            </a:xfrm>
          </p:grpSpPr>
          <p:grpSp>
            <p:nvGrpSpPr>
              <p:cNvPr id="12" name="组合 11"/>
              <p:cNvGrpSpPr/>
              <p:nvPr/>
            </p:nvGrpSpPr>
            <p:grpSpPr>
              <a:xfrm>
                <a:off x="10424" y="2698"/>
                <a:ext cx="2268" cy="2268"/>
                <a:chOff x="10554" y="3039"/>
                <a:chExt cx="1700" cy="1701"/>
              </a:xfrm>
            </p:grpSpPr>
            <p:cxnSp>
              <p:nvCxnSpPr>
                <p:cNvPr id="10" name="直接箭头连接符 9"/>
                <p:cNvCxnSpPr/>
                <p:nvPr/>
              </p:nvCxnSpPr>
              <p:spPr>
                <a:xfrm>
                  <a:off x="10554" y="4740"/>
                  <a:ext cx="1701" cy="0"/>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flipV="1">
                  <a:off x="10554" y="3039"/>
                  <a:ext cx="0" cy="1701"/>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grpSp>
          <p:sp>
            <p:nvSpPr>
              <p:cNvPr id="13" name="椭圆 12"/>
              <p:cNvSpPr/>
              <p:nvPr/>
            </p:nvSpPr>
            <p:spPr>
              <a:xfrm>
                <a:off x="11200" y="3486"/>
                <a:ext cx="170" cy="170"/>
              </a:xfrm>
              <a:prstGeom prst="ellipse">
                <a:avLst/>
              </a:prstGeom>
              <a:solidFill>
                <a:srgbClr val="69F0A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椭圆 13"/>
              <p:cNvSpPr/>
              <p:nvPr/>
            </p:nvSpPr>
            <p:spPr>
              <a:xfrm>
                <a:off x="10765" y="4185"/>
                <a:ext cx="170" cy="170"/>
              </a:xfrm>
              <a:prstGeom prst="ellipse">
                <a:avLst/>
              </a:prstGeom>
              <a:solidFill>
                <a:srgbClr val="FEBC7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nvSpPr>
            <p:spPr>
              <a:xfrm>
                <a:off x="11640" y="4185"/>
                <a:ext cx="170" cy="170"/>
              </a:xfrm>
              <a:prstGeom prst="ellipse">
                <a:avLst/>
              </a:prstGeom>
              <a:solidFill>
                <a:srgbClr val="00E5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椭圆 15"/>
              <p:cNvSpPr/>
              <p:nvPr/>
            </p:nvSpPr>
            <p:spPr>
              <a:xfrm>
                <a:off x="12145" y="3486"/>
                <a:ext cx="170" cy="170"/>
              </a:xfrm>
              <a:prstGeom prst="ellipse">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7" name="文本框 26"/>
            <p:cNvSpPr txBox="1"/>
            <p:nvPr/>
          </p:nvSpPr>
          <p:spPr>
            <a:xfrm>
              <a:off x="10978" y="4967"/>
              <a:ext cx="1160" cy="580"/>
            </a:xfrm>
            <a:prstGeom prst="rect">
              <a:avLst/>
            </a:prstGeom>
            <a:noFill/>
          </p:spPr>
          <p:txBody>
            <a:bodyPr wrap="square" rtlCol="0">
              <a:spAutoFit/>
            </a:bodyPr>
            <a:p>
              <a:pPr algn="ctr"/>
              <a:r>
                <a:rPr lang="en-US" altLang="zh-CN" b="1">
                  <a:solidFill>
                    <a:schemeClr val="bg1"/>
                  </a:solidFill>
                </a:rPr>
                <a:t> </a:t>
              </a:r>
              <a:endParaRPr lang="en-US" altLang="zh-CN" b="1">
                <a:solidFill>
                  <a:schemeClr val="bg1"/>
                </a:solidFill>
              </a:endParaRPr>
            </a:p>
          </p:txBody>
        </p:sp>
      </p:grpSp>
      <p:grpSp>
        <p:nvGrpSpPr>
          <p:cNvPr id="30" name="组合 29"/>
          <p:cNvGrpSpPr/>
          <p:nvPr/>
        </p:nvGrpSpPr>
        <p:grpSpPr>
          <a:xfrm rot="0">
            <a:off x="8308975" y="1823085"/>
            <a:ext cx="1439545" cy="1809115"/>
            <a:chOff x="10424" y="2698"/>
            <a:chExt cx="2268" cy="2849"/>
          </a:xfrm>
        </p:grpSpPr>
        <p:grpSp>
          <p:nvGrpSpPr>
            <p:cNvPr id="31" name="组合 30"/>
            <p:cNvGrpSpPr/>
            <p:nvPr/>
          </p:nvGrpSpPr>
          <p:grpSpPr>
            <a:xfrm>
              <a:off x="10424" y="2698"/>
              <a:ext cx="2268" cy="2268"/>
              <a:chOff x="10424" y="2698"/>
              <a:chExt cx="2268" cy="2268"/>
            </a:xfrm>
          </p:grpSpPr>
          <p:grpSp>
            <p:nvGrpSpPr>
              <p:cNvPr id="32" name="组合 31"/>
              <p:cNvGrpSpPr/>
              <p:nvPr/>
            </p:nvGrpSpPr>
            <p:grpSpPr>
              <a:xfrm>
                <a:off x="10424" y="2698"/>
                <a:ext cx="2268" cy="2268"/>
                <a:chOff x="10554" y="3039"/>
                <a:chExt cx="1700" cy="1701"/>
              </a:xfrm>
            </p:grpSpPr>
            <p:cxnSp>
              <p:nvCxnSpPr>
                <p:cNvPr id="33" name="直接箭头连接符 32"/>
                <p:cNvCxnSpPr/>
                <p:nvPr/>
              </p:nvCxnSpPr>
              <p:spPr>
                <a:xfrm>
                  <a:off x="10554" y="4740"/>
                  <a:ext cx="1701" cy="0"/>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flipV="1">
                  <a:off x="10554" y="3039"/>
                  <a:ext cx="0" cy="1701"/>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grpSp>
          <p:sp>
            <p:nvSpPr>
              <p:cNvPr id="35" name="椭圆 34"/>
              <p:cNvSpPr/>
              <p:nvPr/>
            </p:nvSpPr>
            <p:spPr>
              <a:xfrm>
                <a:off x="10978" y="3316"/>
                <a:ext cx="170" cy="170"/>
              </a:xfrm>
              <a:prstGeom prst="ellipse">
                <a:avLst/>
              </a:prstGeom>
              <a:solidFill>
                <a:srgbClr val="69F0A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椭圆 35"/>
              <p:cNvSpPr/>
              <p:nvPr/>
            </p:nvSpPr>
            <p:spPr>
              <a:xfrm>
                <a:off x="10890" y="4185"/>
                <a:ext cx="170" cy="170"/>
              </a:xfrm>
              <a:prstGeom prst="ellipse">
                <a:avLst/>
              </a:prstGeom>
              <a:solidFill>
                <a:srgbClr val="FEBC7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椭圆 36"/>
              <p:cNvSpPr/>
              <p:nvPr/>
            </p:nvSpPr>
            <p:spPr>
              <a:xfrm>
                <a:off x="11767" y="4355"/>
                <a:ext cx="170" cy="170"/>
              </a:xfrm>
              <a:prstGeom prst="ellipse">
                <a:avLst/>
              </a:prstGeom>
              <a:solidFill>
                <a:srgbClr val="00E5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椭圆 37"/>
              <p:cNvSpPr/>
              <p:nvPr/>
            </p:nvSpPr>
            <p:spPr>
              <a:xfrm>
                <a:off x="11555" y="3758"/>
                <a:ext cx="170" cy="170"/>
              </a:xfrm>
              <a:prstGeom prst="ellipse">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39" name="文本框 38"/>
            <p:cNvSpPr txBox="1"/>
            <p:nvPr/>
          </p:nvSpPr>
          <p:spPr>
            <a:xfrm>
              <a:off x="10978" y="4967"/>
              <a:ext cx="1160" cy="580"/>
            </a:xfrm>
            <a:prstGeom prst="rect">
              <a:avLst/>
            </a:prstGeom>
            <a:noFill/>
          </p:spPr>
          <p:txBody>
            <a:bodyPr wrap="square" rtlCol="0">
              <a:spAutoFit/>
            </a:bodyPr>
            <a:p>
              <a:pPr algn="ctr"/>
              <a:r>
                <a:rPr lang="en-US" altLang="zh-CN" b="1">
                  <a:solidFill>
                    <a:schemeClr val="bg1"/>
                  </a:solidFill>
                  <a:sym typeface="+mn-ea"/>
                </a:rPr>
                <a:t>①</a:t>
              </a:r>
              <a:endParaRPr lang="en-US" altLang="zh-CN" b="1">
                <a:solidFill>
                  <a:schemeClr val="bg1"/>
                </a:solidFill>
              </a:endParaRPr>
            </a:p>
          </p:txBody>
        </p:sp>
      </p:grpSp>
      <p:grpSp>
        <p:nvGrpSpPr>
          <p:cNvPr id="41" name="组合 40"/>
          <p:cNvGrpSpPr/>
          <p:nvPr/>
        </p:nvGrpSpPr>
        <p:grpSpPr>
          <a:xfrm rot="0">
            <a:off x="10322560" y="1823085"/>
            <a:ext cx="1439545" cy="1809115"/>
            <a:chOff x="10424" y="2698"/>
            <a:chExt cx="2268" cy="2849"/>
          </a:xfrm>
        </p:grpSpPr>
        <p:grpSp>
          <p:nvGrpSpPr>
            <p:cNvPr id="42" name="组合 41"/>
            <p:cNvGrpSpPr/>
            <p:nvPr/>
          </p:nvGrpSpPr>
          <p:grpSpPr>
            <a:xfrm>
              <a:off x="10424" y="2698"/>
              <a:ext cx="2268" cy="2268"/>
              <a:chOff x="10424" y="2698"/>
              <a:chExt cx="2268" cy="2268"/>
            </a:xfrm>
          </p:grpSpPr>
          <p:grpSp>
            <p:nvGrpSpPr>
              <p:cNvPr id="43" name="组合 42"/>
              <p:cNvGrpSpPr/>
              <p:nvPr/>
            </p:nvGrpSpPr>
            <p:grpSpPr>
              <a:xfrm>
                <a:off x="10424" y="2698"/>
                <a:ext cx="2268" cy="2268"/>
                <a:chOff x="10554" y="3039"/>
                <a:chExt cx="1700" cy="1701"/>
              </a:xfrm>
            </p:grpSpPr>
            <p:cxnSp>
              <p:nvCxnSpPr>
                <p:cNvPr id="44" name="直接箭头连接符 43"/>
                <p:cNvCxnSpPr/>
                <p:nvPr/>
              </p:nvCxnSpPr>
              <p:spPr>
                <a:xfrm>
                  <a:off x="10554" y="4740"/>
                  <a:ext cx="1701" cy="0"/>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flipV="1">
                  <a:off x="10554" y="3039"/>
                  <a:ext cx="0" cy="1701"/>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grpSp>
          <p:sp>
            <p:nvSpPr>
              <p:cNvPr id="46" name="椭圆 45"/>
              <p:cNvSpPr/>
              <p:nvPr/>
            </p:nvSpPr>
            <p:spPr>
              <a:xfrm>
                <a:off x="11604" y="3246"/>
                <a:ext cx="170" cy="170"/>
              </a:xfrm>
              <a:prstGeom prst="ellipse">
                <a:avLst/>
              </a:prstGeom>
              <a:solidFill>
                <a:srgbClr val="69F0A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椭圆 46"/>
              <p:cNvSpPr/>
              <p:nvPr/>
            </p:nvSpPr>
            <p:spPr>
              <a:xfrm>
                <a:off x="10912" y="4015"/>
                <a:ext cx="170" cy="170"/>
              </a:xfrm>
              <a:prstGeom prst="ellipse">
                <a:avLst/>
              </a:prstGeom>
              <a:solidFill>
                <a:srgbClr val="FEBC7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椭圆 47"/>
              <p:cNvSpPr/>
              <p:nvPr/>
            </p:nvSpPr>
            <p:spPr>
              <a:xfrm>
                <a:off x="12034" y="3845"/>
                <a:ext cx="170" cy="170"/>
              </a:xfrm>
              <a:prstGeom prst="ellipse">
                <a:avLst/>
              </a:prstGeom>
              <a:solidFill>
                <a:srgbClr val="00E5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椭圆 48"/>
              <p:cNvSpPr/>
              <p:nvPr/>
            </p:nvSpPr>
            <p:spPr>
              <a:xfrm>
                <a:off x="11184" y="3884"/>
                <a:ext cx="170" cy="170"/>
              </a:xfrm>
              <a:prstGeom prst="ellipse">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0" name="文本框 49"/>
            <p:cNvSpPr txBox="1"/>
            <p:nvPr/>
          </p:nvSpPr>
          <p:spPr>
            <a:xfrm>
              <a:off x="10978" y="4967"/>
              <a:ext cx="1160" cy="580"/>
            </a:xfrm>
            <a:prstGeom prst="rect">
              <a:avLst/>
            </a:prstGeom>
            <a:noFill/>
          </p:spPr>
          <p:txBody>
            <a:bodyPr wrap="square" rtlCol="0">
              <a:spAutoFit/>
            </a:bodyPr>
            <a:p>
              <a:pPr algn="ctr"/>
              <a:r>
                <a:rPr lang="en-US" altLang="zh-CN" b="1">
                  <a:solidFill>
                    <a:schemeClr val="bg1"/>
                  </a:solidFill>
                  <a:sym typeface="+mn-ea"/>
                </a:rPr>
                <a:t>②</a:t>
              </a:r>
              <a:endParaRPr lang="en-US" altLang="zh-CN" b="1">
                <a:solidFill>
                  <a:schemeClr val="bg1"/>
                </a:solidFill>
              </a:endParaRPr>
            </a:p>
          </p:txBody>
        </p:sp>
      </p:grpSp>
      <p:grpSp>
        <p:nvGrpSpPr>
          <p:cNvPr id="52" name="组合 51"/>
          <p:cNvGrpSpPr/>
          <p:nvPr/>
        </p:nvGrpSpPr>
        <p:grpSpPr>
          <a:xfrm rot="0">
            <a:off x="7192010" y="3791585"/>
            <a:ext cx="1440180" cy="1809115"/>
            <a:chOff x="10424" y="2698"/>
            <a:chExt cx="2268" cy="2849"/>
          </a:xfrm>
        </p:grpSpPr>
        <p:grpSp>
          <p:nvGrpSpPr>
            <p:cNvPr id="53" name="组合 52"/>
            <p:cNvGrpSpPr/>
            <p:nvPr/>
          </p:nvGrpSpPr>
          <p:grpSpPr>
            <a:xfrm>
              <a:off x="10424" y="2698"/>
              <a:ext cx="2268" cy="2268"/>
              <a:chOff x="10424" y="2698"/>
              <a:chExt cx="2268" cy="2268"/>
            </a:xfrm>
          </p:grpSpPr>
          <p:grpSp>
            <p:nvGrpSpPr>
              <p:cNvPr id="54" name="组合 53"/>
              <p:cNvGrpSpPr/>
              <p:nvPr/>
            </p:nvGrpSpPr>
            <p:grpSpPr>
              <a:xfrm>
                <a:off x="10424" y="2698"/>
                <a:ext cx="2268" cy="2268"/>
                <a:chOff x="10554" y="3039"/>
                <a:chExt cx="1700" cy="1701"/>
              </a:xfrm>
            </p:grpSpPr>
            <p:cxnSp>
              <p:nvCxnSpPr>
                <p:cNvPr id="55" name="直接箭头连接符 54"/>
                <p:cNvCxnSpPr/>
                <p:nvPr/>
              </p:nvCxnSpPr>
              <p:spPr>
                <a:xfrm>
                  <a:off x="10554" y="4740"/>
                  <a:ext cx="1701" cy="0"/>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56" name="直接箭头连接符 55"/>
                <p:cNvCxnSpPr/>
                <p:nvPr/>
              </p:nvCxnSpPr>
              <p:spPr>
                <a:xfrm flipV="1">
                  <a:off x="10554" y="3039"/>
                  <a:ext cx="0" cy="1701"/>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grpSp>
          <p:sp>
            <p:nvSpPr>
              <p:cNvPr id="57" name="椭圆 56"/>
              <p:cNvSpPr/>
              <p:nvPr/>
            </p:nvSpPr>
            <p:spPr>
              <a:xfrm>
                <a:off x="11774" y="3426"/>
                <a:ext cx="170" cy="170"/>
              </a:xfrm>
              <a:prstGeom prst="ellipse">
                <a:avLst/>
              </a:prstGeom>
              <a:solidFill>
                <a:srgbClr val="69F0A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椭圆 57"/>
              <p:cNvSpPr/>
              <p:nvPr/>
            </p:nvSpPr>
            <p:spPr>
              <a:xfrm>
                <a:off x="10640" y="4335"/>
                <a:ext cx="170" cy="170"/>
              </a:xfrm>
              <a:prstGeom prst="ellipse">
                <a:avLst/>
              </a:prstGeom>
              <a:solidFill>
                <a:srgbClr val="FEBC7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9" name="椭圆 58"/>
              <p:cNvSpPr/>
              <p:nvPr/>
            </p:nvSpPr>
            <p:spPr>
              <a:xfrm>
                <a:off x="11936" y="3656"/>
                <a:ext cx="170" cy="170"/>
              </a:xfrm>
              <a:prstGeom prst="ellipse">
                <a:avLst/>
              </a:prstGeom>
              <a:solidFill>
                <a:srgbClr val="00E5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0" name="椭圆 59"/>
              <p:cNvSpPr/>
              <p:nvPr/>
            </p:nvSpPr>
            <p:spPr>
              <a:xfrm>
                <a:off x="10912" y="4257"/>
                <a:ext cx="170" cy="170"/>
              </a:xfrm>
              <a:prstGeom prst="ellipse">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61" name="文本框 60"/>
            <p:cNvSpPr txBox="1"/>
            <p:nvPr/>
          </p:nvSpPr>
          <p:spPr>
            <a:xfrm>
              <a:off x="10978" y="4967"/>
              <a:ext cx="1160" cy="580"/>
            </a:xfrm>
            <a:prstGeom prst="rect">
              <a:avLst/>
            </a:prstGeom>
            <a:noFill/>
          </p:spPr>
          <p:txBody>
            <a:bodyPr wrap="square" rtlCol="0">
              <a:spAutoFit/>
            </a:bodyPr>
            <a:p>
              <a:pPr algn="ctr"/>
              <a:r>
                <a:rPr lang="en-US" altLang="zh-CN" b="1">
                  <a:solidFill>
                    <a:schemeClr val="bg1"/>
                  </a:solidFill>
                </a:rPr>
                <a:t>③</a:t>
              </a:r>
              <a:endParaRPr lang="en-US" altLang="zh-CN" b="1">
                <a:solidFill>
                  <a:schemeClr val="bg1"/>
                </a:solidFill>
              </a:endParaRPr>
            </a:p>
          </p:txBody>
        </p:sp>
      </p:grpSp>
      <p:grpSp>
        <p:nvGrpSpPr>
          <p:cNvPr id="73" name="组合 72"/>
          <p:cNvGrpSpPr/>
          <p:nvPr/>
        </p:nvGrpSpPr>
        <p:grpSpPr>
          <a:xfrm rot="0">
            <a:off x="9424670" y="3791585"/>
            <a:ext cx="1440180" cy="1809115"/>
            <a:chOff x="10424" y="2698"/>
            <a:chExt cx="2268" cy="2849"/>
          </a:xfrm>
        </p:grpSpPr>
        <p:grpSp>
          <p:nvGrpSpPr>
            <p:cNvPr id="74" name="组合 73"/>
            <p:cNvGrpSpPr/>
            <p:nvPr/>
          </p:nvGrpSpPr>
          <p:grpSpPr>
            <a:xfrm>
              <a:off x="10424" y="2698"/>
              <a:ext cx="2268" cy="2268"/>
              <a:chOff x="10424" y="2698"/>
              <a:chExt cx="2268" cy="2268"/>
            </a:xfrm>
          </p:grpSpPr>
          <p:grpSp>
            <p:nvGrpSpPr>
              <p:cNvPr id="75" name="组合 74"/>
              <p:cNvGrpSpPr/>
              <p:nvPr/>
            </p:nvGrpSpPr>
            <p:grpSpPr>
              <a:xfrm>
                <a:off x="10424" y="2698"/>
                <a:ext cx="2268" cy="2268"/>
                <a:chOff x="10554" y="3039"/>
                <a:chExt cx="1700" cy="1701"/>
              </a:xfrm>
            </p:grpSpPr>
            <p:cxnSp>
              <p:nvCxnSpPr>
                <p:cNvPr id="76" name="直接箭头连接符 75"/>
                <p:cNvCxnSpPr/>
                <p:nvPr/>
              </p:nvCxnSpPr>
              <p:spPr>
                <a:xfrm>
                  <a:off x="10554" y="4740"/>
                  <a:ext cx="1701" cy="0"/>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77" name="直接箭头连接符 76"/>
                <p:cNvCxnSpPr/>
                <p:nvPr/>
              </p:nvCxnSpPr>
              <p:spPr>
                <a:xfrm flipV="1">
                  <a:off x="10554" y="3039"/>
                  <a:ext cx="0" cy="1701"/>
                </a:xfrm>
                <a:prstGeom prst="straightConnector1">
                  <a:avLst/>
                </a:prstGeom>
                <a:ln w="25400">
                  <a:solidFill>
                    <a:schemeClr val="bg1"/>
                  </a:solidFill>
                  <a:headEnd type="oval"/>
                  <a:tailEnd type="arrow"/>
                </a:ln>
              </p:spPr>
              <p:style>
                <a:lnRef idx="2">
                  <a:schemeClr val="accent1"/>
                </a:lnRef>
                <a:fillRef idx="0">
                  <a:srgbClr val="FFFFFF"/>
                </a:fillRef>
                <a:effectRef idx="0">
                  <a:srgbClr val="FFFFFF"/>
                </a:effectRef>
                <a:fontRef idx="minor">
                  <a:schemeClr val="tx1"/>
                </a:fontRef>
              </p:style>
            </p:cxnSp>
          </p:grpSp>
          <p:sp>
            <p:nvSpPr>
              <p:cNvPr id="78" name="椭圆 77"/>
              <p:cNvSpPr/>
              <p:nvPr/>
            </p:nvSpPr>
            <p:spPr>
              <a:xfrm>
                <a:off x="12138" y="3336"/>
                <a:ext cx="170" cy="170"/>
              </a:xfrm>
              <a:prstGeom prst="ellipse">
                <a:avLst/>
              </a:prstGeom>
              <a:solidFill>
                <a:srgbClr val="69F0A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椭圆 78"/>
              <p:cNvSpPr/>
              <p:nvPr/>
            </p:nvSpPr>
            <p:spPr>
              <a:xfrm>
                <a:off x="10809" y="4447"/>
                <a:ext cx="170" cy="170"/>
              </a:xfrm>
              <a:prstGeom prst="ellipse">
                <a:avLst/>
              </a:prstGeom>
              <a:solidFill>
                <a:srgbClr val="FEBC7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0" name="椭圆 79"/>
              <p:cNvSpPr/>
              <p:nvPr/>
            </p:nvSpPr>
            <p:spPr>
              <a:xfrm>
                <a:off x="11887" y="3767"/>
                <a:ext cx="170" cy="170"/>
              </a:xfrm>
              <a:prstGeom prst="ellipse">
                <a:avLst/>
              </a:prstGeom>
              <a:solidFill>
                <a:srgbClr val="00E5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1" name="椭圆 80"/>
              <p:cNvSpPr/>
              <p:nvPr/>
            </p:nvSpPr>
            <p:spPr>
              <a:xfrm>
                <a:off x="11074" y="4107"/>
                <a:ext cx="170" cy="170"/>
              </a:xfrm>
              <a:prstGeom prst="ellipse">
                <a:avLst/>
              </a:prstGeom>
              <a:solidFill>
                <a:schemeClr val="accent6">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82" name="文本框 81"/>
            <p:cNvSpPr txBox="1"/>
            <p:nvPr/>
          </p:nvSpPr>
          <p:spPr>
            <a:xfrm>
              <a:off x="10978" y="4967"/>
              <a:ext cx="1160" cy="580"/>
            </a:xfrm>
            <a:prstGeom prst="rect">
              <a:avLst/>
            </a:prstGeom>
            <a:noFill/>
          </p:spPr>
          <p:txBody>
            <a:bodyPr wrap="square" rtlCol="0">
              <a:spAutoFit/>
            </a:bodyPr>
            <a:p>
              <a:pPr algn="ctr"/>
              <a:r>
                <a:rPr lang="en-US" altLang="zh-CN" b="1">
                  <a:solidFill>
                    <a:schemeClr val="bg1"/>
                  </a:solidFill>
                </a:rPr>
                <a:t>④</a:t>
              </a:r>
              <a:endParaRPr lang="en-US" altLang="zh-CN" b="1">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fade">
                                      <p:cBhvr>
                                        <p:cTn id="16" dur="500"/>
                                        <p:tgtEl>
                                          <p:spTgt spid="6">
                                            <p:txEl>
                                              <p:pRg st="0" end="0"/>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fade">
                                      <p:cBhvr>
                                        <p:cTn id="25" dur="500"/>
                                        <p:tgtEl>
                                          <p:spTgt spid="6">
                                            <p:txEl>
                                              <p:pRg st="1" end="1"/>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
                                            <p:txEl>
                                              <p:pRg st="2" end="2"/>
                                            </p:txEl>
                                          </p:spTgt>
                                        </p:tgtEl>
                                        <p:attrNameLst>
                                          <p:attrName>style.visibility</p:attrName>
                                        </p:attrNameLst>
                                      </p:cBhvr>
                                      <p:to>
                                        <p:strVal val="visible"/>
                                      </p:to>
                                    </p:set>
                                    <p:animEffect transition="in" filter="fade">
                                      <p:cBhvr>
                                        <p:cTn id="34" dur="500"/>
                                        <p:tgtEl>
                                          <p:spTgt spid="6">
                                            <p:txEl>
                                              <p:pRg st="2" end="2"/>
                                            </p:txEl>
                                          </p:spTgt>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fade">
                                      <p:cBhvr>
                                        <p:cTn id="38" dur="500"/>
                                        <p:tgtEl>
                                          <p:spTgt spid="5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animEffect transition="in" filter="fade">
                                      <p:cBhvr>
                                        <p:cTn id="43" dur="500"/>
                                        <p:tgtEl>
                                          <p:spTgt spid="6">
                                            <p:txEl>
                                              <p:pRg st="3" end="3"/>
                                            </p:txEl>
                                          </p:spTgt>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uiExpand="1" build="p"/>
      <p:bldP spid="5" grpId="1" build="p"/>
      <p:bldP spid="6" grpI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内容占位符 6"/>
          <p:cNvSpPr>
            <a:spLocks noGrp="1"/>
          </p:cNvSpPr>
          <p:nvPr>
            <p:ph idx="1"/>
          </p:nvPr>
        </p:nvSpPr>
        <p:spPr/>
        <p:txBody>
          <a:bodyPr/>
          <a:p>
            <a:r>
              <a:rPr lang="zh-CN" altLang="en-US"/>
              <a:t>为什么用</a:t>
            </a:r>
            <a:r>
              <a:rPr altLang="zh-CN"/>
              <a:t> Transformer </a:t>
            </a:r>
            <a:r>
              <a:rPr lang="zh-CN" altLang="en-US">
                <a:ea typeface="SimSun" charset="0"/>
              </a:rPr>
              <a:t>而不是</a:t>
            </a:r>
            <a:r>
              <a:rPr altLang="zh-CN">
                <a:ea typeface="SimSun" charset="0"/>
              </a:rPr>
              <a:t> RNN/LSTM</a:t>
            </a:r>
            <a:r>
              <a:rPr lang="zh-CN" altLang="en-US">
                <a:ea typeface="SimSun" charset="0"/>
              </a:rPr>
              <a:t>？</a:t>
            </a:r>
            <a:endParaRPr lang="zh-CN" altLang="en-US">
              <a:ea typeface="SimSun" charset="0"/>
            </a:endParaRPr>
          </a:p>
        </p:txBody>
      </p:sp>
      <p:sp>
        <p:nvSpPr>
          <p:cNvPr id="8" name="内容占位符 7"/>
          <p:cNvSpPr>
            <a:spLocks noGrp="1"/>
          </p:cNvSpPr>
          <p:nvPr>
            <p:ph idx="13"/>
          </p:nvPr>
        </p:nvSpPr>
        <p:spPr/>
        <p:txBody>
          <a:bodyPr/>
          <a:p>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Transformer-modified"/>
          <p:cNvPicPr>
            <a:picLocks noChangeAspect="1"/>
          </p:cNvPicPr>
          <p:nvPr/>
        </p:nvPicPr>
        <p:blipFill>
          <a:blip r:embed="rId1"/>
          <a:stretch>
            <a:fillRect/>
          </a:stretch>
        </p:blipFill>
        <p:spPr>
          <a:xfrm>
            <a:off x="431165" y="1684655"/>
            <a:ext cx="2979420" cy="4435475"/>
          </a:xfrm>
          <a:prstGeom prst="rect">
            <a:avLst/>
          </a:prstGeom>
        </p:spPr>
      </p:pic>
      <p:sp>
        <p:nvSpPr>
          <p:cNvPr id="2" name="标题 1"/>
          <p:cNvSpPr>
            <a:spLocks noGrp="1"/>
          </p:cNvSpPr>
          <p:nvPr>
            <p:ph type="title"/>
          </p:nvPr>
        </p:nvSpPr>
        <p:spPr/>
        <p:txBody>
          <a:bodyPr>
            <a:normAutofit fontScale="90000"/>
          </a:bodyPr>
          <a:p>
            <a:r>
              <a:rPr altLang="zh-CN">
                <a:sym typeface="+mn-ea"/>
              </a:rPr>
              <a:t>Transformer </a:t>
            </a:r>
            <a:r>
              <a:rPr altLang="zh-CN">
                <a:ea typeface="SimSun" charset="0"/>
                <a:sym typeface="+mn-ea"/>
              </a:rPr>
              <a:t>vs RNN</a:t>
            </a:r>
            <a:r>
              <a:rPr lang="en-US" altLang="zh-CN">
                <a:ea typeface="SimSun" charset="0"/>
                <a:sym typeface="+mn-ea"/>
              </a:rPr>
              <a:t> </a:t>
            </a:r>
            <a:r>
              <a:rPr altLang="zh-CN">
                <a:ea typeface="SimSun" charset="0"/>
                <a:sym typeface="+mn-ea"/>
              </a:rPr>
              <a:t>/</a:t>
            </a:r>
            <a:r>
              <a:rPr lang="en-US" altLang="zh-CN">
                <a:ea typeface="SimSun" charset="0"/>
                <a:sym typeface="+mn-ea"/>
              </a:rPr>
              <a:t> </a:t>
            </a:r>
            <a:r>
              <a:rPr altLang="zh-CN">
                <a:ea typeface="SimSun" charset="0"/>
                <a:sym typeface="+mn-ea"/>
              </a:rPr>
              <a:t>LSTM</a:t>
            </a:r>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14" name="文本框 6"/>
          <p:cNvSpPr/>
          <p:nvPr/>
        </p:nvSpPr>
        <p:spPr>
          <a:xfrm>
            <a:off x="7703820" y="4197033"/>
            <a:ext cx="3570605" cy="192341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noAutofit/>
          </a:bodyPr>
          <a:lstStyle/>
          <a:p>
            <a:pPr defTabSz="914400">
              <a:lnSpc>
                <a:spcPct val="150000"/>
              </a:lnSpc>
              <a:tabLst>
                <a:tab pos="0" algn="l"/>
              </a:tabLst>
            </a:pPr>
            <a:r>
              <a:rPr lang="en-US" altLang="zh-CN" b="1" u="none" strike="noStrike" dirty="0">
                <a:solidFill>
                  <a:schemeClr val="accent6">
                    <a:lumMod val="60000"/>
                    <a:lumOff val="40000"/>
                  </a:schemeClr>
                </a:solidFill>
                <a:uFillTx/>
                <a:latin typeface="Microsoft YaHei" charset="-122"/>
                <a:ea typeface="Microsoft YaHei" charset="-122"/>
              </a:rPr>
              <a:t>RNN/LSTM——</a:t>
            </a:r>
            <a:r>
              <a:rPr lang="zh-CN" altLang="en-US" b="1" dirty="0">
                <a:solidFill>
                  <a:schemeClr val="accent6">
                    <a:lumMod val="60000"/>
                    <a:lumOff val="40000"/>
                  </a:schemeClr>
                </a:solidFill>
                <a:latin typeface="Microsoft YaHei" charset="-122"/>
                <a:ea typeface="Microsoft YaHei" charset="-122"/>
              </a:rPr>
              <a:t>线性计算</a:t>
            </a:r>
            <a:endParaRPr lang="en-US" altLang="zh-CN" b="1" dirty="0">
              <a:solidFill>
                <a:schemeClr val="accent6">
                  <a:lumMod val="60000"/>
                  <a:lumOff val="40000"/>
                </a:schemeClr>
              </a:solidFill>
              <a:latin typeface="Microsoft YaHei" charset="-122"/>
              <a:ea typeface="Microsoft YaHei" charset="-122"/>
            </a:endParaRPr>
          </a:p>
          <a:p>
            <a:pPr marL="285750" indent="-285750" defTabSz="914400">
              <a:lnSpc>
                <a:spcPct val="150000"/>
              </a:lnSpc>
              <a:buFont typeface="Arial" panose="02080604020202020204" pitchFamily="34" charset="0"/>
              <a:buChar char="•"/>
              <a:tabLst>
                <a:tab pos="0" algn="l"/>
              </a:tabLst>
            </a:pPr>
            <a:r>
              <a:rPr lang="zh-CN" altLang="en-US" sz="1400" b="1" dirty="0">
                <a:solidFill>
                  <a:schemeClr val="bg1"/>
                </a:solidFill>
                <a:latin typeface="Microsoft YaHei" charset="-122"/>
                <a:ea typeface="Microsoft YaHei" charset="-122"/>
              </a:rPr>
              <a:t>信息线性运算，早期处理的信息会有明显衰减问题</a:t>
            </a:r>
            <a:endParaRPr lang="zh-CN" altLang="en-US" sz="1400" b="1" dirty="0">
              <a:solidFill>
                <a:schemeClr val="bg1"/>
              </a:solidFill>
              <a:latin typeface="Microsoft YaHei" charset="-122"/>
              <a:ea typeface="Microsoft YaHei" charset="-122"/>
            </a:endParaRPr>
          </a:p>
          <a:p>
            <a:pPr marL="285750" indent="-285750" defTabSz="914400">
              <a:lnSpc>
                <a:spcPct val="150000"/>
              </a:lnSpc>
              <a:buFont typeface="Arial" panose="02080604020202020204" pitchFamily="34" charset="0"/>
              <a:buChar char="•"/>
              <a:tabLst>
                <a:tab pos="0" algn="l"/>
              </a:tabLst>
            </a:pPr>
            <a:r>
              <a:rPr lang="zh-CN" altLang="en-US" sz="1400" b="1" dirty="0">
                <a:solidFill>
                  <a:schemeClr val="bg1"/>
                </a:solidFill>
                <a:latin typeface="Microsoft YaHei" charset="-122"/>
                <a:ea typeface="Microsoft YaHei" charset="-122"/>
              </a:rPr>
              <a:t>每一步计算依赖上一步结果，只能顺序处理</a:t>
            </a:r>
            <a:endParaRPr lang="zh-CN" altLang="en-US" sz="1400" b="1" dirty="0">
              <a:solidFill>
                <a:schemeClr val="bg1"/>
              </a:solidFill>
              <a:latin typeface="Microsoft YaHei" charset="-122"/>
              <a:ea typeface="Microsoft YaHei" charset="-122"/>
            </a:endParaRPr>
          </a:p>
        </p:txBody>
      </p:sp>
      <p:sp>
        <p:nvSpPr>
          <p:cNvPr id="17" name="文本框 6"/>
          <p:cNvSpPr/>
          <p:nvPr/>
        </p:nvSpPr>
        <p:spPr>
          <a:xfrm>
            <a:off x="3410585" y="4197033"/>
            <a:ext cx="3701415" cy="192341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noAutofit/>
          </a:bodyPr>
          <a:lstStyle/>
          <a:p>
            <a:pPr defTabSz="914400">
              <a:lnSpc>
                <a:spcPct val="150000"/>
              </a:lnSpc>
              <a:tabLst>
                <a:tab pos="0" algn="l"/>
              </a:tabLst>
            </a:pPr>
            <a:r>
              <a:rPr lang="en-US" altLang="zh-CN" b="1" u="none" strike="noStrike" dirty="0">
                <a:solidFill>
                  <a:srgbClr val="00E5FF"/>
                </a:solidFill>
                <a:uFillTx/>
                <a:latin typeface="Microsoft YaHei" charset="-122"/>
                <a:ea typeface="Microsoft YaHei" charset="-122"/>
              </a:rPr>
              <a:t>Transformer——</a:t>
            </a:r>
            <a:r>
              <a:rPr lang="zh-CN" altLang="en-US" b="1" dirty="0">
                <a:solidFill>
                  <a:srgbClr val="00E5FF"/>
                </a:solidFill>
                <a:latin typeface="Microsoft YaHei" charset="-122"/>
                <a:ea typeface="Microsoft YaHei" charset="-122"/>
              </a:rPr>
              <a:t>并行计算</a:t>
            </a:r>
            <a:endParaRPr lang="en-US" altLang="zh-CN" b="1" dirty="0">
              <a:solidFill>
                <a:srgbClr val="00E5FF"/>
              </a:solidFill>
              <a:latin typeface="Microsoft YaHei" charset="-122"/>
              <a:ea typeface="Microsoft YaHei" charset="-122"/>
            </a:endParaRPr>
          </a:p>
          <a:p>
            <a:pPr marL="285750" indent="-285750" defTabSz="914400">
              <a:lnSpc>
                <a:spcPct val="150000"/>
              </a:lnSpc>
              <a:buFont typeface="Arial" panose="02080604020202020204" pitchFamily="34" charset="0"/>
              <a:buChar char="•"/>
              <a:tabLst>
                <a:tab pos="0" algn="l"/>
              </a:tabLst>
            </a:pPr>
            <a:r>
              <a:rPr lang="zh-CN" altLang="en-US" sz="1400" b="1" dirty="0">
                <a:solidFill>
                  <a:schemeClr val="bg1"/>
                </a:solidFill>
                <a:latin typeface="Microsoft YaHei" charset="-122"/>
                <a:ea typeface="Microsoft YaHei" charset="-122"/>
              </a:rPr>
              <a:t>同一时刻的全局信息同时参与计算，无信息衰减</a:t>
            </a:r>
            <a:endParaRPr lang="zh-CN" altLang="en-US" sz="1400" b="1" dirty="0">
              <a:solidFill>
                <a:schemeClr val="bg1"/>
              </a:solidFill>
              <a:latin typeface="Microsoft YaHei" charset="-122"/>
              <a:ea typeface="Microsoft YaHei" charset="-122"/>
            </a:endParaRPr>
          </a:p>
          <a:p>
            <a:pPr marL="285750" indent="-285750" defTabSz="914400">
              <a:lnSpc>
                <a:spcPct val="150000"/>
              </a:lnSpc>
              <a:buFont typeface="Arial" panose="02080604020202020204" pitchFamily="34" charset="0"/>
              <a:buChar char="•"/>
              <a:tabLst>
                <a:tab pos="0" algn="l"/>
              </a:tabLst>
            </a:pPr>
            <a:r>
              <a:rPr lang="zh-CN" altLang="en-US" sz="1400" b="1" dirty="0">
                <a:solidFill>
                  <a:schemeClr val="bg1"/>
                </a:solidFill>
                <a:latin typeface="Microsoft YaHei" charset="-122"/>
                <a:ea typeface="Microsoft YaHei" charset="-122"/>
              </a:rPr>
              <a:t>注意力机制的计算可以拆分为多个互不干扰的过程，这些过程可以并行计算</a:t>
            </a:r>
            <a:endParaRPr lang="zh-CN" altLang="en-US" sz="1400" b="1" dirty="0">
              <a:solidFill>
                <a:schemeClr val="bg1"/>
              </a:solidFill>
              <a:latin typeface="Microsoft YaHei" charset="-122"/>
              <a:ea typeface="Microsoft YaHei" charset="-122"/>
            </a:endParaRPr>
          </a:p>
          <a:p>
            <a:pPr marL="285750" indent="-285750" defTabSz="914400">
              <a:lnSpc>
                <a:spcPct val="150000"/>
              </a:lnSpc>
              <a:buFont typeface="Arial" panose="02080604020202020204" pitchFamily="34" charset="0"/>
              <a:buChar char="•"/>
              <a:tabLst>
                <a:tab pos="0" algn="l"/>
              </a:tabLst>
            </a:pPr>
            <a:endParaRPr lang="zh-CN" altLang="en-US" sz="1400" b="1" dirty="0">
              <a:solidFill>
                <a:schemeClr val="bg1"/>
              </a:solidFill>
              <a:latin typeface="Microsoft YaHei" charset="-122"/>
              <a:ea typeface="Microsoft YaHei" charset="-122"/>
            </a:endParaRPr>
          </a:p>
        </p:txBody>
      </p:sp>
      <p:sp>
        <p:nvSpPr>
          <p:cNvPr id="21" name="任意多边形: 形状 20"/>
          <p:cNvSpPr/>
          <p:nvPr/>
        </p:nvSpPr>
        <p:spPr>
          <a:xfrm flipV="1">
            <a:off x="2763520" y="2698115"/>
            <a:ext cx="1005840" cy="885190"/>
          </a:xfrm>
          <a:custGeom>
            <a:avLst/>
            <a:gdLst>
              <a:gd name="connsiteX0" fmla="*/ 0 w 1430931"/>
              <a:gd name="connsiteY0" fmla="*/ 0 h 600293"/>
              <a:gd name="connsiteX1" fmla="*/ 830638 w 1430931"/>
              <a:gd name="connsiteY1" fmla="*/ 0 h 600293"/>
              <a:gd name="connsiteX2" fmla="*/ 1430931 w 1430931"/>
              <a:gd name="connsiteY2" fmla="*/ 600293 h 600293"/>
            </a:gdLst>
            <a:ahLst/>
            <a:cxnLst>
              <a:cxn ang="0">
                <a:pos x="connsiteX0" y="connsiteY0"/>
              </a:cxn>
              <a:cxn ang="0">
                <a:pos x="connsiteX1" y="connsiteY1"/>
              </a:cxn>
              <a:cxn ang="0">
                <a:pos x="connsiteX2" y="connsiteY2"/>
              </a:cxn>
            </a:cxnLst>
            <a:rect l="l" t="t" r="r" b="b"/>
            <a:pathLst>
              <a:path w="1430931" h="600293">
                <a:moveTo>
                  <a:pt x="0" y="0"/>
                </a:moveTo>
                <a:lnTo>
                  <a:pt x="830638" y="0"/>
                </a:lnTo>
                <a:lnTo>
                  <a:pt x="1430931" y="600293"/>
                </a:lnTo>
              </a:path>
            </a:pathLst>
          </a:custGeom>
          <a:noFill/>
          <a:ln w="25400">
            <a:solidFill>
              <a:srgbClr val="00E5FF"/>
            </a:solidFill>
            <a:prstDash val="sysDash"/>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RNN-modified"/>
          <p:cNvPicPr>
            <a:picLocks noChangeAspect="1"/>
          </p:cNvPicPr>
          <p:nvPr/>
        </p:nvPicPr>
        <p:blipFill>
          <a:blip r:embed="rId2"/>
          <a:stretch>
            <a:fillRect/>
          </a:stretch>
        </p:blipFill>
        <p:spPr>
          <a:xfrm>
            <a:off x="7558088" y="2415540"/>
            <a:ext cx="3862070" cy="1013460"/>
          </a:xfrm>
          <a:prstGeom prst="rect">
            <a:avLst/>
          </a:prstGeom>
        </p:spPr>
      </p:pic>
      <p:grpSp>
        <p:nvGrpSpPr>
          <p:cNvPr id="8" name="组合 7"/>
          <p:cNvGrpSpPr/>
          <p:nvPr/>
        </p:nvGrpSpPr>
        <p:grpSpPr>
          <a:xfrm>
            <a:off x="3769995" y="1562735"/>
            <a:ext cx="2247900" cy="2341245"/>
            <a:chOff x="5937" y="4829"/>
            <a:chExt cx="3540" cy="3687"/>
          </a:xfrm>
        </p:grpSpPr>
        <p:sp>
          <p:nvSpPr>
            <p:cNvPr id="18" name="矩形: 圆角 17"/>
            <p:cNvSpPr/>
            <p:nvPr/>
          </p:nvSpPr>
          <p:spPr>
            <a:xfrm>
              <a:off x="5937" y="4829"/>
              <a:ext cx="3540" cy="3687"/>
            </a:xfrm>
            <a:prstGeom prst="roundRect">
              <a:avLst>
                <a:gd name="adj" fmla="val 10329"/>
              </a:avLst>
            </a:prstGeom>
            <a:noFill/>
            <a:ln w="25400">
              <a:solidFill>
                <a:srgbClr val="00E5FF"/>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Attention-struct-modified"/>
            <p:cNvPicPr>
              <a:picLocks noChangeAspect="1"/>
            </p:cNvPicPr>
            <p:nvPr/>
          </p:nvPicPr>
          <p:blipFill>
            <a:blip r:embed="rId3"/>
            <a:stretch>
              <a:fillRect/>
            </a:stretch>
          </p:blipFill>
          <p:spPr>
            <a:xfrm>
              <a:off x="6475" y="5021"/>
              <a:ext cx="2464" cy="3304"/>
            </a:xfrm>
            <a:prstGeom prst="rect">
              <a:avLst/>
            </a:prstGeom>
          </p:spPr>
        </p:pic>
      </p:grpSp>
      <p:cxnSp>
        <p:nvCxnSpPr>
          <p:cNvPr id="15" name="直接连接符 14"/>
          <p:cNvCxnSpPr/>
          <p:nvPr/>
        </p:nvCxnSpPr>
        <p:spPr>
          <a:xfrm>
            <a:off x="7337425" y="1811020"/>
            <a:ext cx="0" cy="4018915"/>
          </a:xfrm>
          <a:prstGeom prst="line">
            <a:avLst/>
          </a:prstGeom>
          <a:ln w="19050">
            <a:solidFill>
              <a:schemeClr val="bg1">
                <a:alpha val="50000"/>
              </a:schemeClr>
            </a:solidFill>
            <a:prstDash val="dash"/>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注意力机制：既是武器，也是枷锁</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762000" y="1825625"/>
                <a:ext cx="5400000" cy="4351655"/>
              </a:xfrm>
            </p:spPr>
            <p:txBody>
              <a:bodyPr/>
              <a:p>
                <a:r>
                  <a:rPr lang="zh-CN" altLang="en-US"/>
                  <a:t>计算量“黑洞”</a:t>
                </a:r>
                <a:endParaRPr lang="zh-CN" altLang="en-US"/>
              </a:p>
              <a:p>
                <a:pPr lvl="1"/>
                <a:r>
                  <a:rPr lang="zh-CN" altLang="en-US"/>
                  <a:t>构造长度为</a:t>
                </a:r>
                <a:r>
                  <a:rPr lang="en-US" altLang="zh-CN"/>
                  <a:t> </a:t>
                </a:r>
                <a14:m>
                  <m:oMath xmlns:m="http://schemas.openxmlformats.org/officeDocument/2006/math">
                    <m:r>
                      <a:rPr lang="en-US" altLang="zh-CN" i="1">
                        <a:latin typeface="DejaVu Math TeX Gyre" panose="02000503000000000000" charset="0"/>
                        <a:cs typeface="DejaVu Math TeX Gyre" panose="02000503000000000000" charset="0"/>
                      </a:rPr>
                      <m:t>𝑛</m:t>
                    </m:r>
                  </m:oMath>
                </a14:m>
                <a:r>
                  <a:rPr lang="en-US" altLang="zh-CN"/>
                  <a:t> </a:t>
                </a:r>
                <a:r>
                  <a:rPr lang="zh-CN" altLang="en-US"/>
                  <a:t>的文本的相关性表，需要</a:t>
                </a:r>
                <a:r>
                  <a:rPr lang="en-US" altLang="zh-CN"/>
                  <a:t> </a:t>
                </a:r>
                <a14:m>
                  <m:oMath xmlns:m="http://schemas.openxmlformats.org/officeDocument/2006/math">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𝑛</m:t>
                        </m:r>
                      </m:e>
                      <m:sup>
                        <m:r>
                          <a:rPr lang="en-US" altLang="zh-CN" i="1">
                            <a:latin typeface="DejaVu Math TeX Gyre" panose="02000503000000000000" charset="0"/>
                            <a:ea typeface="MS Mincho" charset="0"/>
                            <a:cs typeface="DejaVu Math TeX Gyre" panose="02000503000000000000" charset="0"/>
                          </a:rPr>
                          <m:t>2</m:t>
                        </m:r>
                      </m:sup>
                    </m:sSup>
                  </m:oMath>
                </a14:m>
                <a:r>
                  <a:rPr lang="en-US" altLang="zh-CN" i="1">
                    <a:latin typeface="DejaVu Math TeX Gyre" panose="02000503000000000000" charset="0"/>
                    <a:cs typeface="DejaVu Math TeX Gyre" panose="02000503000000000000" charset="0"/>
                  </a:rPr>
                  <a:t> </a:t>
                </a:r>
                <a14:m>
                  <m:oMath xmlns:m="http://schemas.openxmlformats.org/officeDocument/2006/math">
                    <m:r>
                      <a:rPr lang="en-US" altLang="zh-CN" i="1">
                        <a:latin typeface="DejaVu Math TeX Gyre" panose="02000503000000000000" charset="0"/>
                        <a:cs typeface="DejaVu Math TeX Gyre" panose="02000503000000000000" charset="0"/>
                      </a:rPr>
                      <m:t>的计算量</m:t>
                    </m:r>
                  </m:oMath>
                </a14:m>
                <a:endParaRPr lang="en-US" altLang="zh-CN" i="1">
                  <a:latin typeface="DejaVu Math TeX Gyre" panose="02000503000000000000" charset="0"/>
                  <a:cs typeface="DejaVu Math TeX Gyre" panose="02000503000000000000" charset="0"/>
                </a:endParaRPr>
              </a:p>
              <a:p>
                <a:pPr lvl="1"/>
                <a:r>
                  <a:rPr lang="zh-CN" altLang="en-US">
                    <a:latin typeface="DejaVu Math TeX Gyre" panose="02000503000000000000" charset="0"/>
                    <a:cs typeface="DejaVu Math TeX Gyre" panose="02000503000000000000" charset="0"/>
                  </a:rPr>
                  <a:t>参数量随着可支持的上下文快速增长</a:t>
                </a:r>
                <a:endParaRPr lang="en-US" altLang="zh-CN" i="1">
                  <a:latin typeface="DejaVu Math TeX Gyre" panose="02000503000000000000" charset="0"/>
                  <a:cs typeface="DejaVu Math TeX Gyre" panose="02000503000000000000" charset="0"/>
                </a:endParaRPr>
              </a:p>
              <a:p>
                <a:pPr lvl="1"/>
                <a:r>
                  <a:rPr lang="zh-CN" altLang="en-US">
                    <a:latin typeface="DejaVu Math TeX Gyre" panose="02000503000000000000" charset="0"/>
                    <a:cs typeface="DejaVu Math TeX Gyre" panose="02000503000000000000" charset="0"/>
                  </a:rPr>
                  <a:t>在训练的过程中尤其需要大量计算</a:t>
                </a:r>
                <a:endParaRPr lang="zh-CN" altLang="en-US">
                  <a:latin typeface="DejaVu Math TeX Gyre" panose="02000503000000000000" charset="0"/>
                  <a:cs typeface="DejaVu Math TeX Gyre" panose="02000503000000000000" charset="0"/>
                </a:endParaRPr>
              </a:p>
              <a:p>
                <a:pPr lvl="1"/>
                <a:r>
                  <a:rPr lang="zh-CN" altLang="en-US">
                    <a:latin typeface="DejaVu Math TeX Gyre" panose="02000503000000000000" charset="0"/>
                    <a:cs typeface="DejaVu Math TeX Gyre" panose="02000503000000000000" charset="0"/>
                  </a:rPr>
                  <a:t>从</a:t>
                </a:r>
                <a:r>
                  <a:rPr lang="en-US" altLang="zh-CN">
                    <a:latin typeface="DejaVu Math TeX Gyre" panose="02000503000000000000" charset="0"/>
                    <a:cs typeface="DejaVu Math TeX Gyre" panose="02000503000000000000" charset="0"/>
                  </a:rPr>
                  <a:t> Transformer </a:t>
                </a:r>
                <a:r>
                  <a:rPr lang="zh-CN" altLang="en-US">
                    <a:latin typeface="DejaVu Math TeX Gyre" panose="02000503000000000000" charset="0"/>
                    <a:cs typeface="DejaVu Math TeX Gyre" panose="02000503000000000000" charset="0"/>
                  </a:rPr>
                  <a:t>提出（</a:t>
                </a:r>
                <a:r>
                  <a:rPr lang="en-US" altLang="zh-CN">
                    <a:latin typeface="DejaVu Math TeX Gyre" panose="02000503000000000000" charset="0"/>
                    <a:cs typeface="DejaVu Math TeX Gyre" panose="02000503000000000000" charset="0"/>
                  </a:rPr>
                  <a:t>2016</a:t>
                </a:r>
                <a:r>
                  <a:rPr lang="zh-CN" altLang="en-US">
                    <a:latin typeface="DejaVu Math TeX Gyre" panose="02000503000000000000" charset="0"/>
                    <a:cs typeface="DejaVu Math TeX Gyre" panose="02000503000000000000" charset="0"/>
                  </a:rPr>
                  <a:t>）到</a:t>
                </a:r>
                <a:r>
                  <a:rPr lang="en-US" altLang="zh-CN">
                    <a:latin typeface="DejaVu Math TeX Gyre" panose="02000503000000000000" charset="0"/>
                    <a:cs typeface="DejaVu Math TeX Gyre" panose="02000503000000000000" charset="0"/>
                  </a:rPr>
                  <a:t> LLM </a:t>
                </a:r>
                <a:r>
                  <a:rPr lang="zh-CN" altLang="en-US">
                    <a:latin typeface="DejaVu Math TeX Gyre" panose="02000503000000000000" charset="0"/>
                    <a:cs typeface="DejaVu Math TeX Gyre" panose="02000503000000000000" charset="0"/>
                  </a:rPr>
                  <a:t>商用（</a:t>
                </a:r>
                <a:r>
                  <a:rPr lang="en-US" altLang="zh-CN">
                    <a:latin typeface="DejaVu Math TeX Gyre" panose="02000503000000000000" charset="0"/>
                    <a:cs typeface="DejaVu Math TeX Gyre" panose="02000503000000000000" charset="0"/>
                  </a:rPr>
                  <a:t>2023</a:t>
                </a:r>
                <a:r>
                  <a:rPr lang="zh-CN" altLang="en-US">
                    <a:latin typeface="DejaVu Math TeX Gyre" panose="02000503000000000000" charset="0"/>
                    <a:cs typeface="DejaVu Math TeX Gyre" panose="02000503000000000000" charset="0"/>
                  </a:rPr>
                  <a:t>）用了</a:t>
                </a:r>
                <a:r>
                  <a:rPr lang="en-US" altLang="zh-CN">
                    <a:latin typeface="DejaVu Math TeX Gyre" panose="02000503000000000000" charset="0"/>
                    <a:cs typeface="DejaVu Math TeX Gyre" panose="02000503000000000000" charset="0"/>
                  </a:rPr>
                  <a:t> 7 </a:t>
                </a:r>
                <a:r>
                  <a:rPr lang="zh-CN" altLang="en-US">
                    <a:latin typeface="DejaVu Math TeX Gyre" panose="02000503000000000000" charset="0"/>
                    <a:cs typeface="DejaVu Math TeX Gyre" panose="02000503000000000000" charset="0"/>
                  </a:rPr>
                  <a:t>年时间</a:t>
                </a:r>
                <a:endParaRPr lang="zh-CN" altLang="en-US">
                  <a:latin typeface="DejaVu Math TeX Gyre" panose="02000503000000000000" charset="0"/>
                  <a:cs typeface="DejaVu Math TeX Gyre" panose="02000503000000000000" charset="0"/>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762000" y="1825625"/>
                <a:ext cx="5400000" cy="4351655"/>
              </a:xfrm>
              <a:blipFill rotWithShape="1">
                <a:blip r:embed="rId1"/>
                <a:stretch>
                  <a:fillRect r="1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graphicFrame>
        <p:nvGraphicFramePr>
          <p:cNvPr id="6" name="表格 5"/>
          <p:cNvGraphicFramePr/>
          <p:nvPr/>
        </p:nvGraphicFramePr>
        <p:xfrm>
          <a:off x="7020560" y="1622425"/>
          <a:ext cx="4320000" cy="4320000"/>
        </p:xfrm>
        <a:graphic>
          <a:graphicData uri="http://schemas.openxmlformats.org/drawingml/2006/table">
            <a:tbl>
              <a:tblPr firstRow="1" bandRow="1">
                <a:tableStyleId>{5C22544A-7EE6-4342-B048-85BDC9FD1C3A}</a:tableStyleId>
              </a:tblPr>
              <a:tblGrid>
                <a:gridCol w="432000"/>
                <a:gridCol w="432000"/>
                <a:gridCol w="432000"/>
                <a:gridCol w="432000"/>
                <a:gridCol w="432000"/>
                <a:gridCol w="432000"/>
                <a:gridCol w="432000"/>
                <a:gridCol w="432000"/>
                <a:gridCol w="432000"/>
                <a:gridCol w="432000"/>
              </a:tblGrid>
              <a:tr h="432000">
                <a:tc>
                  <a:txBody>
                    <a:bodyPr/>
                    <a:p>
                      <a:pPr algn="ctr">
                        <a:buNone/>
                      </a:pP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港科大</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在</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今年</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排名</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第</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en-US" altLang="zh-CN" sz="800" b="0">
                          <a:solidFill>
                            <a:schemeClr val="bg1"/>
                          </a:solidFill>
                        </a:rPr>
                        <a:t>44</a:t>
                      </a:r>
                      <a:endParaRPr lang="en-US" altLang="zh-CN"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位</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zh-CN" altLang="en-US" sz="800" b="0">
                          <a:solidFill>
                            <a:schemeClr val="bg1"/>
                          </a:solidFill>
                        </a:rPr>
                        <a:t>。</a:t>
                      </a:r>
                      <a:endParaRPr lang="zh-CN" altLang="en-US"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r>
                        <a:rPr lang="en-US" altLang="zh-CN" sz="800" b="0">
                          <a:solidFill>
                            <a:schemeClr val="bg1"/>
                          </a:solidFill>
                        </a:rPr>
                        <a:t>&lt;|end&gt;</a:t>
                      </a:r>
                      <a:endParaRPr lang="en-US" altLang="zh-CN" sz="8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r h="432000">
                <a:tc>
                  <a:txBody>
                    <a:bodyPr/>
                    <a:p>
                      <a:pPr algn="ctr">
                        <a:buNone/>
                      </a:pPr>
                      <a:r>
                        <a:rPr lang="zh-CN" altLang="en-US" sz="800">
                          <a:solidFill>
                            <a:schemeClr val="bg1"/>
                          </a:solidFill>
                        </a:rPr>
                        <a:t>港科大</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4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6000"/>
                      </a:srgbClr>
                    </a:solidFill>
                  </a:tcPr>
                </a:tc>
              </a:tr>
              <a:tr h="432000">
                <a:tc>
                  <a:txBody>
                    <a:bodyPr/>
                    <a:p>
                      <a:pPr algn="ctr">
                        <a:buNone/>
                      </a:pPr>
                      <a:r>
                        <a:rPr lang="zh-CN" altLang="en-US" sz="800">
                          <a:solidFill>
                            <a:schemeClr val="bg1"/>
                          </a:solidFill>
                        </a:rPr>
                        <a:t>在</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2000"/>
                      </a:srgbClr>
                    </a:solidFill>
                  </a:tcPr>
                </a:tc>
              </a:tr>
              <a:tr h="432000">
                <a:tc>
                  <a:txBody>
                    <a:bodyPr/>
                    <a:p>
                      <a:pPr algn="ctr">
                        <a:buNone/>
                      </a:pPr>
                      <a:r>
                        <a:rPr lang="zh-CN" altLang="en-US" sz="800">
                          <a:solidFill>
                            <a:schemeClr val="bg1"/>
                          </a:solidFill>
                        </a:rPr>
                        <a:t>今年</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9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7000"/>
                      </a:srgbClr>
                    </a:solidFill>
                  </a:tcPr>
                </a:tc>
              </a:tr>
              <a:tr h="432000">
                <a:tc>
                  <a:txBody>
                    <a:bodyPr/>
                    <a:p>
                      <a:pPr algn="ctr">
                        <a:buNone/>
                      </a:pPr>
                      <a:r>
                        <a:rPr lang="zh-CN" altLang="en-US" sz="800">
                          <a:solidFill>
                            <a:schemeClr val="bg1"/>
                          </a:solidFill>
                        </a:rPr>
                        <a:t>排名</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9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4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0000"/>
                      </a:srgbClr>
                    </a:solidFill>
                  </a:tcPr>
                </a:tc>
              </a:tr>
              <a:tr h="432000">
                <a:tc>
                  <a:txBody>
                    <a:bodyPr/>
                    <a:p>
                      <a:pPr algn="ctr">
                        <a:buNone/>
                      </a:pPr>
                      <a:r>
                        <a:rPr lang="zh-CN" altLang="en-US" sz="800">
                          <a:solidFill>
                            <a:schemeClr val="bg1"/>
                          </a:solidFill>
                        </a:rPr>
                        <a:t>第</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4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2000"/>
                      </a:srgbClr>
                    </a:solidFill>
                  </a:tcPr>
                </a:tc>
              </a:tr>
              <a:tr h="432000">
                <a:tc>
                  <a:txBody>
                    <a:bodyPr/>
                    <a:p>
                      <a:pPr algn="ctr">
                        <a:buNone/>
                      </a:pPr>
                      <a:r>
                        <a:rPr lang="en-US" altLang="zh-CN" sz="800">
                          <a:solidFill>
                            <a:schemeClr val="bg1"/>
                          </a:solidFill>
                        </a:rPr>
                        <a:t>44</a:t>
                      </a:r>
                      <a:endParaRPr lang="en-US" altLang="zh-CN"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0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9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9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5000"/>
                      </a:srgbClr>
                    </a:solidFill>
                  </a:tcPr>
                </a:tc>
              </a:tr>
              <a:tr h="432000">
                <a:tc>
                  <a:txBody>
                    <a:bodyPr/>
                    <a:p>
                      <a:pPr algn="ctr">
                        <a:buNone/>
                      </a:pPr>
                      <a:r>
                        <a:rPr lang="zh-CN" altLang="en-US" sz="800">
                          <a:solidFill>
                            <a:schemeClr val="bg1"/>
                          </a:solidFill>
                        </a:rPr>
                        <a:t>位</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0000"/>
                      </a:srgbClr>
                    </a:solidFill>
                  </a:tcPr>
                </a:tc>
              </a:tr>
              <a:tr h="432000">
                <a:tc>
                  <a:txBody>
                    <a:bodyPr/>
                    <a:p>
                      <a:pPr algn="ctr">
                        <a:buNone/>
                      </a:pPr>
                      <a:r>
                        <a:rPr lang="zh-CN" altLang="en-US" sz="800">
                          <a:solidFill>
                            <a:schemeClr val="bg1"/>
                          </a:solidFill>
                        </a:rPr>
                        <a:t>。</a:t>
                      </a: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2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0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8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0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9000"/>
                      </a:srgbClr>
                    </a:solidFill>
                  </a:tcPr>
                </a:tc>
              </a:tr>
              <a:tr h="432000">
                <a:tc>
                  <a:txBody>
                    <a:bodyPr/>
                    <a:p>
                      <a:pPr algn="ctr">
                        <a:buNone/>
                      </a:pPr>
                      <a:r>
                        <a:rPr lang="en-US" altLang="zh-CN" sz="800">
                          <a:solidFill>
                            <a:schemeClr val="bg1"/>
                          </a:solidFill>
                        </a:rPr>
                        <a:t>&lt;|end|&gt;</a:t>
                      </a:r>
                      <a:endParaRPr lang="en-US" altLang="zh-CN"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13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7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41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54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5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96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37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60000"/>
                      </a:srgbClr>
                    </a:solidFill>
                  </a:tcPr>
                </a:tc>
                <a:tc>
                  <a:txBody>
                    <a:bodyPr/>
                    <a:p>
                      <a:pPr algn="ctr">
                        <a:buNone/>
                      </a:pPr>
                      <a:endParaRPr lang="zh-CN" altLang="en-US" sz="80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solidFill>
                      <a:srgbClr val="B388FF">
                        <a:alpha val="2000"/>
                      </a:srgb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注意力机制：既是武器，也是枷锁</a:t>
            </a:r>
            <a:endParaRPr lang="zh-CN" altLang="en-US"/>
          </a:p>
        </p:txBody>
      </p:sp>
      <p:sp>
        <p:nvSpPr>
          <p:cNvPr id="3" name="内容占位符 2"/>
          <p:cNvSpPr>
            <a:spLocks noGrp="1"/>
          </p:cNvSpPr>
          <p:nvPr>
            <p:ph idx="1"/>
          </p:nvPr>
        </p:nvSpPr>
        <p:spPr>
          <a:xfrm>
            <a:off x="762000" y="1825625"/>
            <a:ext cx="5400000" cy="4351655"/>
          </a:xfrm>
        </p:spPr>
        <p:txBody>
          <a:bodyPr/>
          <a:p>
            <a:r>
              <a:rPr lang="zh-CN" altLang="en-US"/>
              <a:t>上下文长度受限</a:t>
            </a:r>
            <a:endParaRPr lang="zh-CN" altLang="en-US"/>
          </a:p>
          <a:p>
            <a:pPr lvl="1"/>
            <a:r>
              <a:rPr lang="zh-CN" altLang="en-US"/>
              <a:t>当前普遍支持</a:t>
            </a:r>
            <a:r>
              <a:rPr lang="en-US" altLang="zh-CN"/>
              <a:t> 1M Token</a:t>
            </a:r>
            <a:endParaRPr lang="en-US" altLang="zh-CN"/>
          </a:p>
          <a:p>
            <a:pPr lvl="1"/>
            <a:r>
              <a:rPr lang="zh-CN" altLang="en-US"/>
              <a:t>在最大窗口长度</a:t>
            </a:r>
            <a:r>
              <a:rPr lang="en-US" altLang="zh-CN"/>
              <a:t> 50% </a:t>
            </a:r>
            <a:r>
              <a:rPr lang="zh-CN" altLang="en-US"/>
              <a:t>左右性能开始下降</a:t>
            </a:r>
            <a:endParaRPr lang="en-US" altLang="zh-CN"/>
          </a:p>
          <a:p>
            <a:pPr lvl="1"/>
            <a:r>
              <a:rPr lang="zh-CN" altLang="en-US"/>
              <a:t>实际应用中</a:t>
            </a:r>
            <a:r>
              <a:rPr lang="en-US" altLang="zh-CN"/>
              <a:t> 1M </a:t>
            </a:r>
            <a:r>
              <a:rPr lang="zh-CN" altLang="en-US"/>
              <a:t>很容易用满，尤其是：</a:t>
            </a:r>
            <a:endParaRPr lang="zh-CN" altLang="en-US"/>
          </a:p>
          <a:p>
            <a:pPr lvl="2"/>
            <a:r>
              <a:rPr lang="zh-CN" altLang="en-US"/>
              <a:t>开启思考模式</a:t>
            </a:r>
            <a:endParaRPr lang="zh-CN" altLang="en-US"/>
          </a:p>
          <a:p>
            <a:pPr lvl="2"/>
            <a:r>
              <a:rPr lang="zh-CN" altLang="en-US"/>
              <a:t>需要连续上下文</a:t>
            </a:r>
            <a:endParaRPr lang="zh-CN" altLang="en-US"/>
          </a:p>
          <a:p>
            <a:pPr lvl="2"/>
            <a:r>
              <a:rPr lang="zh-CN" altLang="en-US"/>
              <a:t>多轮对话</a:t>
            </a:r>
            <a:endParaRPr lang="zh-CN" altLang="en-US"/>
          </a:p>
          <a:p>
            <a:pPr lvl="2"/>
            <a:r>
              <a:rPr lang="zh-CN" altLang="en-US"/>
              <a:t>例如：智能体工作流</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graphicFrame>
        <p:nvGraphicFramePr>
          <p:cNvPr id="5" name="表格 4"/>
          <p:cNvGraphicFramePr/>
          <p:nvPr/>
        </p:nvGraphicFramePr>
        <p:xfrm>
          <a:off x="6562090" y="1826260"/>
          <a:ext cx="4206240" cy="4352925"/>
        </p:xfrm>
        <a:graphic>
          <a:graphicData uri="http://schemas.openxmlformats.org/drawingml/2006/table">
            <a:tbl>
              <a:tblPr/>
              <a:tblGrid>
                <a:gridCol w="3062605"/>
                <a:gridCol w="1143635"/>
              </a:tblGrid>
              <a:tr h="290195">
                <a:tc>
                  <a:txBody>
                    <a:bodyPr/>
                    <a:p>
                      <a:r>
                        <a:rPr lang="zh-CN" altLang="en-US" sz="1100" b="1">
                          <a:solidFill>
                            <a:schemeClr val="bg1"/>
                          </a:solidFill>
                        </a:rPr>
                        <a:t>模型名称</a:t>
                      </a:r>
                      <a:endParaRPr lang="zh-CN" altLang="en-US" sz="1100" b="1">
                        <a:solidFill>
                          <a:schemeClr val="bg1"/>
                        </a:solidFill>
                      </a:endParaRPr>
                    </a:p>
                  </a:txBody>
                  <a:tcPr marL="0" marR="0" marT="0" marB="0" anchor="ctr" anchorCtr="0">
                    <a:lnL>
                      <a:noFill/>
                    </a:lnL>
                    <a:lnR>
                      <a:noFill/>
                    </a:lnR>
                    <a:lnT w="12700">
                      <a:solidFill>
                        <a:schemeClr val="bg1"/>
                      </a:solidFill>
                      <a:prstDash val="solid"/>
                    </a:lnT>
                    <a:lnB w="12700">
                      <a:solidFill>
                        <a:schemeClr val="bg1"/>
                      </a:solidFill>
                      <a:prstDash val="solid"/>
                    </a:lnB>
                    <a:noFill/>
                  </a:tcPr>
                </a:tc>
                <a:tc>
                  <a:txBody>
                    <a:bodyPr/>
                    <a:p>
                      <a:r>
                        <a:rPr lang="zh-CN" altLang="en-US" sz="1100" b="1">
                          <a:solidFill>
                            <a:schemeClr val="bg1"/>
                          </a:solidFill>
                        </a:rPr>
                        <a:t>最大上下文长度</a:t>
                      </a:r>
                      <a:endParaRPr lang="zh-CN" altLang="en-US" sz="1100" b="1">
                        <a:solidFill>
                          <a:schemeClr val="bg1"/>
                        </a:solidFill>
                      </a:endParaRPr>
                    </a:p>
                  </a:txBody>
                  <a:tcPr marL="0" marR="0" marT="0" marB="0" anchor="ctr" anchorCtr="0">
                    <a:lnL>
                      <a:noFill/>
                    </a:lnL>
                    <a:lnR>
                      <a:noFill/>
                    </a:lnR>
                    <a:lnT w="12700">
                      <a:solidFill>
                        <a:schemeClr val="bg1"/>
                      </a:solidFill>
                      <a:prstDash val="solid"/>
                    </a:lnT>
                    <a:lnB w="12700">
                      <a:solidFill>
                        <a:schemeClr val="bg1"/>
                      </a:solidFill>
                      <a:prstDash val="solid"/>
                    </a:lnB>
                    <a:noFill/>
                  </a:tcPr>
                </a:tc>
              </a:tr>
              <a:tr h="290195">
                <a:tc>
                  <a:txBody>
                    <a:bodyPr/>
                    <a:p>
                      <a:r>
                        <a:rPr lang="en-US" altLang="zh-CN" sz="1100">
                          <a:solidFill>
                            <a:schemeClr val="bg1"/>
                          </a:solidFill>
                        </a:rPr>
                        <a:t>Llama 4 Scout</a:t>
                      </a:r>
                      <a:endParaRPr lang="en-US" altLang="zh-CN" sz="1100">
                        <a:solidFill>
                          <a:schemeClr val="bg1"/>
                        </a:solidFill>
                      </a:endParaRPr>
                    </a:p>
                  </a:txBody>
                  <a:tcPr marL="0" marR="0" marT="0" marB="0" anchor="ctr" anchorCtr="0">
                    <a:lnL>
                      <a:noFill/>
                    </a:lnL>
                    <a:lnR>
                      <a:noFill/>
                    </a:lnR>
                    <a:lnT w="12700">
                      <a:solidFill>
                        <a:schemeClr val="bg1"/>
                      </a:solidFill>
                      <a:prstDash val="solid"/>
                    </a:lnT>
                    <a:lnB>
                      <a:noFill/>
                    </a:lnB>
                    <a:noFill/>
                  </a:tcPr>
                </a:tc>
                <a:tc>
                  <a:txBody>
                    <a:bodyPr/>
                    <a:p>
                      <a:pPr algn="ctr"/>
                      <a:r>
                        <a:rPr lang="en-US" altLang="zh-CN" sz="1100">
                          <a:solidFill>
                            <a:schemeClr val="bg1"/>
                          </a:solidFill>
                        </a:rPr>
                        <a:t>10M</a:t>
                      </a:r>
                      <a:endParaRPr lang="en-US" altLang="zh-CN" sz="1100">
                        <a:solidFill>
                          <a:schemeClr val="bg1"/>
                        </a:solidFill>
                      </a:endParaRPr>
                    </a:p>
                  </a:txBody>
                  <a:tcPr marL="0" marR="0" marT="0" marB="0" anchor="ctr" anchorCtr="0">
                    <a:lnL>
                      <a:noFill/>
                    </a:lnL>
                    <a:lnR>
                      <a:noFill/>
                    </a:lnR>
                    <a:lnT w="12700">
                      <a:solidFill>
                        <a:schemeClr val="bg1"/>
                      </a:solidFill>
                      <a:prstDash val="solid"/>
                    </a:lnT>
                    <a:lnB>
                      <a:noFill/>
                    </a:lnB>
                    <a:noFill/>
                  </a:tcPr>
                </a:tc>
              </a:tr>
              <a:tr h="290195">
                <a:tc>
                  <a:txBody>
                    <a:bodyPr/>
                    <a:p>
                      <a:r>
                        <a:rPr lang="en-US" altLang="zh-CN" sz="1100">
                          <a:solidFill>
                            <a:schemeClr val="bg1"/>
                          </a:solidFill>
                        </a:rPr>
                        <a:t>Gemini 3.1 Pro</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2M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GPT-5.4 / GPT-5.6 Sol</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1.05M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Claude Opus 4.7 / 4.8 / Sonnet 4.6</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Claude Fable 5 / Mythos 5</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DeepSeek V4 (Pro/Flash)</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Gemini 3.1 Flash</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GPT-5.5 Pro / </a:t>
                      </a:r>
                      <a:r>
                        <a:rPr lang="zh-CN" altLang="en-US" sz="1100">
                          <a:solidFill>
                            <a:schemeClr val="bg1"/>
                          </a:solidFill>
                        </a:rPr>
                        <a:t>标准版</a:t>
                      </a:r>
                      <a:endParaRPr lang="zh-CN" altLang="en-US"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Grok 4.3</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MiniMax M3</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Qwen 3.7 Max / 3.8 Max</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1M</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GPT-5.4-mini / GPT-5.2-Codex</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400K</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Kimi K2.6</a:t>
                      </a:r>
                      <a:endParaRPr lang="en-US" altLang="zh-CN" sz="1100">
                        <a:solidFill>
                          <a:schemeClr val="bg1"/>
                        </a:solidFill>
                      </a:endParaRPr>
                    </a:p>
                  </a:txBody>
                  <a:tcPr marL="0" marR="0" marT="0" marB="0" anchor="ctr" anchorCtr="0">
                    <a:lnL>
                      <a:noFill/>
                    </a:lnL>
                    <a:lnR>
                      <a:noFill/>
                    </a:lnR>
                    <a:lnT>
                      <a:noFill/>
                    </a:lnT>
                    <a:lnB>
                      <a:noFill/>
                    </a:lnB>
                    <a:noFill/>
                  </a:tcPr>
                </a:tc>
                <a:tc>
                  <a:txBody>
                    <a:bodyPr/>
                    <a:p>
                      <a:pPr algn="ctr"/>
                      <a:r>
                        <a:rPr lang="en-US" altLang="zh-CN" sz="1100">
                          <a:solidFill>
                            <a:schemeClr val="bg1"/>
                          </a:solidFill>
                        </a:rPr>
                        <a:t>262K</a:t>
                      </a:r>
                      <a:endParaRPr lang="en-US" altLang="zh-CN" sz="1100">
                        <a:solidFill>
                          <a:schemeClr val="bg1"/>
                        </a:solidFill>
                      </a:endParaRPr>
                    </a:p>
                  </a:txBody>
                  <a:tcPr marL="0" marR="0" marT="0" marB="0" anchor="ctr" anchorCtr="0">
                    <a:lnL>
                      <a:noFill/>
                    </a:lnL>
                    <a:lnR>
                      <a:noFill/>
                    </a:lnR>
                    <a:lnT>
                      <a:noFill/>
                    </a:lnT>
                    <a:lnB>
                      <a:noFill/>
                    </a:lnB>
                    <a:noFill/>
                  </a:tcPr>
                </a:tc>
              </a:tr>
              <a:tr h="290195">
                <a:tc>
                  <a:txBody>
                    <a:bodyPr/>
                    <a:p>
                      <a:r>
                        <a:rPr lang="en-US" altLang="zh-CN" sz="1100">
                          <a:solidFill>
                            <a:schemeClr val="bg1"/>
                          </a:solidFill>
                        </a:rPr>
                        <a:t>Claude Opus 4.7 (</a:t>
                      </a:r>
                      <a:r>
                        <a:rPr lang="zh-CN" altLang="en-US" sz="1100">
                          <a:solidFill>
                            <a:schemeClr val="bg1"/>
                          </a:solidFill>
                        </a:rPr>
                        <a:t>默认</a:t>
                      </a:r>
                      <a:r>
                        <a:rPr lang="en-US" altLang="zh-CN" sz="1100">
                          <a:solidFill>
                            <a:schemeClr val="bg1"/>
                          </a:solidFill>
                        </a:rPr>
                        <a:t>)</a:t>
                      </a:r>
                      <a:endParaRPr lang="en-US" altLang="zh-CN" sz="1100">
                        <a:solidFill>
                          <a:schemeClr val="bg1"/>
                        </a:solidFill>
                      </a:endParaRPr>
                    </a:p>
                  </a:txBody>
                  <a:tcPr marL="0" marR="0" marT="0" marB="0" anchor="ctr" anchorCtr="0">
                    <a:lnL>
                      <a:noFill/>
                    </a:lnL>
                    <a:lnR>
                      <a:noFill/>
                    </a:lnR>
                    <a:lnT>
                      <a:noFill/>
                    </a:lnT>
                    <a:lnB w="12700">
                      <a:solidFill>
                        <a:schemeClr val="bg1"/>
                      </a:solidFill>
                      <a:prstDash val="solid"/>
                    </a:lnB>
                    <a:noFill/>
                  </a:tcPr>
                </a:tc>
                <a:tc>
                  <a:txBody>
                    <a:bodyPr/>
                    <a:p>
                      <a:pPr algn="ctr"/>
                      <a:r>
                        <a:rPr lang="en-US" altLang="zh-CN" sz="1100">
                          <a:solidFill>
                            <a:schemeClr val="bg1"/>
                          </a:solidFill>
                        </a:rPr>
                        <a:t>200K</a:t>
                      </a:r>
                      <a:endParaRPr lang="en-US" altLang="zh-CN" sz="1100">
                        <a:solidFill>
                          <a:schemeClr val="bg1"/>
                        </a:solidFill>
                      </a:endParaRPr>
                    </a:p>
                  </a:txBody>
                  <a:tcPr marL="0" marR="0" marT="0" marB="0" anchor="ctr" anchorCtr="0">
                    <a:lnL>
                      <a:noFill/>
                    </a:lnL>
                    <a:lnR>
                      <a:noFill/>
                    </a:lnR>
                    <a:lnT>
                      <a:noFill/>
                    </a:lnT>
                    <a:lnB w="12700">
                      <a:solidFill>
                        <a:schemeClr val="bg1"/>
                      </a:solidFill>
                      <a:prstDash val="solid"/>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normAutofit fontScale="90000"/>
          </a:bodyPr>
          <a:p>
            <a:r>
              <a:rPr lang="zh-CN" altLang="en-US"/>
              <a:t>为什么有时候</a:t>
            </a:r>
            <a:r>
              <a:rPr lang="en-US" altLang="zh-CN"/>
              <a:t> AI </a:t>
            </a:r>
            <a:r>
              <a:rPr>
                <a:ea typeface="SimSun" charset="0"/>
              </a:rPr>
              <a:t>很蠢</a:t>
            </a:r>
            <a:endParaRPr>
              <a:ea typeface="SimSun" charset="0"/>
            </a:endParaRPr>
          </a:p>
        </p:txBody>
      </p:sp>
      <p:sp>
        <p:nvSpPr>
          <p:cNvPr id="6" name="文本占位符 5"/>
          <p:cNvSpPr>
            <a:spLocks noGrp="1"/>
          </p:cNvSpPr>
          <p:nvPr>
            <p:ph type="body" idx="1"/>
          </p:nvPr>
        </p:nvSpPr>
        <p:spPr/>
        <p:txBody>
          <a:bodyPr/>
          <a:p>
            <a:r>
              <a:rPr lang="zh-CN" altLang="en-US"/>
              <a:t>模型本身原因</a:t>
            </a:r>
            <a:endParaRPr lang="zh-CN" altLang="en-US"/>
          </a:p>
        </p:txBody>
      </p:sp>
      <p:sp>
        <p:nvSpPr>
          <p:cNvPr id="7" name="内容占位符 6"/>
          <p:cNvSpPr>
            <a:spLocks noGrp="1"/>
          </p:cNvSpPr>
          <p:nvPr>
            <p:ph sz="half" idx="2"/>
          </p:nvPr>
        </p:nvSpPr>
        <p:spPr/>
        <p:txBody>
          <a:bodyPr/>
          <a:p>
            <a:r>
              <a:rPr lang="zh-CN" altLang="en-US"/>
              <a:t>上下文较长</a:t>
            </a:r>
            <a:endParaRPr lang="zh-CN" altLang="en-US"/>
          </a:p>
          <a:p>
            <a:pPr lvl="1"/>
            <a:r>
              <a:rPr lang="zh-CN" altLang="en-US"/>
              <a:t>关键条件被淹没，注意力没有能够正确捕捉相关信息</a:t>
            </a:r>
            <a:endParaRPr lang="zh-CN" altLang="en-US"/>
          </a:p>
          <a:p>
            <a:pPr lvl="0"/>
            <a:r>
              <a:rPr lang="zh-CN" altLang="en-US"/>
              <a:t>注意力 ≠ 意识</a:t>
            </a:r>
            <a:endParaRPr lang="zh-CN" altLang="en-US"/>
          </a:p>
          <a:p>
            <a:pPr lvl="1"/>
            <a:r>
              <a:rPr lang="zh-CN" altLang="en-US"/>
              <a:t>可以类比为人类思维，但本质上还存在争论</a:t>
            </a:r>
            <a:endParaRPr lang="zh-CN" altLang="en-US"/>
          </a:p>
        </p:txBody>
      </p:sp>
      <p:sp>
        <p:nvSpPr>
          <p:cNvPr id="8" name="文本占位符 7"/>
          <p:cNvSpPr>
            <a:spLocks noGrp="1"/>
          </p:cNvSpPr>
          <p:nvPr>
            <p:ph type="body" sz="quarter" idx="3"/>
          </p:nvPr>
        </p:nvSpPr>
        <p:spPr/>
        <p:txBody>
          <a:bodyPr/>
          <a:p>
            <a:r>
              <a:rPr lang="zh-CN" altLang="en-US"/>
              <a:t>算力原因</a:t>
            </a:r>
            <a:endParaRPr lang="zh-CN" altLang="en-US"/>
          </a:p>
        </p:txBody>
      </p:sp>
      <p:sp>
        <p:nvSpPr>
          <p:cNvPr id="9" name="内容占位符 8"/>
          <p:cNvSpPr>
            <a:spLocks noGrp="1"/>
          </p:cNvSpPr>
          <p:nvPr>
            <p:ph sz="quarter" idx="4"/>
          </p:nvPr>
        </p:nvSpPr>
        <p:spPr/>
        <p:txBody>
          <a:bodyPr/>
          <a:p>
            <a:r>
              <a:rPr lang="zh-CN" altLang="en-US"/>
              <a:t>后台模型被运营商偷偷替换成了小版本或低精度模型</a:t>
            </a:r>
            <a:endParaRPr lang="zh-CN" altLang="en-US"/>
          </a:p>
          <a:p>
            <a:pPr lvl="1"/>
            <a:r>
              <a:rPr lang="en-US" altLang="zh-CN"/>
              <a:t>Claude </a:t>
            </a:r>
            <a:r>
              <a:rPr lang="zh-CN" altLang="en-US"/>
              <a:t>在北京时间的傍晚开始“变傻”</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fade">
                                      <p:cBhvr>
                                        <p:cTn id="11" dur="500"/>
                                        <p:tgtEl>
                                          <p:spTgt spid="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fade">
                                      <p:cBhvr>
                                        <p:cTn id="16" dur="500"/>
                                        <p:tgtEl>
                                          <p:spTgt spid="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500"/>
                                        <p:tgtEl>
                                          <p:spTgt spid="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fade">
                                      <p:cBhvr>
                                        <p:cTn id="26" dur="500"/>
                                        <p:tgtEl>
                                          <p:spTgt spid="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500"/>
                                        <p:tgtEl>
                                          <p:spTgt spid="7">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animEffect transition="in" filter="fade">
                                      <p:cBhvr>
                                        <p:cTn id="36" dur="500"/>
                                        <p:tgtEl>
                                          <p:spTgt spid="9">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xEl>
                                              <p:pRg st="1" end="1"/>
                                            </p:txEl>
                                          </p:spTgt>
                                        </p:tgtEl>
                                        <p:attrNameLst>
                                          <p:attrName>style.visibility</p:attrName>
                                        </p:attrNameLst>
                                      </p:cBhvr>
                                      <p:to>
                                        <p:strVal val="visible"/>
                                      </p:to>
                                    </p:set>
                                    <p:animEffect transition="in" filter="fade">
                                      <p:cBhvr>
                                        <p:cTn id="41"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6" grpId="1" build="p"/>
      <p:bldP spid="8" grpId="1" build="p"/>
      <p:bldP spid="7" grpId="0" build="p"/>
      <p:bldP spid="7" grpId="1" build="p"/>
      <p:bldP spid="9" grpId="0" build="p"/>
      <p:bldP spid="9" grpI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标题 10"/>
          <p:cNvSpPr>
            <a:spLocks noGrp="1"/>
          </p:cNvSpPr>
          <p:nvPr>
            <p:ph type="title"/>
          </p:nvPr>
        </p:nvSpPr>
        <p:spPr>
          <a:xfrm>
            <a:off x="831850" y="2501265"/>
            <a:ext cx="7321550" cy="2061210"/>
          </a:xfrm>
        </p:spPr>
        <p:txBody>
          <a:bodyPr>
            <a:normAutofit/>
          </a:bodyPr>
          <a:p>
            <a:pPr>
              <a:lnSpc>
                <a:spcPct val="150000"/>
              </a:lnSpc>
            </a:pPr>
            <a:r>
              <a:rPr lang="en-US" altLang="zh-CN"/>
              <a:t>AI</a:t>
            </a:r>
            <a:r>
              <a:rPr lang="zh-CN" altLang="en-US"/>
              <a:t>“蠢”的另一个原因是我们没有选到</a:t>
            </a:r>
            <a:r>
              <a:rPr lang="zh-CN" altLang="en-US" b="1">
                <a:solidFill>
                  <a:srgbClr val="00E5FF"/>
                </a:solidFill>
              </a:rPr>
              <a:t>正确</a:t>
            </a:r>
            <a:r>
              <a:rPr lang="zh-CN" altLang="en-US"/>
              <a:t>的模型</a:t>
            </a:r>
            <a:endParaRPr lang="zh-CN" altLang="en-US"/>
          </a:p>
        </p:txBody>
      </p:sp>
      <p:sp>
        <p:nvSpPr>
          <p:cNvPr id="12" name="文本占位符 11"/>
          <p:cNvSpPr>
            <a:spLocks noGrp="1"/>
          </p:cNvSpPr>
          <p:nvPr>
            <p:ph type="body" idx="1"/>
          </p:nvPr>
        </p:nvSpPr>
        <p:spPr/>
        <p:txBody>
          <a:bodyPr/>
          <a:p>
            <a:endParaRPr lang="zh-CN" altLang="en-US"/>
          </a:p>
        </p:txBody>
      </p:sp>
      <p:sp>
        <p:nvSpPr>
          <p:cNvPr id="7" name="灯片编号占位符 6"/>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模型的能力差异</a:t>
            </a:r>
            <a:endParaRPr lang="zh-CN" altLang="en-US"/>
          </a:p>
        </p:txBody>
      </p:sp>
      <p:sp>
        <p:nvSpPr>
          <p:cNvPr id="3" name="内容占位符 2"/>
          <p:cNvSpPr>
            <a:spLocks noGrp="1"/>
          </p:cNvSpPr>
          <p:nvPr>
            <p:ph idx="1"/>
          </p:nvPr>
        </p:nvSpPr>
        <p:spPr>
          <a:xfrm>
            <a:off x="762000" y="1825625"/>
            <a:ext cx="5537200" cy="4351655"/>
          </a:xfrm>
        </p:spPr>
        <p:txBody>
          <a:bodyPr>
            <a:normAutofit fontScale="90000" lnSpcReduction="10000"/>
          </a:bodyPr>
          <a:p>
            <a:r>
              <a:rPr lang="zh-CN" altLang="en-US"/>
              <a:t>模型有其擅长的任务：</a:t>
            </a:r>
            <a:endParaRPr lang="zh-CN" altLang="en-US"/>
          </a:p>
          <a:p>
            <a:pPr lvl="0"/>
            <a:r>
              <a:rPr lang="zh-CN" altLang="en-US"/>
              <a:t>使用模型前，要先了解它的使用说明：</a:t>
            </a:r>
            <a:endParaRPr lang="zh-CN" altLang="en-US"/>
          </a:p>
          <a:p>
            <a:pPr lvl="1"/>
            <a:r>
              <a:rPr lang="zh-CN" altLang="en-US"/>
              <a:t>事实准确性：是否基于正确资料；</a:t>
            </a:r>
            <a:endParaRPr lang="zh-CN" altLang="en-US"/>
          </a:p>
          <a:p>
            <a:pPr lvl="1"/>
            <a:r>
              <a:rPr lang="zh-CN" altLang="en-US"/>
              <a:t>理解能力：是否抓住任务重点和限制；</a:t>
            </a:r>
            <a:endParaRPr lang="zh-CN" altLang="en-US"/>
          </a:p>
          <a:p>
            <a:pPr lvl="1"/>
            <a:r>
              <a:rPr lang="zh-CN" altLang="en-US"/>
              <a:t>推理能力：多步骤任务是否可靠；</a:t>
            </a:r>
            <a:endParaRPr lang="zh-CN" altLang="en-US"/>
          </a:p>
          <a:p>
            <a:pPr lvl="1"/>
            <a:r>
              <a:rPr lang="zh-CN" altLang="en-US"/>
              <a:t>格式遵守：是否按要求输出表格、清单或字段；</a:t>
            </a:r>
            <a:endParaRPr lang="zh-CN" altLang="en-US"/>
          </a:p>
          <a:p>
            <a:pPr lvl="1"/>
            <a:r>
              <a:rPr lang="zh-CN" altLang="en-US"/>
              <a:t>工具使用：是否知道什么时候联网搜索、调用 </a:t>
            </a:r>
            <a:r>
              <a:rPr lang="en-US" altLang="zh-CN"/>
              <a:t>RAG、</a:t>
            </a:r>
            <a:r>
              <a:rPr lang="zh-CN" altLang="en-US"/>
              <a:t>加入上下文或使用代码；</a:t>
            </a:r>
            <a:endParaRPr lang="zh-CN" altLang="en-US"/>
          </a:p>
          <a:p>
            <a:pPr lvl="1"/>
            <a:r>
              <a:rPr lang="zh-CN" altLang="en-US"/>
              <a:t>安全性：是否保护隐私、避免过度承诺；</a:t>
            </a:r>
            <a:endParaRPr lang="zh-CN" altLang="en-US"/>
          </a:p>
          <a:p>
            <a:pPr lvl="1"/>
            <a:r>
              <a:rPr lang="zh-CN" altLang="en-US"/>
              <a:t>速度和成本：是否适合高频使用。</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graphicFrame>
        <p:nvGraphicFramePr>
          <p:cNvPr id="6" name="表格 5"/>
          <p:cNvGraphicFramePr/>
          <p:nvPr/>
        </p:nvGraphicFramePr>
        <p:xfrm>
          <a:off x="6939915" y="2279333"/>
          <a:ext cx="3850640" cy="3444240"/>
        </p:xfrm>
        <a:graphic>
          <a:graphicData uri="http://schemas.openxmlformats.org/drawingml/2006/table">
            <a:tbl>
              <a:tblPr firstRow="1" bandRow="1">
                <a:tableStyleId>{5C22544A-7EE6-4342-B048-85BDC9FD1C3A}</a:tableStyleId>
              </a:tblPr>
              <a:tblGrid>
                <a:gridCol w="1243330"/>
                <a:gridCol w="2607310"/>
              </a:tblGrid>
              <a:tr h="861060">
                <a:tc>
                  <a:txBody>
                    <a:bodyPr/>
                    <a:p>
                      <a:pPr algn="ctr">
                        <a:buNone/>
                      </a:pPr>
                      <a:r>
                        <a:rPr lang="zh-CN" altLang="en-US" b="1">
                          <a:solidFill>
                            <a:schemeClr val="bg1"/>
                          </a:solidFill>
                        </a:rPr>
                        <a:t>长文本</a:t>
                      </a:r>
                      <a:endParaRPr lang="zh-CN" altLang="en-US" b="1">
                        <a:solidFill>
                          <a:schemeClr val="bg1"/>
                        </a:solidFill>
                      </a:endParaRPr>
                    </a:p>
                    <a:p>
                      <a:pPr algn="ctr">
                        <a:buNone/>
                      </a:pPr>
                      <a:r>
                        <a:rPr lang="zh-CN" altLang="en-US" b="1">
                          <a:solidFill>
                            <a:schemeClr val="bg1"/>
                          </a:solidFill>
                        </a:rPr>
                        <a:t>写作</a:t>
                      </a:r>
                      <a:endParaRPr lang="zh-CN" altLang="en-US" b="1">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marL="285750" indent="-285750">
                        <a:buFont typeface="Arial" panose="02080604020202020204" pitchFamily="34" charset="0"/>
                        <a:buChar char="•"/>
                      </a:pPr>
                      <a:r>
                        <a:rPr lang="en-US" altLang="zh-CN" sz="1600" b="0">
                          <a:solidFill>
                            <a:schemeClr val="bg1"/>
                          </a:solidFill>
                        </a:rPr>
                        <a:t>Kimi 2.6</a:t>
                      </a:r>
                      <a:endParaRPr lang="en-US" altLang="zh-CN" sz="1600" b="0">
                        <a:solidFill>
                          <a:schemeClr val="bg1"/>
                        </a:solidFill>
                      </a:endParaRPr>
                    </a:p>
                    <a:p>
                      <a:pPr marL="285750" indent="-285750">
                        <a:buFont typeface="Arial" panose="02080604020202020204" pitchFamily="34" charset="0"/>
                        <a:buChar char="•"/>
                      </a:pPr>
                      <a:r>
                        <a:rPr lang="en-US" altLang="zh-CN" sz="1600" b="0">
                          <a:solidFill>
                            <a:schemeClr val="bg1"/>
                          </a:solidFill>
                        </a:rPr>
                        <a:t>Llama 4 Scout</a:t>
                      </a:r>
                      <a:endParaRPr lang="en-US" altLang="zh-CN" sz="16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r h="861060">
                <a:tc>
                  <a:txBody>
                    <a:bodyPr/>
                    <a:p>
                      <a:pPr algn="ctr">
                        <a:buNone/>
                      </a:pPr>
                      <a:r>
                        <a:rPr lang="zh-CN" altLang="en-US" b="1">
                          <a:solidFill>
                            <a:schemeClr val="bg1"/>
                          </a:solidFill>
                        </a:rPr>
                        <a:t>编程</a:t>
                      </a:r>
                      <a:endParaRPr lang="zh-CN" altLang="en-US" b="1">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marL="285750" indent="-285750">
                        <a:buFont typeface="Arial" panose="02080604020202020204" pitchFamily="34" charset="0"/>
                        <a:buChar char="•"/>
                      </a:pPr>
                      <a:r>
                        <a:rPr lang="en-US" altLang="zh-CN" sz="1600" b="0">
                          <a:solidFill>
                            <a:schemeClr val="bg1"/>
                          </a:solidFill>
                        </a:rPr>
                        <a:t>GPT 5.6 Sol</a:t>
                      </a:r>
                      <a:endParaRPr lang="en-US" altLang="zh-CN" sz="1600" b="0">
                        <a:solidFill>
                          <a:schemeClr val="bg1"/>
                        </a:solidFill>
                      </a:endParaRPr>
                    </a:p>
                    <a:p>
                      <a:pPr marL="285750" indent="-285750">
                        <a:buFont typeface="Arial" panose="02080604020202020204" pitchFamily="34" charset="0"/>
                        <a:buChar char="•"/>
                      </a:pPr>
                      <a:r>
                        <a:rPr lang="en-US" altLang="zh-CN" sz="1600" b="0">
                          <a:solidFill>
                            <a:schemeClr val="bg1"/>
                          </a:solidFill>
                        </a:rPr>
                        <a:t>Opus 4.7</a:t>
                      </a:r>
                      <a:endParaRPr lang="en-US" altLang="zh-CN" sz="1600" b="0">
                        <a:solidFill>
                          <a:schemeClr val="bg1"/>
                        </a:solidFill>
                      </a:endParaRPr>
                    </a:p>
                    <a:p>
                      <a:pPr marL="285750" indent="-285750">
                        <a:buFont typeface="Arial" panose="02080604020202020204" pitchFamily="34" charset="0"/>
                        <a:buChar char="•"/>
                      </a:pPr>
                      <a:r>
                        <a:rPr lang="en-US" altLang="zh-CN" sz="1600" b="0">
                          <a:solidFill>
                            <a:schemeClr val="bg1"/>
                          </a:solidFill>
                        </a:rPr>
                        <a:t>Minimax M3</a:t>
                      </a:r>
                      <a:endParaRPr lang="en-US" altLang="zh-CN" sz="16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r h="861060">
                <a:tc>
                  <a:txBody>
                    <a:bodyPr/>
                    <a:p>
                      <a:pPr algn="ctr">
                        <a:buNone/>
                      </a:pPr>
                      <a:r>
                        <a:rPr lang="zh-CN" altLang="en-US" b="1">
                          <a:solidFill>
                            <a:schemeClr val="bg1"/>
                          </a:solidFill>
                        </a:rPr>
                        <a:t>数学推理</a:t>
                      </a:r>
                      <a:endParaRPr lang="zh-CN" altLang="en-US" b="1">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marL="285750" indent="-285750">
                        <a:buFont typeface="Arial" panose="02080604020202020204" pitchFamily="34" charset="0"/>
                        <a:buChar char="•"/>
                      </a:pPr>
                      <a:r>
                        <a:rPr lang="en-US" altLang="zh-CN" sz="1600" b="0">
                          <a:solidFill>
                            <a:schemeClr val="bg1"/>
                          </a:solidFill>
                        </a:rPr>
                        <a:t>Fable 5</a:t>
                      </a:r>
                      <a:endParaRPr lang="en-US" altLang="zh-CN" sz="1600" b="0">
                        <a:solidFill>
                          <a:schemeClr val="bg1"/>
                        </a:solidFill>
                      </a:endParaRPr>
                    </a:p>
                    <a:p>
                      <a:pPr marL="285750" indent="-285750">
                        <a:buFont typeface="Arial" panose="02080604020202020204" pitchFamily="34" charset="0"/>
                        <a:buChar char="•"/>
                      </a:pPr>
                      <a:r>
                        <a:rPr lang="en-US" altLang="zh-CN" sz="1600" b="0">
                          <a:solidFill>
                            <a:schemeClr val="bg1"/>
                          </a:solidFill>
                        </a:rPr>
                        <a:t>DeepSeek V4 Pro</a:t>
                      </a:r>
                      <a:endParaRPr lang="en-US" altLang="zh-CN" sz="16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r h="861060">
                <a:tc>
                  <a:txBody>
                    <a:bodyPr/>
                    <a:p>
                      <a:pPr algn="ctr">
                        <a:buNone/>
                      </a:pPr>
                      <a:r>
                        <a:rPr lang="zh-CN" altLang="en-US" b="1">
                          <a:solidFill>
                            <a:schemeClr val="bg1"/>
                          </a:solidFill>
                        </a:rPr>
                        <a:t>视觉理解</a:t>
                      </a:r>
                      <a:endParaRPr lang="zh-CN" altLang="en-US" b="1">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c>
                  <a:txBody>
                    <a:bodyPr/>
                    <a:p>
                      <a:pPr marL="285750" indent="-285750">
                        <a:buFont typeface="Arial" panose="02080604020202020204" pitchFamily="34" charset="0"/>
                        <a:buChar char="•"/>
                      </a:pPr>
                      <a:r>
                        <a:rPr lang="en-US" altLang="zh-CN" sz="1600" b="0">
                          <a:solidFill>
                            <a:schemeClr val="bg1"/>
                          </a:solidFill>
                        </a:rPr>
                        <a:t>Gemini 3.1</a:t>
                      </a:r>
                      <a:endParaRPr lang="en-US" altLang="zh-CN" sz="1600" b="0">
                        <a:solidFill>
                          <a:schemeClr val="bg1"/>
                        </a:solidFill>
                      </a:endParaRPr>
                    </a:p>
                    <a:p>
                      <a:pPr marL="285750" indent="-285750">
                        <a:buFont typeface="Arial" panose="02080604020202020204" pitchFamily="34" charset="0"/>
                        <a:buChar char="•"/>
                      </a:pPr>
                      <a:r>
                        <a:rPr lang="en-US" altLang="zh-CN" sz="1600" b="0">
                          <a:solidFill>
                            <a:schemeClr val="bg1"/>
                          </a:solidFill>
                        </a:rPr>
                        <a:t>Qwen 3.8 max</a:t>
                      </a:r>
                      <a:endParaRPr lang="en-US" altLang="zh-CN" sz="1600" b="0">
                        <a:solidFill>
                          <a:schemeClr val="bg1"/>
                        </a:solidFill>
                      </a:endParaRPr>
                    </a:p>
                  </a:txBody>
                  <a:tcPr anchor="ctr" anchorCtr="0">
                    <a:lnL w="12700" cmpd="sng">
                      <a:solidFill>
                        <a:schemeClr val="bg1"/>
                      </a:solidFill>
                      <a:prstDash val="solid"/>
                    </a:lnL>
                    <a:lnR w="12700" cmpd="sng">
                      <a:solidFill>
                        <a:schemeClr val="bg1"/>
                      </a:solidFill>
                      <a:prstDash val="solid"/>
                    </a:lnR>
                    <a:lnT w="12700" cmpd="sng">
                      <a:solidFill>
                        <a:schemeClr val="bg1"/>
                      </a:solidFill>
                      <a:prstDash val="solid"/>
                    </a:lnT>
                    <a:lnB w="12700" cmpd="sng">
                      <a:solidFill>
                        <a:schemeClr val="bg1"/>
                      </a:solidFill>
                      <a:prstDash val="solid"/>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模型的训练过程</a:t>
            </a:r>
            <a:endParaRPr lang="zh-CN" altLang="en-US"/>
          </a:p>
        </p:txBody>
      </p:sp>
      <p:sp>
        <p:nvSpPr>
          <p:cNvPr id="3" name="内容占位符 2"/>
          <p:cNvSpPr>
            <a:spLocks noGrp="1"/>
          </p:cNvSpPr>
          <p:nvPr>
            <p:ph idx="1"/>
          </p:nvPr>
        </p:nvSpPr>
        <p:spPr/>
        <p:txBody>
          <a:bodyPr/>
          <a:p>
            <a:r>
              <a:rPr lang="zh-CN" altLang="en-US"/>
              <a:t>找到用参数描述数据的最优方式</a:t>
            </a:r>
            <a:endParaRPr lang="zh-CN" altLang="en-US"/>
          </a:p>
          <a:p>
            <a:pPr lvl="1"/>
            <a:r>
              <a:rPr lang="zh-CN" altLang="en-US"/>
              <a:t>类似于寻找一片丘陵地带海拔最低的地方</a:t>
            </a:r>
            <a:endParaRPr lang="zh-CN" altLang="en-US"/>
          </a:p>
          <a:p>
            <a:pPr lvl="1"/>
            <a:r>
              <a:rPr lang="zh-CN" altLang="en-US"/>
              <a:t>“地形”由训练数据决定</a:t>
            </a:r>
            <a:endParaRPr lang="zh-CN" altLang="en-US"/>
          </a:p>
          <a:p>
            <a:pPr lvl="0"/>
            <a:r>
              <a:rPr lang="zh-CN" altLang="en-US"/>
              <a:t>三个训练阶段：</a:t>
            </a:r>
            <a:endParaRPr lang="zh-CN" altLang="en-US"/>
          </a:p>
          <a:p>
            <a:pPr lvl="1"/>
            <a:r>
              <a:rPr lang="zh-CN" altLang="en-US"/>
              <a:t>预训练：学习基础知识</a:t>
            </a:r>
            <a:endParaRPr lang="zh-CN" altLang="en-US"/>
          </a:p>
          <a:p>
            <a:pPr lvl="1"/>
            <a:r>
              <a:rPr lang="zh-CN" altLang="en-US"/>
              <a:t>后训练：学习回答不同的题目</a:t>
            </a:r>
            <a:endParaRPr lang="zh-CN" altLang="en-US"/>
          </a:p>
          <a:p>
            <a:pPr lvl="1"/>
            <a:r>
              <a:rPr lang="zh-CN" altLang="en-US"/>
              <a:t>偏好优化/强化训练：学习奥赛场景下的解题技巧</a:t>
            </a:r>
            <a:endParaRPr lang="zh-CN" altLang="en-US"/>
          </a:p>
          <a:p>
            <a:pPr lvl="0"/>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pic>
        <p:nvPicPr>
          <p:cNvPr id="5" name="图片 4"/>
          <p:cNvPicPr/>
          <p:nvPr/>
        </p:nvPicPr>
        <p:blipFill>
          <a:blip r:embed="rId1"/>
          <a:stretch>
            <a:fillRect/>
          </a:stretch>
        </p:blipFill>
        <p:spPr>
          <a:xfrm>
            <a:off x="7267575" y="2212975"/>
            <a:ext cx="3895725" cy="2738755"/>
          </a:xfrm>
          <a:prstGeom prst="rect">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par>
                          <p:cTn id="35" fill="hold">
                            <p:stCondLst>
                              <p:cond delay="1500"/>
                            </p:stCondLst>
                            <p:childTnLst>
                              <p:par>
                                <p:cTn id="36" presetID="10" presetClass="entr" presetSubtype="0" fill="hold" grpId="0" nodeType="after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影响训练的因素</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14" name="内容占位符 5"/>
          <p:cNvSpPr>
            <a:spLocks noGrp="1"/>
          </p:cNvSpPr>
          <p:nvPr/>
        </p:nvSpPr>
        <p:spPr>
          <a:xfrm>
            <a:off x="76263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zh-CN" altLang="en-US" sz="1800"/>
              <a:t>训练数据时间边界：</a:t>
            </a:r>
            <a:endParaRPr lang="zh-CN" altLang="en-US" sz="1800"/>
          </a:p>
          <a:p>
            <a:pPr lvl="1"/>
            <a:r>
              <a:rPr lang="zh-CN" altLang="en-US" sz="1500"/>
              <a:t>新资讯、新知识</a:t>
            </a:r>
            <a:endParaRPr lang="zh-CN" altLang="en-US" sz="1500"/>
          </a:p>
          <a:p>
            <a:r>
              <a:rPr lang="zh-CN" altLang="en-US" sz="1800"/>
              <a:t>数据质量：</a:t>
            </a:r>
            <a:endParaRPr lang="zh-CN" altLang="en-US" sz="1800"/>
          </a:p>
          <a:p>
            <a:pPr lvl="1"/>
            <a:r>
              <a:rPr lang="zh-CN" altLang="en-US" sz="1500"/>
              <a:t>错误、偏见</a:t>
            </a:r>
            <a:endParaRPr lang="zh-CN" altLang="en-US" sz="1500"/>
          </a:p>
          <a:p>
            <a:r>
              <a:rPr lang="zh-CN" altLang="en-US" sz="1800"/>
              <a:t>领域覆盖：</a:t>
            </a:r>
            <a:endParaRPr lang="zh-CN" altLang="en-US" sz="1800"/>
          </a:p>
          <a:p>
            <a:pPr lvl="1"/>
            <a:r>
              <a:rPr lang="zh-CN" altLang="en-US" sz="1500"/>
              <a:t>专业任务训练少，表现弱</a:t>
            </a:r>
            <a:endParaRPr lang="zh-CN" altLang="en-US" sz="1500"/>
          </a:p>
        </p:txBody>
      </p:sp>
      <p:sp>
        <p:nvSpPr>
          <p:cNvPr id="15" name="文本占位符 6"/>
          <p:cNvSpPr>
            <a:spLocks noGrp="1"/>
          </p:cNvSpPr>
          <p:nvPr/>
        </p:nvSpPr>
        <p:spPr>
          <a:xfrm>
            <a:off x="8278495" y="1903730"/>
            <a:ext cx="3209925"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t>目标</a:t>
            </a:r>
            <a:endParaRPr lang="zh-CN" altLang="en-US"/>
          </a:p>
        </p:txBody>
      </p:sp>
      <p:sp>
        <p:nvSpPr>
          <p:cNvPr id="18" name="文本占位符 6"/>
          <p:cNvSpPr>
            <a:spLocks noGrp="1"/>
          </p:cNvSpPr>
          <p:nvPr/>
        </p:nvSpPr>
        <p:spPr>
          <a:xfrm>
            <a:off x="762635" y="1903730"/>
            <a:ext cx="3210560"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solidFill>
                  <a:srgbClr val="00E5FF"/>
                </a:solidFill>
              </a:rPr>
              <a:t>数据</a:t>
            </a:r>
            <a:endParaRPr lang="zh-CN" altLang="en-US">
              <a:solidFill>
                <a:srgbClr val="00E5FF"/>
              </a:solidFill>
            </a:endParaRPr>
          </a:p>
        </p:txBody>
      </p:sp>
      <p:sp>
        <p:nvSpPr>
          <p:cNvPr id="19" name="内容占位符 5"/>
          <p:cNvSpPr>
            <a:spLocks noGrp="1"/>
          </p:cNvSpPr>
          <p:nvPr/>
        </p:nvSpPr>
        <p:spPr>
          <a:xfrm>
            <a:off x="452056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buClr>
                <a:srgbClr val="69F0AE"/>
              </a:buClr>
            </a:pPr>
            <a:r>
              <a:rPr lang="zh-CN" altLang="en-US" sz="1800"/>
              <a:t>参数量：</a:t>
            </a:r>
            <a:endParaRPr lang="zh-CN" altLang="en-US" sz="1800"/>
          </a:p>
          <a:p>
            <a:pPr lvl="1">
              <a:buClr>
                <a:srgbClr val="69F0AE"/>
              </a:buClr>
            </a:pPr>
            <a:r>
              <a:rPr lang="zh-CN" altLang="en-US" sz="1500"/>
              <a:t>参数更多，保存的信息越多</a:t>
            </a:r>
            <a:endParaRPr lang="zh-CN" altLang="en-US" sz="1500"/>
          </a:p>
          <a:p>
            <a:pPr lvl="0">
              <a:buClr>
                <a:srgbClr val="69F0AE"/>
              </a:buClr>
            </a:pPr>
            <a:r>
              <a:rPr lang="zh-CN" altLang="en-US" sz="1800"/>
              <a:t>上下文长度：</a:t>
            </a:r>
            <a:endParaRPr lang="zh-CN" altLang="en-US" sz="1800"/>
          </a:p>
          <a:p>
            <a:pPr lvl="1">
              <a:buClr>
                <a:srgbClr val="69F0AE"/>
              </a:buClr>
            </a:pPr>
            <a:r>
              <a:rPr lang="zh-CN" altLang="en-US" sz="1500"/>
              <a:t>上下文越长，越能处理复杂任务</a:t>
            </a:r>
            <a:endParaRPr lang="zh-CN" altLang="en-US" sz="1500"/>
          </a:p>
          <a:p>
            <a:pPr lvl="0"/>
            <a:endParaRPr lang="zh-CN" altLang="en-US" sz="1800"/>
          </a:p>
        </p:txBody>
      </p:sp>
      <p:sp>
        <p:nvSpPr>
          <p:cNvPr id="20" name="内容占位符 5"/>
          <p:cNvSpPr>
            <a:spLocks noGrp="1"/>
          </p:cNvSpPr>
          <p:nvPr/>
        </p:nvSpPr>
        <p:spPr>
          <a:xfrm>
            <a:off x="827849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buClr>
                <a:srgbClr val="B388FF"/>
              </a:buClr>
            </a:pPr>
            <a:r>
              <a:rPr lang="zh-CN" altLang="en-US" sz="1800"/>
              <a:t>训练任务：</a:t>
            </a:r>
            <a:endParaRPr lang="zh-CN" altLang="en-US" sz="1800"/>
          </a:p>
          <a:p>
            <a:pPr lvl="1">
              <a:buClr>
                <a:srgbClr val="B388FF"/>
              </a:buClr>
            </a:pPr>
            <a:r>
              <a:rPr lang="zh-CN" altLang="en-US" sz="1500"/>
              <a:t>直接影响模型偏好</a:t>
            </a:r>
            <a:endParaRPr lang="zh-CN" altLang="en-US" sz="1500"/>
          </a:p>
          <a:p>
            <a:pPr>
              <a:buClr>
                <a:srgbClr val="B388FF"/>
              </a:buClr>
            </a:pPr>
            <a:r>
              <a:rPr lang="zh-CN" altLang="en-US" sz="1800"/>
              <a:t>对齐环节：</a:t>
            </a:r>
            <a:endParaRPr lang="zh-CN" altLang="en-US" sz="1800"/>
          </a:p>
          <a:p>
            <a:pPr lvl="1">
              <a:buClr>
                <a:srgbClr val="B388FF"/>
              </a:buClr>
            </a:pPr>
            <a:r>
              <a:rPr lang="zh-CN" altLang="en-US" sz="1500"/>
              <a:t>影响模型的使用安全性</a:t>
            </a:r>
            <a:endParaRPr lang="zh-CN" altLang="en-US" sz="1500"/>
          </a:p>
          <a:p>
            <a:pPr lvl="1">
              <a:buClr>
                <a:srgbClr val="B388FF"/>
              </a:buClr>
            </a:pPr>
            <a:r>
              <a:rPr lang="zh-CN" altLang="en-US" sz="1500"/>
              <a:t>影响输出质量</a:t>
            </a:r>
            <a:endParaRPr lang="zh-CN" altLang="en-US" sz="1500"/>
          </a:p>
        </p:txBody>
      </p:sp>
      <p:sp>
        <p:nvSpPr>
          <p:cNvPr id="21" name="文本占位符 6"/>
          <p:cNvSpPr>
            <a:spLocks noGrp="1"/>
          </p:cNvSpPr>
          <p:nvPr/>
        </p:nvSpPr>
        <p:spPr>
          <a:xfrm>
            <a:off x="4520565" y="1903730"/>
            <a:ext cx="3210560"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solidFill>
                  <a:srgbClr val="69F0AE"/>
                </a:solidFill>
              </a:rPr>
              <a:t>模型</a:t>
            </a:r>
            <a:endParaRPr lang="zh-CN" altLang="en-US">
              <a:solidFill>
                <a:srgbClr val="69F0A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p:bldP spid="15" grpId="0"/>
      <p:bldP spid="18" grpId="1"/>
      <p:bldP spid="21" grpId="1"/>
      <p:bldP spid="15" grpId="1"/>
      <p:bldP spid="14" grpId="0"/>
      <p:bldP spid="19" grpId="0"/>
      <p:bldP spid="20" grpId="0"/>
      <p:bldP spid="14" grpId="1"/>
      <p:bldP spid="19" grpId="1"/>
      <p:bldP spid="20"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训练</a:t>
            </a:r>
            <a:r>
              <a:rPr altLang="zh-CN"/>
              <a:t> vs </a:t>
            </a:r>
            <a:r>
              <a:rPr lang="zh-CN" altLang="en-US">
                <a:ea typeface="SimSun" charset="0"/>
              </a:rPr>
              <a:t>推理</a:t>
            </a:r>
            <a:endParaRPr lang="zh-CN" altLang="en-US">
              <a:ea typeface="SimSun" charset="0"/>
            </a:endParaRPr>
          </a:p>
        </p:txBody>
      </p:sp>
      <p:sp>
        <p:nvSpPr>
          <p:cNvPr id="5" name="文本占位符 4"/>
          <p:cNvSpPr>
            <a:spLocks noGrp="1"/>
          </p:cNvSpPr>
          <p:nvPr>
            <p:ph type="body" idx="1"/>
          </p:nvPr>
        </p:nvSpPr>
        <p:spPr>
          <a:xfrm>
            <a:off x="762635" y="1904365"/>
            <a:ext cx="5234940" cy="508635"/>
          </a:xfrm>
        </p:spPr>
        <p:txBody>
          <a:bodyPr/>
          <a:p>
            <a:r>
              <a:rPr lang="zh-CN" altLang="en-US"/>
              <a:t>训练文本</a:t>
            </a:r>
            <a:endParaRPr lang="zh-CN" altLang="en-US"/>
          </a:p>
        </p:txBody>
      </p:sp>
      <p:sp>
        <p:nvSpPr>
          <p:cNvPr id="6" name="内容占位符 5"/>
          <p:cNvSpPr>
            <a:spLocks noGrp="1"/>
          </p:cNvSpPr>
          <p:nvPr>
            <p:ph sz="half" idx="2"/>
          </p:nvPr>
        </p:nvSpPr>
        <p:spPr>
          <a:xfrm>
            <a:off x="762635" y="2480310"/>
            <a:ext cx="5234940" cy="3709035"/>
          </a:xfrm>
        </p:spPr>
        <p:txBody>
          <a:bodyPr>
            <a:normAutofit/>
          </a:bodyPr>
          <a:p>
            <a:pPr marL="0" indent="0" fontAlgn="auto">
              <a:lnSpc>
                <a:spcPct val="100000"/>
              </a:lnSpc>
              <a:spcBef>
                <a:spcPts val="600"/>
              </a:spcBef>
              <a:buNone/>
            </a:pPr>
            <a:r>
              <a:rPr lang="en-US" altLang="zh-CN" sz="1600"/>
              <a:t>&lt;system&gt;</a:t>
            </a:r>
            <a:endParaRPr lang="en-US" altLang="zh-CN" sz="1600"/>
          </a:p>
          <a:p>
            <a:pPr marL="0" indent="0" fontAlgn="auto">
              <a:lnSpc>
                <a:spcPct val="100000"/>
              </a:lnSpc>
              <a:spcBef>
                <a:spcPts val="600"/>
              </a:spcBef>
              <a:buNone/>
            </a:pPr>
            <a:r>
              <a:rPr lang="zh-CN" altLang="en-US" sz="1600"/>
              <a:t>你是一个百科问答助手，可以回答用户提出的科学问题。</a:t>
            </a:r>
            <a:endParaRPr lang="en-US" altLang="zh-CN" sz="1600"/>
          </a:p>
          <a:p>
            <a:pPr marL="0" indent="0" fontAlgn="auto">
              <a:lnSpc>
                <a:spcPct val="100000"/>
              </a:lnSpc>
              <a:spcBef>
                <a:spcPts val="600"/>
              </a:spcBef>
              <a:buNone/>
            </a:pPr>
            <a:r>
              <a:rPr lang="en-US" altLang="zh-CN" sz="1600"/>
              <a:t>&lt;/system&gt;</a:t>
            </a:r>
            <a:br>
              <a:rPr lang="en-US" altLang="zh-CN" sz="1600"/>
            </a:br>
            <a:r>
              <a:rPr lang="en-US" altLang="zh-CN" sz="1600"/>
              <a:t>&lt;instruction&gt;</a:t>
            </a:r>
            <a:br>
              <a:rPr lang="en-US" altLang="zh-CN" sz="1600"/>
            </a:br>
            <a:r>
              <a:rPr lang="zh-CN" altLang="en-US" sz="1600"/>
              <a:t>天空为什么是蓝色的？</a:t>
            </a:r>
            <a:endParaRPr lang="en-US" altLang="zh-CN" sz="1600"/>
          </a:p>
          <a:p>
            <a:pPr marL="0" indent="0" fontAlgn="auto">
              <a:lnSpc>
                <a:spcPct val="100000"/>
              </a:lnSpc>
              <a:spcBef>
                <a:spcPts val="600"/>
              </a:spcBef>
              <a:buNone/>
            </a:pPr>
            <a:r>
              <a:rPr lang="en-US" altLang="zh-CN" sz="1600"/>
              <a:t>&lt;/</a:t>
            </a:r>
            <a:r>
              <a:rPr lang="en-US" altLang="zh-CN" sz="1600">
                <a:sym typeface="+mn-ea"/>
              </a:rPr>
              <a:t>instruction</a:t>
            </a:r>
            <a:r>
              <a:rPr lang="en-US" altLang="zh-CN" sz="1600"/>
              <a:t>&gt;</a:t>
            </a:r>
            <a:endParaRPr lang="en-US" altLang="zh-CN" sz="1600"/>
          </a:p>
          <a:p>
            <a:pPr marL="0" indent="0" fontAlgn="auto">
              <a:lnSpc>
                <a:spcPct val="100000"/>
              </a:lnSpc>
              <a:spcBef>
                <a:spcPts val="600"/>
              </a:spcBef>
              <a:buNone/>
            </a:pPr>
            <a:r>
              <a:rPr lang="en-US" altLang="zh-CN" sz="1600"/>
              <a:t>&lt;answer&gt;</a:t>
            </a:r>
            <a:endParaRPr lang="en-US" altLang="zh-CN" sz="1600"/>
          </a:p>
          <a:p>
            <a:pPr marL="0" indent="0" fontAlgn="auto">
              <a:lnSpc>
                <a:spcPct val="100000"/>
              </a:lnSpc>
              <a:spcBef>
                <a:spcPts val="600"/>
              </a:spcBef>
              <a:buNone/>
            </a:pPr>
            <a:r>
              <a:rPr lang="zh-CN" altLang="en-US" sz="1600"/>
              <a:t>阳光被大气散射，蓝光波长最短、散射最强，布满天穹，因此天空呈蓝色。</a:t>
            </a:r>
            <a:endParaRPr lang="zh-CN" altLang="en-US" sz="1600"/>
          </a:p>
          <a:p>
            <a:pPr marL="0" indent="0" fontAlgn="auto">
              <a:lnSpc>
                <a:spcPct val="100000"/>
              </a:lnSpc>
              <a:spcBef>
                <a:spcPts val="600"/>
              </a:spcBef>
              <a:buNone/>
            </a:pPr>
            <a:r>
              <a:rPr lang="en-US" altLang="zh-CN" sz="1600"/>
              <a:t>&lt;/answer&gt;</a:t>
            </a:r>
            <a:endParaRPr lang="en-US" altLang="zh-CN" sz="1600"/>
          </a:p>
        </p:txBody>
      </p:sp>
      <p:sp>
        <p:nvSpPr>
          <p:cNvPr id="7" name="文本占位符 6"/>
          <p:cNvSpPr>
            <a:spLocks noGrp="1"/>
          </p:cNvSpPr>
          <p:nvPr>
            <p:ph type="body" sz="quarter" idx="3"/>
          </p:nvPr>
        </p:nvSpPr>
        <p:spPr/>
        <p:txBody>
          <a:bodyPr/>
          <a:p>
            <a:r>
              <a:rPr lang="zh-CN" altLang="en-US"/>
              <a:t>推理任务</a:t>
            </a:r>
            <a:endParaRPr lang="zh-CN" altLang="en-US"/>
          </a:p>
        </p:txBody>
      </p:sp>
      <p:sp>
        <p:nvSpPr>
          <p:cNvPr id="8" name="内容占位符 7"/>
          <p:cNvSpPr>
            <a:spLocks noGrp="1"/>
          </p:cNvSpPr>
          <p:nvPr>
            <p:ph sz="quarter" idx="4"/>
          </p:nvPr>
        </p:nvSpPr>
        <p:spPr/>
        <p:txBody>
          <a:bodyPr>
            <a:normAutofit/>
          </a:bodyPr>
          <a:p>
            <a:pPr marL="0" algn="l" fontAlgn="auto">
              <a:lnSpc>
                <a:spcPct val="100000"/>
              </a:lnSpc>
              <a:spcBef>
                <a:spcPts val="600"/>
              </a:spcBef>
              <a:buSzTx/>
              <a:buNone/>
            </a:pPr>
            <a:r>
              <a:rPr lang="en-US" altLang="zh-CN" sz="1600">
                <a:sym typeface="+mn-ea"/>
              </a:rPr>
              <a:t>&lt;system&gt;</a:t>
            </a:r>
            <a:endParaRPr lang="en-US" altLang="zh-CN" sz="1600"/>
          </a:p>
          <a:p>
            <a:pPr marL="0" algn="l" fontAlgn="auto">
              <a:lnSpc>
                <a:spcPct val="100000"/>
              </a:lnSpc>
              <a:spcBef>
                <a:spcPts val="600"/>
              </a:spcBef>
              <a:buSzTx/>
              <a:buNone/>
            </a:pPr>
            <a:r>
              <a:rPr lang="en-US" altLang="zh-CN" sz="1600">
                <a:sym typeface="+mn-ea"/>
              </a:rPr>
              <a:t>你是一个</a:t>
            </a:r>
            <a:r>
              <a:rPr lang="zh-CN" altLang="en-US" sz="1600">
                <a:sym typeface="+mn-ea"/>
              </a:rPr>
              <a:t>天文学家</a:t>
            </a:r>
            <a:r>
              <a:rPr lang="en-US" altLang="zh-CN" sz="1600">
                <a:sym typeface="+mn-ea"/>
              </a:rPr>
              <a:t>，可以回答用户提出的</a:t>
            </a:r>
            <a:r>
              <a:rPr lang="zh-CN" altLang="en-US" sz="1600">
                <a:sym typeface="+mn-ea"/>
              </a:rPr>
              <a:t>天文学</a:t>
            </a:r>
            <a:r>
              <a:rPr lang="en-US" altLang="zh-CN" sz="1600">
                <a:sym typeface="+mn-ea"/>
              </a:rPr>
              <a:t>问题。</a:t>
            </a:r>
            <a:endParaRPr lang="en-US" altLang="zh-CN" sz="1600"/>
          </a:p>
          <a:p>
            <a:pPr marL="0" algn="l" fontAlgn="auto">
              <a:lnSpc>
                <a:spcPct val="100000"/>
              </a:lnSpc>
              <a:spcBef>
                <a:spcPts val="600"/>
              </a:spcBef>
              <a:buSzTx/>
              <a:buNone/>
            </a:pPr>
            <a:r>
              <a:rPr lang="en-US" altLang="zh-CN" sz="1600">
                <a:sym typeface="+mn-ea"/>
              </a:rPr>
              <a:t>&lt;/system&gt;</a:t>
            </a:r>
            <a:br>
              <a:rPr lang="en-US" altLang="zh-CN" sz="1600">
                <a:sym typeface="+mn-ea"/>
              </a:rPr>
            </a:br>
            <a:r>
              <a:rPr lang="en-US" altLang="zh-CN" sz="1600">
                <a:sym typeface="+mn-ea"/>
              </a:rPr>
              <a:t>&lt;instruction&gt;</a:t>
            </a:r>
            <a:br>
              <a:rPr lang="en-US" altLang="zh-CN" sz="1600">
                <a:sym typeface="+mn-ea"/>
              </a:rPr>
            </a:br>
            <a:r>
              <a:rPr lang="zh-CN" altLang="en-US" sz="1600"/>
              <a:t>恒星为什么会发光？</a:t>
            </a:r>
            <a:endParaRPr lang="en-US" altLang="zh-CN" sz="1600"/>
          </a:p>
          <a:p>
            <a:pPr marL="0" algn="l" fontAlgn="auto">
              <a:lnSpc>
                <a:spcPct val="100000"/>
              </a:lnSpc>
              <a:spcBef>
                <a:spcPts val="600"/>
              </a:spcBef>
              <a:buSzTx/>
              <a:buNone/>
            </a:pPr>
            <a:r>
              <a:rPr lang="en-US" altLang="zh-CN" sz="1600">
                <a:sym typeface="+mn-ea"/>
              </a:rPr>
              <a:t>&lt;/</a:t>
            </a:r>
            <a:r>
              <a:rPr lang="en-US" altLang="zh-CN" sz="1600">
                <a:sym typeface="+mn-ea"/>
              </a:rPr>
              <a:t>instruction</a:t>
            </a:r>
            <a:r>
              <a:rPr lang="en-US" altLang="zh-CN" sz="1600">
                <a:sym typeface="+mn-ea"/>
              </a:rPr>
              <a:t>&gt;</a:t>
            </a:r>
            <a:endParaRPr lang="en-US" altLang="zh-CN" sz="1600"/>
          </a:p>
          <a:p>
            <a:pPr marL="0" algn="l" fontAlgn="auto">
              <a:lnSpc>
                <a:spcPct val="100000"/>
              </a:lnSpc>
              <a:spcBef>
                <a:spcPts val="600"/>
              </a:spcBef>
              <a:buSzTx/>
              <a:buNone/>
            </a:pPr>
            <a:r>
              <a:rPr lang="en-US" altLang="zh-CN" sz="1600">
                <a:sym typeface="+mn-ea"/>
              </a:rPr>
              <a:t>&lt;answer&gt;</a:t>
            </a:r>
            <a:endParaRPr lang="en-US" altLang="zh-CN" sz="1600"/>
          </a:p>
          <a:p>
            <a:pPr marL="0" algn="l" fontAlgn="auto">
              <a:lnSpc>
                <a:spcPct val="100000"/>
              </a:lnSpc>
              <a:spcBef>
                <a:spcPts val="600"/>
              </a:spcBef>
              <a:buSzTx/>
              <a:buNone/>
            </a:pPr>
            <a:r>
              <a:rPr lang="en-US" altLang="zh-CN" sz="1600">
                <a:sym typeface="+mn-ea"/>
              </a:rPr>
              <a:t>……</a:t>
            </a:r>
            <a:endParaRPr lang="en-US" altLang="zh-CN" sz="1600"/>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500"/>
                                        <p:tgtEl>
                                          <p:spTgt spid="6">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fade">
                                      <p:cBhvr>
                                        <p:cTn id="23" dur="500"/>
                                        <p:tgtEl>
                                          <p:spTgt spid="6">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Effect transition="in" filter="fade">
                                      <p:cBhvr>
                                        <p:cTn id="31" dur="500"/>
                                        <p:tgtEl>
                                          <p:spTgt spid="6">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fade">
                                      <p:cBhvr>
                                        <p:cTn id="35" dur="500"/>
                                        <p:tgtEl>
                                          <p:spTgt spid="6">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fade">
                                      <p:cBhvr>
                                        <p:cTn id="40" dur="500"/>
                                        <p:tgtEl>
                                          <p:spTgt spid="7">
                                            <p:txEl>
                                              <p:pRg st="0" end="0"/>
                                            </p:txEl>
                                          </p:spTgt>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8">
                                            <p:txEl>
                                              <p:pRg st="0" end="0"/>
                                            </p:txEl>
                                          </p:spTgt>
                                        </p:tgtEl>
                                        <p:attrNameLst>
                                          <p:attrName>style.visibility</p:attrName>
                                        </p:attrNameLst>
                                      </p:cBhvr>
                                      <p:to>
                                        <p:strVal val="visible"/>
                                      </p:to>
                                    </p:set>
                                    <p:animEffect transition="in" filter="fade">
                                      <p:cBhvr>
                                        <p:cTn id="44" dur="500"/>
                                        <p:tgtEl>
                                          <p:spTgt spid="8">
                                            <p:txEl>
                                              <p:pRg st="0" end="0"/>
                                            </p:txEl>
                                          </p:spTgt>
                                        </p:tgtEl>
                                      </p:cBhvr>
                                    </p:animEffect>
                                  </p:childTnLst>
                                </p:cTn>
                              </p:par>
                            </p:childTnLst>
                          </p:cTn>
                        </p:par>
                        <p:par>
                          <p:cTn id="45" fill="hold">
                            <p:stCondLst>
                              <p:cond delay="1000"/>
                            </p:stCondLst>
                            <p:childTnLst>
                              <p:par>
                                <p:cTn id="46" presetID="10" presetClass="entr" presetSubtype="0" fill="hold" grpId="0" nodeType="afterEffect">
                                  <p:stCondLst>
                                    <p:cond delay="0"/>
                                  </p:stCondLst>
                                  <p:childTnLst>
                                    <p:set>
                                      <p:cBhvr>
                                        <p:cTn id="47" dur="1" fill="hold">
                                          <p:stCondLst>
                                            <p:cond delay="0"/>
                                          </p:stCondLst>
                                        </p:cTn>
                                        <p:tgtEl>
                                          <p:spTgt spid="8">
                                            <p:txEl>
                                              <p:pRg st="1" end="1"/>
                                            </p:txEl>
                                          </p:spTgt>
                                        </p:tgtEl>
                                        <p:attrNameLst>
                                          <p:attrName>style.visibility</p:attrName>
                                        </p:attrNameLst>
                                      </p:cBhvr>
                                      <p:to>
                                        <p:strVal val="visible"/>
                                      </p:to>
                                    </p:set>
                                    <p:animEffect transition="in" filter="fade">
                                      <p:cBhvr>
                                        <p:cTn id="48" dur="500"/>
                                        <p:tgtEl>
                                          <p:spTgt spid="8">
                                            <p:txEl>
                                              <p:pRg st="1" end="1"/>
                                            </p:txEl>
                                          </p:spTgt>
                                        </p:tgtEl>
                                      </p:cBhvr>
                                    </p:animEffect>
                                  </p:childTnLst>
                                </p:cTn>
                              </p:par>
                            </p:childTnLst>
                          </p:cTn>
                        </p:par>
                        <p:par>
                          <p:cTn id="49" fill="hold">
                            <p:stCondLst>
                              <p:cond delay="1500"/>
                            </p:stCondLst>
                            <p:childTnLst>
                              <p:par>
                                <p:cTn id="50" presetID="10" presetClass="entr" presetSubtype="0" fill="hold" grpId="0" nodeType="afterEffect">
                                  <p:stCondLst>
                                    <p:cond delay="0"/>
                                  </p:stCondLst>
                                  <p:childTnLst>
                                    <p:set>
                                      <p:cBhvr>
                                        <p:cTn id="51" dur="1" fill="hold">
                                          <p:stCondLst>
                                            <p:cond delay="0"/>
                                          </p:stCondLst>
                                        </p:cTn>
                                        <p:tgtEl>
                                          <p:spTgt spid="8">
                                            <p:txEl>
                                              <p:pRg st="2" end="2"/>
                                            </p:txEl>
                                          </p:spTgt>
                                        </p:tgtEl>
                                        <p:attrNameLst>
                                          <p:attrName>style.visibility</p:attrName>
                                        </p:attrNameLst>
                                      </p:cBhvr>
                                      <p:to>
                                        <p:strVal val="visible"/>
                                      </p:to>
                                    </p:set>
                                    <p:animEffect transition="in" filter="fade">
                                      <p:cBhvr>
                                        <p:cTn id="52" dur="500"/>
                                        <p:tgtEl>
                                          <p:spTgt spid="8">
                                            <p:txEl>
                                              <p:pRg st="2" end="2"/>
                                            </p:txEl>
                                          </p:spTgt>
                                        </p:tgtEl>
                                      </p:cBhvr>
                                    </p:animEffect>
                                  </p:childTnLst>
                                </p:cTn>
                              </p:par>
                            </p:childTnLst>
                          </p:cTn>
                        </p:par>
                        <p:par>
                          <p:cTn id="53" fill="hold">
                            <p:stCondLst>
                              <p:cond delay="2000"/>
                            </p:stCondLst>
                            <p:childTnLst>
                              <p:par>
                                <p:cTn id="54" presetID="10" presetClass="entr" presetSubtype="0" fill="hold" grpId="0" nodeType="afterEffect">
                                  <p:stCondLst>
                                    <p:cond delay="0"/>
                                  </p:stCondLst>
                                  <p:childTnLst>
                                    <p:set>
                                      <p:cBhvr>
                                        <p:cTn id="55" dur="1" fill="hold">
                                          <p:stCondLst>
                                            <p:cond delay="0"/>
                                          </p:stCondLst>
                                        </p:cTn>
                                        <p:tgtEl>
                                          <p:spTgt spid="8">
                                            <p:txEl>
                                              <p:pRg st="3" end="3"/>
                                            </p:txEl>
                                          </p:spTgt>
                                        </p:tgtEl>
                                        <p:attrNameLst>
                                          <p:attrName>style.visibility</p:attrName>
                                        </p:attrNameLst>
                                      </p:cBhvr>
                                      <p:to>
                                        <p:strVal val="visible"/>
                                      </p:to>
                                    </p:set>
                                    <p:animEffect transition="in" filter="fade">
                                      <p:cBhvr>
                                        <p:cTn id="56" dur="500"/>
                                        <p:tgtEl>
                                          <p:spTgt spid="8">
                                            <p:txEl>
                                              <p:pRg st="3" end="3"/>
                                            </p:txEl>
                                          </p:spTgt>
                                        </p:tgtEl>
                                      </p:cBhvr>
                                    </p:animEffect>
                                  </p:childTnLst>
                                </p:cTn>
                              </p:par>
                            </p:childTnLst>
                          </p:cTn>
                        </p:par>
                        <p:par>
                          <p:cTn id="57" fill="hold">
                            <p:stCondLst>
                              <p:cond delay="2500"/>
                            </p:stCondLst>
                            <p:childTnLst>
                              <p:par>
                                <p:cTn id="58" presetID="10" presetClass="entr" presetSubtype="0" fill="hold" grpId="0" nodeType="afterEffect">
                                  <p:stCondLst>
                                    <p:cond delay="0"/>
                                  </p:stCondLst>
                                  <p:childTnLst>
                                    <p:set>
                                      <p:cBhvr>
                                        <p:cTn id="59" dur="1" fill="hold">
                                          <p:stCondLst>
                                            <p:cond delay="0"/>
                                          </p:stCondLst>
                                        </p:cTn>
                                        <p:tgtEl>
                                          <p:spTgt spid="8">
                                            <p:txEl>
                                              <p:pRg st="4" end="4"/>
                                            </p:txEl>
                                          </p:spTgt>
                                        </p:tgtEl>
                                        <p:attrNameLst>
                                          <p:attrName>style.visibility</p:attrName>
                                        </p:attrNameLst>
                                      </p:cBhvr>
                                      <p:to>
                                        <p:strVal val="visible"/>
                                      </p:to>
                                    </p:set>
                                    <p:animEffect transition="in" filter="fade">
                                      <p:cBhvr>
                                        <p:cTn id="60" dur="500"/>
                                        <p:tgtEl>
                                          <p:spTgt spid="8">
                                            <p:txEl>
                                              <p:pRg st="4" end="4"/>
                                            </p:txEl>
                                          </p:spTgt>
                                        </p:tgtEl>
                                      </p:cBhvr>
                                    </p:animEffect>
                                  </p:childTnLst>
                                </p:cTn>
                              </p:par>
                            </p:childTnLst>
                          </p:cTn>
                        </p:par>
                        <p:par>
                          <p:cTn id="61" fill="hold">
                            <p:stCondLst>
                              <p:cond delay="3000"/>
                            </p:stCondLst>
                            <p:childTnLst>
                              <p:par>
                                <p:cTn id="62" presetID="10" presetClass="entr" presetSubtype="0" fill="hold" grpId="0" nodeType="afterEffect">
                                  <p:stCondLst>
                                    <p:cond delay="0"/>
                                  </p:stCondLst>
                                  <p:childTnLst>
                                    <p:set>
                                      <p:cBhvr>
                                        <p:cTn id="63" dur="1" fill="hold">
                                          <p:stCondLst>
                                            <p:cond delay="0"/>
                                          </p:stCondLst>
                                        </p:cTn>
                                        <p:tgtEl>
                                          <p:spTgt spid="8">
                                            <p:txEl>
                                              <p:pRg st="5" end="5"/>
                                            </p:txEl>
                                          </p:spTgt>
                                        </p:tgtEl>
                                        <p:attrNameLst>
                                          <p:attrName>style.visibility</p:attrName>
                                        </p:attrNameLst>
                                      </p:cBhvr>
                                      <p:to>
                                        <p:strVal val="visible"/>
                                      </p:to>
                                    </p:set>
                                    <p:animEffect transition="in" filter="fade">
                                      <p:cBhvr>
                                        <p:cTn id="64"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build="p"/>
      <p:bldP spid="6" grpId="0" build="p"/>
      <p:bldP spid="8" grpId="0" build="p"/>
      <p:bldP spid="5" grpId="1" build="p"/>
      <p:bldP spid="7" grpId="1" build="p"/>
      <p:bldP spid="6" grpId="1" build="p"/>
      <p:bldP spid="8" grpI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内容占位符 6"/>
          <p:cNvSpPr>
            <a:spLocks noGrp="1"/>
          </p:cNvSpPr>
          <p:nvPr>
            <p:ph idx="1"/>
          </p:nvPr>
        </p:nvSpPr>
        <p:spPr/>
        <p:txBody>
          <a:bodyPr/>
          <a:p>
            <a:r>
              <a:rPr lang="zh-CN" altLang="en-US"/>
              <a:t>如何能够更好地驾驭</a:t>
            </a:r>
            <a:r>
              <a:rPr altLang="zh-CN"/>
              <a:t>AI</a:t>
            </a:r>
            <a:r>
              <a:rPr lang="zh-CN" altLang="en-US">
                <a:ea typeface="SimSun" charset="0"/>
              </a:rPr>
              <a:t>？</a:t>
            </a:r>
            <a:endParaRPr lang="zh-CN" altLang="en-US">
              <a:ea typeface="SimSun" charset="0"/>
            </a:endParaRPr>
          </a:p>
        </p:txBody>
      </p:sp>
      <p:sp>
        <p:nvSpPr>
          <p:cNvPr id="8" name="内容占位符 7"/>
          <p:cNvSpPr>
            <a:spLocks noGrp="1"/>
          </p:cNvSpPr>
          <p:nvPr>
            <p:ph idx="13"/>
          </p:nvPr>
        </p:nvSpPr>
        <p:spPr/>
        <p:txBody>
          <a:bodyPr/>
          <a:p>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normAutofit fontScale="90000"/>
          </a:bodyPr>
          <a:p>
            <a:r>
              <a:rPr lang="zh-CN" altLang="en-US"/>
              <a:t>提示词工程</a:t>
            </a:r>
            <a:endParaRPr lang="zh-CN" altLang="en-US"/>
          </a:p>
        </p:txBody>
      </p:sp>
      <p:sp>
        <p:nvSpPr>
          <p:cNvPr id="7" name="内容占位符 6"/>
          <p:cNvSpPr>
            <a:spLocks noGrp="1"/>
          </p:cNvSpPr>
          <p:nvPr>
            <p:ph idx="1"/>
          </p:nvPr>
        </p:nvSpPr>
        <p:spPr/>
        <p:txBody>
          <a:bodyPr>
            <a:normAutofit lnSpcReduction="20000"/>
          </a:bodyPr>
          <a:p>
            <a:r>
              <a:rPr lang="zh-CN" altLang="en-US"/>
              <a:t>四要素：任务、要求、格式、场景</a:t>
            </a:r>
            <a:endParaRPr lang="zh-CN" altLang="en-US"/>
          </a:p>
          <a:p>
            <a:r>
              <a:rPr lang="zh-CN" altLang="en-US"/>
              <a:t>四原则：全面、一致、简洁、合理</a:t>
            </a:r>
            <a:endParaRPr lang="zh-CN" altLang="en-US"/>
          </a:p>
          <a:p>
            <a:r>
              <a:rPr lang="zh-CN" altLang="en-US"/>
              <a:t>五种常用技巧：</a:t>
            </a:r>
            <a:endParaRPr lang="zh-CN" altLang="en-US"/>
          </a:p>
          <a:p>
            <a:pPr lvl="1"/>
            <a:r>
              <a:rPr lang="zh-CN" altLang="en-US"/>
              <a:t>角色设定</a:t>
            </a:r>
            <a:endParaRPr lang="zh-CN" altLang="en-US"/>
          </a:p>
          <a:p>
            <a:pPr lvl="1"/>
            <a:r>
              <a:rPr lang="zh-CN" altLang="en-US"/>
              <a:t>样例提示</a:t>
            </a:r>
            <a:endParaRPr lang="zh-CN" altLang="en-US"/>
          </a:p>
          <a:p>
            <a:pPr lvl="1"/>
            <a:r>
              <a:rPr lang="zh-CN" altLang="en-US"/>
              <a:t>分步提示</a:t>
            </a:r>
            <a:endParaRPr lang="zh-CN" altLang="en-US"/>
          </a:p>
          <a:p>
            <a:pPr lvl="1"/>
            <a:r>
              <a:rPr lang="zh-CN" altLang="en-US"/>
              <a:t>结构化输出</a:t>
            </a:r>
            <a:endParaRPr lang="zh-CN" altLang="en-US"/>
          </a:p>
          <a:p>
            <a:pPr lvl="1"/>
            <a:r>
              <a:rPr lang="zh-CN" altLang="en-US"/>
              <a:t>选择对话上下文</a:t>
            </a:r>
            <a:endParaRPr lang="zh-CN" altLang="en-US"/>
          </a:p>
          <a:p>
            <a:pPr lvl="0"/>
            <a:r>
              <a:rPr lang="zh-CN" altLang="en-US"/>
              <a:t>用提示词生成提示词</a:t>
            </a:r>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2" name="内容占位符 4"/>
          <p:cNvSpPr>
            <a:spLocks noGrp="1"/>
          </p:cNvSpPr>
          <p:nvPr/>
        </p:nvSpPr>
        <p:spPr>
          <a:xfrm>
            <a:off x="6096635" y="1825625"/>
            <a:ext cx="5322570" cy="4351655"/>
          </a:xfrm>
          <a:prstGeom prst="rect">
            <a:avLst/>
          </a:prstGeom>
          <a:ln>
            <a:solidFill>
              <a:schemeClr val="bg1"/>
            </a:solidFill>
          </a:ln>
        </p:spPr>
        <p:txBody>
          <a:bodyPr vert="horz" lIns="91440" tIns="45720" rIns="91440" bIns="45720" numCol="1" spcCol="359999" rtlCol="0"/>
          <a:lstStyle>
            <a:lvl1pPr marL="228600" indent="-228600" algn="l" defTabSz="914400" rtl="0" eaLnBrk="1" latinLnBrk="0" hangingPunct="1">
              <a:lnSpc>
                <a:spcPct val="150000"/>
              </a:lnSpc>
              <a:spcBef>
                <a:spcPts val="1000"/>
              </a:spcBef>
              <a:buClr>
                <a:srgbClr val="00E5FA"/>
              </a:buClr>
              <a:buFont typeface="Arial" panose="0208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A"/>
              </a:buClr>
              <a:buFont typeface="Arial" panose="02080604020202020204" pitchFamily="34" charset="0"/>
              <a:buChar char="•"/>
              <a:defRPr sz="18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A"/>
              </a:buClr>
              <a:buFont typeface="Arial" panose="0208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A"/>
              </a:buClr>
              <a:buFont typeface="Arial" panose="0208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A"/>
              </a:buClr>
              <a:buFont typeface="Arial" panose="0208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marL="0" indent="0" fontAlgn="auto">
              <a:lnSpc>
                <a:spcPts val="2200"/>
              </a:lnSpc>
              <a:spcBef>
                <a:spcPts val="400"/>
              </a:spcBef>
              <a:spcAft>
                <a:spcPts val="0"/>
              </a:spcAft>
              <a:buNone/>
            </a:pPr>
            <a:r>
              <a:rPr lang="en-US" altLang="zh-CN" sz="1600">
                <a:solidFill>
                  <a:srgbClr val="00E5FF"/>
                </a:solidFill>
              </a:rPr>
              <a:t>## </a:t>
            </a:r>
            <a:r>
              <a:rPr lang="zh-CN" altLang="en-US" sz="1600">
                <a:solidFill>
                  <a:srgbClr val="00E5FF"/>
                </a:solidFill>
              </a:rPr>
              <a:t>人设</a:t>
            </a:r>
            <a:endParaRPr lang="zh-CN" altLang="en-US" sz="1600">
              <a:solidFill>
                <a:srgbClr val="00E5FF"/>
              </a:solidFill>
            </a:endParaRPr>
          </a:p>
          <a:p>
            <a:pPr marL="0" indent="0" fontAlgn="auto">
              <a:lnSpc>
                <a:spcPts val="2200"/>
              </a:lnSpc>
              <a:spcBef>
                <a:spcPts val="400"/>
              </a:spcBef>
              <a:spcAft>
                <a:spcPts val="0"/>
              </a:spcAft>
              <a:buNone/>
            </a:pPr>
            <a:r>
              <a:rPr lang="zh-CN" altLang="en-US" sz="1600">
                <a:solidFill>
                  <a:schemeClr val="bg1"/>
                </a:solidFill>
              </a:rPr>
              <a:t>你是一位资深科技编辑</a:t>
            </a:r>
            <a:endParaRPr lang="zh-CN" altLang="en-US" sz="1600">
              <a:solidFill>
                <a:schemeClr val="bg1"/>
              </a:solidFill>
            </a:endParaRPr>
          </a:p>
          <a:p>
            <a:pPr marL="0" indent="0" fontAlgn="auto">
              <a:lnSpc>
                <a:spcPts val="2200"/>
              </a:lnSpc>
              <a:spcBef>
                <a:spcPts val="400"/>
              </a:spcBef>
              <a:spcAft>
                <a:spcPts val="0"/>
              </a:spcAft>
              <a:buNone/>
            </a:pPr>
            <a:r>
              <a:rPr lang="en-US" altLang="zh-CN" sz="1600">
                <a:solidFill>
                  <a:srgbClr val="00E5FF"/>
                </a:solidFill>
              </a:rPr>
              <a:t>## </a:t>
            </a:r>
            <a:r>
              <a:rPr lang="zh-CN" altLang="en-US" sz="1600">
                <a:solidFill>
                  <a:srgbClr val="00E5FF"/>
                </a:solidFill>
              </a:rPr>
              <a:t>任务</a:t>
            </a:r>
            <a:endParaRPr lang="zh-CN" altLang="en-US" sz="1600">
              <a:solidFill>
                <a:srgbClr val="00E5FF"/>
              </a:solidFill>
            </a:endParaRPr>
          </a:p>
          <a:p>
            <a:pPr marL="0" indent="0" fontAlgn="auto">
              <a:lnSpc>
                <a:spcPts val="2200"/>
              </a:lnSpc>
              <a:spcBef>
                <a:spcPts val="400"/>
              </a:spcBef>
              <a:spcAft>
                <a:spcPts val="0"/>
              </a:spcAft>
              <a:buNone/>
            </a:pPr>
            <a:r>
              <a:rPr lang="zh-CN" altLang="en-US" sz="1600">
                <a:solidFill>
                  <a:schemeClr val="bg1"/>
                </a:solidFill>
              </a:rPr>
              <a:t>请以「脑机接口离我们还有多远」为题，写一篇800字左右的科普短文。</a:t>
            </a:r>
            <a:endParaRPr lang="zh-CN" altLang="en-US" sz="1600">
              <a:solidFill>
                <a:schemeClr val="bg1"/>
              </a:solidFill>
            </a:endParaRPr>
          </a:p>
          <a:p>
            <a:pPr marL="0" indent="0" fontAlgn="auto">
              <a:lnSpc>
                <a:spcPts val="2200"/>
              </a:lnSpc>
              <a:spcBef>
                <a:spcPts val="400"/>
              </a:spcBef>
              <a:spcAft>
                <a:spcPts val="0"/>
              </a:spcAft>
              <a:buNone/>
            </a:pPr>
            <a:r>
              <a:rPr lang="en-US" altLang="zh-CN" sz="1600">
                <a:solidFill>
                  <a:srgbClr val="00E5FF"/>
                </a:solidFill>
              </a:rPr>
              <a:t>## </a:t>
            </a:r>
            <a:r>
              <a:rPr lang="zh-CN" altLang="en-US" sz="1600">
                <a:solidFill>
                  <a:srgbClr val="00E5FF"/>
                </a:solidFill>
              </a:rPr>
              <a:t>要求</a:t>
            </a:r>
            <a:endParaRPr lang="en-US" altLang="zh-CN" sz="1600">
              <a:solidFill>
                <a:srgbClr val="00E5FF"/>
              </a:solidFill>
            </a:endParaRPr>
          </a:p>
          <a:p>
            <a:pPr marL="342900" indent="-342900" fontAlgn="auto">
              <a:lnSpc>
                <a:spcPts val="2200"/>
              </a:lnSpc>
              <a:spcBef>
                <a:spcPts val="400"/>
              </a:spcBef>
              <a:spcAft>
                <a:spcPts val="0"/>
              </a:spcAft>
              <a:buClr>
                <a:srgbClr val="FFFFFF"/>
              </a:buClr>
              <a:buFont typeface="+mj-lt"/>
              <a:buAutoNum type="arabicPeriod"/>
            </a:pPr>
            <a:r>
              <a:rPr lang="zh-CN" altLang="en-US" sz="1600">
                <a:solidFill>
                  <a:schemeClr val="bg1"/>
                </a:solidFill>
              </a:rPr>
              <a:t>开头用生活化场景引入（如瘫痪患者用意念打字）；</a:t>
            </a:r>
            <a:endParaRPr lang="en-US" altLang="zh-CN" sz="1600">
              <a:solidFill>
                <a:schemeClr val="bg1"/>
              </a:solidFill>
            </a:endParaRPr>
          </a:p>
          <a:p>
            <a:pPr marL="342900" indent="-342900" fontAlgn="auto">
              <a:lnSpc>
                <a:spcPts val="2200"/>
              </a:lnSpc>
              <a:spcBef>
                <a:spcPts val="400"/>
              </a:spcBef>
              <a:spcAft>
                <a:spcPts val="0"/>
              </a:spcAft>
              <a:buClr>
                <a:srgbClr val="FFFFFF"/>
              </a:buClr>
              <a:buFont typeface="+mj-lt"/>
              <a:buAutoNum type="arabicPeriod"/>
            </a:pPr>
            <a:r>
              <a:rPr lang="zh-CN" altLang="en-US" sz="1600">
                <a:solidFill>
                  <a:schemeClr val="bg1"/>
                </a:solidFill>
              </a:rPr>
              <a:t>分三个部分：技术原理、当前突破、伦理挑战；</a:t>
            </a:r>
            <a:endParaRPr lang="en-US" altLang="zh-CN" sz="1600">
              <a:solidFill>
                <a:schemeClr val="bg1"/>
              </a:solidFill>
            </a:endParaRPr>
          </a:p>
          <a:p>
            <a:pPr marL="342900" indent="-342900" fontAlgn="auto">
              <a:lnSpc>
                <a:spcPts val="2200"/>
              </a:lnSpc>
              <a:spcBef>
                <a:spcPts val="400"/>
              </a:spcBef>
              <a:spcAft>
                <a:spcPts val="0"/>
              </a:spcAft>
              <a:buClr>
                <a:srgbClr val="FFFFFF"/>
              </a:buClr>
              <a:buFont typeface="+mj-lt"/>
              <a:buAutoNum type="arabicPeriod"/>
            </a:pPr>
            <a:r>
              <a:rPr lang="zh-CN" altLang="en-US" sz="1600">
                <a:solidFill>
                  <a:schemeClr val="bg1"/>
                </a:solidFill>
              </a:rPr>
              <a:t>语言生动但严谨，避免术语堆砌；</a:t>
            </a:r>
            <a:endParaRPr lang="en-US" altLang="zh-CN" sz="1600">
              <a:solidFill>
                <a:schemeClr val="bg1"/>
              </a:solidFill>
            </a:endParaRPr>
          </a:p>
          <a:p>
            <a:pPr marL="342900" indent="-342900" fontAlgn="auto">
              <a:lnSpc>
                <a:spcPts val="2200"/>
              </a:lnSpc>
              <a:spcBef>
                <a:spcPts val="400"/>
              </a:spcBef>
              <a:spcAft>
                <a:spcPts val="0"/>
              </a:spcAft>
              <a:buClr>
                <a:srgbClr val="FFFFFF"/>
              </a:buClr>
              <a:buFont typeface="+mj-lt"/>
              <a:buAutoNum type="arabicPeriod"/>
            </a:pPr>
            <a:r>
              <a:rPr lang="zh-CN" altLang="en-US" sz="1600">
                <a:solidFill>
                  <a:schemeClr val="bg1"/>
                </a:solidFill>
              </a:rPr>
              <a:t>结尾给出一个开放式问题，引发读者思考。</a:t>
            </a:r>
            <a:endParaRPr lang="zh-CN" altLang="en-US" sz="1600">
              <a:solidFill>
                <a:schemeClr val="bg1"/>
              </a:solidFill>
            </a:endParaRPr>
          </a:p>
          <a:p>
            <a:pPr marL="0" indent="0" fontAlgn="auto">
              <a:lnSpc>
                <a:spcPts val="2200"/>
              </a:lnSpc>
              <a:spcBef>
                <a:spcPts val="400"/>
              </a:spcBef>
              <a:spcAft>
                <a:spcPts val="0"/>
              </a:spcAft>
              <a:buClr>
                <a:srgbClr val="FFFFFF"/>
              </a:buClr>
              <a:buFont typeface="+mj-lt"/>
              <a:buNone/>
            </a:pPr>
            <a:r>
              <a:rPr lang="en-US" altLang="zh-CN" sz="1600">
                <a:solidFill>
                  <a:srgbClr val="00E5FF"/>
                </a:solidFill>
              </a:rPr>
              <a:t>## </a:t>
            </a:r>
            <a:r>
              <a:rPr lang="zh-CN" altLang="en-US" sz="1600">
                <a:solidFill>
                  <a:srgbClr val="00E5FF"/>
                </a:solidFill>
              </a:rPr>
              <a:t>格式</a:t>
            </a:r>
            <a:endParaRPr lang="zh-CN" altLang="en-US" sz="1600">
              <a:solidFill>
                <a:srgbClr val="00E5FF"/>
              </a:solidFill>
            </a:endParaRPr>
          </a:p>
          <a:p>
            <a:pPr marL="0" indent="0" fontAlgn="auto">
              <a:lnSpc>
                <a:spcPts val="2200"/>
              </a:lnSpc>
              <a:spcBef>
                <a:spcPts val="400"/>
              </a:spcBef>
              <a:spcAft>
                <a:spcPts val="0"/>
              </a:spcAft>
              <a:buNone/>
            </a:pPr>
            <a:r>
              <a:rPr lang="zh-CN" altLang="en-US" sz="1600">
                <a:solidFill>
                  <a:schemeClr val="bg1"/>
                </a:solidFill>
              </a:rPr>
              <a:t>风格参照《环球科学》，目标读者为大学生及白领。输出前请先列出提纲。</a:t>
            </a:r>
            <a:endParaRPr lang="zh-CN" altLang="en-US" sz="160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fade">
                                      <p:cBhvr>
                                        <p:cTn id="5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P spid="2" grpId="0" animBg="1"/>
      <p:bldP spid="2"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endParaRPr lang="zh-CN" altLang="en-US"/>
          </a:p>
        </p:txBody>
      </p:sp>
      <p:sp>
        <p:nvSpPr>
          <p:cNvPr id="6" name="内容占位符 5"/>
          <p:cNvSpPr>
            <a:spLocks noGrp="1"/>
          </p:cNvSpPr>
          <p:nvPr>
            <p:ph idx="1"/>
          </p:nvPr>
        </p:nvSpPr>
        <p:spPr/>
        <p:txBody>
          <a:bodyPr/>
          <a:p>
            <a:r>
              <a:rPr lang="zh-CN" altLang="en-US">
                <a:ea typeface="SimSun" charset="0"/>
              </a:rPr>
              <a:t>如何用</a:t>
            </a:r>
            <a:r>
              <a:rPr altLang="zh-CN">
                <a:ea typeface="SimSun" charset="0"/>
              </a:rPr>
              <a:t> AI </a:t>
            </a:r>
            <a:r>
              <a:rPr lang="zh-CN" altLang="en-US">
                <a:ea typeface="SimSun" charset="0"/>
              </a:rPr>
              <a:t>处理复杂的任务？</a:t>
            </a:r>
            <a:endParaRPr lang="zh-CN" altLang="en-US">
              <a:ea typeface="SimSun" charset="0"/>
            </a:endParaRPr>
          </a:p>
        </p:txBody>
      </p:sp>
      <p:sp>
        <p:nvSpPr>
          <p:cNvPr id="7" name="内容占位符 6"/>
          <p:cNvSpPr>
            <a:spLocks noGrp="1"/>
          </p:cNvSpPr>
          <p:nvPr>
            <p:ph idx="13"/>
          </p:nvPr>
        </p:nvSpPr>
        <p:spPr/>
        <p:txBody>
          <a:bodyPr/>
          <a:p>
            <a:r>
              <a:rPr lang="zh-CN" altLang="en-US"/>
              <a:t>例如：生成一份课件</a:t>
            </a:r>
            <a:r>
              <a:rPr altLang="zh-CN"/>
              <a:t> PPT</a:t>
            </a:r>
            <a:r>
              <a:rPr lang="zh-CN" altLang="en-US">
                <a:ea typeface="SimSun" charset="0"/>
              </a:rPr>
              <a:t>，根据材料出题</a:t>
            </a:r>
            <a:endParaRPr lang="zh-CN" altLang="en-US">
              <a:ea typeface="SimSun"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normAutofit fontScale="90000"/>
          </a:bodyPr>
          <a:p>
            <a:r>
              <a:rPr lang="zh-CN" altLang="en-US"/>
              <a:t>让</a:t>
            </a:r>
            <a:r>
              <a:rPr altLang="zh-CN"/>
              <a:t> AI </a:t>
            </a:r>
            <a:r>
              <a:rPr lang="zh-CN" altLang="en-US">
                <a:ea typeface="SimSun" charset="0"/>
              </a:rPr>
              <a:t>像人一样思考</a:t>
            </a:r>
            <a:endParaRPr lang="zh-CN" altLang="en-US">
              <a:ea typeface="SimSun" charset="0"/>
            </a:endParaRPr>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14" name="内容占位符 5"/>
          <p:cNvSpPr>
            <a:spLocks noGrp="1"/>
          </p:cNvSpPr>
          <p:nvPr/>
        </p:nvSpPr>
        <p:spPr>
          <a:xfrm>
            <a:off x="76263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r>
              <a:rPr lang="zh-CN" altLang="en-US" sz="1800"/>
              <a:t>线性思维</a:t>
            </a:r>
            <a:endParaRPr lang="zh-CN" altLang="en-US" sz="1800"/>
          </a:p>
          <a:p>
            <a:r>
              <a:rPr lang="zh-CN" altLang="en-US" sz="1800"/>
              <a:t>先</a:t>
            </a:r>
            <a:r>
              <a:rPr lang="en-US" altLang="zh-CN" sz="1800"/>
              <a:t> …… </a:t>
            </a:r>
            <a:r>
              <a:rPr lang="zh-CN" altLang="en-US" sz="1800"/>
              <a:t>然后</a:t>
            </a:r>
            <a:r>
              <a:rPr lang="en-US" altLang="zh-CN" sz="1800"/>
              <a:t> ……</a:t>
            </a:r>
            <a:endParaRPr lang="en-US" altLang="zh-CN" sz="1800"/>
          </a:p>
        </p:txBody>
      </p:sp>
      <p:sp>
        <p:nvSpPr>
          <p:cNvPr id="15" name="文本占位符 6"/>
          <p:cNvSpPr>
            <a:spLocks noGrp="1"/>
          </p:cNvSpPr>
          <p:nvPr/>
        </p:nvSpPr>
        <p:spPr>
          <a:xfrm>
            <a:off x="8278495" y="1903730"/>
            <a:ext cx="3209925"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t>思维图</a:t>
            </a:r>
            <a:r>
              <a:rPr altLang="zh-CN"/>
              <a:t> - GoT</a:t>
            </a:r>
            <a:endParaRPr altLang="zh-CN"/>
          </a:p>
        </p:txBody>
      </p:sp>
      <p:sp>
        <p:nvSpPr>
          <p:cNvPr id="18" name="文本占位符 6"/>
          <p:cNvSpPr>
            <a:spLocks noGrp="1"/>
          </p:cNvSpPr>
          <p:nvPr/>
        </p:nvSpPr>
        <p:spPr>
          <a:xfrm>
            <a:off x="762635" y="1903730"/>
            <a:ext cx="3210560"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solidFill>
                  <a:srgbClr val="00E5FF"/>
                </a:solidFill>
              </a:rPr>
              <a:t>思维链</a:t>
            </a:r>
            <a:r>
              <a:rPr altLang="zh-CN">
                <a:solidFill>
                  <a:srgbClr val="00E5FF"/>
                </a:solidFill>
              </a:rPr>
              <a:t> - CoT</a:t>
            </a:r>
            <a:endParaRPr altLang="zh-CN">
              <a:solidFill>
                <a:srgbClr val="00E5FF"/>
              </a:solidFill>
            </a:endParaRPr>
          </a:p>
        </p:txBody>
      </p:sp>
      <p:sp>
        <p:nvSpPr>
          <p:cNvPr id="19" name="内容占位符 5"/>
          <p:cNvSpPr>
            <a:spLocks noGrp="1"/>
          </p:cNvSpPr>
          <p:nvPr/>
        </p:nvSpPr>
        <p:spPr>
          <a:xfrm>
            <a:off x="452056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buClr>
                <a:srgbClr val="69F0AE"/>
              </a:buClr>
            </a:pPr>
            <a:r>
              <a:rPr lang="zh-CN" altLang="en-US" sz="1800"/>
              <a:t>分支决策思维</a:t>
            </a:r>
            <a:endParaRPr lang="zh-CN" altLang="en-US" sz="1800"/>
          </a:p>
          <a:p>
            <a:pPr>
              <a:buClr>
                <a:srgbClr val="69F0AE"/>
              </a:buClr>
            </a:pPr>
            <a:r>
              <a:rPr lang="zh-CN" altLang="en-US" sz="1800"/>
              <a:t>如果</a:t>
            </a:r>
            <a:r>
              <a:rPr lang="en-US" altLang="zh-CN" sz="1800"/>
              <a:t> …… </a:t>
            </a:r>
            <a:r>
              <a:rPr lang="zh-CN" altLang="en-US" sz="1800"/>
              <a:t>那么</a:t>
            </a:r>
            <a:r>
              <a:rPr lang="en-US" altLang="zh-CN" sz="1800"/>
              <a:t> …… </a:t>
            </a:r>
            <a:r>
              <a:rPr lang="zh-CN" altLang="en-US" sz="1800"/>
              <a:t>否则</a:t>
            </a:r>
            <a:r>
              <a:rPr lang="en-US" altLang="zh-CN" sz="1800"/>
              <a:t> ……</a:t>
            </a:r>
            <a:endParaRPr lang="en-US" altLang="zh-CN" sz="1800"/>
          </a:p>
        </p:txBody>
      </p:sp>
      <p:sp>
        <p:nvSpPr>
          <p:cNvPr id="20" name="内容占位符 5"/>
          <p:cNvSpPr>
            <a:spLocks noGrp="1"/>
          </p:cNvSpPr>
          <p:nvPr/>
        </p:nvSpPr>
        <p:spPr>
          <a:xfrm>
            <a:off x="8278495" y="2543810"/>
            <a:ext cx="3211195" cy="3484245"/>
          </a:xfrm>
          <a:prstGeom prst="rect">
            <a:avLst/>
          </a:prstGeom>
        </p:spPr>
        <p:txBody>
          <a:bodyPr vert="horz" lIns="91440" tIns="45720" rIns="91440" bIns="45720" rtlCol="0">
            <a:normAutofit/>
          </a:bodyPr>
          <a:lstStyle>
            <a:lvl1pPr marL="228600" indent="-228600" algn="l" defTabSz="914400" rtl="0" eaLnBrk="1" latinLnBrk="0" hangingPunct="1">
              <a:lnSpc>
                <a:spcPct val="150000"/>
              </a:lnSpc>
              <a:spcBef>
                <a:spcPts val="1000"/>
              </a:spcBef>
              <a:buClr>
                <a:srgbClr val="00E5FF"/>
              </a:buClr>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50000"/>
              </a:lnSpc>
              <a:spcBef>
                <a:spcPts val="500"/>
              </a:spcBef>
              <a:buClr>
                <a:srgbClr val="00E5FF"/>
              </a:buClr>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50000"/>
              </a:lnSpc>
              <a:spcBef>
                <a:spcPts val="500"/>
              </a:spcBef>
              <a:buClr>
                <a:srgbClr val="00E5FF"/>
              </a:buClr>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buClr>
                <a:srgbClr val="B388FF"/>
              </a:buClr>
            </a:pPr>
            <a:r>
              <a:rPr lang="zh-CN" altLang="en-US" sz="1800"/>
              <a:t>状态记忆决策</a:t>
            </a:r>
            <a:endParaRPr lang="zh-CN" altLang="en-US" sz="1800"/>
          </a:p>
          <a:p>
            <a:pPr>
              <a:buClr>
                <a:srgbClr val="B388FF"/>
              </a:buClr>
            </a:pPr>
            <a:r>
              <a:rPr lang="zh-CN" altLang="en-US" sz="1800"/>
              <a:t>当前处于</a:t>
            </a:r>
            <a:r>
              <a:rPr lang="en-US" altLang="zh-CN" sz="1800"/>
              <a:t> …… </a:t>
            </a:r>
            <a:r>
              <a:rPr lang="zh-CN" altLang="en-US" sz="1800"/>
              <a:t>状态，有</a:t>
            </a:r>
            <a:r>
              <a:rPr lang="en-US" altLang="zh-CN" sz="1800"/>
              <a:t> …… </a:t>
            </a:r>
            <a:r>
              <a:rPr lang="zh-CN" altLang="en-US" sz="1800"/>
              <a:t>行动方案，如果</a:t>
            </a:r>
            <a:r>
              <a:rPr lang="en-US" altLang="zh-CN" sz="1800"/>
              <a:t> …… </a:t>
            </a:r>
            <a:r>
              <a:rPr lang="zh-CN" altLang="en-US" sz="1800"/>
              <a:t>则</a:t>
            </a:r>
            <a:r>
              <a:rPr lang="en-US" altLang="zh-CN" sz="1800"/>
              <a:t> …… </a:t>
            </a:r>
            <a:r>
              <a:rPr lang="zh-CN" altLang="en-US" sz="1800"/>
              <a:t>；如果</a:t>
            </a:r>
            <a:r>
              <a:rPr lang="en-US" altLang="zh-CN" sz="1800"/>
              <a:t> …… </a:t>
            </a:r>
            <a:r>
              <a:rPr lang="zh-CN" altLang="en-US" sz="1800"/>
              <a:t>则</a:t>
            </a:r>
            <a:r>
              <a:rPr lang="en-US" altLang="zh-CN" sz="1800"/>
              <a:t> ……</a:t>
            </a:r>
            <a:endParaRPr lang="en-US" altLang="zh-CN" sz="1800"/>
          </a:p>
        </p:txBody>
      </p:sp>
      <p:sp>
        <p:nvSpPr>
          <p:cNvPr id="21" name="文本占位符 6"/>
          <p:cNvSpPr>
            <a:spLocks noGrp="1"/>
          </p:cNvSpPr>
          <p:nvPr/>
        </p:nvSpPr>
        <p:spPr>
          <a:xfrm>
            <a:off x="4520565" y="1903730"/>
            <a:ext cx="3210560" cy="509905"/>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80604020202020204" pitchFamily="34" charse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lgn="l" defTabSz="914400" rtl="0" eaLnBrk="1" latinLnBrk="0" hangingPunct="1">
              <a:lnSpc>
                <a:spcPct val="90000"/>
              </a:lnSpc>
              <a:spcBef>
                <a:spcPts val="500"/>
              </a:spcBef>
              <a:buFont typeface="Arial" panose="0208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8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8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80604020202020204" pitchFamily="34" charset="0"/>
              <a:buNone/>
              <a:defRPr sz="1600" b="1" kern="1200">
                <a:solidFill>
                  <a:schemeClr val="tx1"/>
                </a:solidFill>
                <a:latin typeface="+mn-lt"/>
                <a:ea typeface="+mn-ea"/>
                <a:cs typeface="+mn-cs"/>
              </a:defRPr>
            </a:lvl9pPr>
          </a:lstStyle>
          <a:p>
            <a:r>
              <a:rPr lang="zh-CN" altLang="en-US">
                <a:solidFill>
                  <a:srgbClr val="69F0AE"/>
                </a:solidFill>
              </a:rPr>
              <a:t>思维树</a:t>
            </a:r>
            <a:r>
              <a:rPr altLang="zh-CN">
                <a:solidFill>
                  <a:srgbClr val="69F0AE"/>
                </a:solidFill>
              </a:rPr>
              <a:t> - ToT</a:t>
            </a:r>
            <a:endParaRPr altLang="zh-CN">
              <a:solidFill>
                <a:srgbClr val="69F0A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4" grpId="0"/>
      <p:bldP spid="21" grpId="0"/>
      <p:bldP spid="19" grpId="0"/>
      <p:bldP spid="15" grpId="0"/>
      <p:bldP spid="20" grpId="0"/>
      <p:bldP spid="18" grpId="1"/>
      <p:bldP spid="14" grpId="1"/>
      <p:bldP spid="21" grpId="1"/>
      <p:bldP spid="19" grpId="1"/>
      <p:bldP spid="15" grpId="1"/>
      <p:bldP spid="20"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p:txBody>
          <a:bodyPr>
            <a:normAutofit fontScale="90000"/>
          </a:bodyPr>
          <a:p>
            <a:r>
              <a:rPr lang="zh-CN" altLang="en-US"/>
              <a:t>提示词案例</a:t>
            </a:r>
            <a:endParaRPr lang="zh-CN" altLang="en-US"/>
          </a:p>
        </p:txBody>
      </p:sp>
      <p:sp>
        <p:nvSpPr>
          <p:cNvPr id="5" name="内容占位符 4"/>
          <p:cNvSpPr>
            <a:spLocks noGrp="1"/>
          </p:cNvSpPr>
          <p:nvPr>
            <p:ph idx="1"/>
          </p:nvPr>
        </p:nvSpPr>
        <p:spPr>
          <a:ln>
            <a:solidFill>
              <a:schemeClr val="bg1"/>
            </a:solidFill>
          </a:ln>
        </p:spPr>
        <p:txBody>
          <a:bodyPr numCol="2" spcCol="359999">
            <a:normAutofit fontScale="70000"/>
          </a:bodyPr>
          <a:p>
            <a:pPr marL="0" indent="0">
              <a:lnSpc>
                <a:spcPct val="100000"/>
              </a:lnSpc>
              <a:buNone/>
            </a:pPr>
            <a:r>
              <a:rPr lang="zh-CN" altLang="en-US" b="1">
                <a:solidFill>
                  <a:srgbClr val="00E5FF"/>
                </a:solidFill>
              </a:rPr>
              <a:t>### 一、决策执行流</a:t>
            </a:r>
            <a:endParaRPr lang="zh-CN" altLang="en-US" b="1">
              <a:solidFill>
                <a:srgbClr val="00E5FF"/>
              </a:solidFill>
            </a:endParaRPr>
          </a:p>
          <a:p>
            <a:pPr marL="0" indent="0">
              <a:lnSpc>
                <a:spcPct val="100000"/>
              </a:lnSpc>
              <a:buNone/>
            </a:pPr>
            <a:r>
              <a:rPr lang="zh-CN" altLang="en-US"/>
              <a:t>必须在同一次分析中按照以下顺序完成判断，并最终只返回 `</a:t>
            </a:r>
            <a:r>
              <a:rPr lang="en-US" altLang="zh-CN"/>
              <a:t>outputs` </a:t>
            </a:r>
            <a:r>
              <a:rPr lang="zh-CN" altLang="en-US"/>
              <a:t>定义的一个完整对象。</a:t>
            </a:r>
            <a:endParaRPr lang="zh-CN" altLang="en-US"/>
          </a:p>
          <a:p>
            <a:pPr marL="0" algn="l">
              <a:lnSpc>
                <a:spcPct val="100000"/>
              </a:lnSpc>
              <a:buSzTx/>
              <a:buNone/>
            </a:pPr>
            <a:r>
              <a:rPr lang="zh-CN" altLang="en-US" b="1">
                <a:solidFill>
                  <a:srgbClr val="00E5FF"/>
                </a:solidFill>
              </a:rPr>
              <a:t>#### Step 1：理解 Task</a:t>
            </a:r>
            <a:endParaRPr lang="zh-CN" altLang="en-US" b="1">
              <a:solidFill>
                <a:srgbClr val="00E5FF"/>
              </a:solidFill>
            </a:endParaRPr>
          </a:p>
          <a:p>
            <a:pPr marL="0" indent="0">
              <a:lnSpc>
                <a:spcPct val="100000"/>
              </a:lnSpc>
              <a:buNone/>
            </a:pPr>
            <a:r>
              <a:rPr lang="zh-CN" altLang="en-US"/>
              <a:t>读取 `</a:t>
            </a:r>
            <a:r>
              <a:rPr lang="en-US" altLang="zh-CN"/>
              <a:t>task` </a:t>
            </a:r>
            <a:r>
              <a:rPr lang="zh-CN" altLang="en-US"/>
              <a:t>的 `</a:t>
            </a:r>
            <a:r>
              <a:rPr lang="en-US" altLang="zh-CN"/>
              <a:t>goal`、`input`、`output`、`requirements`、`success_criteria` </a:t>
            </a:r>
            <a:r>
              <a:rPr lang="zh-CN" altLang="en-US"/>
              <a:t>和 `</a:t>
            </a:r>
            <a:r>
              <a:rPr lang="en-US" altLang="zh-CN"/>
              <a:t>fail_criteria`，</a:t>
            </a:r>
            <a:r>
              <a:rPr lang="zh-CN" altLang="en-US"/>
              <a:t>识别：</a:t>
            </a:r>
            <a:endParaRPr lang="zh-CN" altLang="en-US"/>
          </a:p>
          <a:p>
            <a:pPr marL="0" indent="0">
              <a:lnSpc>
                <a:spcPct val="100000"/>
              </a:lnSpc>
              <a:buNone/>
            </a:pPr>
            <a:r>
              <a:rPr lang="zh-CN" altLang="en-US"/>
              <a:t>1. **稳定业务逻辑**：可跨相似任务复用的业务目标、处理方法、业务规则、步骤、验证方式和失败防护。</a:t>
            </a:r>
            <a:endParaRPr lang="zh-CN" altLang="en-US"/>
          </a:p>
          <a:p>
            <a:pPr marL="0" indent="0">
              <a:lnSpc>
                <a:spcPct val="100000"/>
              </a:lnSpc>
              <a:buNone/>
            </a:pPr>
            <a:r>
              <a:rPr lang="zh-CN" altLang="en-US"/>
              <a:t>2. **任务实例参数**：仅属于本次任务的业务对象、资料、范围、阈值、受众、偏好、格式和其他约束。</a:t>
            </a:r>
            <a:endParaRPr lang="zh-CN" altLang="en-US"/>
          </a:p>
          <a:p>
            <a:pPr marL="0" indent="0">
              <a:lnSpc>
                <a:spcPct val="100000"/>
              </a:lnSpc>
              <a:buNone/>
            </a:pPr>
            <a:r>
              <a:rPr lang="zh-CN" altLang="en-US"/>
              <a:t>3. **必要但缺失的信息**：当前未提供、无法安全推断，并且会实质影响 </a:t>
            </a:r>
            <a:r>
              <a:rPr lang="en-US" altLang="zh-CN"/>
              <a:t>Skill </a:t>
            </a:r>
            <a:r>
              <a:rPr lang="zh-CN" altLang="en-US"/>
              <a:t>选择、</a:t>
            </a:r>
            <a:r>
              <a:rPr lang="en-US" altLang="zh-CN"/>
              <a:t>Skill </a:t>
            </a:r>
            <a:r>
              <a:rPr lang="zh-CN" altLang="en-US"/>
              <a:t>接口、交付物或 </a:t>
            </a:r>
            <a:r>
              <a:rPr lang="en-US" altLang="zh-CN"/>
              <a:t>PLAN </a:t>
            </a:r>
            <a:r>
              <a:rPr lang="zh-CN" altLang="en-US"/>
              <a:t>拆分结构的信息。</a:t>
            </a:r>
            <a:endParaRPr lang="zh-CN" altLang="en-US"/>
          </a:p>
          <a:p>
            <a:pPr marL="0" indent="0">
              <a:lnSpc>
                <a:spcPct val="100000"/>
              </a:lnSpc>
              <a:buNone/>
            </a:pPr>
            <a:r>
              <a:rPr lang="zh-CN" altLang="en-US"/>
              <a:t>不得把一次性文件名、特定客户、特定业务对象、临时阈值或未经证实的事实固化为通用方法。</a:t>
            </a:r>
            <a:endParaRPr lang="zh-CN" altLang="en-US"/>
          </a:p>
          <a:p>
            <a:pPr marL="0" algn="l">
              <a:lnSpc>
                <a:spcPct val="100000"/>
              </a:lnSpc>
              <a:buSzTx/>
              <a:buNone/>
            </a:pPr>
            <a:r>
              <a:rPr lang="zh-CN" altLang="en-US" b="1">
                <a:solidFill>
                  <a:srgbClr val="00E5FF"/>
                </a:solidFill>
              </a:rPr>
              <a:t>#### Step 2：判断能否复用已有 Skill</a:t>
            </a:r>
            <a:endParaRPr lang="zh-CN" altLang="en-US" b="1">
              <a:solidFill>
                <a:srgbClr val="00E5FF"/>
              </a:solidFill>
            </a:endParaRPr>
          </a:p>
          <a:p>
            <a:pPr marL="0" indent="0">
              <a:lnSpc>
                <a:spcPct val="100000"/>
              </a:lnSpc>
              <a:buNone/>
            </a:pPr>
            <a:r>
              <a:rPr lang="zh-CN" altLang="en-US"/>
              <a:t>依次检查 `</a:t>
            </a:r>
            <a:r>
              <a:rPr lang="en-US" altLang="zh-CN"/>
              <a:t>candidates`。</a:t>
            </a:r>
            <a:endParaRPr lang="en-US" altLang="zh-CN"/>
          </a:p>
          <a:p>
            <a:pPr marL="0" indent="0">
              <a:lnSpc>
                <a:spcPct val="100000"/>
              </a:lnSpc>
              <a:buNone/>
            </a:pPr>
            <a:r>
              <a:rPr lang="zh-CN" altLang="en-US"/>
              <a:t>先进行**资格过滤**：候选必须同时满足目标兼容、输入兼容、输出兼容、关键约束兼容、验收逻辑兼容以及运行类型兼容。任何一个关键维度不兼容，都不得通过其他维度的高相似度进行补偿。</a:t>
            </a:r>
            <a:endParaRPr lang="zh-CN" altLang="en-US"/>
          </a:p>
          <a:p>
            <a:pPr marL="0" indent="0">
              <a:lnSpc>
                <a:spcPct val="100000"/>
              </a:lnSpc>
              <a:buNone/>
            </a:pPr>
            <a:r>
              <a:rPr lang="zh-CN" altLang="en-US">
                <a:solidFill>
                  <a:srgbClr val="69F0AE"/>
                </a:solidFill>
              </a:rPr>
              <a:t>如果</a:t>
            </a:r>
            <a:r>
              <a:rPr lang="zh-CN" altLang="en-US"/>
              <a:t>没有候选通过资格过滤，进入 </a:t>
            </a:r>
            <a:r>
              <a:rPr lang="en-US" altLang="zh-CN"/>
              <a:t>Step 3。</a:t>
            </a:r>
            <a:endParaRPr lang="en-US" altLang="zh-CN"/>
          </a:p>
          <a:p>
            <a:pPr marL="0" indent="0">
              <a:lnSpc>
                <a:spcPct val="100000"/>
              </a:lnSpc>
              <a:buNone/>
            </a:pPr>
            <a:r>
              <a:rPr lang="zh-CN" altLang="en-US">
                <a:solidFill>
                  <a:srgbClr val="69F0AE"/>
                </a:solidFill>
              </a:rPr>
              <a:t>如果</a:t>
            </a:r>
            <a:r>
              <a:rPr lang="zh-CN" altLang="en-US"/>
              <a:t>只有一个候选通过，选择该候选。</a:t>
            </a:r>
            <a:endParaRPr lang="zh-CN" altLang="en-US"/>
          </a:p>
          <a:p>
            <a:pPr marL="0" indent="0">
              <a:lnSpc>
                <a:spcPct val="100000"/>
              </a:lnSpc>
              <a:buNone/>
            </a:pPr>
            <a:r>
              <a:rPr lang="zh-CN" altLang="en-US">
                <a:solidFill>
                  <a:srgbClr val="69F0AE"/>
                </a:solidFill>
              </a:rPr>
              <a:t>如果</a:t>
            </a:r>
            <a:r>
              <a:rPr lang="zh-CN" altLang="en-US"/>
              <a:t>多个候选都通过，再按照以下原则选择最合适的候选：</a:t>
            </a:r>
            <a:endParaRPr lang="zh-CN" altLang="en-US"/>
          </a:p>
          <a:p>
            <a:pPr marL="0" indent="0">
              <a:lnSpc>
                <a:spcPct val="100000"/>
              </a:lnSpc>
              <a:buNone/>
            </a:pPr>
            <a:r>
              <a:rPr lang="zh-CN" altLang="en-US"/>
              <a:t>**适用范围最贴合 → 输入转换最少 → 验收最直接 → 方法范围最窄。**</a:t>
            </a:r>
            <a:endParaRPr lang="zh-CN" altLang="en-US"/>
          </a:p>
          <a:p>
            <a:pPr marL="0" indent="0">
              <a:lnSpc>
                <a:spcPct val="100000"/>
              </a:lnSpc>
              <a:buNone/>
            </a:pPr>
            <a:r>
              <a:rPr lang="zh-CN" altLang="en-US">
                <a:solidFill>
                  <a:srgbClr val="69F0AE"/>
                </a:solidFill>
              </a:rPr>
              <a:t>若</a:t>
            </a:r>
            <a:r>
              <a:rPr lang="zh-CN" altLang="en-US"/>
              <a:t>最终确定可以复用，返回 `</a:t>
            </a:r>
            <a:r>
              <a:rPr lang="en-US" altLang="zh-CN"/>
              <a:t>REUSE_SKILL`。</a:t>
            </a:r>
            <a:endParaRPr lang="en-US" altLang="zh-CN"/>
          </a:p>
          <a:p>
            <a:pPr marL="0" algn="l">
              <a:lnSpc>
                <a:spcPct val="100000"/>
              </a:lnSpc>
              <a:buSzTx/>
              <a:buNone/>
            </a:pPr>
            <a:r>
              <a:rPr lang="zh-CN" altLang="en-US" b="1">
                <a:solidFill>
                  <a:srgbClr val="00E5FF"/>
                </a:solidFill>
                <a:sym typeface="+mn-ea"/>
              </a:rPr>
              <a:t>#### Step 3：……</a:t>
            </a:r>
            <a:endParaRPr lang="zh-CN" altLang="en-US" b="1">
              <a:solidFill>
                <a:srgbClr val="00E5FF"/>
              </a:solidFill>
            </a:endParaRPr>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让</a:t>
            </a:r>
            <a:r>
              <a:rPr altLang="zh-CN"/>
              <a:t> AI </a:t>
            </a:r>
            <a:r>
              <a:rPr lang="zh-CN" altLang="en-US">
                <a:ea typeface="SimSun" charset="0"/>
              </a:rPr>
              <a:t>自主地在设定好的路线上前进</a:t>
            </a:r>
            <a:endParaRPr lang="zh-CN" altLang="en-US">
              <a:ea typeface="SimSun"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5" name="矩形: 圆角 2"/>
          <p:cNvSpPr/>
          <p:nvPr/>
        </p:nvSpPr>
        <p:spPr>
          <a:xfrm>
            <a:off x="1815465" y="1978025"/>
            <a:ext cx="3028950" cy="969645"/>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PaE</a:t>
            </a:r>
            <a:r>
              <a:rPr lang="zh-CN" altLang="en-US">
                <a:solidFill>
                  <a:srgbClr val="FFFFFF"/>
                </a:solidFill>
                <a:latin typeface="Noto Sans SC"/>
                <a:ea typeface="SimSun" charset="0"/>
                <a:cs typeface="Noto Sans SC"/>
                <a:sym typeface="+mn-ea"/>
              </a:rPr>
              <a:t>：</a:t>
            </a:r>
            <a:r>
              <a:rPr lang="zh-CN" altLang="en-US">
                <a:solidFill>
                  <a:srgbClr val="FFFFFF"/>
                </a:solidFill>
                <a:latin typeface="Noto Sans SC"/>
                <a:ea typeface="SimSun" charset="0"/>
                <a:cs typeface="Noto Sans SC"/>
                <a:sym typeface="+mn-ea"/>
              </a:rPr>
              <a:t>Plan-and-Execute</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规划后执行</a:t>
            </a:r>
            <a:endParaRPr lang="zh-CN" altLang="en-US">
              <a:solidFill>
                <a:srgbClr val="FFFFFF"/>
              </a:solidFill>
              <a:latin typeface="Noto Sans SC"/>
              <a:ea typeface="SimSun" charset="0"/>
              <a:cs typeface="Noto Sans SC"/>
              <a:sym typeface="+mn-ea"/>
            </a:endParaRPr>
          </a:p>
        </p:txBody>
      </p:sp>
      <p:sp>
        <p:nvSpPr>
          <p:cNvPr id="10" name="矩形: 圆角 8"/>
          <p:cNvSpPr/>
          <p:nvPr/>
        </p:nvSpPr>
        <p:spPr>
          <a:xfrm>
            <a:off x="6858635" y="1978025"/>
            <a:ext cx="3028950" cy="969645"/>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ReAct</a:t>
            </a:r>
            <a:r>
              <a:rPr lang="en-US" altLang="zh-CN">
                <a:solidFill>
                  <a:srgbClr val="FFFFFF"/>
                </a:solidFill>
                <a:latin typeface="Noto Sans SC"/>
                <a:ea typeface="SimSun" charset="0"/>
                <a:cs typeface="Noto Sans SC"/>
                <a:sym typeface="+mn-ea"/>
              </a:rPr>
              <a:t>：</a:t>
            </a:r>
            <a:r>
              <a:rPr lang="en-US" altLang="zh-CN">
                <a:solidFill>
                  <a:srgbClr val="FFFFFF"/>
                </a:solidFill>
                <a:latin typeface="Noto Sans SC"/>
                <a:ea typeface="SimSun" charset="0"/>
                <a:cs typeface="Noto Sans SC"/>
                <a:sym typeface="+mn-ea"/>
              </a:rPr>
              <a:t>Reason + Action</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思考与行动交替进行</a:t>
            </a:r>
            <a:endParaRPr lang="en-US" altLang="zh-CN">
              <a:solidFill>
                <a:srgbClr val="FFFFFF"/>
              </a:solidFill>
              <a:latin typeface="Noto Sans SC"/>
              <a:ea typeface="SimSun" charset="0"/>
              <a:cs typeface="Noto Sans SC"/>
              <a:sym typeface="+mn-ea"/>
            </a:endParaRPr>
          </a:p>
        </p:txBody>
      </p:sp>
      <p:grpSp>
        <p:nvGrpSpPr>
          <p:cNvPr id="31" name="组合 30"/>
          <p:cNvGrpSpPr/>
          <p:nvPr/>
        </p:nvGrpSpPr>
        <p:grpSpPr>
          <a:xfrm>
            <a:off x="1628140" y="3169285"/>
            <a:ext cx="3210560" cy="2592070"/>
            <a:chOff x="3500" y="4991"/>
            <a:chExt cx="5056" cy="4082"/>
          </a:xfrm>
        </p:grpSpPr>
        <p:grpSp>
          <p:nvGrpSpPr>
            <p:cNvPr id="23" name="组合 22"/>
            <p:cNvGrpSpPr/>
            <p:nvPr/>
          </p:nvGrpSpPr>
          <p:grpSpPr>
            <a:xfrm>
              <a:off x="3500" y="4991"/>
              <a:ext cx="5056" cy="4082"/>
              <a:chOff x="3500" y="4991"/>
              <a:chExt cx="5056" cy="4082"/>
            </a:xfrm>
          </p:grpSpPr>
          <p:grpSp>
            <p:nvGrpSpPr>
              <p:cNvPr id="22" name="组合 21"/>
              <p:cNvGrpSpPr/>
              <p:nvPr/>
            </p:nvGrpSpPr>
            <p:grpSpPr>
              <a:xfrm>
                <a:off x="6680" y="4991"/>
                <a:ext cx="1876" cy="4082"/>
                <a:chOff x="6471" y="4991"/>
                <a:chExt cx="1876" cy="4082"/>
              </a:xfrm>
            </p:grpSpPr>
            <p:sp>
              <p:nvSpPr>
                <p:cNvPr id="6"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endParaRPr lang="zh-CN" altLang="en-US">
                    <a:solidFill>
                      <a:srgbClr val="FFFFFF"/>
                    </a:solidFill>
                    <a:latin typeface="Noto Sans SC"/>
                    <a:ea typeface="SimSun" charset="0"/>
                    <a:cs typeface="Noto Sans SC"/>
                    <a:sym typeface="+mn-ea"/>
                  </a:endParaRPr>
                </a:p>
              </p:txBody>
            </p:sp>
            <p:sp>
              <p:nvSpPr>
                <p:cNvPr id="8"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endParaRPr lang="zh-CN" altLang="en-US">
                    <a:solidFill>
                      <a:srgbClr val="FFFFFF"/>
                    </a:solidFill>
                    <a:latin typeface="Noto Sans SC"/>
                    <a:ea typeface="SimSun" charset="0"/>
                    <a:cs typeface="Noto Sans SC"/>
                    <a:sym typeface="+mn-ea"/>
                  </a:endParaRPr>
                </a:p>
              </p:txBody>
            </p:sp>
          </p:grpSp>
          <p:grpSp>
            <p:nvGrpSpPr>
              <p:cNvPr id="3" name="组合 2"/>
              <p:cNvGrpSpPr/>
              <p:nvPr/>
            </p:nvGrpSpPr>
            <p:grpSpPr>
              <a:xfrm>
                <a:off x="3500" y="5241"/>
                <a:ext cx="1248" cy="3580"/>
                <a:chOff x="3500" y="5241"/>
                <a:chExt cx="1248" cy="3580"/>
              </a:xfrm>
            </p:grpSpPr>
            <p:pic>
              <p:nvPicPr>
                <p:cNvPr id="2050" name="Picture 2" descr="Plan - Free business icons"/>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500" y="5241"/>
                  <a:ext cx="1249" cy="124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un Special Lineal color icon | Freepi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7573"/>
                  <a:ext cx="1249" cy="1249"/>
                </a:xfrm>
                <a:prstGeom prst="rect">
                  <a:avLst/>
                </a:prstGeom>
                <a:noFill/>
                <a:extLst>
                  <a:ext uri="{909E8E84-426E-40DD-AFC4-6F175D3DCCD1}">
                    <a14:hiddenFill xmlns:a14="http://schemas.microsoft.com/office/drawing/2010/main">
                      <a:solidFill>
                        <a:srgbClr val="FFFFFF"/>
                      </a:solidFill>
                    </a14:hiddenFill>
                  </a:ext>
                </a:extLst>
              </p:spPr>
            </p:pic>
            <p:sp>
              <p:nvSpPr>
                <p:cNvPr id="9" name="箭头: 下 5"/>
                <p:cNvSpPr/>
                <p:nvPr/>
              </p:nvSpPr>
              <p:spPr>
                <a:xfrm>
                  <a:off x="3916" y="6740"/>
                  <a:ext cx="416" cy="58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cxnSp>
          <p:nvCxnSpPr>
            <p:cNvPr id="25" name="直接连接符 24"/>
            <p:cNvCxnSpPr/>
            <p:nvPr/>
          </p:nvCxnSpPr>
          <p:spPr>
            <a:xfrm>
              <a:off x="5014"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6" name="直接连接符 25"/>
            <p:cNvCxnSpPr/>
            <p:nvPr/>
          </p:nvCxnSpPr>
          <p:spPr>
            <a:xfrm>
              <a:off x="5015"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nvGrpSpPr>
          <p:cNvPr id="32" name="组合 31"/>
          <p:cNvGrpSpPr/>
          <p:nvPr/>
        </p:nvGrpSpPr>
        <p:grpSpPr>
          <a:xfrm>
            <a:off x="5049520" y="3206750"/>
            <a:ext cx="5549265" cy="2517140"/>
            <a:chOff x="8888" y="5050"/>
            <a:chExt cx="8739" cy="3964"/>
          </a:xfrm>
        </p:grpSpPr>
        <p:grpSp>
          <p:nvGrpSpPr>
            <p:cNvPr id="17" name="组合 16"/>
            <p:cNvGrpSpPr/>
            <p:nvPr/>
          </p:nvGrpSpPr>
          <p:grpSpPr>
            <a:xfrm rot="0">
              <a:off x="15793" y="5050"/>
              <a:ext cx="1834" cy="3964"/>
              <a:chOff x="5374639" y="2494801"/>
              <a:chExt cx="1585595" cy="3427095"/>
            </a:xfrm>
          </p:grpSpPr>
          <p:sp>
            <p:nvSpPr>
              <p:cNvPr id="11" name="矩形: 圆角 5"/>
              <p:cNvSpPr/>
              <p:nvPr/>
            </p:nvSpPr>
            <p:spPr>
              <a:xfrm>
                <a:off x="5375909" y="2494801"/>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4</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反思</a:t>
                </a:r>
                <a:endParaRPr lang="en-US" altLang="zh-CN">
                  <a:solidFill>
                    <a:srgbClr val="FFFFFF"/>
                  </a:solidFill>
                  <a:latin typeface="Noto Sans SC"/>
                  <a:ea typeface="SimSun" charset="0"/>
                  <a:cs typeface="Noto Sans SC"/>
                  <a:sym typeface="+mn-ea"/>
                </a:endParaRPr>
              </a:p>
            </p:txBody>
          </p:sp>
          <p:sp>
            <p:nvSpPr>
              <p:cNvPr id="12" name="矩形: 圆角 6"/>
              <p:cNvSpPr/>
              <p:nvPr/>
            </p:nvSpPr>
            <p:spPr>
              <a:xfrm>
                <a:off x="5374639" y="4409326"/>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3</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评估</a:t>
                </a:r>
                <a:endParaRPr lang="en-US" altLang="zh-CN">
                  <a:solidFill>
                    <a:srgbClr val="FFFFFF"/>
                  </a:solidFill>
                  <a:latin typeface="Noto Sans SC"/>
                  <a:ea typeface="SimSun" charset="0"/>
                  <a:cs typeface="Noto Sans SC"/>
                  <a:sym typeface="+mn-ea"/>
                </a:endParaRPr>
              </a:p>
            </p:txBody>
          </p:sp>
        </p:grpSp>
        <p:grpSp>
          <p:nvGrpSpPr>
            <p:cNvPr id="13" name="组合 12"/>
            <p:cNvGrpSpPr/>
            <p:nvPr/>
          </p:nvGrpSpPr>
          <p:grpSpPr>
            <a:xfrm rot="0">
              <a:off x="10488" y="5241"/>
              <a:ext cx="3373" cy="3581"/>
              <a:chOff x="1307468" y="2709040"/>
              <a:chExt cx="2916204" cy="3096104"/>
            </a:xfrm>
          </p:grpSpPr>
          <p:pic>
            <p:nvPicPr>
              <p:cNvPr id="14" name="Picture 2" descr="Plan - Free business icons"/>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307468"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Run Special Lineal color icon | Freepi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468"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6" name="箭头: 下 7"/>
              <p:cNvSpPr/>
              <p:nvPr/>
            </p:nvSpPr>
            <p:spPr>
              <a:xfrm>
                <a:off x="1667508"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pic>
            <p:nvPicPr>
              <p:cNvPr id="4098" name="Picture 2" descr="Observe - Free education ic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43672"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eflection - Free people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3672"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9" name="箭头: 下 9"/>
              <p:cNvSpPr/>
              <p:nvPr/>
            </p:nvSpPr>
            <p:spPr>
              <a:xfrm rot="16200000">
                <a:off x="2585610" y="5013116"/>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0" name="箭头: 下 10"/>
              <p:cNvSpPr/>
              <p:nvPr/>
            </p:nvSpPr>
            <p:spPr>
              <a:xfrm rot="5400000">
                <a:off x="2585610" y="2997012"/>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1" name="箭头: 下 11"/>
              <p:cNvSpPr/>
              <p:nvPr/>
            </p:nvSpPr>
            <p:spPr>
              <a:xfrm rot="10800000">
                <a:off x="3503712"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cxnSp>
          <p:nvCxnSpPr>
            <p:cNvPr id="27" name="直接连接符 26"/>
            <p:cNvCxnSpPr/>
            <p:nvPr/>
          </p:nvCxnSpPr>
          <p:spPr>
            <a:xfrm>
              <a:off x="8891"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8" name="直接连接符 27"/>
            <p:cNvCxnSpPr/>
            <p:nvPr/>
          </p:nvCxnSpPr>
          <p:spPr>
            <a:xfrm>
              <a:off x="8888"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29" name="直接连接符 28"/>
            <p:cNvCxnSpPr/>
            <p:nvPr/>
          </p:nvCxnSpPr>
          <p:spPr>
            <a:xfrm>
              <a:off x="14119" y="5861"/>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30" name="直接连接符 29"/>
            <p:cNvCxnSpPr/>
            <p:nvPr/>
          </p:nvCxnSpPr>
          <p:spPr>
            <a:xfrm>
              <a:off x="14119" y="8197"/>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0"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让</a:t>
            </a:r>
            <a:r>
              <a:rPr altLang="zh-CN"/>
              <a:t> AI </a:t>
            </a:r>
            <a:r>
              <a:rPr lang="zh-CN" altLang="en-US">
                <a:ea typeface="SimSun" charset="0"/>
              </a:rPr>
              <a:t>学会使用工具</a:t>
            </a:r>
            <a:endParaRPr lang="zh-CN" altLang="en-US">
              <a:ea typeface="SimSun" charset="0"/>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grpSp>
        <p:nvGrpSpPr>
          <p:cNvPr id="56" name="组合 55"/>
          <p:cNvGrpSpPr/>
          <p:nvPr/>
        </p:nvGrpSpPr>
        <p:grpSpPr>
          <a:xfrm>
            <a:off x="2897505" y="4516120"/>
            <a:ext cx="3136900" cy="1582420"/>
            <a:chOff x="5628" y="7112"/>
            <a:chExt cx="4940" cy="2492"/>
          </a:xfrm>
        </p:grpSpPr>
        <p:pic>
          <p:nvPicPr>
            <p:cNvPr id="1026" name="Picture 2" descr="Tool - Free construction and tools icons"/>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80" y="8212"/>
              <a:ext cx="1391" cy="1392"/>
            </a:xfrm>
            <a:prstGeom prst="rect">
              <a:avLst/>
            </a:prstGeom>
            <a:noFill/>
            <a:extLst>
              <a:ext uri="{909E8E84-426E-40DD-AFC4-6F175D3DCCD1}">
                <a14:hiddenFill xmlns:a14="http://schemas.microsoft.com/office/drawing/2010/main">
                  <a:solidFill>
                    <a:srgbClr val="FFFFFF"/>
                  </a:solidFill>
                </a14:hiddenFill>
              </a:ext>
            </a:extLst>
          </p:spPr>
        </p:pic>
        <p:sp>
          <p:nvSpPr>
            <p:cNvPr id="33" name="箭头: 上下 32"/>
            <p:cNvSpPr/>
            <p:nvPr/>
          </p:nvSpPr>
          <p:spPr>
            <a:xfrm rot="18900000">
              <a:off x="5628" y="7112"/>
              <a:ext cx="464" cy="2155"/>
            </a:xfrm>
            <a:prstGeom prst="up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34" name="箭头: 上下 33"/>
            <p:cNvSpPr/>
            <p:nvPr/>
          </p:nvSpPr>
          <p:spPr>
            <a:xfrm rot="2700000">
              <a:off x="9259" y="7112"/>
              <a:ext cx="464" cy="2154"/>
            </a:xfrm>
            <a:prstGeom prst="up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nvGrpSpPr>
          <p:cNvPr id="57" name="组合 56"/>
          <p:cNvGrpSpPr/>
          <p:nvPr/>
        </p:nvGrpSpPr>
        <p:grpSpPr>
          <a:xfrm>
            <a:off x="1562100" y="1555750"/>
            <a:ext cx="8970010" cy="3253105"/>
            <a:chOff x="3508" y="2450"/>
            <a:chExt cx="14126" cy="5123"/>
          </a:xfrm>
        </p:grpSpPr>
        <p:sp>
          <p:nvSpPr>
            <p:cNvPr id="3" name="矩形: 圆角 2"/>
            <p:cNvSpPr/>
            <p:nvPr/>
          </p:nvSpPr>
          <p:spPr>
            <a:xfrm>
              <a:off x="5197" y="2450"/>
              <a:ext cx="1701" cy="8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PaE</a:t>
              </a:r>
              <a:endParaRPr lang="zh-CN" altLang="en-US">
                <a:solidFill>
                  <a:srgbClr val="FFFFFF"/>
                </a:solidFill>
                <a:latin typeface="Noto Sans SC"/>
                <a:ea typeface="SimSun" charset="0"/>
                <a:cs typeface="Noto Sans SC"/>
                <a:sym typeface="+mn-ea"/>
              </a:endParaRPr>
            </a:p>
          </p:txBody>
        </p:sp>
        <p:sp>
          <p:nvSpPr>
            <p:cNvPr id="6" name="矩形: 圆角 8"/>
            <p:cNvSpPr/>
            <p:nvPr/>
          </p:nvSpPr>
          <p:spPr>
            <a:xfrm>
              <a:off x="13139" y="2450"/>
              <a:ext cx="1701" cy="85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ReAct</a:t>
              </a:r>
              <a:endParaRPr lang="en-US" altLang="zh-CN">
                <a:solidFill>
                  <a:srgbClr val="FFFFFF"/>
                </a:solidFill>
                <a:latin typeface="Noto Sans SC"/>
                <a:ea typeface="SimSun" charset="0"/>
                <a:cs typeface="Noto Sans SC"/>
                <a:sym typeface="+mn-ea"/>
              </a:endParaRPr>
            </a:p>
          </p:txBody>
        </p:sp>
        <p:grpSp>
          <p:nvGrpSpPr>
            <p:cNvPr id="19" name="组合 18"/>
            <p:cNvGrpSpPr/>
            <p:nvPr/>
          </p:nvGrpSpPr>
          <p:grpSpPr>
            <a:xfrm>
              <a:off x="3508" y="3491"/>
              <a:ext cx="5056" cy="4082"/>
              <a:chOff x="3500" y="4991"/>
              <a:chExt cx="5056" cy="4082"/>
            </a:xfrm>
          </p:grpSpPr>
          <p:grpSp>
            <p:nvGrpSpPr>
              <p:cNvPr id="23" name="组合 22"/>
              <p:cNvGrpSpPr/>
              <p:nvPr/>
            </p:nvGrpSpPr>
            <p:grpSpPr>
              <a:xfrm>
                <a:off x="3500" y="4991"/>
                <a:ext cx="5056" cy="4082"/>
                <a:chOff x="3500" y="4991"/>
                <a:chExt cx="5056" cy="4082"/>
              </a:xfrm>
            </p:grpSpPr>
            <p:grpSp>
              <p:nvGrpSpPr>
                <p:cNvPr id="22" name="组合 21"/>
                <p:cNvGrpSpPr/>
                <p:nvPr/>
              </p:nvGrpSpPr>
              <p:grpSpPr>
                <a:xfrm>
                  <a:off x="6680" y="4991"/>
                  <a:ext cx="1876" cy="4082"/>
                  <a:chOff x="6471" y="4991"/>
                  <a:chExt cx="1876" cy="4082"/>
                </a:xfrm>
              </p:grpSpPr>
              <p:sp>
                <p:nvSpPr>
                  <p:cNvPr id="26" name="矩形: 圆角 3"/>
                  <p:cNvSpPr/>
                  <p:nvPr/>
                </p:nvSpPr>
                <p:spPr>
                  <a:xfrm>
                    <a:off x="6471" y="4991"/>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1</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规划</a:t>
                    </a:r>
                    <a:endParaRPr lang="zh-CN" altLang="en-US">
                      <a:solidFill>
                        <a:srgbClr val="FFFFFF"/>
                      </a:solidFill>
                      <a:latin typeface="Noto Sans SC"/>
                      <a:ea typeface="SimSun" charset="0"/>
                      <a:cs typeface="Noto Sans SC"/>
                      <a:sym typeface="+mn-ea"/>
                    </a:endParaRPr>
                  </a:p>
                </p:txBody>
              </p:sp>
              <p:sp>
                <p:nvSpPr>
                  <p:cNvPr id="27" name="矩形: 圆角 4"/>
                  <p:cNvSpPr/>
                  <p:nvPr/>
                </p:nvSpPr>
                <p:spPr>
                  <a:xfrm>
                    <a:off x="6471" y="7323"/>
                    <a:ext cx="1877" cy="1750"/>
                  </a:xfrm>
                  <a:prstGeom prst="roundRect">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a:solidFill>
                          <a:srgbClr val="FFFFFF"/>
                        </a:solidFill>
                        <a:latin typeface="Noto Sans SC"/>
                        <a:ea typeface="SimSun" charset="0"/>
                        <a:cs typeface="Noto Sans SC"/>
                        <a:sym typeface="+mn-ea"/>
                      </a:rPr>
                      <a:t>2</a:t>
                    </a:r>
                    <a:endParaRPr lang="zh-CN" altLang="en-US">
                      <a:solidFill>
                        <a:srgbClr val="FFFFFF"/>
                      </a:solidFill>
                      <a:latin typeface="Noto Sans SC"/>
                      <a:ea typeface="SimSun" charset="0"/>
                      <a:cs typeface="Noto Sans SC"/>
                      <a:sym typeface="+mn-ea"/>
                    </a:endParaRPr>
                  </a:p>
                  <a:p>
                    <a:pPr lvl="0" algn="ctr">
                      <a:lnSpc>
                        <a:spcPct val="125000"/>
                      </a:lnSpc>
                      <a:buClrTx/>
                      <a:buSzTx/>
                      <a:buFontTx/>
                      <a:defRPr/>
                    </a:pPr>
                    <a:r>
                      <a:rPr lang="zh-CN" altLang="en-US">
                        <a:solidFill>
                          <a:srgbClr val="FFFFFF"/>
                        </a:solidFill>
                        <a:latin typeface="Noto Sans SC"/>
                        <a:ea typeface="SimSun" charset="0"/>
                        <a:cs typeface="Noto Sans SC"/>
                        <a:sym typeface="+mn-ea"/>
                      </a:rPr>
                      <a:t>执行</a:t>
                    </a:r>
                    <a:endParaRPr lang="zh-CN" altLang="en-US">
                      <a:solidFill>
                        <a:srgbClr val="FFFFFF"/>
                      </a:solidFill>
                      <a:latin typeface="Noto Sans SC"/>
                      <a:ea typeface="SimSun" charset="0"/>
                      <a:cs typeface="Noto Sans SC"/>
                      <a:sym typeface="+mn-ea"/>
                    </a:endParaRPr>
                  </a:p>
                </p:txBody>
              </p:sp>
            </p:grpSp>
            <p:grpSp>
              <p:nvGrpSpPr>
                <p:cNvPr id="37" name="组合 36"/>
                <p:cNvGrpSpPr/>
                <p:nvPr/>
              </p:nvGrpSpPr>
              <p:grpSpPr>
                <a:xfrm>
                  <a:off x="3500" y="5241"/>
                  <a:ext cx="1248" cy="3580"/>
                  <a:chOff x="3500" y="5241"/>
                  <a:chExt cx="1248" cy="3580"/>
                </a:xfrm>
              </p:grpSpPr>
              <p:pic>
                <p:nvPicPr>
                  <p:cNvPr id="2050" name="Picture 2" descr="Plan - Free business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0" y="5241"/>
                    <a:ext cx="1249" cy="124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un Special Lineal color icon | Freepi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0" y="7573"/>
                    <a:ext cx="1249" cy="1249"/>
                  </a:xfrm>
                  <a:prstGeom prst="rect">
                    <a:avLst/>
                  </a:prstGeom>
                  <a:noFill/>
                  <a:extLst>
                    <a:ext uri="{909E8E84-426E-40DD-AFC4-6F175D3DCCD1}">
                      <a14:hiddenFill xmlns:a14="http://schemas.microsoft.com/office/drawing/2010/main">
                        <a:solidFill>
                          <a:srgbClr val="FFFFFF"/>
                        </a:solidFill>
                      </a14:hiddenFill>
                    </a:ext>
                  </a:extLst>
                </p:spPr>
              </p:pic>
              <p:sp>
                <p:nvSpPr>
                  <p:cNvPr id="38" name="箭头: 下 5"/>
                  <p:cNvSpPr/>
                  <p:nvPr/>
                </p:nvSpPr>
                <p:spPr>
                  <a:xfrm>
                    <a:off x="3916" y="6740"/>
                    <a:ext cx="416" cy="583"/>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grpSp>
          <p:cxnSp>
            <p:nvCxnSpPr>
              <p:cNvPr id="39" name="直接连接符 38"/>
              <p:cNvCxnSpPr/>
              <p:nvPr/>
            </p:nvCxnSpPr>
            <p:spPr>
              <a:xfrm>
                <a:off x="5014"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40" name="直接连接符 39"/>
              <p:cNvCxnSpPr/>
              <p:nvPr/>
            </p:nvCxnSpPr>
            <p:spPr>
              <a:xfrm>
                <a:off x="5015"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nvGrpSpPr>
            <p:cNvPr id="41" name="组合 40"/>
            <p:cNvGrpSpPr/>
            <p:nvPr/>
          </p:nvGrpSpPr>
          <p:grpSpPr>
            <a:xfrm>
              <a:off x="8896" y="3550"/>
              <a:ext cx="8739" cy="3964"/>
              <a:chOff x="8888" y="5050"/>
              <a:chExt cx="8739" cy="3964"/>
            </a:xfrm>
          </p:grpSpPr>
          <p:grpSp>
            <p:nvGrpSpPr>
              <p:cNvPr id="42" name="组合 41"/>
              <p:cNvGrpSpPr/>
              <p:nvPr/>
            </p:nvGrpSpPr>
            <p:grpSpPr>
              <a:xfrm rot="0">
                <a:off x="15793" y="5050"/>
                <a:ext cx="1834" cy="3964"/>
                <a:chOff x="5374639" y="2494801"/>
                <a:chExt cx="1585595" cy="3427095"/>
              </a:xfrm>
            </p:grpSpPr>
            <p:sp>
              <p:nvSpPr>
                <p:cNvPr id="43" name="矩形: 圆角 5"/>
                <p:cNvSpPr/>
                <p:nvPr/>
              </p:nvSpPr>
              <p:spPr>
                <a:xfrm>
                  <a:off x="5375909" y="2494801"/>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4</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反思</a:t>
                  </a:r>
                  <a:endParaRPr lang="en-US" altLang="zh-CN">
                    <a:solidFill>
                      <a:srgbClr val="FFFFFF"/>
                    </a:solidFill>
                    <a:latin typeface="Noto Sans SC"/>
                    <a:ea typeface="SimSun" charset="0"/>
                    <a:cs typeface="Noto Sans SC"/>
                    <a:sym typeface="+mn-ea"/>
                  </a:endParaRPr>
                </a:p>
              </p:txBody>
            </p:sp>
            <p:sp>
              <p:nvSpPr>
                <p:cNvPr id="44" name="矩形: 圆角 6"/>
                <p:cNvSpPr/>
                <p:nvPr/>
              </p:nvSpPr>
              <p:spPr>
                <a:xfrm>
                  <a:off x="5374639" y="4409326"/>
                  <a:ext cx="1584325" cy="1512570"/>
                </a:xfrm>
                <a:prstGeom prst="roundRect">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en-US" altLang="zh-CN">
                      <a:solidFill>
                        <a:srgbClr val="FFFFFF"/>
                      </a:solidFill>
                      <a:latin typeface="Noto Sans SC"/>
                      <a:ea typeface="SimSun" charset="0"/>
                      <a:cs typeface="Noto Sans SC"/>
                      <a:sym typeface="+mn-ea"/>
                    </a:rPr>
                    <a:t>3</a:t>
                  </a:r>
                  <a:endParaRPr lang="en-US" altLang="zh-CN">
                    <a:solidFill>
                      <a:srgbClr val="FFFFFF"/>
                    </a:solidFill>
                    <a:latin typeface="Noto Sans SC"/>
                    <a:ea typeface="SimSun" charset="0"/>
                    <a:cs typeface="Noto Sans SC"/>
                    <a:sym typeface="+mn-ea"/>
                  </a:endParaRPr>
                </a:p>
                <a:p>
                  <a:pPr lvl="0" algn="ctr">
                    <a:lnSpc>
                      <a:spcPct val="125000"/>
                    </a:lnSpc>
                    <a:buClrTx/>
                    <a:buSzTx/>
                    <a:buFontTx/>
                    <a:defRPr/>
                  </a:pPr>
                  <a:r>
                    <a:rPr lang="en-US" altLang="zh-CN">
                      <a:solidFill>
                        <a:srgbClr val="FFFFFF"/>
                      </a:solidFill>
                      <a:latin typeface="Noto Sans SC"/>
                      <a:ea typeface="SimSun" charset="0"/>
                      <a:cs typeface="Noto Sans SC"/>
                      <a:sym typeface="+mn-ea"/>
                    </a:rPr>
                    <a:t>评估</a:t>
                  </a:r>
                  <a:endParaRPr lang="en-US" altLang="zh-CN">
                    <a:solidFill>
                      <a:srgbClr val="FFFFFF"/>
                    </a:solidFill>
                    <a:latin typeface="Noto Sans SC"/>
                    <a:ea typeface="SimSun" charset="0"/>
                    <a:cs typeface="Noto Sans SC"/>
                    <a:sym typeface="+mn-ea"/>
                  </a:endParaRPr>
                </a:p>
              </p:txBody>
            </p:sp>
          </p:grpSp>
          <p:grpSp>
            <p:nvGrpSpPr>
              <p:cNvPr id="45" name="组合 44"/>
              <p:cNvGrpSpPr/>
              <p:nvPr/>
            </p:nvGrpSpPr>
            <p:grpSpPr>
              <a:xfrm rot="0">
                <a:off x="10488" y="5241"/>
                <a:ext cx="3373" cy="3581"/>
                <a:chOff x="1307468" y="2709040"/>
                <a:chExt cx="2916204" cy="3096104"/>
              </a:xfrm>
            </p:grpSpPr>
            <p:pic>
              <p:nvPicPr>
                <p:cNvPr id="46" name="Picture 2" descr="Plan - Free business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7468"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Run Special Lineal color icon | Freepi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7468"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48" name="箭头: 下 7"/>
                <p:cNvSpPr/>
                <p:nvPr/>
              </p:nvSpPr>
              <p:spPr>
                <a:xfrm>
                  <a:off x="1667508"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pic>
              <p:nvPicPr>
                <p:cNvPr id="4098" name="Picture 2" descr="Observe - Free education icon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43672" y="4725144"/>
                  <a:ext cx="108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Reflection - Free people icon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43672" y="2709040"/>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49" name="箭头: 下 9"/>
                <p:cNvSpPr/>
                <p:nvPr/>
              </p:nvSpPr>
              <p:spPr>
                <a:xfrm rot="16200000">
                  <a:off x="2585610" y="5013116"/>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0" name="箭头: 下 10"/>
                <p:cNvSpPr/>
                <p:nvPr/>
              </p:nvSpPr>
              <p:spPr>
                <a:xfrm rot="5400000">
                  <a:off x="2585610" y="2997012"/>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1" name="箭头: 下 11"/>
                <p:cNvSpPr/>
                <p:nvPr/>
              </p:nvSpPr>
              <p:spPr>
                <a:xfrm rot="10800000">
                  <a:off x="3503712" y="4005064"/>
                  <a:ext cx="359920" cy="504056"/>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grpSp>
          <p:cxnSp>
            <p:nvCxnSpPr>
              <p:cNvPr id="52" name="直接连接符 51"/>
              <p:cNvCxnSpPr/>
              <p:nvPr/>
            </p:nvCxnSpPr>
            <p:spPr>
              <a:xfrm>
                <a:off x="8891" y="5861"/>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3" name="直接连接符 52"/>
              <p:cNvCxnSpPr/>
              <p:nvPr/>
            </p:nvCxnSpPr>
            <p:spPr>
              <a:xfrm>
                <a:off x="8888" y="8197"/>
                <a:ext cx="1417" cy="0"/>
              </a:xfrm>
              <a:prstGeom prst="line">
                <a:avLst/>
              </a:prstGeom>
              <a:ln w="25400" cap="flat" cmpd="sng" algn="ctr">
                <a:solidFill>
                  <a:srgbClr val="00E5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4" name="直接连接符 53"/>
              <p:cNvCxnSpPr/>
              <p:nvPr/>
            </p:nvCxnSpPr>
            <p:spPr>
              <a:xfrm>
                <a:off x="14119" y="5861"/>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cxnSp>
            <p:nvCxnSpPr>
              <p:cNvPr id="55" name="直接连接符 54"/>
              <p:cNvCxnSpPr/>
              <p:nvPr/>
            </p:nvCxnSpPr>
            <p:spPr>
              <a:xfrm>
                <a:off x="14119" y="8197"/>
                <a:ext cx="1417" cy="0"/>
              </a:xfrm>
              <a:prstGeom prst="line">
                <a:avLst/>
              </a:prstGeom>
              <a:ln w="25400" cap="flat" cmpd="sng" algn="ctr">
                <a:solidFill>
                  <a:srgbClr val="B388FF"/>
                </a:solidFill>
                <a:prstDash val="sysDash"/>
                <a:miter lim="800000"/>
                <a:headEnd type="oval"/>
                <a:tailEnd type="oval"/>
              </a:ln>
            </p:spPr>
            <p:style>
              <a:lnRef idx="0">
                <a:schemeClr val="accent1"/>
              </a:lnRef>
              <a:fillRef idx="0">
                <a:srgbClr val="FFFFFF"/>
              </a:fillRef>
              <a:effectRef idx="0">
                <a:srgbClr val="FFFFFF"/>
              </a:effectRef>
              <a:fontRef idx="minor">
                <a:schemeClr val="tx1"/>
              </a:fontRef>
            </p:style>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让</a:t>
            </a:r>
            <a:r>
              <a:rPr altLang="zh-CN">
                <a:sym typeface="+mn-ea"/>
              </a:rPr>
              <a:t> AI </a:t>
            </a:r>
            <a:r>
              <a:rPr lang="zh-CN" altLang="en-US">
                <a:ea typeface="SimSun" charset="0"/>
                <a:sym typeface="+mn-ea"/>
              </a:rPr>
              <a:t>学会使用工具</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5" name="文本框 4"/>
          <p:cNvSpPr txBox="1"/>
          <p:nvPr/>
        </p:nvSpPr>
        <p:spPr>
          <a:xfrm>
            <a:off x="5960110" y="1821815"/>
            <a:ext cx="4853940" cy="4162425"/>
          </a:xfrm>
          <a:prstGeom prst="rect">
            <a:avLst/>
          </a:prstGeom>
          <a:solidFill>
            <a:srgbClr val="000000">
              <a:alpha val="0"/>
            </a:srgbClr>
          </a:solidFill>
          <a:ln>
            <a:solidFill>
              <a:schemeClr val="bg1"/>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noAutofit/>
          </a:bodyPr>
          <a:lstStyle/>
          <a:p>
            <a:r>
              <a:rPr lang="en-US" altLang="en-US" sz="1400" dirty="0">
                <a:solidFill>
                  <a:schemeClr val="bg1"/>
                </a:solidFill>
                <a:latin typeface="Calibri" charset="0"/>
                <a:cs typeface="Calibri" charset="0"/>
              </a:rPr>
              <a:t>……</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 工具使用说明</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在完成任务的过程中，如果需要XXX方面的信息或者执行XXX操作，可以从下列工具中选择匹配的进行调用：</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1. XXX信息搜索工具</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工具描述：可以从百度、Google、Bing搜索引擎中根据关键词搜索网页，返回网页内容</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工具输入：搜索关键词</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工具输出：HTML格式的网页源码</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2. HTML内容提取工具</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工具描述：从HTML代码中提取正文文本内容</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工具输入：HTML网页代码</a:t>
            </a:r>
            <a:endParaRPr lang="en-US" altLang="en-US" sz="1400" dirty="0">
              <a:solidFill>
                <a:schemeClr val="bg1"/>
              </a:solidFill>
              <a:latin typeface="Calibri" charset="0"/>
              <a:cs typeface="Calibri" charset="0"/>
            </a:endParaRPr>
          </a:p>
          <a:p>
            <a:r>
              <a:rPr lang="en-US" altLang="en-US" sz="1400" dirty="0">
                <a:solidFill>
                  <a:schemeClr val="bg1"/>
                </a:solidFill>
                <a:latin typeface="Calibri" charset="0"/>
                <a:cs typeface="Calibri" charset="0"/>
              </a:rPr>
              <a:t>- 工具输出：网页正文文本</a:t>
            </a:r>
            <a:endParaRPr lang="en-US" altLang="en-US" sz="1400" dirty="0">
              <a:solidFill>
                <a:schemeClr val="bg1"/>
              </a:solidFill>
              <a:latin typeface="Calibri" charset="0"/>
              <a:cs typeface="Calibri" charset="0"/>
            </a:endParaRPr>
          </a:p>
          <a:p>
            <a:endParaRPr lang="en-US" altLang="en-US" sz="1400" dirty="0">
              <a:solidFill>
                <a:schemeClr val="bg1"/>
              </a:solidFill>
              <a:latin typeface="Calibri" charset="0"/>
              <a:cs typeface="Calibri" charset="0"/>
            </a:endParaRPr>
          </a:p>
          <a:p>
            <a:r>
              <a:rPr lang="en-US" altLang="en-US" sz="1400" b="1" dirty="0">
                <a:solidFill>
                  <a:schemeClr val="bg1"/>
                </a:solidFill>
                <a:latin typeface="Calibri" charset="0"/>
                <a:cs typeface="Calibri" charset="0"/>
              </a:rPr>
              <a:t>3. ……</a:t>
            </a:r>
            <a:endParaRPr lang="en-US" altLang="en-US" sz="1400" b="1" dirty="0">
              <a:solidFill>
                <a:schemeClr val="bg1"/>
              </a:solidFill>
              <a:latin typeface="Calibri" charset="0"/>
              <a:cs typeface="Calibri" charset="0"/>
            </a:endParaRPr>
          </a:p>
        </p:txBody>
      </p:sp>
      <p:pic>
        <p:nvPicPr>
          <p:cNvPr id="6" name="图片 5"/>
          <p:cNvPicPr>
            <a:picLocks noChangeAspect="1"/>
          </p:cNvPicPr>
          <p:nvPr/>
        </p:nvPicPr>
        <p:blipFill>
          <a:blip r:embed="rId1"/>
          <a:stretch>
            <a:fillRect/>
          </a:stretch>
        </p:blipFill>
        <p:spPr>
          <a:xfrm>
            <a:off x="1898650" y="1821815"/>
            <a:ext cx="3122295" cy="4163695"/>
          </a:xfrm>
          <a:prstGeom prst="rect">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2" name="图片 71" descr="ChatGPT Image Aug 29, 2026, 09_17_33 PM"/>
          <p:cNvPicPr>
            <a:picLocks noChangeAspect="1"/>
          </p:cNvPicPr>
          <p:nvPr/>
        </p:nvPicPr>
        <p:blipFill>
          <a:blip r:embed="rId1">
            <a:alphaModFix amt="40000"/>
          </a:blip>
          <a:stretch>
            <a:fillRect/>
          </a:stretch>
        </p:blipFill>
        <p:spPr>
          <a:xfrm>
            <a:off x="4656000" y="1931670"/>
            <a:ext cx="2880000" cy="4320000"/>
          </a:xfrm>
          <a:prstGeom prst="rect">
            <a:avLst/>
          </a:prstGeom>
        </p:spPr>
      </p:pic>
      <p:sp>
        <p:nvSpPr>
          <p:cNvPr id="2" name="标题 1"/>
          <p:cNvSpPr>
            <a:spLocks noGrp="1"/>
          </p:cNvSpPr>
          <p:nvPr>
            <p:ph type="title"/>
          </p:nvPr>
        </p:nvSpPr>
        <p:spPr/>
        <p:txBody>
          <a:bodyPr>
            <a:normAutofit fontScale="90000"/>
          </a:bodyPr>
          <a:p>
            <a:r>
              <a:rPr lang="zh-CN" altLang="en-US"/>
              <a:t>解剖一只“小龙虾”</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grpSp>
        <p:nvGrpSpPr>
          <p:cNvPr id="62" name="组合 61"/>
          <p:cNvGrpSpPr/>
          <p:nvPr/>
        </p:nvGrpSpPr>
        <p:grpSpPr>
          <a:xfrm rot="0">
            <a:off x="3700145" y="1465580"/>
            <a:ext cx="4791710" cy="772795"/>
            <a:chOff x="2465159" y="962627"/>
            <a:chExt cx="6584944" cy="1061613"/>
          </a:xfrm>
        </p:grpSpPr>
        <p:grpSp>
          <p:nvGrpSpPr>
            <p:cNvPr id="60" name="组合 59"/>
            <p:cNvGrpSpPr/>
            <p:nvPr/>
          </p:nvGrpSpPr>
          <p:grpSpPr>
            <a:xfrm>
              <a:off x="2465159" y="962627"/>
              <a:ext cx="2062391" cy="1061613"/>
              <a:chOff x="2465159" y="962627"/>
              <a:chExt cx="2062391" cy="1061613"/>
            </a:xfrm>
          </p:grpSpPr>
          <p:grpSp>
            <p:nvGrpSpPr>
              <p:cNvPr id="58" name="组合 57"/>
              <p:cNvGrpSpPr/>
              <p:nvPr/>
            </p:nvGrpSpPr>
            <p:grpSpPr>
              <a:xfrm>
                <a:off x="2465159" y="962627"/>
                <a:ext cx="2062391" cy="640080"/>
                <a:chOff x="2465159" y="962627"/>
                <a:chExt cx="2062391" cy="640080"/>
              </a:xfrm>
            </p:grpSpPr>
            <p:pic>
              <p:nvPicPr>
                <p:cNvPr id="8" name="图片 7"/>
                <p:cNvPicPr>
                  <a:picLocks noChangeAspect="1"/>
                </p:cNvPicPr>
                <p:nvPr/>
              </p:nvPicPr>
              <p:blipFill>
                <a:blip r:embed="rId2"/>
                <a:stretch>
                  <a:fillRect/>
                </a:stretch>
              </p:blipFill>
              <p:spPr>
                <a:xfrm>
                  <a:off x="3176315" y="962627"/>
                  <a:ext cx="540000" cy="540000"/>
                </a:xfrm>
                <a:prstGeom prst="rect">
                  <a:avLst/>
                </a:prstGeom>
              </p:spPr>
            </p:pic>
            <p:pic>
              <p:nvPicPr>
                <p:cNvPr id="9" name="Picture 18" descr="通义"/>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65159" y="962627"/>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p:cNvPicPr>
                  <a:picLocks noChangeAspect="1"/>
                </p:cNvPicPr>
                <p:nvPr/>
              </p:nvPicPr>
              <p:blipFill>
                <a:blip r:embed="rId4"/>
                <a:stretch>
                  <a:fillRect/>
                </a:stretch>
              </p:blipFill>
              <p:spPr>
                <a:xfrm flipH="1">
                  <a:off x="3887470" y="962627"/>
                  <a:ext cx="640080" cy="640080"/>
                </a:xfrm>
                <a:prstGeom prst="rect">
                  <a:avLst/>
                </a:prstGeom>
              </p:spPr>
            </p:pic>
          </p:grpSp>
          <p:sp>
            <p:nvSpPr>
              <p:cNvPr id="14" name="文本框 13"/>
              <p:cNvSpPr txBox="1"/>
              <p:nvPr/>
            </p:nvSpPr>
            <p:spPr>
              <a:xfrm>
                <a:off x="2647359" y="1602740"/>
                <a:ext cx="1697990" cy="421500"/>
              </a:xfrm>
              <a:prstGeom prst="rect">
                <a:avLst/>
              </a:prstGeom>
              <a:noFill/>
            </p:spPr>
            <p:txBody>
              <a:bodyPr wrap="square" rtlCol="0">
                <a:spAutoFit/>
              </a:bodyPr>
              <a:lstStyle/>
              <a:p>
                <a:pPr algn="ctr"/>
                <a:r>
                  <a:rPr lang="en-US" altLang="en-US" sz="1400" b="1" dirty="0" err="1">
                    <a:solidFill>
                      <a:schemeClr val="bg1"/>
                    </a:solidFill>
                    <a:latin typeface="Microsoft YaHei" charset="-122"/>
                    <a:ea typeface="Microsoft YaHei" charset="-122"/>
                  </a:rPr>
                  <a:t>外部大模型</a:t>
                </a:r>
                <a:endParaRPr lang="en-US" altLang="en-US" sz="1400" b="1" dirty="0" err="1">
                  <a:solidFill>
                    <a:schemeClr val="bg1"/>
                  </a:solidFill>
                  <a:latin typeface="Microsoft YaHei" charset="-122"/>
                  <a:ea typeface="Microsoft YaHei" charset="-122"/>
                </a:endParaRPr>
              </a:p>
            </p:txBody>
          </p:sp>
        </p:grpSp>
        <p:grpSp>
          <p:nvGrpSpPr>
            <p:cNvPr id="61" name="组合 60"/>
            <p:cNvGrpSpPr/>
            <p:nvPr/>
          </p:nvGrpSpPr>
          <p:grpSpPr>
            <a:xfrm>
              <a:off x="6993890" y="962643"/>
              <a:ext cx="2056213" cy="1061581"/>
              <a:chOff x="6993890" y="962659"/>
              <a:chExt cx="2056213" cy="1061581"/>
            </a:xfrm>
          </p:grpSpPr>
          <p:grpSp>
            <p:nvGrpSpPr>
              <p:cNvPr id="59" name="组合 58"/>
              <p:cNvGrpSpPr/>
              <p:nvPr/>
            </p:nvGrpSpPr>
            <p:grpSpPr>
              <a:xfrm>
                <a:off x="6993890" y="962659"/>
                <a:ext cx="2056213" cy="640080"/>
                <a:chOff x="6993890" y="962659"/>
                <a:chExt cx="2056213" cy="640080"/>
              </a:xfrm>
            </p:grpSpPr>
            <p:pic>
              <p:nvPicPr>
                <p:cNvPr id="1036" name="Picture 12" descr="Claude AI Icon SVG Vector &amp; PNG Free Download | UXWi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07693" y="962659"/>
                  <a:ext cx="542410" cy="54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Openai, ChatGPT Logo Icon 24558808 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00831" y="962659"/>
                  <a:ext cx="540000" cy="54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4"/>
                <a:stretch>
                  <a:fillRect/>
                </a:stretch>
              </p:blipFill>
              <p:spPr>
                <a:xfrm>
                  <a:off x="6993890" y="962659"/>
                  <a:ext cx="640080" cy="640080"/>
                </a:xfrm>
                <a:prstGeom prst="rect">
                  <a:avLst/>
                </a:prstGeom>
              </p:spPr>
            </p:pic>
          </p:grpSp>
          <p:sp>
            <p:nvSpPr>
              <p:cNvPr id="15" name="文本框 14"/>
              <p:cNvSpPr txBox="1"/>
              <p:nvPr/>
            </p:nvSpPr>
            <p:spPr>
              <a:xfrm>
                <a:off x="7173001" y="1602740"/>
                <a:ext cx="1697990" cy="421500"/>
              </a:xfrm>
              <a:prstGeom prst="rect">
                <a:avLst/>
              </a:prstGeom>
              <a:noFill/>
            </p:spPr>
            <p:txBody>
              <a:bodyPr wrap="square" rtlCol="0">
                <a:spAutoFit/>
              </a:bodyPr>
              <a:lstStyle/>
              <a:p>
                <a:pPr algn="ctr"/>
                <a:r>
                  <a:rPr lang="en-US" altLang="en-US" sz="1400" b="1" dirty="0" err="1">
                    <a:solidFill>
                      <a:schemeClr val="bg1"/>
                    </a:solidFill>
                    <a:latin typeface="Microsoft YaHei" charset="-122"/>
                    <a:ea typeface="Microsoft YaHei" charset="-122"/>
                  </a:rPr>
                  <a:t>外部大模型</a:t>
                </a:r>
                <a:endParaRPr lang="en-US" altLang="en-US" sz="1400" b="1" dirty="0" err="1">
                  <a:solidFill>
                    <a:schemeClr val="bg1"/>
                  </a:solidFill>
                  <a:latin typeface="Microsoft YaHei" charset="-122"/>
                  <a:ea typeface="Microsoft YaHei" charset="-122"/>
                </a:endParaRPr>
              </a:p>
            </p:txBody>
          </p:sp>
        </p:grpSp>
      </p:grpSp>
      <p:grpSp>
        <p:nvGrpSpPr>
          <p:cNvPr id="56" name="组合 55"/>
          <p:cNvGrpSpPr/>
          <p:nvPr/>
        </p:nvGrpSpPr>
        <p:grpSpPr>
          <a:xfrm rot="0">
            <a:off x="5331460" y="2114550"/>
            <a:ext cx="1529080" cy="1444625"/>
            <a:chOff x="4647565" y="1620203"/>
            <a:chExt cx="2100580" cy="1984375"/>
          </a:xfrm>
        </p:grpSpPr>
        <p:pic>
          <p:nvPicPr>
            <p:cNvPr id="43" name="Picture 26" descr="And Arrow 影像– 瀏覽7,428,201 個素材庫相片、向量圖和影片| Adobe Stock"/>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a:fillRect/>
            </a:stretch>
          </p:blipFill>
          <p:spPr bwMode="auto">
            <a:xfrm rot="14700000" flipH="1">
              <a:off x="3844290" y="2423478"/>
              <a:ext cx="1984375" cy="37782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6" descr="And Arrow 影像– 瀏覽7,428,201 個素材庫相片、向量圖和影片| Adobe Stock"/>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a:fillRect/>
            </a:stretch>
          </p:blipFill>
          <p:spPr bwMode="auto">
            <a:xfrm rot="6900000">
              <a:off x="5567045" y="2423478"/>
              <a:ext cx="1984375" cy="3778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2" name="组合 31"/>
          <p:cNvGrpSpPr/>
          <p:nvPr/>
        </p:nvGrpSpPr>
        <p:grpSpPr>
          <a:xfrm rot="0">
            <a:off x="5478145" y="5051425"/>
            <a:ext cx="1235710" cy="890270"/>
            <a:chOff x="4857750" y="5117465"/>
            <a:chExt cx="1697990" cy="1223238"/>
          </a:xfrm>
        </p:grpSpPr>
        <p:pic>
          <p:nvPicPr>
            <p:cNvPr id="16" name="图片 15"/>
            <p:cNvPicPr>
              <a:picLocks noChangeAspect="1"/>
            </p:cNvPicPr>
            <p:nvPr/>
          </p:nvPicPr>
          <p:blipFill>
            <a:blip r:embed="rId8"/>
            <a:stretch>
              <a:fillRect/>
            </a:stretch>
          </p:blipFill>
          <p:spPr>
            <a:xfrm>
              <a:off x="5307330" y="5117465"/>
              <a:ext cx="798830" cy="798830"/>
            </a:xfrm>
            <a:prstGeom prst="rect">
              <a:avLst/>
            </a:prstGeom>
          </p:spPr>
        </p:pic>
        <p:sp>
          <p:nvSpPr>
            <p:cNvPr id="17" name="文本框 16"/>
            <p:cNvSpPr txBox="1"/>
            <p:nvPr/>
          </p:nvSpPr>
          <p:spPr>
            <a:xfrm>
              <a:off x="4857750" y="5962015"/>
              <a:ext cx="1697990" cy="378688"/>
            </a:xfrm>
            <a:prstGeom prst="rect">
              <a:avLst/>
            </a:prstGeom>
            <a:noFill/>
          </p:spPr>
          <p:txBody>
            <a:bodyPr wrap="square" rtlCol="0">
              <a:spAutoFit/>
            </a:bodyPr>
            <a:lstStyle/>
            <a:p>
              <a:pPr algn="ctr"/>
              <a:r>
                <a:rPr lang="en-US" altLang="en-US" sz="1200" b="1" dirty="0" err="1">
                  <a:solidFill>
                    <a:schemeClr val="bg1"/>
                  </a:solidFill>
                </a:rPr>
                <a:t>数据存储</a:t>
              </a:r>
              <a:endParaRPr lang="en-US" altLang="en-US" sz="1200" b="1" dirty="0" err="1">
                <a:solidFill>
                  <a:schemeClr val="bg1"/>
                </a:solidFill>
              </a:endParaRPr>
            </a:p>
          </p:txBody>
        </p:sp>
      </p:grpSp>
      <p:sp>
        <p:nvSpPr>
          <p:cNvPr id="45" name="上下箭头 44"/>
          <p:cNvSpPr/>
          <p:nvPr/>
        </p:nvSpPr>
        <p:spPr>
          <a:xfrm>
            <a:off x="5977890" y="4459605"/>
            <a:ext cx="236220" cy="480695"/>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nvGrpSpPr>
          <p:cNvPr id="1032" name="组合 1031"/>
          <p:cNvGrpSpPr/>
          <p:nvPr/>
        </p:nvGrpSpPr>
        <p:grpSpPr>
          <a:xfrm rot="0">
            <a:off x="2479675" y="2413635"/>
            <a:ext cx="1828165" cy="1045210"/>
            <a:chOff x="1446764" y="2486659"/>
            <a:chExt cx="2511965" cy="1435736"/>
          </a:xfrm>
        </p:grpSpPr>
        <p:pic>
          <p:nvPicPr>
            <p:cNvPr id="30" name="图片 29"/>
            <p:cNvPicPr>
              <a:picLocks noChangeAspect="1"/>
            </p:cNvPicPr>
            <p:nvPr/>
          </p:nvPicPr>
          <p:blipFill>
            <a:blip r:embed="rId9"/>
            <a:stretch>
              <a:fillRect/>
            </a:stretch>
          </p:blipFill>
          <p:spPr>
            <a:xfrm>
              <a:off x="1446764" y="2486659"/>
              <a:ext cx="631190" cy="631190"/>
            </a:xfrm>
            <a:prstGeom prst="rect">
              <a:avLst/>
            </a:prstGeom>
          </p:spPr>
        </p:pic>
        <p:sp>
          <p:nvSpPr>
            <p:cNvPr id="35" name="任意多边形: 形状 15"/>
            <p:cNvSpPr/>
            <p:nvPr/>
          </p:nvSpPr>
          <p:spPr>
            <a:xfrm>
              <a:off x="2178057" y="2803596"/>
              <a:ext cx="1780672" cy="1118799"/>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033" name="组合 1032"/>
          <p:cNvGrpSpPr/>
          <p:nvPr/>
        </p:nvGrpSpPr>
        <p:grpSpPr>
          <a:xfrm rot="0">
            <a:off x="2479675" y="3298825"/>
            <a:ext cx="1425575" cy="468630"/>
            <a:chOff x="1454384" y="3584430"/>
            <a:chExt cx="1958802" cy="644186"/>
          </a:xfrm>
        </p:grpSpPr>
        <p:pic>
          <p:nvPicPr>
            <p:cNvPr id="29" name="图片 28"/>
            <p:cNvPicPr>
              <a:picLocks noChangeAspect="1"/>
            </p:cNvPicPr>
            <p:nvPr/>
          </p:nvPicPr>
          <p:blipFill>
            <a:blip r:embed="rId10"/>
            <a:stretch>
              <a:fillRect/>
            </a:stretch>
          </p:blipFill>
          <p:spPr>
            <a:xfrm>
              <a:off x="1454384" y="3584430"/>
              <a:ext cx="615950" cy="615950"/>
            </a:xfrm>
            <a:prstGeom prst="rect">
              <a:avLst/>
            </a:prstGeom>
          </p:spPr>
        </p:pic>
        <p:sp>
          <p:nvSpPr>
            <p:cNvPr id="36" name="任意多边形: 形状 15"/>
            <p:cNvSpPr/>
            <p:nvPr/>
          </p:nvSpPr>
          <p:spPr>
            <a:xfrm>
              <a:off x="2178058" y="3898900"/>
              <a:ext cx="1235128" cy="329716"/>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034" name="组合 1033"/>
          <p:cNvGrpSpPr/>
          <p:nvPr/>
        </p:nvGrpSpPr>
        <p:grpSpPr>
          <a:xfrm rot="0">
            <a:off x="2479675" y="4344035"/>
            <a:ext cx="1443990" cy="462280"/>
            <a:chOff x="1444859" y="4666961"/>
            <a:chExt cx="1983424" cy="635000"/>
          </a:xfrm>
        </p:grpSpPr>
        <p:pic>
          <p:nvPicPr>
            <p:cNvPr id="31" name="图片 30"/>
            <p:cNvPicPr>
              <a:picLocks noChangeAspect="1"/>
            </p:cNvPicPr>
            <p:nvPr/>
          </p:nvPicPr>
          <p:blipFill>
            <a:blip r:embed="rId11"/>
            <a:stretch>
              <a:fillRect/>
            </a:stretch>
          </p:blipFill>
          <p:spPr>
            <a:xfrm>
              <a:off x="1444859" y="4666961"/>
              <a:ext cx="635000" cy="635000"/>
            </a:xfrm>
            <a:prstGeom prst="rect">
              <a:avLst/>
            </a:prstGeom>
          </p:spPr>
        </p:pic>
        <p:sp>
          <p:nvSpPr>
            <p:cNvPr id="37" name="任意多边形: 形状 15"/>
            <p:cNvSpPr/>
            <p:nvPr/>
          </p:nvSpPr>
          <p:spPr>
            <a:xfrm flipV="1">
              <a:off x="2178057" y="4741542"/>
              <a:ext cx="1250226" cy="271633"/>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035" name="组合 1034"/>
          <p:cNvGrpSpPr/>
          <p:nvPr/>
        </p:nvGrpSpPr>
        <p:grpSpPr>
          <a:xfrm rot="0">
            <a:off x="2479675" y="5277485"/>
            <a:ext cx="1774825" cy="592455"/>
            <a:chOff x="1480102" y="5518783"/>
            <a:chExt cx="2439352" cy="814275"/>
          </a:xfrm>
        </p:grpSpPr>
        <p:pic>
          <p:nvPicPr>
            <p:cNvPr id="33" name="图片 32"/>
            <p:cNvPicPr>
              <a:picLocks noChangeAspect="1"/>
            </p:cNvPicPr>
            <p:nvPr/>
          </p:nvPicPr>
          <p:blipFill>
            <a:blip r:embed="rId12"/>
            <a:stretch>
              <a:fillRect/>
            </a:stretch>
          </p:blipFill>
          <p:spPr>
            <a:xfrm>
              <a:off x="1480102" y="5768543"/>
              <a:ext cx="564515" cy="564515"/>
            </a:xfrm>
            <a:prstGeom prst="rect">
              <a:avLst/>
            </a:prstGeom>
          </p:spPr>
        </p:pic>
        <p:sp>
          <p:nvSpPr>
            <p:cNvPr id="38" name="任意多边形: 形状 15"/>
            <p:cNvSpPr/>
            <p:nvPr/>
          </p:nvSpPr>
          <p:spPr>
            <a:xfrm flipV="1">
              <a:off x="2178057" y="5518783"/>
              <a:ext cx="1741397" cy="604521"/>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8" name="组合 17"/>
          <p:cNvGrpSpPr/>
          <p:nvPr/>
        </p:nvGrpSpPr>
        <p:grpSpPr>
          <a:xfrm rot="0">
            <a:off x="4061460" y="3768090"/>
            <a:ext cx="1180465" cy="1172210"/>
            <a:chOff x="3115945" y="3898900"/>
            <a:chExt cx="1621790" cy="1610381"/>
          </a:xfrm>
        </p:grpSpPr>
        <p:sp>
          <p:nvSpPr>
            <p:cNvPr id="27" name="文本框 26"/>
            <p:cNvSpPr txBox="1"/>
            <p:nvPr/>
          </p:nvSpPr>
          <p:spPr>
            <a:xfrm>
              <a:off x="3115945" y="4792345"/>
              <a:ext cx="1621790" cy="716936"/>
            </a:xfrm>
            <a:prstGeom prst="rect">
              <a:avLst/>
            </a:prstGeom>
            <a:noFill/>
          </p:spPr>
          <p:txBody>
            <a:bodyPr wrap="square" rtlCol="0">
              <a:spAutoFit/>
            </a:bodyPr>
            <a:lstStyle/>
            <a:p>
              <a:pPr algn="ctr"/>
              <a:r>
                <a:rPr lang="en-US" altLang="en-US" sz="1400" b="1" dirty="0">
                  <a:solidFill>
                    <a:schemeClr val="bg1"/>
                  </a:solidFill>
                  <a:latin typeface="Microsoft YaHei" charset="-122"/>
                  <a:ea typeface="Microsoft YaHei" charset="-122"/>
                </a:rPr>
                <a:t>Gateway</a:t>
              </a:r>
              <a:endParaRPr lang="en-US" altLang="en-US" sz="1400" b="1" dirty="0">
                <a:solidFill>
                  <a:schemeClr val="bg1"/>
                </a:solidFill>
                <a:latin typeface="Microsoft YaHei" charset="-122"/>
                <a:ea typeface="Microsoft YaHei" charset="-122"/>
              </a:endParaRPr>
            </a:p>
            <a:p>
              <a:pPr algn="ctr"/>
              <a:r>
                <a:rPr lang="en-US" altLang="en-US" sz="1400" b="1" dirty="0">
                  <a:solidFill>
                    <a:schemeClr val="bg1"/>
                  </a:solidFill>
                  <a:latin typeface="Microsoft YaHei" charset="-122"/>
                  <a:ea typeface="Microsoft YaHei" charset="-122"/>
                </a:rPr>
                <a:t>（</a:t>
              </a:r>
              <a:r>
                <a:rPr lang="en-US" altLang="en-US" sz="1400" b="1" dirty="0" err="1">
                  <a:solidFill>
                    <a:schemeClr val="bg1"/>
                  </a:solidFill>
                  <a:latin typeface="Microsoft YaHei" charset="-122"/>
                  <a:ea typeface="Microsoft YaHei" charset="-122"/>
                </a:rPr>
                <a:t>长爪子</a:t>
              </a:r>
              <a:r>
                <a:rPr lang="en-US" altLang="en-US" sz="1400" b="1" dirty="0">
                  <a:solidFill>
                    <a:schemeClr val="bg1"/>
                  </a:solidFill>
                  <a:latin typeface="Microsoft YaHei" charset="-122"/>
                  <a:ea typeface="Microsoft YaHei" charset="-122"/>
                </a:rPr>
                <a:t>）</a:t>
              </a:r>
              <a:endParaRPr lang="en-US" altLang="en-US" sz="1400" b="1" dirty="0">
                <a:solidFill>
                  <a:schemeClr val="bg1"/>
                </a:solidFill>
                <a:latin typeface="Microsoft YaHei" charset="-122"/>
                <a:ea typeface="Microsoft YaHei" charset="-122"/>
              </a:endParaRPr>
            </a:p>
          </p:txBody>
        </p:sp>
        <p:pic>
          <p:nvPicPr>
            <p:cNvPr id="34" name="图片 33"/>
            <p:cNvPicPr>
              <a:picLocks noChangeAspect="1"/>
            </p:cNvPicPr>
            <p:nvPr/>
          </p:nvPicPr>
          <p:blipFill>
            <a:blip r:embed="rId13"/>
            <a:stretch>
              <a:fillRect/>
            </a:stretch>
          </p:blipFill>
          <p:spPr>
            <a:xfrm>
              <a:off x="3454083" y="3898900"/>
              <a:ext cx="945515" cy="945515"/>
            </a:xfrm>
            <a:prstGeom prst="rect">
              <a:avLst/>
            </a:prstGeom>
          </p:spPr>
        </p:pic>
      </p:grpSp>
      <p:grpSp>
        <p:nvGrpSpPr>
          <p:cNvPr id="1028" name="组合 1027"/>
          <p:cNvGrpSpPr/>
          <p:nvPr/>
        </p:nvGrpSpPr>
        <p:grpSpPr>
          <a:xfrm rot="0">
            <a:off x="7974330" y="2441575"/>
            <a:ext cx="2912110" cy="1045210"/>
            <a:chOff x="7352120" y="2486659"/>
            <a:chExt cx="4000464" cy="1435737"/>
          </a:xfrm>
        </p:grpSpPr>
        <p:grpSp>
          <p:nvGrpSpPr>
            <p:cNvPr id="50" name="组合 49"/>
            <p:cNvGrpSpPr/>
            <p:nvPr/>
          </p:nvGrpSpPr>
          <p:grpSpPr>
            <a:xfrm>
              <a:off x="9084861" y="2486659"/>
              <a:ext cx="2267723" cy="720000"/>
              <a:chOff x="9052877" y="2486659"/>
              <a:chExt cx="2267723" cy="720000"/>
            </a:xfrm>
          </p:grpSpPr>
          <p:sp>
            <p:nvSpPr>
              <p:cNvPr id="19" name="文本框 18"/>
              <p:cNvSpPr txBox="1"/>
              <p:nvPr/>
            </p:nvSpPr>
            <p:spPr>
              <a:xfrm>
                <a:off x="9880600" y="2646604"/>
                <a:ext cx="1440000" cy="421301"/>
              </a:xfrm>
              <a:prstGeom prst="rect">
                <a:avLst/>
              </a:prstGeom>
              <a:noFill/>
            </p:spPr>
            <p:txBody>
              <a:bodyPr wrap="square" rtlCol="0">
                <a:spAutoFit/>
              </a:bodyPr>
              <a:lstStyle/>
              <a:p>
                <a:pPr algn="ctr"/>
                <a:r>
                  <a:rPr lang="zh-CN" altLang="en-US" sz="1400" b="1" dirty="0">
                    <a:solidFill>
                      <a:schemeClr val="bg1"/>
                    </a:solidFill>
                    <a:latin typeface="Microsoft YaHei" charset="-122"/>
                    <a:ea typeface="Microsoft YaHei" charset="-122"/>
                  </a:rPr>
                  <a:t>文件操作</a:t>
                </a:r>
                <a:endParaRPr lang="zh-CN" altLang="en-US" sz="1400" b="1" dirty="0">
                  <a:solidFill>
                    <a:schemeClr val="bg1"/>
                  </a:solidFill>
                  <a:latin typeface="Microsoft YaHei" charset="-122"/>
                  <a:ea typeface="Microsoft YaHei" charset="-122"/>
                </a:endParaRPr>
              </a:p>
            </p:txBody>
          </p:sp>
          <p:pic>
            <p:nvPicPr>
              <p:cNvPr id="20" name="图片 19"/>
              <p:cNvPicPr>
                <a:picLocks noChangeAspect="1"/>
              </p:cNvPicPr>
              <p:nvPr/>
            </p:nvPicPr>
            <p:blipFill>
              <a:blip r:embed="rId14"/>
              <a:stretch>
                <a:fillRect/>
              </a:stretch>
            </p:blipFill>
            <p:spPr>
              <a:xfrm>
                <a:off x="9052877" y="2486659"/>
                <a:ext cx="720000" cy="720000"/>
              </a:xfrm>
              <a:prstGeom prst="rect">
                <a:avLst/>
              </a:prstGeom>
            </p:spPr>
          </p:pic>
        </p:grpSp>
        <p:sp>
          <p:nvSpPr>
            <p:cNvPr id="39" name="任意多边形: 形状 15"/>
            <p:cNvSpPr/>
            <p:nvPr/>
          </p:nvSpPr>
          <p:spPr>
            <a:xfrm flipH="1">
              <a:off x="7352120" y="2852936"/>
              <a:ext cx="1621790" cy="1069460"/>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029" name="组合 1028"/>
          <p:cNvGrpSpPr/>
          <p:nvPr/>
        </p:nvGrpSpPr>
        <p:grpSpPr>
          <a:xfrm rot="0">
            <a:off x="8348345" y="3298825"/>
            <a:ext cx="2538095" cy="524510"/>
            <a:chOff x="7867656" y="3528792"/>
            <a:chExt cx="3484928" cy="720000"/>
          </a:xfrm>
        </p:grpSpPr>
        <p:grpSp>
          <p:nvGrpSpPr>
            <p:cNvPr id="51" name="组合 50"/>
            <p:cNvGrpSpPr/>
            <p:nvPr/>
          </p:nvGrpSpPr>
          <p:grpSpPr>
            <a:xfrm>
              <a:off x="9084861" y="3528792"/>
              <a:ext cx="2267723" cy="720000"/>
              <a:chOff x="9052877" y="3550284"/>
              <a:chExt cx="2267723" cy="720000"/>
            </a:xfrm>
          </p:grpSpPr>
          <p:pic>
            <p:nvPicPr>
              <p:cNvPr id="21" name="图片 20"/>
              <p:cNvPicPr>
                <a:picLocks noChangeAspect="1"/>
              </p:cNvPicPr>
              <p:nvPr/>
            </p:nvPicPr>
            <p:blipFill>
              <a:blip r:embed="rId15"/>
              <a:stretch>
                <a:fillRect/>
              </a:stretch>
            </p:blipFill>
            <p:spPr>
              <a:xfrm>
                <a:off x="9052877" y="3550284"/>
                <a:ext cx="720000" cy="720000"/>
              </a:xfrm>
              <a:prstGeom prst="rect">
                <a:avLst/>
              </a:prstGeom>
            </p:spPr>
          </p:pic>
          <p:sp>
            <p:nvSpPr>
              <p:cNvPr id="22" name="文本框 21"/>
              <p:cNvSpPr txBox="1"/>
              <p:nvPr/>
            </p:nvSpPr>
            <p:spPr>
              <a:xfrm>
                <a:off x="9880600" y="3710229"/>
                <a:ext cx="1440000" cy="421017"/>
              </a:xfrm>
              <a:prstGeom prst="rect">
                <a:avLst/>
              </a:prstGeom>
              <a:noFill/>
            </p:spPr>
            <p:txBody>
              <a:bodyPr wrap="square" rtlCol="0">
                <a:spAutoFit/>
              </a:bodyPr>
              <a:lstStyle/>
              <a:p>
                <a:pPr algn="ctr"/>
                <a:r>
                  <a:rPr lang="zh-CN" altLang="en-US" sz="1400" b="1" dirty="0">
                    <a:solidFill>
                      <a:schemeClr val="bg1"/>
                    </a:solidFill>
                    <a:latin typeface="Microsoft YaHei" charset="-122"/>
                    <a:ea typeface="Microsoft YaHei" charset="-122"/>
                  </a:rPr>
                  <a:t>数据处理</a:t>
                </a:r>
                <a:endParaRPr lang="zh-CN" altLang="en-US" sz="1400" b="1" dirty="0">
                  <a:solidFill>
                    <a:schemeClr val="bg1"/>
                  </a:solidFill>
                  <a:latin typeface="Microsoft YaHei" charset="-122"/>
                  <a:ea typeface="Microsoft YaHei" charset="-122"/>
                </a:endParaRPr>
              </a:p>
            </p:txBody>
          </p:sp>
        </p:grpSp>
        <p:sp>
          <p:nvSpPr>
            <p:cNvPr id="40" name="任意多边形: 形状 15"/>
            <p:cNvSpPr/>
            <p:nvPr/>
          </p:nvSpPr>
          <p:spPr>
            <a:xfrm flipH="1">
              <a:off x="7867656" y="3861048"/>
              <a:ext cx="1109482" cy="367568"/>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030" name="组合 1029"/>
          <p:cNvGrpSpPr/>
          <p:nvPr/>
        </p:nvGrpSpPr>
        <p:grpSpPr>
          <a:xfrm rot="0">
            <a:off x="8348345" y="4340860"/>
            <a:ext cx="2538095" cy="524510"/>
            <a:chOff x="7867655" y="4570925"/>
            <a:chExt cx="3484929" cy="720000"/>
          </a:xfrm>
        </p:grpSpPr>
        <p:grpSp>
          <p:nvGrpSpPr>
            <p:cNvPr id="52" name="组合 51"/>
            <p:cNvGrpSpPr/>
            <p:nvPr/>
          </p:nvGrpSpPr>
          <p:grpSpPr>
            <a:xfrm>
              <a:off x="9084861" y="4570925"/>
              <a:ext cx="2267723" cy="720000"/>
              <a:chOff x="9052877" y="4541520"/>
              <a:chExt cx="2267723" cy="720000"/>
            </a:xfrm>
          </p:grpSpPr>
          <p:pic>
            <p:nvPicPr>
              <p:cNvPr id="24" name="图片 23"/>
              <p:cNvPicPr>
                <a:picLocks noChangeAspect="1"/>
              </p:cNvPicPr>
              <p:nvPr/>
            </p:nvPicPr>
            <p:blipFill>
              <a:blip r:embed="rId16"/>
              <a:stretch>
                <a:fillRect/>
              </a:stretch>
            </p:blipFill>
            <p:spPr>
              <a:xfrm>
                <a:off x="9052877" y="4541520"/>
                <a:ext cx="720000" cy="720000"/>
              </a:xfrm>
              <a:prstGeom prst="rect">
                <a:avLst/>
              </a:prstGeom>
            </p:spPr>
          </p:pic>
          <p:sp>
            <p:nvSpPr>
              <p:cNvPr id="25" name="文本框 24"/>
              <p:cNvSpPr txBox="1"/>
              <p:nvPr/>
            </p:nvSpPr>
            <p:spPr>
              <a:xfrm>
                <a:off x="9880600" y="4701465"/>
                <a:ext cx="1440000" cy="421017"/>
              </a:xfrm>
              <a:prstGeom prst="rect">
                <a:avLst/>
              </a:prstGeom>
              <a:noFill/>
            </p:spPr>
            <p:txBody>
              <a:bodyPr wrap="square" rtlCol="0">
                <a:spAutoFit/>
              </a:bodyPr>
              <a:lstStyle/>
              <a:p>
                <a:pPr algn="ctr"/>
                <a:r>
                  <a:rPr lang="zh-CN" altLang="en-US" sz="1400" b="1" dirty="0">
                    <a:solidFill>
                      <a:schemeClr val="bg1"/>
                    </a:solidFill>
                    <a:latin typeface="Microsoft YaHei" charset="-122"/>
                    <a:ea typeface="Microsoft YaHei" charset="-122"/>
                  </a:rPr>
                  <a:t>应用使用</a:t>
                </a:r>
                <a:endParaRPr lang="zh-CN" altLang="en-US" sz="1400" b="1" dirty="0">
                  <a:solidFill>
                    <a:schemeClr val="bg1"/>
                  </a:solidFill>
                  <a:latin typeface="Microsoft YaHei" charset="-122"/>
                  <a:ea typeface="Microsoft YaHei" charset="-122"/>
                </a:endParaRPr>
              </a:p>
            </p:txBody>
          </p:sp>
        </p:grpSp>
        <p:sp>
          <p:nvSpPr>
            <p:cNvPr id="41" name="任意多边形: 形状 15"/>
            <p:cNvSpPr/>
            <p:nvPr/>
          </p:nvSpPr>
          <p:spPr>
            <a:xfrm flipH="1" flipV="1">
              <a:off x="7867655" y="4785316"/>
              <a:ext cx="1109483" cy="145191"/>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1031" name="组合 1030"/>
          <p:cNvGrpSpPr/>
          <p:nvPr/>
        </p:nvGrpSpPr>
        <p:grpSpPr>
          <a:xfrm rot="0">
            <a:off x="7975600" y="5304790"/>
            <a:ext cx="2910840" cy="594995"/>
            <a:chOff x="7352120" y="5518783"/>
            <a:chExt cx="4000464" cy="817702"/>
          </a:xfrm>
        </p:grpSpPr>
        <p:grpSp>
          <p:nvGrpSpPr>
            <p:cNvPr id="53" name="组合 52"/>
            <p:cNvGrpSpPr/>
            <p:nvPr/>
          </p:nvGrpSpPr>
          <p:grpSpPr>
            <a:xfrm>
              <a:off x="9084861" y="5613058"/>
              <a:ext cx="2267723" cy="723427"/>
              <a:chOff x="9052877" y="5613058"/>
              <a:chExt cx="2267723" cy="723427"/>
            </a:xfrm>
          </p:grpSpPr>
          <p:pic>
            <p:nvPicPr>
              <p:cNvPr id="23" name="图片 22"/>
              <p:cNvPicPr>
                <a:picLocks noChangeAspect="1"/>
              </p:cNvPicPr>
              <p:nvPr/>
            </p:nvPicPr>
            <p:blipFill>
              <a:blip r:embed="rId17"/>
              <a:stretch>
                <a:fillRect/>
              </a:stretch>
            </p:blipFill>
            <p:spPr>
              <a:xfrm>
                <a:off x="9052877" y="5613058"/>
                <a:ext cx="720000" cy="720000"/>
              </a:xfrm>
              <a:prstGeom prst="rect">
                <a:avLst/>
              </a:prstGeom>
            </p:spPr>
          </p:pic>
          <p:sp>
            <p:nvSpPr>
              <p:cNvPr id="26" name="文本框 25"/>
              <p:cNvSpPr txBox="1"/>
              <p:nvPr/>
            </p:nvSpPr>
            <p:spPr>
              <a:xfrm>
                <a:off x="9880600" y="5619115"/>
                <a:ext cx="1440000" cy="717370"/>
              </a:xfrm>
              <a:prstGeom prst="rect">
                <a:avLst/>
              </a:prstGeom>
              <a:noFill/>
            </p:spPr>
            <p:txBody>
              <a:bodyPr wrap="square" rtlCol="0">
                <a:spAutoFit/>
              </a:bodyPr>
              <a:lstStyle/>
              <a:p>
                <a:pPr algn="ctr"/>
                <a:r>
                  <a:rPr lang="zh-CN" altLang="en-US" sz="1400" b="1" dirty="0">
                    <a:solidFill>
                      <a:schemeClr val="bg1"/>
                    </a:solidFill>
                    <a:latin typeface="Microsoft YaHei" charset="-122"/>
                    <a:ea typeface="Microsoft YaHei" charset="-122"/>
                  </a:rPr>
                  <a:t>操作</a:t>
                </a:r>
                <a:r>
                  <a:rPr lang="en-US" altLang="en-US" sz="1400" b="1" dirty="0" err="1">
                    <a:solidFill>
                      <a:schemeClr val="bg1"/>
                    </a:solidFill>
                    <a:latin typeface="Microsoft YaHei" charset="-122"/>
                    <a:ea typeface="Microsoft YaHei" charset="-122"/>
                  </a:rPr>
                  <a:t>系统管理</a:t>
                </a:r>
                <a:endParaRPr lang="en-US" altLang="en-US" sz="1400" b="1" dirty="0" err="1">
                  <a:solidFill>
                    <a:schemeClr val="bg1"/>
                  </a:solidFill>
                  <a:latin typeface="Microsoft YaHei" charset="-122"/>
                  <a:ea typeface="Microsoft YaHei" charset="-122"/>
                </a:endParaRPr>
              </a:p>
            </p:txBody>
          </p:sp>
        </p:grpSp>
        <p:sp>
          <p:nvSpPr>
            <p:cNvPr id="42" name="任意多边形: 形状 15"/>
            <p:cNvSpPr/>
            <p:nvPr/>
          </p:nvSpPr>
          <p:spPr>
            <a:xfrm flipH="1" flipV="1">
              <a:off x="7352120" y="5518783"/>
              <a:ext cx="1621790" cy="450956"/>
            </a:xfrm>
            <a:custGeom>
              <a:avLst/>
              <a:gdLst>
                <a:gd name="connsiteX0" fmla="*/ 0 w 2442492"/>
                <a:gd name="connsiteY0" fmla="*/ 0 h 877579"/>
                <a:gd name="connsiteX1" fmla="*/ 1564913 w 2442492"/>
                <a:gd name="connsiteY1" fmla="*/ 0 h 877579"/>
                <a:gd name="connsiteX2" fmla="*/ 2442492 w 2442492"/>
                <a:gd name="connsiteY2" fmla="*/ 877579 h 877579"/>
              </a:gdLst>
              <a:ahLst/>
              <a:cxnLst>
                <a:cxn ang="0">
                  <a:pos x="connsiteX0" y="connsiteY0"/>
                </a:cxn>
                <a:cxn ang="0">
                  <a:pos x="connsiteX1" y="connsiteY1"/>
                </a:cxn>
                <a:cxn ang="0">
                  <a:pos x="connsiteX2" y="connsiteY2"/>
                </a:cxn>
              </a:cxnLst>
              <a:rect l="l" t="t" r="r" b="b"/>
              <a:pathLst>
                <a:path w="2442492" h="877579">
                  <a:moveTo>
                    <a:pt x="0" y="0"/>
                  </a:moveTo>
                  <a:lnTo>
                    <a:pt x="1564913" y="0"/>
                  </a:lnTo>
                  <a:lnTo>
                    <a:pt x="2442492" y="877579"/>
                  </a:lnTo>
                </a:path>
              </a:pathLst>
            </a:custGeom>
            <a:noFill/>
            <a:ln w="38100">
              <a:solidFill>
                <a:srgbClr val="FF0000"/>
              </a:solidFill>
              <a:headEnd type="oval" w="med" len="med"/>
              <a:tailEnd type="oval"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grpSp>
      <p:grpSp>
        <p:nvGrpSpPr>
          <p:cNvPr id="28" name="组合 27"/>
          <p:cNvGrpSpPr/>
          <p:nvPr/>
        </p:nvGrpSpPr>
        <p:grpSpPr>
          <a:xfrm rot="0">
            <a:off x="6997065" y="3804920"/>
            <a:ext cx="1179830" cy="1098550"/>
            <a:chOff x="6524625" y="3922395"/>
            <a:chExt cx="1621790" cy="1508994"/>
          </a:xfrm>
        </p:grpSpPr>
        <p:sp>
          <p:nvSpPr>
            <p:cNvPr id="47" name="文本框 46"/>
            <p:cNvSpPr txBox="1"/>
            <p:nvPr/>
          </p:nvSpPr>
          <p:spPr>
            <a:xfrm>
              <a:off x="6524625" y="4714240"/>
              <a:ext cx="1621790" cy="717149"/>
            </a:xfrm>
            <a:prstGeom prst="rect">
              <a:avLst/>
            </a:prstGeom>
            <a:noFill/>
          </p:spPr>
          <p:txBody>
            <a:bodyPr wrap="square" rtlCol="0">
              <a:spAutoFit/>
            </a:bodyPr>
            <a:lstStyle/>
            <a:p>
              <a:pPr algn="ctr"/>
              <a:r>
                <a:rPr lang="en-US" altLang="en-US" sz="1400" b="1" dirty="0">
                  <a:solidFill>
                    <a:schemeClr val="bg1"/>
                  </a:solidFill>
                  <a:latin typeface="Microsoft YaHei" charset="-122"/>
                  <a:ea typeface="Microsoft YaHei" charset="-122"/>
                </a:rPr>
                <a:t>Skills</a:t>
              </a:r>
              <a:endParaRPr lang="en-US" altLang="en-US" sz="1400" b="1" dirty="0">
                <a:solidFill>
                  <a:schemeClr val="bg1"/>
                </a:solidFill>
                <a:latin typeface="Microsoft YaHei" charset="-122"/>
                <a:ea typeface="Microsoft YaHei" charset="-122"/>
              </a:endParaRPr>
            </a:p>
            <a:p>
              <a:pPr algn="ctr"/>
              <a:r>
                <a:rPr lang="en-US" altLang="en-US" sz="1400" b="1" dirty="0">
                  <a:solidFill>
                    <a:schemeClr val="bg1"/>
                  </a:solidFill>
                  <a:latin typeface="Microsoft YaHei" charset="-122"/>
                  <a:ea typeface="Microsoft YaHei" charset="-122"/>
                </a:rPr>
                <a:t>（</a:t>
              </a:r>
              <a:r>
                <a:rPr lang="en-US" altLang="en-US" sz="1400" b="1" dirty="0" err="1">
                  <a:solidFill>
                    <a:schemeClr val="bg1"/>
                  </a:solidFill>
                  <a:latin typeface="Microsoft YaHei" charset="-122"/>
                  <a:ea typeface="Microsoft YaHei" charset="-122"/>
                </a:rPr>
                <a:t>短爪子</a:t>
              </a:r>
              <a:r>
                <a:rPr lang="en-US" altLang="en-US" sz="1400" b="1" dirty="0">
                  <a:solidFill>
                    <a:schemeClr val="bg1"/>
                  </a:solidFill>
                  <a:latin typeface="Microsoft YaHei" charset="-122"/>
                  <a:ea typeface="Microsoft YaHei" charset="-122"/>
                </a:rPr>
                <a:t>）</a:t>
              </a:r>
              <a:endParaRPr lang="en-US" altLang="en-US" sz="1400" b="1" dirty="0">
                <a:solidFill>
                  <a:schemeClr val="bg1"/>
                </a:solidFill>
                <a:latin typeface="Microsoft YaHei" charset="-122"/>
                <a:ea typeface="Microsoft YaHei" charset="-122"/>
              </a:endParaRPr>
            </a:p>
          </p:txBody>
        </p:sp>
        <p:pic>
          <p:nvPicPr>
            <p:cNvPr id="48" name="图片 47"/>
            <p:cNvPicPr>
              <a:picLocks noChangeAspect="1"/>
            </p:cNvPicPr>
            <p:nvPr/>
          </p:nvPicPr>
          <p:blipFill>
            <a:blip r:embed="rId18"/>
            <a:stretch>
              <a:fillRect/>
            </a:stretch>
          </p:blipFill>
          <p:spPr>
            <a:xfrm>
              <a:off x="6900545" y="3922395"/>
              <a:ext cx="869950" cy="869950"/>
            </a:xfrm>
            <a:prstGeom prst="rect">
              <a:avLst/>
            </a:prstGeom>
          </p:spPr>
        </p:pic>
      </p:grpSp>
      <p:grpSp>
        <p:nvGrpSpPr>
          <p:cNvPr id="6" name="组合 5"/>
          <p:cNvGrpSpPr/>
          <p:nvPr/>
        </p:nvGrpSpPr>
        <p:grpSpPr>
          <a:xfrm rot="0">
            <a:off x="5478145" y="3612515"/>
            <a:ext cx="1235710" cy="805180"/>
            <a:chOff x="4843780" y="3348355"/>
            <a:chExt cx="1697990" cy="1106538"/>
          </a:xfrm>
        </p:grpSpPr>
        <p:pic>
          <p:nvPicPr>
            <p:cNvPr id="12" name="图片 11"/>
            <p:cNvPicPr>
              <a:picLocks noChangeAspect="1"/>
            </p:cNvPicPr>
            <p:nvPr/>
          </p:nvPicPr>
          <p:blipFill>
            <a:blip r:embed="rId19"/>
            <a:stretch>
              <a:fillRect/>
            </a:stretch>
          </p:blipFill>
          <p:spPr>
            <a:xfrm>
              <a:off x="5350193" y="3348355"/>
              <a:ext cx="685165" cy="685165"/>
            </a:xfrm>
            <a:prstGeom prst="rect">
              <a:avLst/>
            </a:prstGeom>
          </p:spPr>
        </p:pic>
        <p:sp>
          <p:nvSpPr>
            <p:cNvPr id="13" name="文本框 12"/>
            <p:cNvSpPr txBox="1"/>
            <p:nvPr/>
          </p:nvSpPr>
          <p:spPr>
            <a:xfrm>
              <a:off x="4843780" y="4033520"/>
              <a:ext cx="1697990" cy="421373"/>
            </a:xfrm>
            <a:prstGeom prst="rect">
              <a:avLst/>
            </a:prstGeom>
            <a:noFill/>
          </p:spPr>
          <p:txBody>
            <a:bodyPr wrap="square" rtlCol="0">
              <a:spAutoFit/>
            </a:bodyPr>
            <a:lstStyle/>
            <a:p>
              <a:pPr algn="ctr"/>
              <a:r>
                <a:rPr lang="en-US" altLang="zh-CN" sz="1400" b="1" dirty="0" err="1">
                  <a:solidFill>
                    <a:schemeClr val="bg1"/>
                  </a:solidFill>
                  <a:latin typeface="Microsoft YaHei" charset="-122"/>
                  <a:ea typeface="Microsoft YaHei" charset="-122"/>
                </a:rPr>
                <a:t>智能体大脑</a:t>
              </a:r>
              <a:endParaRPr lang="en-US" altLang="zh-CN" sz="1400" b="1" dirty="0" err="1">
                <a:solidFill>
                  <a:schemeClr val="bg1"/>
                </a:solidFill>
                <a:latin typeface="Microsoft YaHei" charset="-122"/>
                <a:ea typeface="Microsoft YaHei" charset="-122"/>
              </a:endParaRPr>
            </a:p>
          </p:txBody>
        </p:sp>
      </p:grpSp>
      <p:sp>
        <p:nvSpPr>
          <p:cNvPr id="46" name="上下箭头 45"/>
          <p:cNvSpPr/>
          <p:nvPr/>
        </p:nvSpPr>
        <p:spPr>
          <a:xfrm rot="3600000">
            <a:off x="5194935" y="3775075"/>
            <a:ext cx="236220" cy="48006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sp>
        <p:nvSpPr>
          <p:cNvPr id="49" name="上下箭头 48"/>
          <p:cNvSpPr/>
          <p:nvPr/>
        </p:nvSpPr>
        <p:spPr>
          <a:xfrm rot="18000000" flipH="1">
            <a:off x="6760845" y="3775075"/>
            <a:ext cx="236220" cy="48006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fade">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500"/>
                                        <p:tgtEl>
                                          <p:spTgt spid="56"/>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62"/>
                                        </p:tgtEl>
                                        <p:attrNameLst>
                                          <p:attrName>style.visibility</p:attrName>
                                        </p:attrNameLst>
                                      </p:cBhvr>
                                      <p:to>
                                        <p:strVal val="visible"/>
                                      </p:to>
                                    </p:set>
                                    <p:animEffect transition="in" filter="fade">
                                      <p:cBhvr>
                                        <p:cTn id="21" dur="500"/>
                                        <p:tgtEl>
                                          <p:spTgt spid="6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fade">
                                      <p:cBhvr>
                                        <p:cTn id="26" dur="500"/>
                                        <p:tgtEl>
                                          <p:spTgt spid="45"/>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fade">
                                      <p:cBhvr>
                                        <p:cTn id="35" dur="500"/>
                                        <p:tgtEl>
                                          <p:spTgt spid="49"/>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28"/>
                                        </p:tgtEl>
                                        <p:attrNameLst>
                                          <p:attrName>style.visibility</p:attrName>
                                        </p:attrNameLst>
                                      </p:cBhvr>
                                      <p:to>
                                        <p:strVal val="visible"/>
                                      </p:to>
                                    </p:set>
                                    <p:animEffect transition="in" filter="fade">
                                      <p:cBhvr>
                                        <p:cTn id="44" dur="500"/>
                                        <p:tgtEl>
                                          <p:spTgt spid="1028"/>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1029"/>
                                        </p:tgtEl>
                                        <p:attrNameLst>
                                          <p:attrName>style.visibility</p:attrName>
                                        </p:attrNameLst>
                                      </p:cBhvr>
                                      <p:to>
                                        <p:strVal val="visible"/>
                                      </p:to>
                                    </p:set>
                                    <p:animEffect transition="in" filter="fade">
                                      <p:cBhvr>
                                        <p:cTn id="48" dur="500"/>
                                        <p:tgtEl>
                                          <p:spTgt spid="1029"/>
                                        </p:tgtEl>
                                      </p:cBhvr>
                                    </p:animEffect>
                                  </p:childTnLst>
                                </p:cTn>
                              </p:par>
                            </p:childTnLst>
                          </p:cTn>
                        </p:par>
                        <p:par>
                          <p:cTn id="49" fill="hold">
                            <p:stCondLst>
                              <p:cond delay="1000"/>
                            </p:stCondLst>
                            <p:childTnLst>
                              <p:par>
                                <p:cTn id="50" presetID="10" presetClass="entr" presetSubtype="0" fill="hold" nodeType="afterEffect">
                                  <p:stCondLst>
                                    <p:cond delay="0"/>
                                  </p:stCondLst>
                                  <p:childTnLst>
                                    <p:set>
                                      <p:cBhvr>
                                        <p:cTn id="51" dur="1" fill="hold">
                                          <p:stCondLst>
                                            <p:cond delay="0"/>
                                          </p:stCondLst>
                                        </p:cTn>
                                        <p:tgtEl>
                                          <p:spTgt spid="1030"/>
                                        </p:tgtEl>
                                        <p:attrNameLst>
                                          <p:attrName>style.visibility</p:attrName>
                                        </p:attrNameLst>
                                      </p:cBhvr>
                                      <p:to>
                                        <p:strVal val="visible"/>
                                      </p:to>
                                    </p:set>
                                    <p:animEffect transition="in" filter="fade">
                                      <p:cBhvr>
                                        <p:cTn id="52" dur="500"/>
                                        <p:tgtEl>
                                          <p:spTgt spid="1030"/>
                                        </p:tgtEl>
                                      </p:cBhvr>
                                    </p:animEffect>
                                  </p:childTnLst>
                                </p:cTn>
                              </p:par>
                            </p:childTnLst>
                          </p:cTn>
                        </p:par>
                        <p:par>
                          <p:cTn id="53" fill="hold">
                            <p:stCondLst>
                              <p:cond delay="1500"/>
                            </p:stCondLst>
                            <p:childTnLst>
                              <p:par>
                                <p:cTn id="54" presetID="10" presetClass="entr" presetSubtype="0" fill="hold" nodeType="afterEffect">
                                  <p:stCondLst>
                                    <p:cond delay="0"/>
                                  </p:stCondLst>
                                  <p:childTnLst>
                                    <p:set>
                                      <p:cBhvr>
                                        <p:cTn id="55" dur="1" fill="hold">
                                          <p:stCondLst>
                                            <p:cond delay="0"/>
                                          </p:stCondLst>
                                        </p:cTn>
                                        <p:tgtEl>
                                          <p:spTgt spid="1031"/>
                                        </p:tgtEl>
                                        <p:attrNameLst>
                                          <p:attrName>style.visibility</p:attrName>
                                        </p:attrNameLst>
                                      </p:cBhvr>
                                      <p:to>
                                        <p:strVal val="visible"/>
                                      </p:to>
                                    </p:set>
                                    <p:animEffect transition="in" filter="fade">
                                      <p:cBhvr>
                                        <p:cTn id="56" dur="500"/>
                                        <p:tgtEl>
                                          <p:spTgt spid="103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032"/>
                                        </p:tgtEl>
                                        <p:attrNameLst>
                                          <p:attrName>style.visibility</p:attrName>
                                        </p:attrNameLst>
                                      </p:cBhvr>
                                      <p:to>
                                        <p:strVal val="visible"/>
                                      </p:to>
                                    </p:set>
                                    <p:animEffect transition="in" filter="fade">
                                      <p:cBhvr>
                                        <p:cTn id="70" dur="500"/>
                                        <p:tgtEl>
                                          <p:spTgt spid="1032"/>
                                        </p:tgtEl>
                                      </p:cBhvr>
                                    </p:animEffect>
                                  </p:childTnLst>
                                </p:cTn>
                              </p:par>
                            </p:childTnLst>
                          </p:cTn>
                        </p:par>
                        <p:par>
                          <p:cTn id="71" fill="hold">
                            <p:stCondLst>
                              <p:cond delay="500"/>
                            </p:stCondLst>
                            <p:childTnLst>
                              <p:par>
                                <p:cTn id="72" presetID="10" presetClass="entr" presetSubtype="0" fill="hold" nodeType="afterEffect">
                                  <p:stCondLst>
                                    <p:cond delay="0"/>
                                  </p:stCondLst>
                                  <p:childTnLst>
                                    <p:set>
                                      <p:cBhvr>
                                        <p:cTn id="73" dur="1" fill="hold">
                                          <p:stCondLst>
                                            <p:cond delay="0"/>
                                          </p:stCondLst>
                                        </p:cTn>
                                        <p:tgtEl>
                                          <p:spTgt spid="1033"/>
                                        </p:tgtEl>
                                        <p:attrNameLst>
                                          <p:attrName>style.visibility</p:attrName>
                                        </p:attrNameLst>
                                      </p:cBhvr>
                                      <p:to>
                                        <p:strVal val="visible"/>
                                      </p:to>
                                    </p:set>
                                    <p:animEffect transition="in" filter="fade">
                                      <p:cBhvr>
                                        <p:cTn id="74" dur="500"/>
                                        <p:tgtEl>
                                          <p:spTgt spid="1033"/>
                                        </p:tgtEl>
                                      </p:cBhvr>
                                    </p:animEffect>
                                  </p:childTnLst>
                                </p:cTn>
                              </p:par>
                            </p:childTnLst>
                          </p:cTn>
                        </p:par>
                        <p:par>
                          <p:cTn id="75" fill="hold">
                            <p:stCondLst>
                              <p:cond delay="1000"/>
                            </p:stCondLst>
                            <p:childTnLst>
                              <p:par>
                                <p:cTn id="76" presetID="10" presetClass="entr" presetSubtype="0" fill="hold" nodeType="afterEffect">
                                  <p:stCondLst>
                                    <p:cond delay="0"/>
                                  </p:stCondLst>
                                  <p:childTnLst>
                                    <p:set>
                                      <p:cBhvr>
                                        <p:cTn id="77" dur="1" fill="hold">
                                          <p:stCondLst>
                                            <p:cond delay="0"/>
                                          </p:stCondLst>
                                        </p:cTn>
                                        <p:tgtEl>
                                          <p:spTgt spid="1034"/>
                                        </p:tgtEl>
                                        <p:attrNameLst>
                                          <p:attrName>style.visibility</p:attrName>
                                        </p:attrNameLst>
                                      </p:cBhvr>
                                      <p:to>
                                        <p:strVal val="visible"/>
                                      </p:to>
                                    </p:set>
                                    <p:animEffect transition="in" filter="fade">
                                      <p:cBhvr>
                                        <p:cTn id="78" dur="500"/>
                                        <p:tgtEl>
                                          <p:spTgt spid="1034"/>
                                        </p:tgtEl>
                                      </p:cBhvr>
                                    </p:animEffect>
                                  </p:childTnLst>
                                </p:cTn>
                              </p:par>
                            </p:childTnLst>
                          </p:cTn>
                        </p:par>
                        <p:par>
                          <p:cTn id="79" fill="hold">
                            <p:stCondLst>
                              <p:cond delay="1500"/>
                            </p:stCondLst>
                            <p:childTnLst>
                              <p:par>
                                <p:cTn id="80" presetID="10" presetClass="entr" presetSubtype="0" fill="hold" nodeType="afterEffect">
                                  <p:stCondLst>
                                    <p:cond delay="0"/>
                                  </p:stCondLst>
                                  <p:childTnLst>
                                    <p:set>
                                      <p:cBhvr>
                                        <p:cTn id="81" dur="1" fill="hold">
                                          <p:stCondLst>
                                            <p:cond delay="0"/>
                                          </p:stCondLst>
                                        </p:cTn>
                                        <p:tgtEl>
                                          <p:spTgt spid="1035"/>
                                        </p:tgtEl>
                                        <p:attrNameLst>
                                          <p:attrName>style.visibility</p:attrName>
                                        </p:attrNameLst>
                                      </p:cBhvr>
                                      <p:to>
                                        <p:strVal val="visible"/>
                                      </p:to>
                                    </p:set>
                                    <p:animEffect transition="in" filter="fade">
                                      <p:cBhvr>
                                        <p:cTn id="82"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9" grpId="0" animBg="1"/>
      <p:bldP spid="45" grpId="1" animBg="1"/>
      <p:bldP spid="46" grpId="1" animBg="1"/>
      <p:bldP spid="49"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endParaRPr lang="zh-CN" altLang="en-US"/>
          </a:p>
        </p:txBody>
      </p:sp>
      <p:sp>
        <p:nvSpPr>
          <p:cNvPr id="6" name="内容占位符 5"/>
          <p:cNvSpPr>
            <a:spLocks noGrp="1"/>
          </p:cNvSpPr>
          <p:nvPr>
            <p:ph idx="1"/>
          </p:nvPr>
        </p:nvSpPr>
        <p:spPr/>
        <p:txBody>
          <a:bodyPr/>
          <a:p>
            <a:r>
              <a:rPr lang="zh-CN" altLang="en-US"/>
              <a:t>如何能够比较可靠地给</a:t>
            </a:r>
            <a:r>
              <a:rPr altLang="zh-CN"/>
              <a:t> AI </a:t>
            </a:r>
            <a:r>
              <a:rPr lang="zh-CN" altLang="en-US">
                <a:ea typeface="SimSun" charset="0"/>
              </a:rPr>
              <a:t>找茬</a:t>
            </a:r>
            <a:r>
              <a:rPr lang="zh-CN" altLang="en-US"/>
              <a:t>？</a:t>
            </a:r>
            <a:endParaRPr lang="zh-CN" altLang="en-US"/>
          </a:p>
        </p:txBody>
      </p:sp>
      <p:sp>
        <p:nvSpPr>
          <p:cNvPr id="7" name="内容占位符 6"/>
          <p:cNvSpPr>
            <a:spLocks noGrp="1"/>
          </p:cNvSpPr>
          <p:nvPr>
            <p:ph idx="13"/>
          </p:nvPr>
        </p:nvSpPr>
        <p:spPr/>
        <p:txBody>
          <a:bodyPr/>
          <a:p>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给 </a:t>
            </a:r>
            <a:r>
              <a:rPr lang="en-US" altLang="zh-CN"/>
              <a:t>AI “</a:t>
            </a:r>
            <a:r>
              <a:rPr lang="zh-CN" altLang="en-US"/>
              <a:t>找茬”的几个关键功能</a:t>
            </a:r>
            <a:endParaRPr lang="zh-CN" altLang="en-US"/>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en-US" altLang="zh-CN" smtClean="0"/>
          </a:p>
        </p:txBody>
      </p:sp>
      <p:sp>
        <p:nvSpPr>
          <p:cNvPr id="9" name="AutoShape 9"/>
          <p:cNvSpPr/>
          <p:nvPr/>
        </p:nvSpPr>
        <p:spPr>
          <a:xfrm>
            <a:off x="1587500" y="1968500"/>
            <a:ext cx="1143000" cy="1143000"/>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lstStyle/>
          <a:p>
            <a:pPr algn="ctr">
              <a:defRPr/>
            </a:pPr>
          </a:p>
        </p:txBody>
      </p:sp>
      <p:sp>
        <p:nvSpPr>
          <p:cNvPr id="10" name="AutoShape 10"/>
          <p:cNvSpPr/>
          <p:nvPr/>
        </p:nvSpPr>
        <p:spPr>
          <a:xfrm>
            <a:off x="635000" y="3365500"/>
            <a:ext cx="30480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zh-CN" altLang="en-US" sz="2200" b="1" i="0" u="none" strike="noStrike" spc="400">
                <a:solidFill>
                  <a:srgbClr val="FFFFFF"/>
                </a:solidFill>
                <a:latin typeface="Noto Sans SC"/>
                <a:ea typeface="SimSun" charset="0"/>
                <a:cs typeface="Noto Sans SC"/>
                <a:sym typeface="Noto Sans SC"/>
              </a:rPr>
              <a:t>思考模式</a:t>
            </a:r>
            <a:endParaRPr lang="zh-CN" altLang="en-US" sz="2200" b="1" i="0" u="none" strike="noStrike" spc="400">
              <a:solidFill>
                <a:srgbClr val="FFFFFF"/>
              </a:solidFill>
              <a:latin typeface="Noto Sans SC"/>
              <a:ea typeface="SimSun" charset="0"/>
              <a:cs typeface="Noto Sans SC"/>
              <a:sym typeface="Noto Sans SC"/>
            </a:endParaRPr>
          </a:p>
        </p:txBody>
      </p:sp>
      <p:sp>
        <p:nvSpPr>
          <p:cNvPr id="11" name="AutoShape 11"/>
          <p:cNvSpPr/>
          <p:nvPr/>
        </p:nvSpPr>
        <p:spPr>
          <a:xfrm>
            <a:off x="635000" y="3937000"/>
            <a:ext cx="3048000" cy="1524000"/>
          </a:xfrm>
          <a:prstGeom prst="rect">
            <a:avLst/>
          </a:prstGeom>
          <a:noFill/>
          <a:ln w="12700" cap="flat" cmpd="sng">
            <a:noFill/>
            <a:prstDash val="solid"/>
            <a:round/>
          </a:ln>
        </p:spPr>
        <p:txBody>
          <a:bodyPr vert="horz" wrap="square" lIns="0" tIns="0" rIns="0" bIns="0" rtlCol="0" anchor="t" anchorCtr="0"/>
          <a:lstStyle/>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关闭思考模式可以简化模型的</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输出过程，让模型在进行复杂</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推理的过程中更容易出错</a:t>
            </a:r>
            <a:endParaRPr lang="zh-CN" altLang="en-US" sz="1600" b="0" i="0" u="none" strike="noStrike">
              <a:solidFill>
                <a:srgbClr val="C8C8D2"/>
              </a:solidFill>
              <a:latin typeface="Noto Sans SC"/>
              <a:ea typeface="Noto Sans SC"/>
              <a:cs typeface="Noto Sans SC"/>
              <a:sym typeface="Noto Sans SC"/>
            </a:endParaRPr>
          </a:p>
        </p:txBody>
      </p:sp>
      <p:sp>
        <p:nvSpPr>
          <p:cNvPr id="12" name="AutoShape 12"/>
          <p:cNvSpPr/>
          <p:nvPr/>
        </p:nvSpPr>
        <p:spPr>
          <a:xfrm>
            <a:off x="5524500" y="1968500"/>
            <a:ext cx="1143000" cy="1143000"/>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lstStyle/>
          <a:p>
            <a:pPr algn="ctr">
              <a:defRPr/>
            </a:pPr>
          </a:p>
        </p:txBody>
      </p:sp>
      <p:sp>
        <p:nvSpPr>
          <p:cNvPr id="13" name="AutoShape 13"/>
          <p:cNvSpPr/>
          <p:nvPr/>
        </p:nvSpPr>
        <p:spPr>
          <a:xfrm>
            <a:off x="4572000" y="3365500"/>
            <a:ext cx="30480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zh-CN" altLang="en-US" sz="2200" b="1" i="0" u="none" strike="noStrike" spc="400">
                <a:solidFill>
                  <a:srgbClr val="FFFFFF"/>
                </a:solidFill>
                <a:latin typeface="Noto Sans SC"/>
                <a:ea typeface="SimSun" charset="0"/>
                <a:cs typeface="Noto Sans SC"/>
                <a:sym typeface="Noto Sans SC"/>
              </a:rPr>
              <a:t>联网搜索</a:t>
            </a:r>
            <a:endParaRPr lang="zh-CN" altLang="en-US" sz="2200" b="1" i="0" u="none" strike="noStrike" spc="400">
              <a:solidFill>
                <a:srgbClr val="FFFFFF"/>
              </a:solidFill>
              <a:latin typeface="Noto Sans SC"/>
              <a:ea typeface="SimSun" charset="0"/>
              <a:cs typeface="Noto Sans SC"/>
              <a:sym typeface="Noto Sans SC"/>
            </a:endParaRPr>
          </a:p>
        </p:txBody>
      </p:sp>
      <p:sp>
        <p:nvSpPr>
          <p:cNvPr id="3" name="AutoShape 14"/>
          <p:cNvSpPr/>
          <p:nvPr/>
        </p:nvSpPr>
        <p:spPr>
          <a:xfrm>
            <a:off x="4572000" y="3937000"/>
            <a:ext cx="3048000" cy="1524000"/>
          </a:xfrm>
          <a:prstGeom prst="rect">
            <a:avLst/>
          </a:prstGeom>
          <a:noFill/>
          <a:ln w="12700" cap="flat" cmpd="sng">
            <a:noFill/>
            <a:prstDash val="solid"/>
            <a:round/>
          </a:ln>
        </p:spPr>
        <p:txBody>
          <a:bodyPr vert="horz" wrap="square" lIns="0" tIns="0" rIns="0" bIns="0" rtlCol="0" anchor="t" anchorCtr="0"/>
          <a:lstStyle/>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关闭联网搜索让模型智能依靠</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自身参数中记忆的知识回答</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问题，对于事实的描述更</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容易出错</a:t>
            </a:r>
            <a:endParaRPr lang="zh-CN" altLang="en-US" sz="1600" b="0" i="0" u="none" strike="noStrike">
              <a:solidFill>
                <a:srgbClr val="C8C8D2"/>
              </a:solidFill>
              <a:latin typeface="Noto Sans SC"/>
              <a:ea typeface="Noto Sans SC"/>
              <a:cs typeface="Noto Sans SC"/>
              <a:sym typeface="Noto Sans SC"/>
            </a:endParaRPr>
          </a:p>
        </p:txBody>
      </p:sp>
      <p:sp>
        <p:nvSpPr>
          <p:cNvPr id="5" name="AutoShape 15"/>
          <p:cNvSpPr/>
          <p:nvPr/>
        </p:nvSpPr>
        <p:spPr>
          <a:xfrm>
            <a:off x="9461500" y="1968500"/>
            <a:ext cx="1143000" cy="1143000"/>
          </a:xfrm>
          <a:prstGeom prst="ellipse">
            <a:avLst/>
          </a:prstGeom>
          <a:gradFill rotWithShape="1">
            <a:gsLst>
              <a:gs pos="0">
                <a:srgbClr val="69F0AE">
                  <a:alpha val="30000"/>
                </a:srgbClr>
              </a:gs>
              <a:gs pos="55000">
                <a:srgbClr val="69F0AE">
                  <a:alpha val="8000"/>
                </a:srgbClr>
              </a:gs>
              <a:gs pos="100000">
                <a:srgbClr val="69F0AE">
                  <a:alpha val="2000"/>
                </a:srgbClr>
              </a:gs>
            </a:gsLst>
            <a:path path="circle">
              <a:fillToRect l="50000" t="50000" r="50000" b="50000"/>
            </a:path>
            <a:tileRect/>
          </a:gradFill>
          <a:ln w="25400" cap="flat" cmpd="sng">
            <a:solidFill>
              <a:srgbClr val="69F0AE">
                <a:alpha val="100000"/>
              </a:srgbClr>
            </a:solidFill>
            <a:prstDash val="solid"/>
            <a:round/>
          </a:ln>
          <a:effectLst>
            <a:outerShdw blurRad="355600" dir="5400000" algn="ctr" rotWithShape="0">
              <a:srgbClr val="69F0AE">
                <a:alpha val="55000"/>
              </a:srgbClr>
            </a:outerShdw>
          </a:effectLst>
        </p:spPr>
        <p:txBody>
          <a:bodyPr vert="horz" wrap="square" lIns="63500" tIns="63500" rIns="63500" bIns="63500" rtlCol="0" anchor="ctr"/>
          <a:lstStyle/>
          <a:p>
            <a:pPr algn="ctr">
              <a:defRPr/>
            </a:pPr>
          </a:p>
        </p:txBody>
      </p:sp>
      <p:sp>
        <p:nvSpPr>
          <p:cNvPr id="16" name="AutoShape 16"/>
          <p:cNvSpPr/>
          <p:nvPr/>
        </p:nvSpPr>
        <p:spPr>
          <a:xfrm>
            <a:off x="8509000" y="3365500"/>
            <a:ext cx="3048000" cy="4318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zh-CN" altLang="en-US" sz="2200" b="1" i="0" u="none" strike="noStrike" spc="400">
                <a:solidFill>
                  <a:srgbClr val="FFFFFF"/>
                </a:solidFill>
                <a:latin typeface="Noto Sans SC"/>
                <a:ea typeface="SimSun" charset="0"/>
                <a:cs typeface="Noto Sans SC"/>
                <a:sym typeface="Noto Sans SC"/>
              </a:rPr>
              <a:t>模型选择</a:t>
            </a:r>
            <a:endParaRPr lang="zh-CN" altLang="en-US" sz="2200" b="1" i="0" u="none" strike="noStrike" spc="400">
              <a:solidFill>
                <a:srgbClr val="FFFFFF"/>
              </a:solidFill>
              <a:latin typeface="Noto Sans SC"/>
              <a:ea typeface="SimSun" charset="0"/>
              <a:cs typeface="Noto Sans SC"/>
              <a:sym typeface="Noto Sans SC"/>
            </a:endParaRPr>
          </a:p>
        </p:txBody>
      </p:sp>
      <p:sp>
        <p:nvSpPr>
          <p:cNvPr id="17" name="AutoShape 17"/>
          <p:cNvSpPr/>
          <p:nvPr/>
        </p:nvSpPr>
        <p:spPr>
          <a:xfrm>
            <a:off x="8509000" y="3937000"/>
            <a:ext cx="3048000" cy="1524000"/>
          </a:xfrm>
          <a:prstGeom prst="rect">
            <a:avLst/>
          </a:prstGeom>
          <a:noFill/>
          <a:ln w="12700" cap="flat" cmpd="sng">
            <a:noFill/>
            <a:prstDash val="solid"/>
            <a:round/>
          </a:ln>
        </p:spPr>
        <p:txBody>
          <a:bodyPr vert="horz" wrap="square" lIns="0" tIns="0" rIns="0" bIns="0" rtlCol="0" anchor="t" anchorCtr="0"/>
          <a:lstStyle/>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选择更老版本、参数量更小的</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模型或非</a:t>
            </a:r>
            <a:r>
              <a:rPr lang="en-US" altLang="zh-CN" sz="1600" b="0" i="0" u="none" strike="noStrike">
                <a:solidFill>
                  <a:srgbClr val="C8C8D2"/>
                </a:solidFill>
                <a:latin typeface="Noto Sans SC"/>
                <a:ea typeface="Noto Sans SC"/>
                <a:cs typeface="Noto Sans SC"/>
                <a:sym typeface="Noto Sans SC"/>
              </a:rPr>
              <a:t> Agent </a:t>
            </a:r>
            <a:r>
              <a:rPr lang="zh-CN" altLang="en-US" sz="1600" b="0" i="0" u="none" strike="noStrike">
                <a:solidFill>
                  <a:srgbClr val="C8C8D2"/>
                </a:solidFill>
                <a:latin typeface="Noto Sans SC"/>
                <a:ea typeface="SimSun" charset="0"/>
                <a:cs typeface="Noto Sans SC"/>
                <a:sym typeface="Noto Sans SC"/>
              </a:rPr>
              <a:t>类型的</a:t>
            </a:r>
            <a:r>
              <a:rPr lang="en-US" altLang="zh-CN" sz="1600" b="0" i="0" u="none" strike="noStrike">
                <a:solidFill>
                  <a:srgbClr val="C8C8D2"/>
                </a:solidFill>
                <a:latin typeface="Noto Sans SC"/>
                <a:ea typeface="SimSun" charset="0"/>
                <a:cs typeface="Noto Sans SC"/>
                <a:sym typeface="Noto Sans SC"/>
              </a:rPr>
              <a:t> AI </a:t>
            </a:r>
            <a:endParaRPr lang="en-US" altLang="zh-CN" sz="1600" b="0" i="0" u="none" strike="noStrike">
              <a:solidFill>
                <a:srgbClr val="C8C8D2"/>
              </a:solidFill>
              <a:latin typeface="Noto Sans SC"/>
              <a:ea typeface="SimSun" charset="0"/>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SimSun" charset="0"/>
                <a:cs typeface="Noto Sans SC"/>
                <a:sym typeface="Noto Sans SC"/>
              </a:rPr>
              <a:t>工具</a:t>
            </a:r>
            <a:r>
              <a:rPr lang="zh-CN" altLang="en-US" sz="1600" b="0" i="0" u="none" strike="noStrike">
                <a:solidFill>
                  <a:srgbClr val="C8C8D2"/>
                </a:solidFill>
                <a:latin typeface="Noto Sans SC"/>
                <a:ea typeface="Noto Sans SC"/>
                <a:cs typeface="Noto Sans SC"/>
                <a:sym typeface="Noto Sans SC"/>
              </a:rPr>
              <a:t>，进行复杂任务的时候</a:t>
            </a:r>
            <a:endParaRPr lang="zh-CN" altLang="en-US" sz="1600" b="0" i="0" u="none" strike="noStrike">
              <a:solidFill>
                <a:srgbClr val="C8C8D2"/>
              </a:solidFill>
              <a:latin typeface="Noto Sans SC"/>
              <a:ea typeface="Noto Sans SC"/>
              <a:cs typeface="Noto Sans SC"/>
              <a:sym typeface="Noto Sans SC"/>
            </a:endParaRPr>
          </a:p>
          <a:p>
            <a:pPr marL="0" indent="0" algn="ctr">
              <a:lnSpc>
                <a:spcPct val="142000"/>
              </a:lnSpc>
              <a:defRPr/>
            </a:pPr>
            <a:r>
              <a:rPr lang="zh-CN" altLang="en-US" sz="1600" b="0" i="0" u="none" strike="noStrike">
                <a:solidFill>
                  <a:srgbClr val="C8C8D2"/>
                </a:solidFill>
                <a:latin typeface="Noto Sans SC"/>
                <a:ea typeface="Noto Sans SC"/>
                <a:cs typeface="Noto Sans SC"/>
                <a:sym typeface="Noto Sans SC"/>
              </a:rPr>
              <a:t>更容易出错</a:t>
            </a:r>
            <a:endParaRPr lang="zh-CN" altLang="en-US" sz="1600" b="0" i="0" u="none" strike="noStrike">
              <a:solidFill>
                <a:srgbClr val="C8C8D2"/>
              </a:solidFill>
              <a:latin typeface="Noto Sans SC"/>
              <a:ea typeface="Noto Sans SC"/>
              <a:cs typeface="Noto Sans SC"/>
              <a:sym typeface="Noto Sans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2" grpId="0" animBg="1"/>
      <p:bldP spid="13" grpId="0"/>
      <p:bldP spid="3" grpId="0"/>
      <p:bldP spid="5" grpId="0" animBg="1"/>
      <p:bldP spid="16" grpId="0"/>
      <p:bldP spid="17" grpId="0"/>
      <p:bldP spid="9" grpId="1" animBg="1"/>
      <p:bldP spid="10" grpId="1"/>
      <p:bldP spid="11" grpId="1"/>
      <p:bldP spid="12" grpId="1" animBg="1"/>
      <p:bldP spid="13" grpId="1"/>
      <p:bldP spid="3" grpId="1"/>
      <p:bldP spid="5" grpId="1" animBg="1"/>
      <p:bldP spid="16" grpId="1"/>
      <p:bldP spid="17"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内容占位符 6"/>
          <p:cNvSpPr>
            <a:spLocks noGrp="1"/>
          </p:cNvSpPr>
          <p:nvPr>
            <p:ph idx="1"/>
          </p:nvPr>
        </p:nvSpPr>
        <p:spPr/>
        <p:txBody>
          <a:bodyPr/>
          <a:p>
            <a:r>
              <a:rPr altLang="zh-CN"/>
              <a:t>Q &amp; A</a:t>
            </a:r>
            <a:endParaRPr altLang="zh-CN"/>
          </a:p>
        </p:txBody>
      </p:sp>
      <p:sp>
        <p:nvSpPr>
          <p:cNvPr id="8" name="内容占位符 7"/>
          <p:cNvSpPr>
            <a:spLocks noGrp="1"/>
          </p:cNvSpPr>
          <p:nvPr>
            <p:ph idx="13"/>
          </p:nvPr>
        </p:nvSpPr>
        <p:spPr/>
        <p:txBody>
          <a:bodyPr/>
          <a:p>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 name="标题 5"/>
          <p:cNvSpPr>
            <a:spLocks noGrp="1"/>
          </p:cNvSpPr>
          <p:nvPr>
            <p:ph type="title"/>
          </p:nvPr>
        </p:nvSpPr>
        <p:spPr/>
        <p:txBody>
          <a:bodyPr/>
          <a:p>
            <a:endParaRPr lang="zh-CN" altLang="en-US"/>
          </a:p>
        </p:txBody>
      </p:sp>
      <p:sp>
        <p:nvSpPr>
          <p:cNvPr id="7" name="内容占位符 6"/>
          <p:cNvSpPr>
            <a:spLocks noGrp="1"/>
          </p:cNvSpPr>
          <p:nvPr>
            <p:ph idx="1"/>
          </p:nvPr>
        </p:nvSpPr>
        <p:spPr/>
        <p:txBody>
          <a:bodyPr/>
          <a:p>
            <a:r>
              <a:rPr lang="zh-CN" altLang="en-US"/>
              <a:t>为什么越来越大？</a:t>
            </a:r>
            <a:endParaRPr lang="zh-CN" altLang="en-US"/>
          </a:p>
        </p:txBody>
      </p:sp>
      <p:sp>
        <p:nvSpPr>
          <p:cNvPr id="8" name="内容占位符 7"/>
          <p:cNvSpPr>
            <a:spLocks noGrp="1"/>
          </p:cNvSpPr>
          <p:nvPr>
            <p:ph idx="13"/>
          </p:nvPr>
        </p:nvSpPr>
        <p:spPr/>
        <p:txBody>
          <a:bodyPr/>
          <a:p>
            <a:endParaRPr lang="zh-CN" altLang="en-US"/>
          </a:p>
        </p:txBody>
      </p:sp>
      <p:sp>
        <p:nvSpPr>
          <p:cNvPr id="5" name="灯片编号占位符 4"/>
          <p:cNvSpPr>
            <a:spLocks noGrp="1"/>
          </p:cNvSpPr>
          <p:nvPr>
            <p:ph type="sldNum" sz="quarter" idx="12"/>
          </p:nvPr>
        </p:nvSpPr>
        <p:spPr/>
        <p:txBody>
          <a:bodyPr/>
          <a:p>
            <a:fld id="{49AE70B2-8BF9-45C0-BB95-33D1B9D3A854}" type="slidenum">
              <a:rPr lang="zh-CN" altLang="en-US" smtClean="0"/>
            </a:fld>
            <a:endParaRPr lang="en-US" altLang="zh-CN" smtClean="0"/>
          </a:p>
        </p:txBody>
      </p:sp>
    </p:spTree>
  </p:cSld>
  <p:clrMapOvr>
    <a:masterClrMapping/>
  </p:clrMapOvr>
  <p:transition/>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5004</Words>
  <Application>WPS 演示</Application>
  <PresentationFormat>宽屏</PresentationFormat>
  <Paragraphs>863</Paragraphs>
  <Slides>38</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38</vt:i4>
      </vt:variant>
    </vt:vector>
  </HeadingPairs>
  <TitlesOfParts>
    <vt:vector size="58" baseType="lpstr">
      <vt:lpstr>Arial</vt:lpstr>
      <vt:lpstr>SimSun</vt:lpstr>
      <vt:lpstr>Wingdings</vt:lpstr>
      <vt:lpstr>DejaVu Sans</vt:lpstr>
      <vt:lpstr>Arial</vt:lpstr>
      <vt:lpstr>Noto Sans SC</vt:lpstr>
      <vt:lpstr>C059</vt:lpstr>
      <vt:lpstr>SimSun</vt:lpstr>
      <vt:lpstr>Poppins</vt:lpstr>
      <vt:lpstr>Noto Serif CJK SC</vt:lpstr>
      <vt:lpstr>Calibri</vt:lpstr>
      <vt:lpstr>Calibri Light</vt:lpstr>
      <vt:lpstr>Microsoft YaHei</vt:lpstr>
      <vt:lpstr>Droid Sans Fallback</vt:lpstr>
      <vt:lpstr>Arial Unicode MS</vt:lpstr>
      <vt:lpstr>SimSun</vt:lpstr>
      <vt:lpstr>DejaVu Math TeX Gyre</vt:lpstr>
      <vt:lpstr>MS Mincho</vt:lpstr>
      <vt:lpstr>OpenSymbol</vt:lpstr>
      <vt:lpstr>WPS</vt:lpstr>
      <vt:lpstr>大模型基础通识课 教师课前培训</vt:lpstr>
      <vt:lpstr>课程总体目标</vt:lpstr>
      <vt:lpstr>课程路线图</vt:lpstr>
      <vt:lpstr>大模型技术全景图</vt:lpstr>
      <vt:lpstr>大模型产品 vs 本体</vt:lpstr>
      <vt:lpstr>一个例子</vt:lpstr>
      <vt:lpstr>PowerPoint 演示文稿</vt:lpstr>
      <vt:lpstr>大模型的生成机制</vt:lpstr>
      <vt:lpstr>注意力机制</vt:lpstr>
      <vt:lpstr>结合注意力的自回归生成：一个例子</vt:lpstr>
      <vt:lpstr>PowerPoint 演示文稿</vt:lpstr>
      <vt:lpstr>文本处理的最小单元：Token</vt:lpstr>
      <vt:lpstr>Token 的数字化：Embedding</vt:lpstr>
      <vt:lpstr>Embedding 模型的训练</vt:lpstr>
      <vt:lpstr>Embedding 模型的训练</vt:lpstr>
      <vt:lpstr>PowerPoint 演示文稿</vt:lpstr>
      <vt:lpstr>Transformer vs RNN / LSTM</vt:lpstr>
      <vt:lpstr>注意力机制：既是武器，也是枷锁</vt:lpstr>
      <vt:lpstr>注意力机制：既是武器，也是枷锁</vt:lpstr>
      <vt:lpstr>为什么有时候 AI 很蠢</vt:lpstr>
      <vt:lpstr>AI“蠢”的另一个原因是我们没有选到正确的模型</vt:lpstr>
      <vt:lpstr>模型的能力差异</vt:lpstr>
      <vt:lpstr>模型的训练过程</vt:lpstr>
      <vt:lpstr>影响训练的因素</vt:lpstr>
      <vt:lpstr>训练 vs 推理</vt:lpstr>
      <vt:lpstr>PowerPoint 演示文稿</vt:lpstr>
      <vt:lpstr>提示词工程</vt:lpstr>
      <vt:lpstr>PowerPoint 演示文稿</vt:lpstr>
      <vt:lpstr>让 AI 像人一样思考</vt:lpstr>
      <vt:lpstr>提示词案例</vt:lpstr>
      <vt:lpstr>让 AI 自主地在设定好的路线上前进</vt:lpstr>
      <vt:lpstr>让 AI 学会使用工具</vt:lpstr>
      <vt:lpstr>让 AI 学会使用工具</vt:lpstr>
      <vt:lpstr>解剖一只“小龙虾”</vt:lpstr>
      <vt:lpstr>PowerPoint 演示文稿</vt:lpstr>
      <vt:lpstr>给 AI “找茬”的几个关键功能</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上海钢琴师</cp:lastModifiedBy>
  <cp:revision>493</cp:revision>
  <dcterms:created xsi:type="dcterms:W3CDTF">2026-09-03T01:14:01Z</dcterms:created>
  <dcterms:modified xsi:type="dcterms:W3CDTF">2026-09-03T01:14:01Z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