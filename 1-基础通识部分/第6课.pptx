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38" r:id="rId2"/>
    <p:sldId id="339" r:id="rId3"/>
    <p:sldId id="340" r:id="rId4"/>
    <p:sldId id="356" r:id="rId5"/>
    <p:sldId id="357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B1"/>
    <a:srgbClr val="69F0AE"/>
    <a:srgbClr val="00E5FF"/>
    <a:srgbClr val="B388FF"/>
    <a:srgbClr val="061323"/>
    <a:srgbClr val="00E5FA"/>
    <a:srgbClr val="1E1E1E"/>
    <a:srgbClr val="5A5A5A"/>
    <a:srgbClr val="12121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4" autoAdjust="0"/>
    <p:restoredTop sz="75338" autoAdjust="0"/>
  </p:normalViewPr>
  <p:slideViewPr>
    <p:cSldViewPr snapToGrid="0" showGuides="1">
      <p:cViewPr varScale="1">
        <p:scale>
          <a:sx n="119" d="100"/>
          <a:sy n="119" d="100"/>
        </p:scale>
        <p:origin x="4062" y="114"/>
      </p:cViewPr>
      <p:guideLst>
        <p:guide orient="horz" pos="225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【页面内容】</a:t>
            </a: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讲了这么多原理，咱们终于要上手操练一下了。把大模型比作一两汽车，咱现在就进驾驶室开一圈。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【简单描述】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得，看这个回复，咱这次算是把车开沟里去了。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这到底是怎么回事？我们又要如何避免这样情况的发生呢？</a:t>
            </a:r>
            <a:br>
              <a:rPr lang="zh-CN" altLang="en-US">
                <a:sym typeface="+mn-ea"/>
              </a:rPr>
            </a:b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今天这节课我们就来讲讲：如何让大模型乖乖听话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发动机需要什么才能运转？对，就是燃料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对于大模型这个发动机来说，它的燃料就是我们输入给它的文字。这些文字参与模型内部的运算，提示了输出的结果。所以又称为“提示词”。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所以，设计和撰写提示词就是使用大模型的最核心的技术，这被称为“提示词工程”。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和大模型的沟通其实是和人的沟通是一样的，我们在布置任务的时候要说明【四要素】，并且要做到【四原则】</a:t>
            </a:r>
            <a:r>
              <a:rPr lang="zh-CN" altLang="en-US">
                <a:sym typeface="+mn-ea"/>
              </a:rPr>
              <a:t>。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比如我刚才给大家看的例子：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【例子】</a:t>
            </a:r>
          </a:p>
          <a:p>
            <a:endParaRPr lang="zh-CN" altLang="en-US"/>
          </a:p>
          <a:p>
            <a:r>
              <a:rPr lang="zh-CN" altLang="en-US"/>
              <a:t>完整地把这四个方面都写上，基本也就满足了“全面性”的原则。其他三个原则是大家普遍比较容易犯错的地方，我们来看一个例子：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【例子】</a:t>
            </a:r>
          </a:p>
          <a:p>
            <a:endParaRPr lang="zh-CN" altLang="en-US"/>
          </a:p>
          <a:p>
            <a:r>
              <a:rPr lang="zh-CN" altLang="en-US"/>
              <a:t>再回头看我一开始的那个例子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有的时候大模型输出的乱七八糟，但有时候也能输出的非常正常，如何才能进一步提升模型输出的稳定性呢？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b="1" dirty="0">
                <a:sym typeface="+mn-ea"/>
              </a:rPr>
              <a:t>【以下是用于直接在DeepSeek中演示的例子】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>
                <a:sym typeface="+mn-ea"/>
              </a:rPr>
              <a:t>## 老Prompt：</a:t>
            </a:r>
            <a:endParaRPr lang="en-US" altLang="en-US" dirty="0"/>
          </a:p>
          <a:p>
            <a:endParaRPr lang="en-US" altLang="zh-CN" dirty="0"/>
          </a:p>
          <a:p>
            <a:r>
              <a:rPr lang="zh-CN" altLang="en-US" dirty="0"/>
              <a:t>根据学校社团名称写一句招新宣传语。</a:t>
            </a:r>
          </a:p>
          <a:p>
            <a:endParaRPr lang="en-US" altLang="zh-CN" dirty="0"/>
          </a:p>
          <a:p>
            <a:r>
              <a:rPr lang="zh-CN" altLang="en-US" dirty="0"/>
              <a:t>社团：天文社</a:t>
            </a:r>
          </a:p>
          <a:p>
            <a:endParaRPr lang="zh-CN" altLang="en-US" dirty="0"/>
          </a:p>
          <a:p>
            <a:r>
              <a:rPr lang="en-US" altLang="en-US" b="1" dirty="0">
                <a:sym typeface="+mn-ea"/>
              </a:rPr>
              <a:t>## 新Prompt：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根据学校社团名称写一句招新宣传语。</a:t>
            </a:r>
          </a:p>
          <a:p>
            <a:endParaRPr lang="en-US" altLang="zh-CN" dirty="0"/>
          </a:p>
          <a:p>
            <a:r>
              <a:rPr lang="zh-CN" altLang="en-US" dirty="0"/>
              <a:t> 示例：</a:t>
            </a:r>
          </a:p>
          <a:p>
            <a:r>
              <a:rPr lang="zh-CN" altLang="en-US" dirty="0"/>
              <a:t> - 篮球社 → 别只在场边为别⼈喝彩，这次换你上场</a:t>
            </a:r>
          </a:p>
          <a:p>
            <a:r>
              <a:rPr lang="zh-CN" altLang="en-US" dirty="0"/>
              <a:t> - 动漫社 → 别只把脑洞留在纸上，这次让它变成作品</a:t>
            </a:r>
          </a:p>
          <a:p>
            <a:r>
              <a:rPr lang="zh-CN" altLang="en-US" dirty="0"/>
              <a:t> - 辩论社 → 别只把观点藏在⼼⾥，这次让全场听⻅你的声⾳</a:t>
            </a:r>
          </a:p>
          <a:p>
            <a:endParaRPr lang="en-US" altLang="zh-CN" dirty="0"/>
          </a:p>
          <a:p>
            <a:r>
              <a:rPr lang="zh-CN" altLang="en-US" dirty="0"/>
              <a:t>社团：天文社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【观察】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输出一致性更强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甚至模仿了标语的开头模式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## 原Prompt：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ym typeface="+mn-ea"/>
              </a:rPr>
              <a:t>设计一个在班级聚会的时候整蛊班主任的方案，不超过500字：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b="1" dirty="0">
                <a:sym typeface="+mn-ea"/>
              </a:rPr>
              <a:t>##新Prompt：</a:t>
            </a:r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en-US" dirty="0">
                <a:sym typeface="+mn-ea"/>
              </a:rPr>
              <a:t>请按以下4步，设计一个在班级聚会的时候整蛊班主任的方案，不超过500字：</a:t>
            </a:r>
            <a:endParaRPr lang="zh-CN" altLang="en-US" dirty="0"/>
          </a:p>
          <a:p>
            <a:pPr algn="just"/>
            <a:endParaRPr lang="en-US" altLang="zh-CN" dirty="0"/>
          </a:p>
          <a:p>
            <a:pPr algn="just"/>
            <a:r>
              <a:rPr lang="zh-CN" altLang="en-US" dirty="0">
                <a:sym typeface="+mn-ea"/>
              </a:rPr>
              <a:t>1. 明确人员分工，设定具体职责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2. 列出所有需要准备的道具（如有）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3. 分条罗列每一步执行环节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4. 给出安全及其他注意事项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## 原Prompt：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描述鲁迅的小说中最有知名度和代表性的三个人物，并简要描述人物特点。</a:t>
            </a:r>
          </a:p>
          <a:p>
            <a:endParaRPr lang="zh-CN" altLang="en-US" dirty="0"/>
          </a:p>
          <a:p>
            <a:r>
              <a:rPr lang="en-US" altLang="zh-CN" b="1" dirty="0">
                <a:sym typeface="+mn-ea"/>
              </a:rPr>
              <a:t>##新Prompt：</a:t>
            </a:r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en-US" dirty="0">
                <a:sym typeface="+mn-ea"/>
              </a:rPr>
              <a:t>描述鲁迅的小说中最有知名度和代表性的三个人物，并简要描述人物特点。</a:t>
            </a:r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要求：以表格的方式给出分析，除表头外，表格共有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3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行，每行列举一个人物；表格有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5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列，按顺序分别是：姓名、性别、性格特质（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1-2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个词）、代表性事件（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1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句话描述）以及出处。</a:t>
            </a:r>
            <a:endParaRPr lang="en-US" altLang="zh-CN" dirty="0">
              <a:latin typeface="Microsoft YaHei" charset="-122"/>
              <a:ea typeface="Microsoft YaHei" charset="-122"/>
            </a:endParaRPr>
          </a:p>
          <a:p>
            <a:endParaRPr lang="en-US" altLang="zh-CN" dirty="0"/>
          </a:p>
          <a:p>
            <a:r>
              <a:rPr lang="en-US" altLang="zh-CN" b="1" dirty="0">
                <a:sym typeface="+mn-ea"/>
              </a:rPr>
              <a:t>##新Prompt</a:t>
            </a:r>
            <a:r>
              <a:rPr lang="en-US" altLang="en-US" b="1" dirty="0">
                <a:sym typeface="+mn-ea"/>
              </a:rPr>
              <a:t>（V2）</a:t>
            </a:r>
            <a:r>
              <a:rPr lang="en-US" altLang="zh-CN" b="1" dirty="0">
                <a:sym typeface="+mn-ea"/>
              </a:rPr>
              <a:t>：</a:t>
            </a:r>
          </a:p>
          <a:p>
            <a:endParaRPr lang="en-US" altLang="zh-CN" dirty="0"/>
          </a:p>
          <a:p>
            <a:pPr algn="just"/>
            <a:r>
              <a:rPr lang="zh-CN" altLang="en-US" dirty="0"/>
              <a:t>描述鲁迅的小说中最有知名度和代表性的三个人物，并简要描述人物特点。</a:t>
            </a:r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要求：以人物卡片的方式给出每个人的介绍，卡片形式如下：</a:t>
            </a:r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┌─────────────┐</a:t>
            </a:r>
          </a:p>
          <a:p>
            <a:pPr algn="just"/>
            <a:r>
              <a:rPr lang="zh-CN" altLang="en-US" dirty="0"/>
              <a:t>│ 姓名：</a:t>
            </a:r>
            <a:r>
              <a:rPr lang="en-US" altLang="zh-CN" dirty="0"/>
              <a:t>xxx                             │</a:t>
            </a:r>
          </a:p>
          <a:p>
            <a:pPr algn="just"/>
            <a:r>
              <a:rPr lang="en-US" altLang="zh-CN" dirty="0"/>
              <a:t>├─────────────┤</a:t>
            </a:r>
          </a:p>
          <a:p>
            <a:pPr algn="just"/>
            <a:r>
              <a:rPr lang="zh-CN" altLang="en-US" dirty="0"/>
              <a:t>│ 性别：</a:t>
            </a:r>
            <a:r>
              <a:rPr lang="en-US" altLang="zh-CN" dirty="0"/>
              <a:t>x                                 │</a:t>
            </a:r>
          </a:p>
          <a:p>
            <a:pPr algn="just"/>
            <a:r>
              <a:rPr lang="en-US" altLang="zh-CN" dirty="0"/>
              <a:t>├─────────────┤</a:t>
            </a:r>
          </a:p>
          <a:p>
            <a:pPr algn="just"/>
            <a:r>
              <a:rPr lang="zh-CN" altLang="en-US" dirty="0"/>
              <a:t>│ 性格特质：（1-2个词）        │</a:t>
            </a:r>
          </a:p>
          <a:p>
            <a:pPr algn="just"/>
            <a:r>
              <a:rPr lang="en-US" altLang="zh-CN" dirty="0"/>
              <a:t>├─────────────┤</a:t>
            </a:r>
          </a:p>
          <a:p>
            <a:pPr algn="just"/>
            <a:r>
              <a:rPr lang="zh-CN" altLang="en-US" dirty="0"/>
              <a:t>│ 代表性事件：（1句话描述） │</a:t>
            </a:r>
          </a:p>
          <a:p>
            <a:pPr algn="just"/>
            <a:r>
              <a:rPr lang="en-US" altLang="zh-CN" dirty="0"/>
              <a:t>├─────────────┤</a:t>
            </a:r>
          </a:p>
          <a:p>
            <a:pPr algn="just"/>
            <a:r>
              <a:rPr lang="zh-CN" altLang="en-US" dirty="0"/>
              <a:t>│ 出处                                      │</a:t>
            </a:r>
          </a:p>
          <a:p>
            <a:pPr algn="just"/>
            <a:r>
              <a:rPr lang="en-US" altLang="zh-CN" dirty="0"/>
              <a:t>└─────────────┘</a:t>
            </a:r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## </a:t>
            </a:r>
            <a:r>
              <a:rPr lang="zh-CN" altLang="en-US" dirty="0"/>
              <a:t>额外延伸：</a:t>
            </a:r>
          </a:p>
          <a:p>
            <a:pPr algn="just"/>
            <a:r>
              <a:rPr lang="en-US" altLang="zh-CN" dirty="0"/>
              <a:t>Temperature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zh-CN" altLang="en-US" dirty="0"/>
              <a:t>结构化要求是矛盾的，为什么不降低</a:t>
            </a:r>
            <a:r>
              <a:rPr lang="en-US" altLang="zh-CN" dirty="0"/>
              <a:t> temperature </a:t>
            </a:r>
            <a:r>
              <a:rPr lang="zh-CN" altLang="en-US" dirty="0"/>
              <a:t>呢？</a:t>
            </a:r>
          </a:p>
          <a:p>
            <a:pPr algn="just"/>
            <a:r>
              <a:rPr lang="en-US" altLang="zh-CN" dirty="0"/>
              <a:t>- </a:t>
            </a:r>
            <a:r>
              <a:rPr lang="zh-CN" altLang="en-US" dirty="0"/>
              <a:t>迷宫比喻</a:t>
            </a:r>
            <a:endParaRPr lang="en-US" altLang="zh-CN" dirty="0"/>
          </a:p>
          <a:p>
            <a:pPr algn="just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zh-CN" altLang="en-US" dirty="0">
                <a:sym typeface="+mn-ea"/>
              </a:rPr>
              <a:t>在使用代码与大模型进行交互的时候，可以设置</a:t>
            </a:r>
            <a:r>
              <a:rPr lang="en-US" altLang="zh-CN" dirty="0">
                <a:sym typeface="+mn-ea"/>
              </a:rPr>
              <a:t>System/User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Prompt</a:t>
            </a: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zh-CN" altLang="en-US" dirty="0">
                <a:sym typeface="+mn-ea"/>
              </a:rPr>
              <a:t>一般角色设定、任务约束都会写在</a:t>
            </a:r>
            <a:r>
              <a:rPr lang="en-US" altLang="zh-CN" dirty="0">
                <a:sym typeface="+mn-ea"/>
              </a:rPr>
              <a:t>system Prompt</a:t>
            </a:r>
            <a:r>
              <a:rPr lang="zh-CN" altLang="en-US" dirty="0">
                <a:sym typeface="+mn-ea"/>
              </a:rPr>
              <a:t>里，约束的效果比写在</a:t>
            </a:r>
            <a:r>
              <a:rPr lang="en-US" altLang="zh-CN" dirty="0">
                <a:sym typeface="+mn-ea"/>
              </a:rPr>
              <a:t>user prompt</a:t>
            </a:r>
            <a:r>
              <a:rPr lang="zh-CN" altLang="en-US" dirty="0">
                <a:sym typeface="+mn-ea"/>
              </a:rPr>
              <a:t>里约束力更强</a:t>
            </a:r>
            <a:endParaRPr lang="en-US" altLang="zh-CN" dirty="0"/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indent="0">
              <a:buFontTx/>
              <a:buNone/>
            </a:pPr>
            <a:r>
              <a:rPr lang="en-US" altLang="en-US" b="1" dirty="0">
                <a:sym typeface="+mn-ea"/>
              </a:rPr>
              <a:t>## Prompt 1：</a:t>
            </a:r>
            <a:endParaRPr lang="en-US" altLang="en-US" dirty="0"/>
          </a:p>
          <a:p>
            <a:pPr indent="0">
              <a:buFontTx/>
              <a:buNone/>
            </a:pPr>
            <a:endParaRPr lang="en-US" altLang="en-US" dirty="0"/>
          </a:p>
          <a:p>
            <a:pPr indent="0">
              <a:buFontTx/>
              <a:buNone/>
            </a:pPr>
            <a:r>
              <a:rPr lang="zh-CN" altLang="en-US" dirty="0"/>
              <a:t>你是⼀名脑科学家，请向⾼中⽣解释：“为什么越临近考试，我越想打游戏？”</a:t>
            </a:r>
          </a:p>
          <a:p>
            <a:pPr indent="0">
              <a:buFontTx/>
              <a:buNone/>
            </a:pPr>
            <a:endParaRPr lang="zh-CN" altLang="en-US" dirty="0"/>
          </a:p>
          <a:p>
            <a:pPr indent="0">
              <a:buFontTx/>
              <a:buNone/>
            </a:pPr>
            <a:r>
              <a:rPr lang="en-US" altLang="en-US" b="1" dirty="0">
                <a:sym typeface="+mn-ea"/>
              </a:rPr>
              <a:t>## Prompt 2:</a:t>
            </a:r>
            <a:endParaRPr lang="en-US" altLang="en-US" dirty="0"/>
          </a:p>
          <a:p>
            <a:pPr indent="0">
              <a:buFontTx/>
              <a:buNone/>
            </a:pPr>
            <a:endParaRPr lang="en-US" altLang="en-US" dirty="0"/>
          </a:p>
          <a:p>
            <a:pPr indent="0">
              <a:buFontTx/>
              <a:buNone/>
            </a:pPr>
            <a:r>
              <a:rPr lang="zh-CN" altLang="en-US" dirty="0"/>
              <a:t>你是⼀名资深游戏策划，请向⾼中⽣解释：“为什么越临近考试，我越想打游戏？”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b="1" dirty="0">
                <a:sym typeface="+mn-ea"/>
              </a:rPr>
              <a:t>【展示：豆包版本号比较的错误】</a:t>
            </a:r>
            <a:endParaRPr lang="en-US" altLang="en-US" b="1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【页面内容】</a:t>
            </a:r>
          </a:p>
          <a:p>
            <a:endParaRPr lang="zh-CN" altLang="en-US"/>
          </a:p>
          <a:p>
            <a:r>
              <a:rPr lang="zh-CN" altLang="en-US"/>
              <a:t>【展示开头的例子的创建过程】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但是这样的流程往往很繁琐，写一个优秀的提示词会占用很多时间，哪怕只是想要完成一个小任务，有什么提高效率的办法吗？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【页面内容】</a:t>
            </a:r>
          </a:p>
          <a:p>
            <a:endParaRPr lang="zh-CN" altLang="en-US"/>
          </a:p>
          <a:p>
            <a:r>
              <a:rPr lang="zh-CN" altLang="en-US"/>
              <a:t>【下面是几个可选的例子：】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【</a:t>
            </a:r>
            <a:r>
              <a:rPr lang="en-US" altLang="zh-CN"/>
              <a:t>#1</a:t>
            </a:r>
            <a:r>
              <a:rPr lang="zh-CN" altLang="en-US"/>
              <a:t>】</a:t>
            </a:r>
            <a:br>
              <a:rPr lang="zh-CN" altLang="en-US"/>
            </a:br>
            <a:r>
              <a:rPr lang="zh-CN" altLang="en-US"/>
              <a:t>我想写一封给班里学霸的匿名情书，表达好感，但不想太直白。我需要留下关于我特征的3条线索，最后约</a:t>
            </a:r>
            <a:r>
              <a:rPr lang="en-US" altLang="zh-CN"/>
              <a:t>ta</a:t>
            </a:r>
            <a:r>
              <a:rPr lang="zh-CN" altLang="en-US"/>
              <a:t>周五放学后在图书馆见面。语气要可爱一点。</a:t>
            </a:r>
          </a:p>
          <a:p>
            <a:endParaRPr lang="en-US" altLang="zh-CN"/>
          </a:p>
          <a:p>
            <a:r>
              <a:rPr lang="zh-CN" altLang="en-US"/>
              <a:t>按照上述的要求帮我生成一份中文的</a:t>
            </a:r>
            <a:r>
              <a:rPr lang="en-US" altLang="zh-CN"/>
              <a:t>prompt, </a:t>
            </a:r>
            <a:r>
              <a:rPr lang="zh-CN" altLang="en-US"/>
              <a:t>要符合高中的实际情况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【</a:t>
            </a:r>
            <a:r>
              <a:rPr lang="en-US" altLang="zh-CN"/>
              <a:t>#2</a:t>
            </a:r>
            <a:r>
              <a:rPr lang="zh-CN" altLang="en-US"/>
              <a:t>】</a:t>
            </a:r>
          </a:p>
          <a:p>
            <a:r>
              <a:rPr lang="zh-CN" altLang="en-US"/>
              <a:t>我想要周末每天能玩2小时手机游戏，但爸妈总怕我上瘾。所以我需要拟订一份条约，让条约要显得我很自律、很有规划，让他们放心。</a:t>
            </a:r>
          </a:p>
          <a:p>
            <a:endParaRPr lang="en-US" altLang="zh-CN"/>
          </a:p>
          <a:p>
            <a:r>
              <a:rPr lang="zh-CN" altLang="en-US"/>
              <a:t>帮我设计一个写作这样的条约的 </a:t>
            </a:r>
            <a:r>
              <a:rPr lang="en-US" altLang="zh-CN"/>
              <a:t>prompt, </a:t>
            </a:r>
            <a:r>
              <a:rPr lang="zh-CN" altLang="en-US"/>
              <a:t>语气正式、恳切</a:t>
            </a:r>
          </a:p>
          <a:p>
            <a:endParaRPr lang="zh-CN" altLang="en-US"/>
          </a:p>
          <a:p>
            <a:r>
              <a:rPr lang="zh-CN" altLang="en-US"/>
              <a:t>【</a:t>
            </a:r>
            <a:r>
              <a:rPr lang="en-US" altLang="zh-CN"/>
              <a:t>#3</a:t>
            </a:r>
            <a:r>
              <a:rPr lang="zh-CN" altLang="en-US"/>
              <a:t>】</a:t>
            </a:r>
          </a:p>
          <a:p>
            <a:r>
              <a:rPr lang="zh-CN" altLang="en-US"/>
              <a:t>我想要让大模型每天帮我复盘学习和心情，再给明天的计划。语气像好朋友聊天，别太官方，稍微搞笑一点。</a:t>
            </a:r>
          </a:p>
          <a:p>
            <a:endParaRPr lang="en-US" altLang="zh-CN"/>
          </a:p>
          <a:p>
            <a:r>
              <a:rPr lang="zh-CN" altLang="en-US"/>
              <a:t>设计一个可以复用的 </a:t>
            </a:r>
            <a:r>
              <a:rPr lang="en-US" altLang="zh-CN"/>
              <a:t>prompt </a:t>
            </a:r>
            <a:r>
              <a:rPr lang="zh-CN" altLang="en-US"/>
              <a:t>让我每天都可以用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我们已经使用了高质量的提示词，在多数场景下已经能够发挥大模型的大部分能力了。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但是，对于一些复杂的任务、或者类似数学运算这样的非文本化的任务，又应该如何处理呢？且听下回分解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 userDrawn="1"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3"/>
          <p:cNvSpPr/>
          <p:nvPr userDrawn="1"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4"/>
          <p:cNvSpPr/>
          <p:nvPr userDrawn="1"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6"/>
          <p:cNvSpPr/>
          <p:nvPr userDrawn="1"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7"/>
          <p:cNvSpPr/>
          <p:nvPr userDrawn="1"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0"/>
          <p:cNvSpPr/>
          <p:nvPr userDrawn="1"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12"/>
          <p:cNvCxnSpPr/>
          <p:nvPr userDrawn="1"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000" y="1433195"/>
            <a:ext cx="10668000" cy="2325370"/>
          </a:xfrm>
        </p:spPr>
        <p:txBody>
          <a:bodyPr anchor="b">
            <a:normAutofit/>
          </a:bodyPr>
          <a:lstStyle>
            <a:lvl1pPr marL="0" marR="0" lvl="0" algn="ctr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62000" y="4012565"/>
            <a:ext cx="10668000" cy="17538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3" hasCustomPrompt="1"/>
          </p:nvPr>
        </p:nvSpPr>
        <p:spPr>
          <a:xfrm>
            <a:off x="757555" y="5588000"/>
            <a:ext cx="4831080" cy="431800"/>
          </a:xfrm>
        </p:spPr>
        <p:txBody>
          <a:bodyPr/>
          <a:lstStyle>
            <a:lvl1pPr indent="0">
              <a:buNone/>
              <a:defRPr sz="2000"/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pc="300">
                <a:solidFill>
                  <a:srgbClr val="BEBE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【授课人】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6604000" y="5588000"/>
            <a:ext cx="4830445" cy="431800"/>
          </a:xfrm>
        </p:spPr>
        <p:txBody>
          <a:bodyPr/>
          <a:lstStyle>
            <a:lvl1pPr marL="0" indent="0" algn="r">
              <a:buNone/>
              <a:defRPr kumimoji="0" lang="zh-CN" altLang="en-US" sz="2000" b="0" i="0" u="none" strike="noStrike" kern="1200" cap="none" spc="300" normalizeH="0" baseline="0" noProof="1">
                <a:solidFill>
                  <a:srgbClr val="BEBEBE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  <a:lvl5pPr algn="ctr">
              <a:defRPr/>
            </a:lvl5pPr>
          </a:lstStyle>
          <a:p>
            <a:pPr lvl="0"/>
            <a:r>
              <a:rPr lang="zh-CN" altLang="en-US"/>
              <a:t>【日期】</a:t>
            </a:r>
          </a:p>
          <a:p>
            <a:pPr lvl="0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401300" cy="43516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3298825"/>
            <a:ext cx="10401300" cy="28784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 userDrawn="1"/>
        </p:nvSpPr>
        <p:spPr>
          <a:xfrm>
            <a:off x="762000" y="1676400"/>
            <a:ext cx="10401300" cy="1422400"/>
          </a:xfrm>
          <a:prstGeom prst="snip2DiagRect">
            <a:avLst/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762000" y="1678305"/>
            <a:ext cx="10401300" cy="1421130"/>
          </a:xfrm>
        </p:spPr>
        <p:txBody>
          <a:bodyPr anchor="ctr" anchorCtr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zh-CN" altLang="en-US"/>
              <a:t>插入定义文本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 userDrawn="1"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 userDrawn="1"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【思考与讨论】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62000" y="4382135"/>
            <a:ext cx="10401300" cy="7613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2800" b="0" i="0" u="none" strike="noStrike" kern="0" cap="none" spc="300" normalizeH="0" baseline="0" noProof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【提出一个开放性问题,引导学生思考】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/>
          <p:nvPr userDrawn="1"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6"/>
          <p:cNvSpPr/>
          <p:nvPr userDrawn="1"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/>
          </a:p>
        </p:txBody>
      </p:sp>
      <p:sp>
        <p:nvSpPr>
          <p:cNvPr id="19" name="内容占位符 18"/>
          <p:cNvSpPr>
            <a:spLocks noGrp="1"/>
          </p:cNvSpPr>
          <p:nvPr>
            <p:ph idx="13" hasCustomPrompt="1"/>
          </p:nvPr>
        </p:nvSpPr>
        <p:spPr>
          <a:xfrm>
            <a:off x="762000" y="5398135"/>
            <a:ext cx="10401300" cy="4057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1800" b="0" i="0" u="none" strike="noStrike" kern="0" cap="none" spc="200" normalizeH="0" baseline="0" noProof="1">
                <a:solidFill>
                  <a:srgbClr val="C8C8D2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【提示:可以分组讨论 / 举手回答 / 课后思考】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635" y="1904365"/>
            <a:ext cx="5234940" cy="50863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1200" cap="none" spc="0" normalizeH="0" baseline="0" noProof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635" y="2480310"/>
            <a:ext cx="523494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00E5FF"/>
              </a:buClr>
              <a:defRPr/>
            </a:lvl1pPr>
            <a:lvl2pPr>
              <a:lnSpc>
                <a:spcPct val="150000"/>
              </a:lnSpc>
              <a:buClr>
                <a:srgbClr val="00E5FF"/>
              </a:buClr>
              <a:defRPr/>
            </a:lvl2pPr>
            <a:lvl3pPr>
              <a:lnSpc>
                <a:spcPct val="150000"/>
              </a:lnSpc>
              <a:buClr>
                <a:srgbClr val="00E5FF"/>
              </a:buClr>
              <a:defRPr/>
            </a:lvl3pPr>
            <a:lvl4pPr>
              <a:lnSpc>
                <a:spcPct val="150000"/>
              </a:lnSpc>
              <a:buClr>
                <a:srgbClr val="00E5FF"/>
              </a:buClr>
              <a:defRPr/>
            </a:lvl4pPr>
            <a:lvl5pPr>
              <a:lnSpc>
                <a:spcPct val="150000"/>
              </a:lnSpc>
              <a:buClr>
                <a:srgbClr val="00E5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604635" y="1903730"/>
            <a:ext cx="5079365" cy="50990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0" cap="none" spc="0" normalizeH="0" baseline="0" noProof="1">
                <a:solidFill>
                  <a:srgbClr val="B3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04635" y="2480310"/>
            <a:ext cx="507873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B388FF"/>
              </a:buClr>
              <a:defRPr/>
            </a:lvl1pPr>
            <a:lvl2pPr>
              <a:lnSpc>
                <a:spcPct val="150000"/>
              </a:lnSpc>
              <a:buClr>
                <a:srgbClr val="B388FF"/>
              </a:buClr>
              <a:defRPr/>
            </a:lvl2pPr>
            <a:lvl3pPr>
              <a:lnSpc>
                <a:spcPct val="150000"/>
              </a:lnSpc>
              <a:buClr>
                <a:srgbClr val="B388FF"/>
              </a:buClr>
              <a:defRPr/>
            </a:lvl3pPr>
            <a:lvl4pPr>
              <a:lnSpc>
                <a:spcPct val="150000"/>
              </a:lnSpc>
              <a:buClr>
                <a:srgbClr val="B388FF"/>
              </a:buClr>
              <a:defRPr/>
            </a:lvl4pPr>
            <a:lvl5pPr>
              <a:lnSpc>
                <a:spcPct val="150000"/>
              </a:lnSpc>
              <a:buClr>
                <a:srgbClr val="B388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/>
          <p:cNvSpPr/>
          <p:nvPr userDrawn="1"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2"/>
          <p:cNvSpPr/>
          <p:nvPr userDrawn="1"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 userDrawn="1"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 userDrawn="1"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5" name="Connector 6"/>
          <p:cNvCxnSpPr/>
          <p:nvPr userDrawn="1"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cxnSp>
        <p:nvCxnSpPr>
          <p:cNvPr id="7" name="Connector 7"/>
          <p:cNvCxnSpPr/>
          <p:nvPr userDrawn="1"/>
        </p:nvCxnSpPr>
        <p:spPr>
          <a:xfrm rot="5388145">
            <a:off x="23749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 userDrawn="1"/>
        </p:nvCxnSpPr>
        <p:spPr>
          <a:xfrm rot="5388145">
            <a:off x="61341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35" y="1651635"/>
            <a:ext cx="5967730" cy="2440305"/>
          </a:xfrm>
        </p:spPr>
        <p:txBody>
          <a:bodyPr anchor="b" anchorCtr="0"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AutoShape 2"/>
          <p:cNvSpPr/>
          <p:nvPr userDrawn="1"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3"/>
          <p:cNvSpPr/>
          <p:nvPr userDrawn="1"/>
        </p:nvSpPr>
        <p:spPr>
          <a:xfrm>
            <a:off x="5588635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6"/>
          <p:cNvSpPr/>
          <p:nvPr userDrawn="1"/>
        </p:nvSpPr>
        <p:spPr>
          <a:xfrm>
            <a:off x="6350000" y="4110355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</p:nvPr>
        </p:nvSpPr>
        <p:spPr>
          <a:xfrm>
            <a:off x="889635" y="1651635"/>
            <a:ext cx="4699000" cy="3160395"/>
          </a:xfrm>
        </p:spPr>
        <p:txBody>
          <a:bodyPr anchor="ctr" anchorCtr="0"/>
          <a:lstStyle>
            <a:lvl1pPr marL="0" marR="0" lvl="0" indent="0" algn="ctr" defTabSz="914400" rtl="0" eaLnBrk="1" fontAlgn="auto" latinLnBrk="0" hangingPunct="1">
              <a:lnSpc>
                <a:spcPct val="92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lvl="0"/>
            <a:r>
              <a:rPr lang="zh-CN" altLang="en-US"/>
              <a:t>编号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</p:nvPr>
        </p:nvSpPr>
        <p:spPr>
          <a:xfrm>
            <a:off x="6096000" y="4304030"/>
            <a:ext cx="5461635" cy="683895"/>
          </a:xfrm>
        </p:spPr>
        <p:txBody>
          <a:bodyPr anchor="ctr" anchorCtr="0"/>
          <a:lstStyle>
            <a:lvl1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marL="0" indent="0" algn="l">
              <a:lnSpc>
                <a:spcPct val="117000"/>
              </a:lnSpc>
              <a:defRPr/>
            </a:pPr>
            <a:r>
              <a:rPr lang="en-US" spc="300">
                <a:solidFill>
                  <a:srgbClr val="B4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【章节副标题 / 引言】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 userDrawn="1"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3"/>
          <p:cNvSpPr/>
          <p:nvPr userDrawn="1"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AutoShape 4"/>
          <p:cNvSpPr/>
          <p:nvPr userDrawn="1"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  <p:sp>
        <p:nvSpPr>
          <p:cNvPr id="9" name="AutoShape 5"/>
          <p:cNvSpPr/>
          <p:nvPr userDrawn="1"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【Q &amp; A / 提问交流环节】</a:t>
            </a:r>
            <a:endParaRPr lang="en-US" sz="1100"/>
          </a:p>
        </p:txBody>
      </p:sp>
      <p:cxnSp>
        <p:nvCxnSpPr>
          <p:cNvPr id="10" name="Connector 6"/>
          <p:cNvCxnSpPr/>
          <p:nvPr userDrawn="1"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1" name="Picture 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cxnSp>
        <p:nvCxnSpPr>
          <p:cNvPr id="13" name="Connector 9"/>
          <p:cNvCxnSpPr/>
          <p:nvPr userDrawn="1"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0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cxnSp>
        <p:nvCxnSpPr>
          <p:cNvPr id="16" name="Connector 12"/>
          <p:cNvCxnSpPr/>
          <p:nvPr userDrawn="1"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2693035" y="4952365"/>
            <a:ext cx="203073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contact@xxx.com</a:t>
            </a:r>
            <a:endParaRPr lang="en-US" altLang="zh-CN"/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5740400" y="4953000"/>
            <a:ext cx="2032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</a:p>
        </p:txBody>
      </p:sp>
      <p:sp>
        <p:nvSpPr>
          <p:cNvPr id="23" name="内容占位符 22"/>
          <p:cNvSpPr>
            <a:spLocks noGrp="1"/>
          </p:cNvSpPr>
          <p:nvPr>
            <p:ph idx="15" hasCustomPrompt="1"/>
          </p:nvPr>
        </p:nvSpPr>
        <p:spPr>
          <a:xfrm>
            <a:off x="8724900" y="4953000"/>
            <a:ext cx="2159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  <a:r>
              <a:rPr lang="zh-CN" altLang="en-US"/>
              <a:t>事实</a:t>
            </a:r>
          </a:p>
        </p:txBody>
      </p:sp>
      <p:sp>
        <p:nvSpPr>
          <p:cNvPr id="25" name="内容占位符 24"/>
          <p:cNvSpPr>
            <a:spLocks noGrp="1"/>
          </p:cNvSpPr>
          <p:nvPr>
            <p:ph idx="16" hasCustomPrompt="1"/>
          </p:nvPr>
        </p:nvSpPr>
        <p:spPr>
          <a:xfrm>
            <a:off x="3215958" y="6121400"/>
            <a:ext cx="5760085" cy="329565"/>
          </a:xfrm>
        </p:spPr>
        <p:txBody>
          <a:bodyPr anchor="ctr" anchorCtr="0"/>
          <a:lstStyle>
            <a:lvl1pPr marL="0" indent="0" algn="ctr">
              <a:buNone/>
              <a:defRPr kumimoji="0" lang="en-US" sz="1400" b="0" i="0" u="none" strike="noStrike" kern="1200" cap="none" spc="400" normalizeH="0" baseline="0" noProof="1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【课程名称 / 机构名】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4" name="Image 0" descr="香港科技大学与上海产教融合中心反白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741664" y="274320"/>
            <a:ext cx="2788920" cy="685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/>
              <a:t>第六课</a:t>
            </a:r>
            <a:br>
              <a:rPr lang="zh-CN" altLang="en-US" sz="6000"/>
            </a:br>
            <a:r>
              <a:rPr lang="zh-CN" altLang="en-US" sz="6000"/>
              <a:t>怎样让 </a:t>
            </a:r>
            <a:r>
              <a:rPr lang="en-US" altLang="zh-CN" sz="6000"/>
              <a:t>AI </a:t>
            </a:r>
            <a:r>
              <a:rPr lang="zh-CN" altLang="en-US" sz="6000"/>
              <a:t>听你的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港科大人工智能前沿系列课程——大模型基础通识</a:t>
            </a:r>
          </a:p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zh-CN" altLang="en-US"/>
              <a:t>授课人：王若愚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altLang="zh-CN" dirty="0"/>
              <a:t>2026/09/01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模型的训练就是通过不断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调整参数</a:t>
            </a:r>
            <a:r>
              <a:rPr lang="zh-CN" altLang="en-US" sz="2800" dirty="0">
                <a:sym typeface="+mn-ea"/>
              </a:rPr>
              <a:t>，使得在训练数据上的预测结果尽可能接近理想的预期结果</a:t>
            </a:r>
            <a:endParaRPr lang="zh-CN" alt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ym typeface="+mn-ea"/>
              </a:rPr>
              <a:t>大模型的训练分为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预训练</a:t>
            </a:r>
            <a:r>
              <a:rPr lang="zh-CN" altLang="en-US" sz="2800" dirty="0">
                <a:sym typeface="+mn-ea"/>
              </a:rPr>
              <a:t>、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后训练</a:t>
            </a:r>
            <a:r>
              <a:rPr lang="zh-CN" altLang="en-US" sz="2800" dirty="0">
                <a:sym typeface="+mn-ea"/>
              </a:rPr>
              <a:t>和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强化训练</a:t>
            </a:r>
            <a:r>
              <a:rPr lang="zh-CN" altLang="en-US" sz="2800" dirty="0">
                <a:sym typeface="+mn-ea"/>
              </a:rPr>
              <a:t>三个阶段</a:t>
            </a:r>
            <a:endParaRPr lang="zh-CN" alt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>
                <a:sym typeface="+mn-ea"/>
              </a:rPr>
              <a:t>除了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模型规模和结构</a:t>
            </a:r>
            <a:r>
              <a:rPr lang="en-US" altLang="zh-CN" sz="2800">
                <a:sym typeface="+mn-ea"/>
              </a:rPr>
              <a:t>，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数据质量</a:t>
            </a:r>
            <a:r>
              <a:rPr lang="en-US" altLang="zh-CN" sz="2800">
                <a:sym typeface="+mn-ea"/>
              </a:rPr>
              <a:t>和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对齐目标</a:t>
            </a:r>
            <a:r>
              <a:rPr lang="en-US" altLang="zh-CN" sz="2800">
                <a:sym typeface="+mn-ea"/>
              </a:rPr>
              <a:t>都会影响模型能力和对外的表现</a:t>
            </a:r>
            <a:endParaRPr lang="en-US" altLang="zh-CN" sz="2800" b="1">
              <a:solidFill>
                <a:srgbClr val="00E5FA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体验一下</a:t>
            </a:r>
            <a:r>
              <a:rPr altLang="zh-CN"/>
              <a:t> DeepSeek V4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600" y="1690370"/>
            <a:ext cx="6896800" cy="43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62000" y="4382135"/>
            <a:ext cx="10401300" cy="14224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如何让</a:t>
            </a:r>
            <a:r>
              <a:rPr altLang="zh-CN" dirty="0">
                <a:solidFill>
                  <a:schemeClr val="bg1"/>
                </a:solidFill>
                <a:sym typeface="+mn-ea"/>
              </a:rPr>
              <a:t> AI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真正按我们所想的回答？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课程路线图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en-US" altLang="zh-CN"/>
          </a:p>
        </p:txBody>
      </p:sp>
      <p:sp>
        <p:nvSpPr>
          <p:cNvPr id="6" name="AutoShape 6"/>
          <p:cNvSpPr/>
          <p:nvPr/>
        </p:nvSpPr>
        <p:spPr>
          <a:xfrm>
            <a:off x="2231390" y="1752600"/>
            <a:ext cx="899795" cy="4319905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大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模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产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品</a:t>
            </a:r>
          </a:p>
        </p:txBody>
      </p:sp>
      <p:sp>
        <p:nvSpPr>
          <p:cNvPr id="5" name="AutoShape 6"/>
          <p:cNvSpPr/>
          <p:nvPr/>
        </p:nvSpPr>
        <p:spPr>
          <a:xfrm>
            <a:off x="3395980" y="1753235"/>
            <a:ext cx="899795" cy="154305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原理</a:t>
            </a:r>
          </a:p>
        </p:txBody>
      </p:sp>
      <p:sp>
        <p:nvSpPr>
          <p:cNvPr id="7" name="AutoShape 6"/>
          <p:cNvSpPr/>
          <p:nvPr/>
        </p:nvSpPr>
        <p:spPr>
          <a:xfrm>
            <a:off x="3395980" y="3416935"/>
            <a:ext cx="899795" cy="1547495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</a:p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</a:p>
        </p:txBody>
      </p:sp>
      <p:sp>
        <p:nvSpPr>
          <p:cNvPr id="8" name="AutoShape 6"/>
          <p:cNvSpPr/>
          <p:nvPr/>
        </p:nvSpPr>
        <p:spPr>
          <a:xfrm>
            <a:off x="3395980" y="5086985"/>
            <a:ext cx="899795" cy="98933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智</a:t>
            </a:r>
          </a:p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能体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1205" y="1752600"/>
            <a:ext cx="5400040" cy="431800"/>
            <a:chOff x="7140" y="2760"/>
            <a:chExt cx="8504" cy="680"/>
          </a:xfrm>
        </p:grpSpPr>
        <p:sp>
          <p:nvSpPr>
            <p:cNvPr id="10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模型定位和介绍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61205" y="3975100"/>
            <a:ext cx="5400040" cy="431800"/>
            <a:chOff x="7140" y="2760"/>
            <a:chExt cx="8504" cy="680"/>
          </a:xfrm>
        </p:grpSpPr>
        <p:sp>
          <p:nvSpPr>
            <p:cNvPr id="1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05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模型训练、选型与评估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61205" y="5086350"/>
            <a:ext cx="5400040" cy="431800"/>
            <a:chOff x="7140" y="2760"/>
            <a:chExt cx="8504" cy="680"/>
          </a:xfrm>
        </p:grpSpPr>
        <p:sp>
          <p:nvSpPr>
            <p:cNvPr id="2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07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智能体框架与工具使用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61205" y="2308225"/>
            <a:ext cx="5400040" cy="431800"/>
            <a:chOff x="7140" y="2760"/>
            <a:chExt cx="8504" cy="680"/>
          </a:xfrm>
        </p:grpSpPr>
        <p:sp>
          <p:nvSpPr>
            <p:cNvPr id="2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02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生成机制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1205" y="2863850"/>
            <a:ext cx="5400040" cy="431800"/>
            <a:chOff x="7140" y="2760"/>
            <a:chExt cx="8504" cy="680"/>
          </a:xfrm>
        </p:grpSpPr>
        <p:sp>
          <p:nvSpPr>
            <p:cNvPr id="3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03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token </a:t>
              </a:r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SimSun" pitchFamily="2" charset="-122"/>
                  <a:cs typeface="Noto Sans SC" panose="020B0200000000000000" charset="-122"/>
                </a:rPr>
                <a:t>和</a:t>
              </a:r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SimSun" pitchFamily="2" charset="-122"/>
                  <a:cs typeface="Noto Sans SC" panose="020B0200000000000000" charset="-122"/>
                </a:rPr>
                <a:t> </a:t>
              </a:r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embedding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561205" y="3419475"/>
            <a:ext cx="5400040" cy="431800"/>
            <a:chOff x="7140" y="2760"/>
            <a:chExt cx="8504" cy="680"/>
          </a:xfrm>
        </p:grpSpPr>
        <p:sp>
          <p:nvSpPr>
            <p:cNvPr id="3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04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注意力、算力和模型大小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61205" y="4530725"/>
            <a:ext cx="5400040" cy="431800"/>
            <a:chOff x="7140" y="2760"/>
            <a:chExt cx="8504" cy="680"/>
          </a:xfrm>
        </p:grpSpPr>
        <p:sp>
          <p:nvSpPr>
            <p:cNvPr id="4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FFE3B1">
                <a:alpha val="8000"/>
              </a:srgbClr>
            </a:solidFill>
            <a:ln w="12700" cap="flat" cmpd="sng">
              <a:solidFill>
                <a:srgbClr val="FFE3B1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FFE3B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06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提示词技术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561205" y="5641975"/>
            <a:ext cx="5400040" cy="431800"/>
            <a:chOff x="7140" y="2760"/>
            <a:chExt cx="8504" cy="680"/>
          </a:xfrm>
        </p:grpSpPr>
        <p:sp>
          <p:nvSpPr>
            <p:cNvPr id="4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08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智能体记忆与案例剖析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5" grpId="0" bldLvl="0" animBg="1"/>
      <p:bldP spid="5" grpId="1" animBg="1"/>
      <p:bldP spid="7" grpId="0" bldLvl="0" animBg="1"/>
      <p:bldP spid="7" grpId="1" animBg="1"/>
      <p:bldP spid="8" grpId="0" bldLvl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762000" y="1670050"/>
            <a:ext cx="10401300" cy="1847215"/>
            <a:chOff x="1200" y="6362"/>
            <a:chExt cx="16380" cy="2909"/>
          </a:xfrm>
        </p:grpSpPr>
        <p:sp>
          <p:nvSpPr>
            <p:cNvPr id="16" name="AutoShape 7"/>
            <p:cNvSpPr/>
            <p:nvPr userDrawn="1"/>
          </p:nvSpPr>
          <p:spPr>
            <a:xfrm>
              <a:off x="1200" y="6362"/>
              <a:ext cx="16380" cy="2203"/>
            </a:xfrm>
            <a:prstGeom prst="snip2DiagRect">
              <a:avLst/>
            </a:prstGeom>
            <a:solidFill>
              <a:srgbClr val="00E5FF">
                <a:alpha val="15000"/>
              </a:srgbClr>
            </a:solidFill>
            <a:ln w="12700" cap="flat" cmpd="sng">
              <a:solidFill>
                <a:srgbClr val="00E5FF">
                  <a:alpha val="100000"/>
                </a:srgbClr>
              </a:solidFill>
              <a:prstDash val="solid"/>
              <a:round/>
            </a:ln>
            <a:effectLst>
              <a:outerShdw blurRad="304800" dir="5400000" algn="ctr" rotWithShape="0">
                <a:srgbClr val="00E5FF">
                  <a:alpha val="3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内容占位符 8"/>
            <p:cNvSpPr>
              <a:spLocks noGrp="1"/>
            </p:cNvSpPr>
            <p:nvPr/>
          </p:nvSpPr>
          <p:spPr>
            <a:xfrm>
              <a:off x="1200" y="6362"/>
              <a:ext cx="16380" cy="22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>
                <a:buNone/>
                <a:defRPr b="1"/>
              </a:lvl1pPr>
            </a:lstStyle>
            <a:p>
              <a:pPr lvl="0">
                <a:lnSpc>
                  <a:spcPct val="150000"/>
                </a:lnSpc>
              </a:pPr>
              <a:r>
                <a:rPr lang="zh-CN" altLang="en-US" sz="2400">
                  <a:solidFill>
                    <a:schemeClr val="bg1"/>
                  </a:solidFill>
                </a:rPr>
                <a:t>用户向 </a:t>
              </a:r>
              <a:r>
                <a:rPr lang="en-US" altLang="zh-CN" sz="2400">
                  <a:solidFill>
                    <a:schemeClr val="bg1"/>
                  </a:solidFill>
                </a:rPr>
                <a:t>AI </a:t>
              </a:r>
              <a:r>
                <a:rPr lang="zh-CN" altLang="en-US" sz="2400">
                  <a:solidFill>
                    <a:schemeClr val="bg1"/>
                  </a:solidFill>
                </a:rPr>
                <a:t>模型（含大模型、智能体等）输入的文本，该文本用于引导模型生成符合用户预期的输出。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376" y="8419"/>
              <a:ext cx="4448" cy="852"/>
            </a:xfrm>
            <a:prstGeom prst="rect">
              <a:avLst/>
            </a:prstGeom>
            <a:solidFill>
              <a:srgbClr val="233E31"/>
            </a:solidFill>
            <a:ln>
              <a:solidFill>
                <a:srgbClr val="69F0AE"/>
              </a:solidFill>
            </a:ln>
            <a:effectLst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/>
                <a:t>提示词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提示词：大模型的燃料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762000" y="3709670"/>
            <a:ext cx="10401300" cy="2177415"/>
            <a:chOff x="1200" y="5842"/>
            <a:chExt cx="16380" cy="3429"/>
          </a:xfrm>
        </p:grpSpPr>
        <p:sp>
          <p:nvSpPr>
            <p:cNvPr id="8" name="AutoShape 7"/>
            <p:cNvSpPr/>
            <p:nvPr userDrawn="1"/>
          </p:nvSpPr>
          <p:spPr>
            <a:xfrm>
              <a:off x="1200" y="5842"/>
              <a:ext cx="16380" cy="2723"/>
            </a:xfrm>
            <a:prstGeom prst="snip2DiagRect">
              <a:avLst/>
            </a:prstGeom>
            <a:solidFill>
              <a:srgbClr val="00E5FF">
                <a:alpha val="15000"/>
              </a:srgbClr>
            </a:solidFill>
            <a:ln w="12700" cap="flat" cmpd="sng">
              <a:solidFill>
                <a:srgbClr val="00E5FF">
                  <a:alpha val="100000"/>
                </a:srgbClr>
              </a:solidFill>
              <a:prstDash val="solid"/>
              <a:round/>
            </a:ln>
            <a:effectLst>
              <a:outerShdw blurRad="304800" dir="5400000" algn="ctr" rotWithShape="0">
                <a:srgbClr val="00E5FF">
                  <a:alpha val="3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内容占位符 8"/>
            <p:cNvSpPr>
              <a:spLocks noGrp="1"/>
            </p:cNvSpPr>
            <p:nvPr/>
          </p:nvSpPr>
          <p:spPr>
            <a:xfrm>
              <a:off x="1200" y="5843"/>
              <a:ext cx="16380" cy="2722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>
                <a:buNone/>
                <a:defRPr b="1"/>
              </a:lvl1pPr>
            </a:lstStyle>
            <a:p>
              <a:pPr lvl="0">
                <a:lnSpc>
                  <a:spcPct val="150000"/>
                </a:lnSpc>
              </a:pPr>
              <a:r>
                <a:rPr lang="zh-CN" altLang="en-US" sz="2400">
                  <a:solidFill>
                    <a:schemeClr val="bg1"/>
                  </a:solidFill>
                </a:rPr>
                <a:t>提示词工程是一门系统性优化大模型提示词设计与应用的交叉技术，核心是通过科学方法设计、测试、迭代提示词，使大模型、智能体在特定任务中输出更精准、高效、符合预期的结果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376" y="8419"/>
              <a:ext cx="4448" cy="852"/>
            </a:xfrm>
            <a:prstGeom prst="rect">
              <a:avLst/>
            </a:prstGeom>
            <a:solidFill>
              <a:srgbClr val="233E31"/>
            </a:solidFill>
            <a:ln>
              <a:solidFill>
                <a:srgbClr val="69F0AE"/>
              </a:solidFill>
            </a:ln>
            <a:effectLst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/>
                <a:t>提示词工程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提示词的基本技巧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四要素：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00E5FF"/>
              </a:buClr>
            </a:pPr>
            <a:r>
              <a:rPr lang="zh-CN" altLang="en-US"/>
              <a:t>任务：要 </a:t>
            </a:r>
            <a:r>
              <a:rPr lang="en-US" altLang="zh-CN"/>
              <a:t>AI </a:t>
            </a:r>
            <a:r>
              <a:rPr lang="zh-CN" altLang="en-US"/>
              <a:t>做什么？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要求：必须遵守哪些限制？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格式：输出长什么样？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场景：用户是谁、背景是什么？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四原则：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/>
              <a:t>全面性：不要遗漏</a:t>
            </a:r>
          </a:p>
          <a:p>
            <a:r>
              <a:rPr lang="zh-CN" altLang="en-US"/>
              <a:t>一致性：不要前后矛盾</a:t>
            </a:r>
          </a:p>
          <a:p>
            <a:r>
              <a:rPr lang="zh-CN" altLang="en-US"/>
              <a:t>简洁性：不要引入无关内容</a:t>
            </a:r>
          </a:p>
          <a:p>
            <a:r>
              <a:rPr lang="zh-CN" altLang="en-US"/>
              <a:t>合理性：不要引入实事错误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6" grpId="0" build="p"/>
      <p:bldP spid="6" grpId="1" build="p"/>
      <p:bldP spid="7" grpId="0" build="p"/>
      <p:bldP spid="7" grpId="1" build="p"/>
      <p:bldP spid="8" grpId="0" build="p"/>
      <p:bldP spid="8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提示词的基本技巧</a:t>
            </a:r>
            <a:r>
              <a:rPr lang="en-US" altLang="zh-CN"/>
              <a:t> —— </a:t>
            </a:r>
            <a:r>
              <a:rPr lang="zh-CN" altLang="en-US"/>
              <a:t>四要素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四要素：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00E5FF"/>
              </a:buClr>
            </a:pPr>
            <a:r>
              <a:rPr lang="zh-CN" altLang="en-US"/>
              <a:t>任务：要 </a:t>
            </a:r>
            <a:r>
              <a:rPr lang="en-US" altLang="zh-CN"/>
              <a:t>AI </a:t>
            </a:r>
            <a:r>
              <a:rPr lang="zh-CN" altLang="en-US"/>
              <a:t>做什么？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要求：必须遵守哪些限制？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格式：输出长什么样？</a:t>
            </a:r>
          </a:p>
          <a:p>
            <a:pPr>
              <a:buClr>
                <a:srgbClr val="00E5FF"/>
              </a:buClr>
            </a:pPr>
            <a:r>
              <a:rPr lang="zh-CN" altLang="en-US"/>
              <a:t>场景：用户是谁、背景是什么？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69F0AE"/>
                </a:solidFill>
              </a:rPr>
              <a:t>实例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Clr>
                <a:srgbClr val="69F0AE"/>
              </a:buClr>
            </a:pPr>
            <a:r>
              <a:rPr lang="zh-CN" altLang="en-US" sz="1600"/>
              <a:t>任务：针对性梳理电学、电磁学核心考点，搭建知识框架，搭配典型例题巩固；</a:t>
            </a:r>
          </a:p>
          <a:p>
            <a:pPr>
              <a:buClr>
                <a:srgbClr val="69F0AE"/>
              </a:buClr>
            </a:pPr>
            <a:r>
              <a:rPr lang="zh-CN" altLang="en-US" sz="1600"/>
              <a:t>要求：内容精炼直击考点、条理清晰；</a:t>
            </a:r>
          </a:p>
          <a:p>
            <a:pPr>
              <a:buClr>
                <a:srgbClr val="69F0AE"/>
              </a:buClr>
            </a:pPr>
            <a:r>
              <a:rPr lang="zh-CN" altLang="en-US" sz="1600"/>
              <a:t>格式采用分点精简罗列，重难点标注清晰，贴合短时高效备考节奏；</a:t>
            </a:r>
          </a:p>
          <a:p>
            <a:pPr>
              <a:buClr>
                <a:srgbClr val="69F0AE"/>
              </a:buClr>
            </a:pPr>
            <a:r>
              <a:rPr lang="zh-CN" altLang="en-US" sz="1600"/>
              <a:t>场景：距离物理期末考试仅剩三天的考前冲刺；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build="p"/>
      <p:bldP spid="6" grpId="1" build="p"/>
      <p:bldP spid="7" grpId="0" build="p"/>
      <p:bldP spid="7" grpId="1" build="p"/>
      <p:bldP spid="8" grpId="0" build="p"/>
      <p:bldP spid="8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提示词的基本技巧 —— 四原则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en-US" altLang="zh-CN"/>
          </a:p>
        </p:txBody>
      </p:sp>
      <p:sp>
        <p:nvSpPr>
          <p:cNvPr id="16" name="AutoShape 7"/>
          <p:cNvSpPr/>
          <p:nvPr userDrawn="1"/>
        </p:nvSpPr>
        <p:spPr>
          <a:xfrm>
            <a:off x="3020695" y="1670050"/>
            <a:ext cx="5883910" cy="4383405"/>
          </a:xfrm>
          <a:prstGeom prst="snip2DiagRect">
            <a:avLst>
              <a:gd name="adj1" fmla="val 0"/>
              <a:gd name="adj2" fmla="val 9314"/>
            </a:avLst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内容占位符 8"/>
          <p:cNvSpPr>
            <a:spLocks noGrp="1"/>
          </p:cNvSpPr>
          <p:nvPr/>
        </p:nvSpPr>
        <p:spPr>
          <a:xfrm>
            <a:off x="3020695" y="1670050"/>
            <a:ext cx="5883910" cy="43834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>
              <a:buNone/>
              <a:defRPr b="1"/>
            </a:lvl1pPr>
          </a:lstStyle>
          <a:p>
            <a:pPr lvl="0">
              <a:lnSpc>
                <a:spcPct val="200000"/>
              </a:lnSpc>
            </a:pPr>
            <a:r>
              <a:rPr lang="zh-CN" altLang="en-US" sz="2000" b="0">
                <a:solidFill>
                  <a:schemeClr val="bg1"/>
                </a:solidFill>
              </a:rPr>
              <a:t>你好！我马上要参加思想政治的期末考试了，所以想请你一定要帮我整理一下这门课第 4-5 章的考试重点，因为这两章内容太多了，我记不住，所以希望你整理得详细一点，但又不要太复杂，最好分点列出来。以“介绍模范共产党员袁隆平”为例子引入这两章的核心概念，拜托了！</a:t>
            </a:r>
          </a:p>
        </p:txBody>
      </p:sp>
      <p:sp>
        <p:nvSpPr>
          <p:cNvPr id="11" name="矩形 10"/>
          <p:cNvSpPr/>
          <p:nvPr/>
        </p:nvSpPr>
        <p:spPr>
          <a:xfrm>
            <a:off x="3667760" y="4064635"/>
            <a:ext cx="3790950" cy="394970"/>
          </a:xfrm>
          <a:prstGeom prst="rect">
            <a:avLst/>
          </a:prstGeom>
          <a:ln w="19050">
            <a:solidFill>
              <a:srgbClr val="69F0AE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69340" y="2917190"/>
            <a:ext cx="1385570" cy="460375"/>
          </a:xfrm>
          <a:prstGeom prst="rect">
            <a:avLst/>
          </a:prstGeom>
          <a:solidFill>
            <a:srgbClr val="69F0AE">
              <a:alpha val="20000"/>
            </a:srgbClr>
          </a:solidFill>
          <a:ln w="25400">
            <a:solidFill>
              <a:srgbClr val="69F0AE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一致性</a:t>
            </a:r>
          </a:p>
        </p:txBody>
      </p:sp>
      <p:sp>
        <p:nvSpPr>
          <p:cNvPr id="13" name="矩形 12"/>
          <p:cNvSpPr/>
          <p:nvPr/>
        </p:nvSpPr>
        <p:spPr>
          <a:xfrm>
            <a:off x="3101340" y="2254885"/>
            <a:ext cx="732790" cy="394970"/>
          </a:xfrm>
          <a:prstGeom prst="rect">
            <a:avLst/>
          </a:prstGeom>
          <a:ln w="19050">
            <a:solidFill>
              <a:srgbClr val="B388F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65595" y="5302250"/>
            <a:ext cx="998220" cy="394970"/>
          </a:xfrm>
          <a:prstGeom prst="rect">
            <a:avLst/>
          </a:prstGeom>
          <a:ln w="19050">
            <a:solidFill>
              <a:srgbClr val="B388F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365500" y="2860040"/>
            <a:ext cx="1313815" cy="394970"/>
          </a:xfrm>
          <a:prstGeom prst="rect">
            <a:avLst/>
          </a:prstGeom>
          <a:ln w="19050">
            <a:solidFill>
              <a:srgbClr val="B388F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903345" y="3470910"/>
            <a:ext cx="3959860" cy="394970"/>
          </a:xfrm>
          <a:prstGeom prst="rect">
            <a:avLst/>
          </a:prstGeom>
          <a:ln w="19050">
            <a:solidFill>
              <a:srgbClr val="B388F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203190" y="4691380"/>
            <a:ext cx="2255520" cy="394970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69340" y="3809365"/>
            <a:ext cx="1385570" cy="460375"/>
          </a:xfrm>
          <a:prstGeom prst="rect">
            <a:avLst/>
          </a:prstGeom>
          <a:solidFill>
            <a:schemeClr val="accent6">
              <a:lumMod val="60000"/>
              <a:lumOff val="40000"/>
              <a:alpha val="2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合理性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470390" y="3721735"/>
            <a:ext cx="1385570" cy="460375"/>
          </a:xfrm>
          <a:prstGeom prst="rect">
            <a:avLst/>
          </a:prstGeom>
          <a:solidFill>
            <a:srgbClr val="B388FF">
              <a:alpha val="20000"/>
            </a:srgbClr>
          </a:solidFill>
          <a:ln w="25400">
            <a:solidFill>
              <a:srgbClr val="B388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简洁性</a:t>
            </a:r>
          </a:p>
        </p:txBody>
      </p:sp>
      <p:sp>
        <p:nvSpPr>
          <p:cNvPr id="24" name="任意多边形: 形状 11"/>
          <p:cNvSpPr/>
          <p:nvPr/>
        </p:nvSpPr>
        <p:spPr>
          <a:xfrm flipH="1" flipV="1">
            <a:off x="2455545" y="3377565"/>
            <a:ext cx="1212215" cy="687070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69F0AE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任意多边形: 形状 11"/>
          <p:cNvSpPr/>
          <p:nvPr/>
        </p:nvSpPr>
        <p:spPr>
          <a:xfrm flipH="1" flipV="1">
            <a:off x="2454910" y="4270375"/>
            <a:ext cx="2748280" cy="421005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chemeClr val="accent6">
                <a:lumMod val="40000"/>
                <a:lumOff val="6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: 形状 11"/>
          <p:cNvSpPr/>
          <p:nvPr/>
        </p:nvSpPr>
        <p:spPr>
          <a:xfrm>
            <a:off x="3834130" y="2645410"/>
            <a:ext cx="5636260" cy="1076960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B388FF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: 形状 11"/>
          <p:cNvSpPr/>
          <p:nvPr/>
        </p:nvSpPr>
        <p:spPr>
          <a:xfrm>
            <a:off x="4679315" y="3255010"/>
            <a:ext cx="4789805" cy="467995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B388FF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任意多边形: 形状 11"/>
          <p:cNvSpPr/>
          <p:nvPr/>
        </p:nvSpPr>
        <p:spPr>
          <a:xfrm>
            <a:off x="7863205" y="3865880"/>
            <a:ext cx="1607185" cy="316230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B388FF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任意多边形: 形状 11"/>
          <p:cNvSpPr/>
          <p:nvPr/>
        </p:nvSpPr>
        <p:spPr>
          <a:xfrm flipV="1">
            <a:off x="7663815" y="4182745"/>
            <a:ext cx="1807210" cy="1120140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B388FF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animBg="1"/>
      <p:bldP spid="12" grpId="0" bldLvl="0" animBg="1"/>
      <p:bldP spid="12" grpId="1" animBg="1"/>
      <p:bldP spid="13" grpId="0" bldLvl="0" animBg="1"/>
      <p:bldP spid="13" grpId="1" animBg="1"/>
      <p:bldP spid="14" grpId="0" bldLvl="0" animBg="1"/>
      <p:bldP spid="14" grpId="1" animBg="1"/>
      <p:bldP spid="19" grpId="0" bldLvl="0" animBg="1"/>
      <p:bldP spid="19" grpId="1" animBg="1"/>
      <p:bldP spid="20" grpId="0" bldLvl="0" animBg="1"/>
      <p:bldP spid="20" grpId="1" animBg="1"/>
      <p:bldP spid="21" grpId="0" bldLvl="0" animBg="1"/>
      <p:bldP spid="21" grpId="1" animBg="1"/>
      <p:bldP spid="22" grpId="0" bldLvl="0" animBg="1"/>
      <p:bldP spid="22" grpId="1" animBg="1"/>
      <p:bldP spid="23" grpId="0" bldLvl="0" animBg="1"/>
      <p:bldP spid="23" grpId="1" animBg="1"/>
      <p:bldP spid="24" grpId="0" bldLvl="0" animBg="1"/>
      <p:bldP spid="24" grpId="1" animBg="1"/>
      <p:bldP spid="25" grpId="0" bldLvl="0" animBg="1"/>
      <p:bldP spid="25" grpId="1" animBg="1"/>
      <p:bldP spid="26" grpId="0" bldLvl="0" animBg="1"/>
      <p:bldP spid="26" grpId="1" animBg="1"/>
      <p:bldP spid="28" grpId="0" bldLvl="0" animBg="1"/>
      <p:bldP spid="28" grpId="1" animBg="1"/>
      <p:bldP spid="29" grpId="0" bldLvl="0" animBg="1"/>
      <p:bldP spid="29" grpId="1" animBg="1"/>
      <p:bldP spid="30" grpId="0" bldLvl="0" animBg="1"/>
      <p:bldP spid="3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>
                <a:ea typeface="SimSun" charset="0"/>
              </a:rPr>
              <a:t>如何进一步提升大模型输出的稳定性？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45" y="2491105"/>
            <a:ext cx="4319905" cy="28086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745" y="1863090"/>
            <a:ext cx="4500245" cy="4064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提示词进阶技巧#1：样例提示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00E5FA"/>
                </a:solidFill>
              </a:rPr>
              <a:t>利用大模型 的“模仿”特长</a:t>
            </a:r>
            <a:r>
              <a:rPr lang="zh-CN" altLang="en-US" b="1"/>
              <a:t>：</a:t>
            </a:r>
            <a:r>
              <a:rPr lang="zh-CN" altLang="en-US"/>
              <a:t>给它看到你期望的输入和输出示例，它就会在新任务中复制结构、语气与逻辑。</a:t>
            </a:r>
          </a:p>
          <a:p>
            <a:r>
              <a:rPr lang="zh-CN" altLang="en-US" b="1">
                <a:solidFill>
                  <a:srgbClr val="00E5FA"/>
                </a:solidFill>
              </a:rPr>
              <a:t>弥补显式指令的不足</a:t>
            </a:r>
            <a:r>
              <a:rPr lang="zh-CN" altLang="en-US" b="1"/>
              <a:t>：</a:t>
            </a:r>
            <a:r>
              <a:rPr lang="zh-CN" altLang="en-US"/>
              <a:t>示例让模型明确你要的格式、深度、细节程度，而不用推测。</a:t>
            </a:r>
          </a:p>
          <a:p>
            <a:r>
              <a:rPr lang="zh-CN" altLang="en-US"/>
              <a:t>对于复杂任务，可提高稳定性与一致性，尤其适合结构化文本生成、数据提取、分类等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/>
              <a:t>在给大模型布置了任务之后，选择</a:t>
            </a:r>
            <a:r>
              <a:rPr lang="en-US" altLang="zh-CN"/>
              <a:t> </a:t>
            </a:r>
            <a:r>
              <a:rPr lang="zh-CN" altLang="en-US"/>
              <a:t>1-3</a:t>
            </a:r>
            <a:r>
              <a:rPr lang="en-US" altLang="zh-CN"/>
              <a:t> </a:t>
            </a:r>
            <a:r>
              <a:rPr lang="zh-CN" altLang="en-US"/>
              <a:t>个高质量的示例，展示</a:t>
            </a:r>
          </a:p>
          <a:p>
            <a:r>
              <a:rPr lang="zh-CN" altLang="en-US"/>
              <a:t>清晰的输入和输出关系，让大模型仿照示例进行操作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 build="p"/>
      <p:bldP spid="10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提示词进阶技巧#2：分步提示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不擅长 “跳跃式思考”：复杂问题直接丢给 </a:t>
            </a:r>
            <a:r>
              <a:rPr lang="en-US" altLang="zh-CN"/>
              <a:t>AI，</a:t>
            </a:r>
            <a:r>
              <a:rPr lang="zh-CN" altLang="en-US"/>
              <a:t>容易出现逻辑断层、答案遗漏</a:t>
            </a:r>
          </a:p>
          <a:p>
            <a:r>
              <a:rPr lang="zh-CN" altLang="en-US"/>
              <a:t>让模型显式地先推理再回答，推理的内容会影响后续生成的文本，结果通常更准确、更少遗漏。</a:t>
            </a:r>
          </a:p>
          <a:p>
            <a:r>
              <a:rPr lang="zh-CN" altLang="en-US"/>
              <a:t>适合逻辑推理、数学、需求分析、决策相关的任务。</a:t>
            </a:r>
          </a:p>
          <a:p>
            <a:r>
              <a:rPr lang="zh-CN" altLang="en-US"/>
              <a:t>避免模型只给出肤浅或表面化的回答。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/>
              <a:t>按人类思考逻辑拆分解决问题的步骤，给每个步骤定义“明确要求”，</a:t>
            </a:r>
          </a:p>
          <a:p>
            <a:r>
              <a:rPr lang="zh-CN" altLang="en-US"/>
              <a:t>然后用序号串联这些步骤，最后明确要求大模型先推理再回答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 build="p"/>
      <p:bldP spid="10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</a:t>
            </a:r>
            <a:r>
              <a:rPr altLang="zh-CN"/>
              <a:t>3</a:t>
            </a:r>
            <a:r>
              <a:rPr lang="zh-CN" altLang="en-US"/>
              <a:t>：结构化输出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大模型输出是有“</a:t>
            </a:r>
            <a:r>
              <a:rPr lang="zh-CN" altLang="en-US" b="1">
                <a:solidFill>
                  <a:srgbClr val="00E5FA"/>
                </a:solidFill>
              </a:rPr>
              <a:t>温度（</a:t>
            </a:r>
            <a:r>
              <a:rPr lang="en-US" altLang="zh-CN" b="1">
                <a:solidFill>
                  <a:srgbClr val="00E5FA"/>
                </a:solidFill>
              </a:rPr>
              <a:t>Temperature）</a:t>
            </a:r>
            <a:r>
              <a:rPr lang="en-US" altLang="zh-CN"/>
              <a:t>”</a:t>
            </a:r>
            <a:r>
              <a:rPr lang="zh-CN" altLang="en-US"/>
              <a:t>的：输出的内容就像在做布朗运动一样，温度越高，越会变得杂乱无章</a:t>
            </a:r>
          </a:p>
          <a:p>
            <a:r>
              <a:rPr lang="zh-CN" altLang="en-US"/>
              <a:t>避免模型生成多余语言或解释，让输出更可控、更一致</a:t>
            </a:r>
          </a:p>
          <a:p>
            <a:r>
              <a:rPr lang="zh-CN" altLang="en-US"/>
              <a:t>大模型默认输出大段文字，但结构化要求能让输出逻辑可视化、信息易提取</a:t>
            </a:r>
          </a:p>
          <a:p>
            <a:r>
              <a:rPr lang="zh-CN" altLang="en-US"/>
              <a:t>常用的结构：列表、</a:t>
            </a:r>
            <a:r>
              <a:rPr lang="en-US" altLang="zh-CN"/>
              <a:t>JSON、Markdown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明确任务的输出格式（表格、分点等），写出一个具体的模板范例，</a:t>
            </a:r>
            <a:endParaRPr lang="en-US" altLang="zh-CN" dirty="0"/>
          </a:p>
          <a:p>
            <a:r>
              <a:rPr lang="zh-CN" altLang="en-US" dirty="0"/>
              <a:t>详细解释给定结构的每个部分包含的信息（可以给每个部分命名），</a:t>
            </a:r>
            <a:endParaRPr lang="en-US" altLang="zh-CN" dirty="0"/>
          </a:p>
          <a:p>
            <a:r>
              <a:rPr lang="zh-CN" altLang="en-US" dirty="0"/>
              <a:t>并强制要求大模型按照给定格式输出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DCCA33-4543-F7A6-F4DE-E597D11A7D8B}"/>
              </a:ext>
            </a:extLst>
          </p:cNvPr>
          <p:cNvSpPr txBox="1"/>
          <p:nvPr/>
        </p:nvSpPr>
        <p:spPr>
          <a:xfrm>
            <a:off x="15785432" y="2598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 build="p"/>
      <p:bldP spid="10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</a:t>
            </a:r>
            <a:r>
              <a:rPr altLang="zh-CN"/>
              <a:t>4</a:t>
            </a:r>
            <a:r>
              <a:rPr lang="zh-CN" altLang="en-US"/>
              <a:t>：角色扮演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用简单高效的方式限定模型的语言风格、专业视角与内容范围。</a:t>
            </a:r>
          </a:p>
          <a:p>
            <a:r>
              <a:rPr lang="zh-CN" altLang="en-US"/>
              <a:t>模型在“扮演某个专家”时会更聚焦、更专业，减少偏题内容。</a:t>
            </a:r>
          </a:p>
          <a:p>
            <a:r>
              <a:rPr lang="zh-CN" altLang="en-US"/>
              <a:t>易于控制写作语气（正式、教学、咨询、法律、技术等）。</a:t>
            </a:r>
          </a:p>
          <a:p>
            <a:r>
              <a:rPr lang="zh-CN" altLang="en-US"/>
              <a:t>区分系统提示词（</a:t>
            </a:r>
            <a:r>
              <a:rPr lang="en-US" altLang="zh-CN"/>
              <a:t>System Prompt）</a:t>
            </a:r>
            <a:r>
              <a:rPr lang="zh-CN" altLang="en-US"/>
              <a:t>与用户提示词（</a:t>
            </a:r>
            <a:r>
              <a:rPr lang="en-US" altLang="zh-CN"/>
              <a:t>User Prompt）：</a:t>
            </a:r>
            <a:r>
              <a:rPr lang="zh-CN" altLang="en-US"/>
              <a:t>系统提示词用于严格限制大模型的输出和思考风格，用户提示词直接发布任务内容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dirty="0"/>
              <a:t>向大模型明确它的角色定位（如：资深中学语文教师），</a:t>
            </a:r>
            <a:endParaRPr lang="en-US" altLang="zh-CN" dirty="0"/>
          </a:p>
          <a:p>
            <a:r>
              <a:rPr lang="zh-CN" altLang="en-US" dirty="0"/>
              <a:t>设定角色的技能属性（如：善于分析故事中的人物性格特点），</a:t>
            </a:r>
            <a:endParaRPr lang="en-US" altLang="zh-CN" dirty="0"/>
          </a:p>
          <a:p>
            <a:r>
              <a:rPr lang="zh-CN" altLang="en-US" dirty="0"/>
              <a:t>限定场景和受众，给出输出约束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 build="p"/>
      <p:bldP spid="10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提示词进阶技巧#5：选择对话上下文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根本原因：在同一个上下文中，任意一条新的对话都可以看做是承接前面所有对话的“续写”</a:t>
            </a:r>
          </a:p>
          <a:p>
            <a:pPr lvl="1"/>
            <a:r>
              <a:rPr lang="zh-CN" altLang="en-US"/>
              <a:t>模型会极力“保持连贯与一致”</a:t>
            </a:r>
          </a:p>
          <a:p>
            <a:pPr lvl="1"/>
            <a:r>
              <a:rPr lang="zh-CN" altLang="en-US"/>
              <a:t>前文的指令会一直对后续对话起作用</a:t>
            </a:r>
          </a:p>
          <a:p>
            <a:r>
              <a:rPr lang="zh-CN" altLang="en-US"/>
              <a:t>上下文对新生成的内容的影响力“近大远小” </a:t>
            </a:r>
          </a:p>
          <a:p>
            <a:r>
              <a:rPr lang="zh-CN" altLang="en-US"/>
              <a:t>上下文里的错误会级联放大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如果当前的问题需要依赖前面说过的东西，则保持在当前</a:t>
            </a:r>
          </a:p>
          <a:p>
            <a:r>
              <a:rPr lang="zh-CN" altLang="en-US"/>
              <a:t>上下文（对话窗口）中对话；否则应当使用新的上下文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 build="p"/>
      <p:bldP spid="10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提示词进阶技巧#5：选择对话上下文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同一个上下文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zh-CN" altLang="en-US" sz="2000"/>
              <a:t>大模型能 “记住” 所有修改痕迹，避免每次都重新说明，适合多轮对话解决复杂任务。</a:t>
            </a:r>
          </a:p>
          <a:p>
            <a:pPr marL="342900" indent="-342900">
              <a:buAutoNum type="arabicPeriod"/>
            </a:pPr>
            <a:r>
              <a:rPr lang="zh-CN" altLang="en-US" sz="2000"/>
              <a:t>适合对同一内容进行多次调整（修改、补充、细化）</a:t>
            </a:r>
          </a:p>
          <a:p>
            <a:pPr marL="342900" indent="-342900">
              <a:buAutoNum type="arabicPeriod"/>
            </a:pPr>
            <a:r>
              <a:rPr lang="zh-CN" altLang="en-US" sz="2000"/>
              <a:t>多轮追问同一主题，保持回答的连贯性。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新的上下文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zh-CN" altLang="en-US" sz="2000"/>
              <a:t>切换完全不同的主题或任务时避免之前的信息干扰</a:t>
            </a:r>
          </a:p>
          <a:p>
            <a:pPr marL="342900" indent="-342900">
              <a:buAutoNum type="arabicPeriod"/>
            </a:pPr>
            <a:r>
              <a:rPr lang="zh-CN" altLang="en-US" sz="2000"/>
              <a:t>出现了和之前不一致的要求，切换上下文能避免逻辑冲突。</a:t>
            </a:r>
          </a:p>
          <a:p>
            <a:pPr marL="342900" indent="-342900">
              <a:buAutoNum type="arabicPeriod"/>
            </a:pPr>
            <a:r>
              <a:rPr lang="zh-CN" altLang="en-US" sz="2000">
                <a:sym typeface="+mn-ea"/>
              </a:rPr>
              <a:t>之前的上下文过于冗长，早期的细节可能被遗忘，导致后续输出出错。</a:t>
            </a:r>
            <a:endParaRPr lang="zh-CN" altLang="en-US" sz="20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build="p"/>
      <p:bldP spid="4" grpId="1" build="p"/>
      <p:bldP spid="5" grpId="0" build="p"/>
      <p:bldP spid="5" grpId="1" build="p"/>
      <p:bldP spid="6" grpId="0" build="p"/>
      <p:bldP spid="6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不断更新和迭代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小步迭代：每次只修改 1 个问题（比如先改格式，再改风格），避免同时改多个地方，不知道哪个修改起作用；</a:t>
            </a:r>
          </a:p>
          <a:p>
            <a:r>
              <a:rPr lang="zh-CN" altLang="en-US"/>
              <a:t>保留有效信息：调试时不删除之前的合理要求，只补充 / 修正问题部分；</a:t>
            </a:r>
          </a:p>
          <a:p>
            <a:r>
              <a:rPr lang="zh-CN" altLang="en-US"/>
              <a:t>加入失败处理机制：让模型在不确定的时候明确表示不确定，在无法明确处理问题的时候给出默认反馈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/>
              <a:t>先找到 </a:t>
            </a:r>
            <a:r>
              <a:rPr lang="en-US" altLang="zh-CN"/>
              <a:t>AI </a:t>
            </a:r>
            <a:r>
              <a:rPr lang="zh-CN" altLang="en-US"/>
              <a:t>输出的问题所在（如答非所问、格式错误、信息不全），</a:t>
            </a:r>
          </a:p>
          <a:p>
            <a:r>
              <a:rPr lang="zh-CN" altLang="en-US"/>
              <a:t>再针对性调整提示词（补充信息、明确要求、修正逻辑），通过 </a:t>
            </a:r>
          </a:p>
          <a:p>
            <a:r>
              <a:rPr lang="zh-CN" altLang="en-US"/>
              <a:t>“提问→反馈→修改→再提问” 的循环，逐步逼近理想结果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0" grpId="1" build="p"/>
      <p:bldP spid="11" grpId="0" build="p"/>
      <p:bldP spid="11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【思考】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如何快速地撰写复杂的提示词？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“偷懒”妙招：提示词生成提示词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en-US" altLang="zh-CN"/>
          </a:p>
        </p:txBody>
      </p:sp>
      <p:cxnSp>
        <p:nvCxnSpPr>
          <p:cNvPr id="8" name="Connector 6"/>
          <p:cNvCxnSpPr/>
          <p:nvPr/>
        </p:nvCxnSpPr>
        <p:spPr>
          <a:xfrm rot="-4297">
            <a:off x="1016004" y="320548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gradFill>
              <a:gsLst>
                <a:gs pos="25000">
                  <a:srgbClr val="5A5A5A"/>
                </a:gs>
                <a:gs pos="100000">
                  <a:srgbClr val="5A5A5A">
                    <a:alpha val="0"/>
                  </a:srgbClr>
                </a:gs>
                <a:gs pos="0">
                  <a:srgbClr val="5A5A5A">
                    <a:alpha val="0"/>
                  </a:srgbClr>
                </a:gs>
                <a:gs pos="75000">
                  <a:srgbClr val="5A5A5A"/>
                </a:gs>
              </a:gsLst>
              <a:lin ang="0" scaled="0"/>
            </a:gradFill>
            <a:prstDash val="sysDash"/>
            <a:round/>
            <a:headEnd type="none" w="lg" len="lg"/>
            <a:tailEnd type="none" w="lg" len="lg"/>
          </a:ln>
        </p:spPr>
      </p:cxnSp>
      <p:sp>
        <p:nvSpPr>
          <p:cNvPr id="15" name="AutoShape 13"/>
          <p:cNvSpPr/>
          <p:nvPr/>
        </p:nvSpPr>
        <p:spPr>
          <a:xfrm>
            <a:off x="1301750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以润色提示词为本轮大模型的任务，以实际任务说明为要求，人工撰写提示词</a:t>
            </a:r>
          </a:p>
        </p:txBody>
      </p:sp>
      <p:sp>
        <p:nvSpPr>
          <p:cNvPr id="31" name="AutoShape 29"/>
          <p:cNvSpPr/>
          <p:nvPr/>
        </p:nvSpPr>
        <p:spPr>
          <a:xfrm>
            <a:off x="4769485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大模型根据提示词要求生成真正用于执行实际任务的完整的、精细化提示词</a:t>
            </a:r>
          </a:p>
        </p:txBody>
      </p:sp>
      <p:pic>
        <p:nvPicPr>
          <p:cNvPr id="68" name="图片 67" descr="目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41955"/>
            <a:ext cx="540000" cy="540000"/>
          </a:xfrm>
          <a:prstGeom prst="rect">
            <a:avLst/>
          </a:prstGeom>
        </p:spPr>
      </p:pic>
      <p:pic>
        <p:nvPicPr>
          <p:cNvPr id="74" name="图片 73" descr="/home/ruoyu/Intro2AITechs/1-基础通识部分/8课时/assets/对话框（紫）.png对话框（紫）"/>
          <p:cNvPicPr>
            <a:picLocks noChangeAspect="1"/>
          </p:cNvPicPr>
          <p:nvPr/>
        </p:nvPicPr>
        <p:blipFill>
          <a:blip r:embed="rId4"/>
          <a:srcRect l="23" r="23"/>
          <a:stretch>
            <a:fillRect/>
          </a:stretch>
        </p:blipFill>
        <p:spPr>
          <a:xfrm>
            <a:off x="7523730" y="2941955"/>
            <a:ext cx="539750" cy="540000"/>
          </a:xfrm>
          <a:prstGeom prst="rect">
            <a:avLst/>
          </a:prstGeom>
        </p:spPr>
      </p:pic>
      <p:pic>
        <p:nvPicPr>
          <p:cNvPr id="77" name="图片 76" descr="记录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990" y="2941955"/>
            <a:ext cx="539750" cy="540000"/>
          </a:xfrm>
          <a:prstGeom prst="rect">
            <a:avLst/>
          </a:prstGeom>
        </p:spPr>
      </p:pic>
      <p:pic>
        <p:nvPicPr>
          <p:cNvPr id="69" name="图片 68" descr="产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4470" y="2941955"/>
            <a:ext cx="539750" cy="540000"/>
          </a:xfrm>
          <a:prstGeom prst="rect">
            <a:avLst/>
          </a:prstGeom>
        </p:spPr>
      </p:pic>
      <p:pic>
        <p:nvPicPr>
          <p:cNvPr id="90" name="图片 89" descr="箭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2620" y="2945130"/>
            <a:ext cx="539750" cy="540000"/>
          </a:xfrm>
          <a:prstGeom prst="rect">
            <a:avLst/>
          </a:prstGeom>
        </p:spPr>
      </p:pic>
      <p:pic>
        <p:nvPicPr>
          <p:cNvPr id="91" name="图片 90" descr="箭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360" y="2945130"/>
            <a:ext cx="539750" cy="540000"/>
          </a:xfrm>
          <a:prstGeom prst="rect">
            <a:avLst/>
          </a:prstGeom>
        </p:spPr>
      </p:pic>
      <p:pic>
        <p:nvPicPr>
          <p:cNvPr id="92" name="图片 91" descr="箭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4100" y="2945130"/>
            <a:ext cx="539750" cy="540000"/>
          </a:xfrm>
          <a:prstGeom prst="rect">
            <a:avLst/>
          </a:prstGeom>
        </p:spPr>
      </p:pic>
      <p:sp>
        <p:nvSpPr>
          <p:cNvPr id="93" name="AutoShape 29"/>
          <p:cNvSpPr/>
          <p:nvPr/>
        </p:nvSpPr>
        <p:spPr>
          <a:xfrm>
            <a:off x="8237220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大模型根据优化后的提示词执行任务，得到最终结果</a:t>
            </a:r>
          </a:p>
        </p:txBody>
      </p:sp>
      <p:sp useBgFill="1">
        <p:nvSpPr>
          <p:cNvPr id="97" name="矩形 96"/>
          <p:cNvSpPr/>
          <p:nvPr/>
        </p:nvSpPr>
        <p:spPr>
          <a:xfrm>
            <a:off x="113601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98" name="矩形 97"/>
          <p:cNvSpPr/>
          <p:nvPr/>
        </p:nvSpPr>
        <p:spPr>
          <a:xfrm>
            <a:off x="2839720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99" name="矩形 98"/>
          <p:cNvSpPr/>
          <p:nvPr/>
        </p:nvSpPr>
        <p:spPr>
          <a:xfrm>
            <a:off x="454342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0" name="矩形 99"/>
          <p:cNvSpPr/>
          <p:nvPr/>
        </p:nvSpPr>
        <p:spPr>
          <a:xfrm>
            <a:off x="621601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1" name="矩形 100"/>
          <p:cNvSpPr/>
          <p:nvPr/>
        </p:nvSpPr>
        <p:spPr>
          <a:xfrm>
            <a:off x="788860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2" name="矩形 101"/>
          <p:cNvSpPr/>
          <p:nvPr/>
        </p:nvSpPr>
        <p:spPr>
          <a:xfrm>
            <a:off x="962215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3" name="矩形 102"/>
          <p:cNvSpPr/>
          <p:nvPr/>
        </p:nvSpPr>
        <p:spPr>
          <a:xfrm>
            <a:off x="1131252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301750" y="1687195"/>
            <a:ext cx="2667000" cy="1206500"/>
            <a:chOff x="2050" y="2657"/>
            <a:chExt cx="4200" cy="1900"/>
          </a:xfrm>
        </p:grpSpPr>
        <p:grpSp>
          <p:nvGrpSpPr>
            <p:cNvPr id="40" name="组合 39"/>
            <p:cNvGrpSpPr/>
            <p:nvPr/>
          </p:nvGrpSpPr>
          <p:grpSpPr>
            <a:xfrm>
              <a:off x="2050" y="2657"/>
              <a:ext cx="4201" cy="1900"/>
              <a:chOff x="1200" y="2600"/>
              <a:chExt cx="4201" cy="1900"/>
            </a:xfrm>
          </p:grpSpPr>
          <p:sp>
            <p:nvSpPr>
              <p:cNvPr id="11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3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</a:t>
                </a:r>
                <a:endParaRPr lang="en-US" sz="1100"/>
              </a:p>
            </p:txBody>
          </p:sp>
          <p:sp>
            <p:nvSpPr>
              <p:cNvPr id="14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整理要点</a:t>
                </a:r>
              </a:p>
            </p:txBody>
          </p:sp>
        </p:grpSp>
        <p:pic>
          <p:nvPicPr>
            <p:cNvPr id="76" name="图片 75" descr="用户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70" y="3573"/>
              <a:ext cx="850" cy="850"/>
            </a:xfrm>
            <a:prstGeom prst="rect">
              <a:avLst/>
            </a:prstGeom>
          </p:spPr>
        </p:pic>
        <p:sp>
          <p:nvSpPr>
            <p:cNvPr id="104" name="矩形 103"/>
            <p:cNvSpPr/>
            <p:nvPr/>
          </p:nvSpPr>
          <p:spPr>
            <a:xfrm>
              <a:off x="3016" y="4308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68850" y="1688465"/>
            <a:ext cx="2667000" cy="1206500"/>
            <a:chOff x="7510" y="2659"/>
            <a:chExt cx="4200" cy="1900"/>
          </a:xfrm>
        </p:grpSpPr>
        <p:grpSp>
          <p:nvGrpSpPr>
            <p:cNvPr id="78" name="组合 77"/>
            <p:cNvGrpSpPr/>
            <p:nvPr/>
          </p:nvGrpSpPr>
          <p:grpSpPr>
            <a:xfrm>
              <a:off x="7510" y="2659"/>
              <a:ext cx="4201" cy="1900"/>
              <a:chOff x="1200" y="2600"/>
              <a:chExt cx="4201" cy="1900"/>
            </a:xfrm>
          </p:grpSpPr>
          <p:sp>
            <p:nvSpPr>
              <p:cNvPr id="79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0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1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</a:t>
                </a:r>
                <a:endParaRPr lang="en-US" sz="1100"/>
              </a:p>
            </p:txBody>
          </p:sp>
          <p:sp>
            <p:nvSpPr>
              <p:cNvPr id="82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自动扩充</a:t>
                </a:r>
              </a:p>
            </p:txBody>
          </p:sp>
        </p:grpSp>
        <p:pic>
          <p:nvPicPr>
            <p:cNvPr id="75" name="图片 74" descr="机器人j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30" y="3573"/>
              <a:ext cx="850" cy="850"/>
            </a:xfrm>
            <a:prstGeom prst="rect">
              <a:avLst/>
            </a:prstGeom>
          </p:spPr>
        </p:pic>
        <p:sp>
          <p:nvSpPr>
            <p:cNvPr id="105" name="矩形 104"/>
            <p:cNvSpPr/>
            <p:nvPr/>
          </p:nvSpPr>
          <p:spPr>
            <a:xfrm>
              <a:off x="8496" y="4331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235950" y="1686560"/>
            <a:ext cx="2667000" cy="1206500"/>
            <a:chOff x="12970" y="2656"/>
            <a:chExt cx="4200" cy="1900"/>
          </a:xfrm>
        </p:grpSpPr>
        <p:grpSp>
          <p:nvGrpSpPr>
            <p:cNvPr id="83" name="组合 82"/>
            <p:cNvGrpSpPr/>
            <p:nvPr/>
          </p:nvGrpSpPr>
          <p:grpSpPr>
            <a:xfrm>
              <a:off x="12970" y="2656"/>
              <a:ext cx="4201" cy="1900"/>
              <a:chOff x="1200" y="2600"/>
              <a:chExt cx="4201" cy="1900"/>
            </a:xfrm>
          </p:grpSpPr>
          <p:sp>
            <p:nvSpPr>
              <p:cNvPr id="84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5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6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</a:t>
                </a:r>
                <a:endParaRPr lang="en-US" sz="1100"/>
              </a:p>
            </p:txBody>
          </p:sp>
          <p:sp>
            <p:nvSpPr>
              <p:cNvPr id="87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任务执行</a:t>
                </a:r>
              </a:p>
            </p:txBody>
          </p:sp>
        </p:grpSp>
        <p:pic>
          <p:nvPicPr>
            <p:cNvPr id="89" name="图片 88" descr="机器人j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290" y="3573"/>
              <a:ext cx="850" cy="850"/>
            </a:xfrm>
            <a:prstGeom prst="rect">
              <a:avLst/>
            </a:prstGeom>
          </p:spPr>
        </p:pic>
        <p:sp>
          <p:nvSpPr>
            <p:cNvPr id="106" name="矩形 105"/>
            <p:cNvSpPr/>
            <p:nvPr/>
          </p:nvSpPr>
          <p:spPr>
            <a:xfrm>
              <a:off x="13923" y="4331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464300" y="4775200"/>
            <a:ext cx="2667000" cy="1206500"/>
            <a:chOff x="10180" y="7520"/>
            <a:chExt cx="4200" cy="1900"/>
          </a:xfrm>
        </p:grpSpPr>
        <p:grpSp>
          <p:nvGrpSpPr>
            <p:cNvPr id="107" name="组合 106"/>
            <p:cNvGrpSpPr/>
            <p:nvPr/>
          </p:nvGrpSpPr>
          <p:grpSpPr>
            <a:xfrm>
              <a:off x="10180" y="7520"/>
              <a:ext cx="4201" cy="1900"/>
              <a:chOff x="1200" y="2600"/>
              <a:chExt cx="4201" cy="1900"/>
            </a:xfrm>
          </p:grpSpPr>
          <p:sp>
            <p:nvSpPr>
              <p:cNvPr id="108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9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0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2.5</a:t>
                </a:r>
                <a:endParaRPr lang="en-US" sz="1100"/>
              </a:p>
            </p:txBody>
          </p:sp>
          <p:sp>
            <p:nvSpPr>
              <p:cNvPr id="111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人工校对</a:t>
                </a:r>
              </a:p>
            </p:txBody>
          </p:sp>
        </p:grpSp>
        <p:pic>
          <p:nvPicPr>
            <p:cNvPr id="112" name="图片 111" descr="用户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00" y="8445"/>
              <a:ext cx="850" cy="850"/>
            </a:xfrm>
            <a:prstGeom prst="rect">
              <a:avLst/>
            </a:prstGeom>
          </p:spPr>
        </p:pic>
        <p:sp>
          <p:nvSpPr>
            <p:cNvPr id="113" name="矩形 112"/>
            <p:cNvSpPr/>
            <p:nvPr/>
          </p:nvSpPr>
          <p:spPr>
            <a:xfrm>
              <a:off x="11146" y="9180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4" name="图片 113" descr="箭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7523730" y="3424555"/>
            <a:ext cx="539750" cy="540000"/>
          </a:xfrm>
          <a:prstGeom prst="rect">
            <a:avLst/>
          </a:prstGeom>
        </p:spPr>
      </p:pic>
      <p:pic>
        <p:nvPicPr>
          <p:cNvPr id="115" name="图片 114" descr="箭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531350" y="4180840"/>
            <a:ext cx="539750" cy="540000"/>
          </a:xfrm>
          <a:prstGeom prst="rect">
            <a:avLst/>
          </a:prstGeom>
        </p:spPr>
      </p:pic>
      <p:sp useBgFill="1">
        <p:nvSpPr>
          <p:cNvPr id="116" name="矩形 115"/>
          <p:cNvSpPr/>
          <p:nvPr/>
        </p:nvSpPr>
        <p:spPr>
          <a:xfrm rot="5400000">
            <a:off x="7962265" y="339090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17" name="矩形 116"/>
          <p:cNvSpPr/>
          <p:nvPr/>
        </p:nvSpPr>
        <p:spPr>
          <a:xfrm rot="5400000">
            <a:off x="7470140" y="46253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AutoShape 29"/>
          <p:cNvSpPr/>
          <p:nvPr/>
        </p:nvSpPr>
        <p:spPr>
          <a:xfrm>
            <a:off x="4061460" y="5018405"/>
            <a:ext cx="2311400" cy="721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人工审核自动扩充的提示词，进行必要的调整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31" grpId="0"/>
      <p:bldP spid="31" grpId="1"/>
      <p:bldP spid="93" grpId="0"/>
      <p:bldP spid="93" grpId="1"/>
      <p:bldP spid="119" grpId="0"/>
      <p:bldP spid="11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>
                <a:solidFill>
                  <a:srgbClr val="00E5FA"/>
                </a:solidFill>
              </a:rPr>
              <a:t>样例提示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分步说明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结构化输入/输出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角色扮演</a:t>
            </a:r>
            <a:r>
              <a:rPr lang="zh-CN" altLang="en-US" sz="2800"/>
              <a:t>都可以提升大模型输出的效果，</a:t>
            </a:r>
            <a:r>
              <a:rPr lang="zh-CN" altLang="en-US" sz="2800" b="1">
                <a:solidFill>
                  <a:srgbClr val="00E5FA"/>
                </a:solidFill>
              </a:rPr>
              <a:t>上下文</a:t>
            </a:r>
            <a:r>
              <a:rPr lang="zh-CN" altLang="en-US" sz="2800"/>
              <a:t>对结果的影响也不能忽略</a:t>
            </a:r>
          </a:p>
          <a:p>
            <a:r>
              <a:rPr lang="zh-CN" altLang="en-US" sz="2800"/>
              <a:t>提示词需要经过不断</a:t>
            </a:r>
            <a:r>
              <a:rPr lang="zh-CN" altLang="en-US" sz="2800" b="1">
                <a:solidFill>
                  <a:srgbClr val="00E5FA"/>
                </a:solidFill>
              </a:rPr>
              <a:t>迭代和修改</a:t>
            </a:r>
            <a:r>
              <a:rPr lang="zh-CN" altLang="en-US" sz="2800"/>
              <a:t>才能逐渐完善</a:t>
            </a:r>
          </a:p>
          <a:p>
            <a:r>
              <a:rPr lang="zh-CN" altLang="en-US" sz="2800"/>
              <a:t>可以通过</a:t>
            </a:r>
            <a:r>
              <a:rPr lang="zh-CN" altLang="en-US" sz="2800" b="1">
                <a:solidFill>
                  <a:srgbClr val="00E5FA"/>
                </a:solidFill>
              </a:rPr>
              <a:t>大模型生成提示词</a:t>
            </a:r>
            <a:r>
              <a:rPr lang="zh-CN" altLang="en-US" sz="2800"/>
              <a:t>来提高提示词的撰写效率</a:t>
            </a:r>
          </a:p>
          <a:p>
            <a:r>
              <a:rPr lang="zh-CN" altLang="en-US" sz="2800"/>
              <a:t>下一节课：</a:t>
            </a:r>
          </a:p>
          <a:p>
            <a:pPr lvl="1"/>
            <a:r>
              <a:rPr lang="zh-CN" altLang="en-US" sz="2400"/>
              <a:t>如何让大模型完成复杂的、非文本化的任务？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3936</Words>
  <Application>Microsoft Office PowerPoint</Application>
  <PresentationFormat>宽屏</PresentationFormat>
  <Paragraphs>281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Noto Sans SC</vt:lpstr>
      <vt:lpstr>SimSun</vt:lpstr>
      <vt:lpstr>SimSun</vt:lpstr>
      <vt:lpstr>Microsoft YaHei</vt:lpstr>
      <vt:lpstr>Arial</vt:lpstr>
      <vt:lpstr>Calibri</vt:lpstr>
      <vt:lpstr>Calibri Light</vt:lpstr>
      <vt:lpstr>WPS</vt:lpstr>
      <vt:lpstr>第六课 怎样让 AI 听你的</vt:lpstr>
      <vt:lpstr>回顾</vt:lpstr>
      <vt:lpstr>体验一下 DeepSeek V4</vt:lpstr>
      <vt:lpstr>PowerPoint 演示文稿</vt:lpstr>
      <vt:lpstr>课程路线图</vt:lpstr>
      <vt:lpstr>提示词：大模型的燃料</vt:lpstr>
      <vt:lpstr>提示词的基本技巧</vt:lpstr>
      <vt:lpstr>提示词的基本技巧 —— 四要素</vt:lpstr>
      <vt:lpstr>提示词的基本技巧 —— 四原则</vt:lpstr>
      <vt:lpstr>如何进一步提升大模型输出的稳定性？</vt:lpstr>
      <vt:lpstr>提示词进阶技巧#1：样例提示</vt:lpstr>
      <vt:lpstr>提示词进阶技巧#2：分步提示</vt:lpstr>
      <vt:lpstr>提示词进阶技巧#3：结构化输出</vt:lpstr>
      <vt:lpstr>提示词进阶技巧#4：角色扮演</vt:lpstr>
      <vt:lpstr>提示词进阶技巧#5：选择对话上下文</vt:lpstr>
      <vt:lpstr>提示词进阶技巧#5：选择对话上下文</vt:lpstr>
      <vt:lpstr>不断更新和迭代</vt:lpstr>
      <vt:lpstr>【思考】</vt:lpstr>
      <vt:lpstr>“偷懒”妙招：提示词生成提示词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Trams Wang</cp:lastModifiedBy>
  <cp:revision>643</cp:revision>
  <dcterms:created xsi:type="dcterms:W3CDTF">2026-09-17T00:31:49Z</dcterms:created>
  <dcterms:modified xsi:type="dcterms:W3CDTF">2026-09-18T03:44:05Z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2052-12.1.2.28080</vt:lpwstr>
  </property>
  <property fmtid="{D5CDD505-2E9C-101B-9397-08002B2CF9AE}" pid="3" name="ICV">
    <vt:lpwstr>AF1A490D30A00710C6B26D6AE3DED764_43</vt:lpwstr>
  </property>
</Properties>
</file>