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17"/>
  </p:handoutMasterIdLst>
  <p:sldIdLst>
    <p:sldId id="256" r:id="rId3"/>
    <p:sldId id="292" r:id="rId4"/>
    <p:sldId id="291" r:id="rId6"/>
    <p:sldId id="278" r:id="rId7"/>
    <p:sldId id="293" r:id="rId8"/>
    <p:sldId id="294" r:id="rId9"/>
    <p:sldId id="300" r:id="rId10"/>
    <p:sldId id="295" r:id="rId11"/>
    <p:sldId id="298" r:id="rId12"/>
    <p:sldId id="299" r:id="rId13"/>
    <p:sldId id="296" r:id="rId14"/>
    <p:sldId id="297" r:id="rId15"/>
    <p:sldId id="274" r:id="rId16"/>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E5FF"/>
    <a:srgbClr val="B388FF"/>
    <a:srgbClr val="FFE3B1"/>
    <a:srgbClr val="69F0AE"/>
    <a:srgbClr val="061323"/>
    <a:srgbClr val="00E5FA"/>
    <a:srgbClr val="1E1E1E"/>
    <a:srgbClr val="5A5A5A"/>
    <a:srgbClr val="121212"/>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3" autoAdjust="0"/>
    <p:restoredTop sz="75338" autoAdjust="0"/>
  </p:normalViewPr>
  <p:slideViewPr>
    <p:cSldViewPr snapToGrid="0" showGuides="1">
      <p:cViewPr varScale="1">
        <p:scale>
          <a:sx n="119" d="100"/>
          <a:sy n="119" d="100"/>
        </p:scale>
        <p:origin x="3060" y="114"/>
      </p:cViewPr>
      <p:guideLst>
        <p:guide orient="horz" pos="2201"/>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dirty="0"/>
              <a:t>厘清了和</a:t>
            </a:r>
            <a:r>
              <a:rPr lang="en-US" altLang="zh-CN" dirty="0"/>
              <a:t>AI</a:t>
            </a:r>
            <a:r>
              <a:rPr lang="zh-CN" altLang="en-US" dirty="0"/>
              <a:t>相关的几个概念：比如通用人工智能、具身智能、智能体</a:t>
            </a:r>
            <a:endParaRPr lang="en-US" altLang="zh-CN" dirty="0"/>
          </a:p>
          <a:p>
            <a:pPr marL="171450" indent="-171450">
              <a:buFont typeface="Arial" panose="02080604020202020204" pitchFamily="34" charset="0"/>
              <a:buChar char="•"/>
            </a:pPr>
            <a:r>
              <a:rPr lang="zh-CN" altLang="en-US" dirty="0"/>
              <a:t>知道如何区分</a:t>
            </a:r>
            <a:r>
              <a:rPr lang="en-US" altLang="zh-CN" dirty="0"/>
              <a:t>AI</a:t>
            </a:r>
            <a:r>
              <a:rPr lang="zh-CN" altLang="en-US" dirty="0"/>
              <a:t>产品和大模型本体</a:t>
            </a:r>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dirty="0"/>
              <a:t>发动机是一直运转到人手动操作关闭</a:t>
            </a:r>
            <a:endParaRPr lang="zh-CN" altLang="en-US" dirty="0"/>
          </a:p>
          <a:p>
            <a:pPr marL="171450" indent="-171450">
              <a:buFont typeface="Arial" panose="02080604020202020204" pitchFamily="34" charset="0"/>
              <a:buChar char="•"/>
            </a:pPr>
            <a:r>
              <a:rPr lang="zh-CN" altLang="en-US" dirty="0"/>
              <a:t>大模型是一直自动循环生成，直到它自己判断：意思表达清楚且完整了，自行停止</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为什么是选择“排名”而不是其他的词语呢？</a:t>
            </a:r>
            <a:endParaRPr lang="en-US" altLang="zh-CN" dirty="0"/>
          </a:p>
          <a:p>
            <a:pPr marL="171450" indent="-171450">
              <a:buFont typeface="Arial" panose="02080604020202020204" pitchFamily="34" charset="0"/>
              <a:buChar char="•"/>
            </a:pPr>
            <a:r>
              <a:rPr lang="zh-CN" altLang="en-US" dirty="0"/>
              <a:t>当然也可以是其他的，</a:t>
            </a:r>
            <a:endParaRPr lang="en-US" altLang="zh-CN" dirty="0"/>
          </a:p>
          <a:p>
            <a:pPr marL="171450" indent="-171450">
              <a:buFont typeface="Arial" panose="02080604020202020204" pitchFamily="34" charset="0"/>
              <a:buChar char="•"/>
            </a:pPr>
            <a:r>
              <a:rPr lang="zh-CN" altLang="en-US" dirty="0"/>
              <a:t>是随机出来的结果</a:t>
            </a:r>
            <a:endParaRPr lang="en-US" altLang="zh-CN" dirty="0"/>
          </a:p>
          <a:p>
            <a:pPr marL="171450" lvl="0" indent="-171450">
              <a:buFont typeface="Arial" panose="02080604020202020204" pitchFamily="34" charset="0"/>
              <a:buChar char="•"/>
            </a:pPr>
            <a:r>
              <a:rPr lang="zh-CN" altLang="en-US" dirty="0"/>
              <a:t>所有的词语都有随机到的可能性</a:t>
            </a:r>
            <a:endParaRPr lang="en-US" altLang="zh-CN" dirty="0"/>
          </a:p>
          <a:p>
            <a:pPr marL="628650" lvl="1" indent="-171450">
              <a:buFont typeface="Arial" panose="02080604020202020204" pitchFamily="34" charset="0"/>
              <a:buChar char="•"/>
            </a:pPr>
            <a:endParaRPr lang="en-US" altLang="zh-CN" dirty="0"/>
          </a:p>
          <a:p>
            <a:pPr marL="171450" indent="-171450">
              <a:buFont typeface="Arial" panose="02080604020202020204" pitchFamily="34" charset="0"/>
              <a:buChar char="•"/>
            </a:pPr>
            <a:r>
              <a:rPr lang="zh-CN" altLang="en-US" dirty="0"/>
              <a:t>有一个“温度”参数会影响随机选择的范围：</a:t>
            </a:r>
            <a:endParaRPr lang="en-US" altLang="zh-CN" dirty="0"/>
          </a:p>
          <a:p>
            <a:pPr marL="628650" lvl="1" indent="-171450">
              <a:buFont typeface="Arial" panose="02080604020202020204" pitchFamily="34" charset="0"/>
              <a:buChar char="•"/>
            </a:pPr>
            <a:r>
              <a:rPr lang="zh-CN" altLang="en-US" dirty="0"/>
              <a:t>温度越高，可选择的范围越大，输出越多样</a:t>
            </a:r>
            <a:endParaRPr lang="en-US" altLang="zh-CN" dirty="0"/>
          </a:p>
          <a:p>
            <a:pPr marL="628650" lvl="1" indent="-171450">
              <a:buFont typeface="Arial" panose="02080604020202020204" pitchFamily="34" charset="0"/>
              <a:buChar char="•"/>
            </a:pPr>
            <a:r>
              <a:rPr lang="zh-CN" altLang="en-US" dirty="0"/>
              <a:t>温度越低，大选择的范围越小，输出越固定</a:t>
            </a:r>
            <a:endParaRPr lang="en-US" altLang="zh-CN" dirty="0"/>
          </a:p>
          <a:p>
            <a:pPr marL="628650" lvl="1" indent="-171450">
              <a:buFont typeface="Arial" panose="02080604020202020204" pitchFamily="34" charset="0"/>
              <a:buChar char="•"/>
            </a:pPr>
            <a:endParaRPr lang="en-US" altLang="zh-CN" dirty="0"/>
          </a:p>
          <a:p>
            <a:pPr marL="171450" lvl="0" indent="-171450">
              <a:buFont typeface="Arial" panose="02080604020202020204" pitchFamily="34" charset="0"/>
              <a:buChar char="•"/>
            </a:pPr>
            <a:r>
              <a:rPr lang="zh-CN" altLang="en-US" dirty="0"/>
              <a:t>“温度”的描述很精髓：文本生成的轨迹就像是布朗运动的轨迹一样，温度越高越凌乱，温度越低越固定</a:t>
            </a:r>
            <a:endParaRPr lang="en-US" altLang="zh-CN" dirty="0"/>
          </a:p>
          <a:p>
            <a:pPr marL="171450" lvl="0" indent="-171450">
              <a:buFont typeface="Arial" panose="02080604020202020204" pitchFamily="34" charset="0"/>
              <a:buChar char="•"/>
            </a:pPr>
            <a:endParaRPr lang="en-US" altLang="zh-CN" dirty="0"/>
          </a:p>
          <a:p>
            <a:pPr marL="171450" lvl="0" indent="-171450">
              <a:buFont typeface="Arial" panose="02080604020202020204" pitchFamily="34" charset="0"/>
              <a:buChar char="•"/>
            </a:pPr>
            <a:r>
              <a:rPr lang="zh-CN" altLang="en-US" dirty="0"/>
              <a:t>怎么去选择“温度”？</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我们从数学上给它建一个模型</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最最核心的就是“决策”，生成本身就是体现这种决策的表现</a:t>
            </a:r>
            <a:endParaRPr lang="zh-CN" altLang="en-US"/>
          </a:p>
          <a:p>
            <a:pPr marL="171450" indent="-171450">
              <a:buFont typeface="Arial" panose="02080604020202020204" pitchFamily="34" charset="0"/>
              <a:buChar char="•"/>
            </a:pPr>
            <a:r>
              <a:rPr lang="zh-CN" altLang="en-US"/>
              <a:t>以往用代码甚至用简单统计、一些小型的神经网络难以实现的判断</a:t>
            </a:r>
            <a:endParaRPr lang="zh-CN" altLang="en-US"/>
          </a:p>
          <a:p>
            <a:pPr marL="628650" lvl="1" indent="-171450">
              <a:buFont typeface="Arial" panose="02080604020202020204" pitchFamily="34" charset="0"/>
              <a:buChar char="•"/>
            </a:pPr>
            <a:r>
              <a:rPr lang="zh-CN" altLang="en-US"/>
              <a:t>当然，如果一个决策可以用简单的逻辑表达，还是用代码最划算</a:t>
            </a: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dirty="0"/>
              <a:t>比如一个模型只在中文的文本上进行训练，它只知道怎么说中文，问它英语它就不会了</a:t>
            </a:r>
            <a:endParaRPr lang="en-US" altLang="zh-CN" dirty="0"/>
          </a:p>
          <a:p>
            <a:pPr marL="628650" lvl="1" indent="-171450">
              <a:buFont typeface="Arial" panose="02080604020202020204" pitchFamily="34" charset="0"/>
              <a:buChar char="•"/>
            </a:pPr>
            <a:r>
              <a:rPr lang="zh-CN" altLang="en-US" dirty="0"/>
              <a:t>有同学说可以调用翻译工具？这些翻译工具背后也是一个大模型，用到的还是模型的能力。</a:t>
            </a:r>
            <a:endParaRPr lang="en-US" altLang="zh-CN" dirty="0"/>
          </a:p>
          <a:p>
            <a:pPr marL="628650" lvl="1" indent="-171450">
              <a:buFont typeface="Arial" panose="02080604020202020204" pitchFamily="34" charset="0"/>
              <a:buChar char="•"/>
            </a:pPr>
            <a:endParaRPr lang="en-US" altLang="zh-CN" dirty="0"/>
          </a:p>
          <a:p>
            <a:pPr marL="171450" lvl="0" indent="-171450">
              <a:buFont typeface="Arial" panose="02080604020202020204" pitchFamily="34" charset="0"/>
              <a:buChar char="•"/>
            </a:pPr>
            <a:r>
              <a:rPr lang="zh-CN" altLang="en-US" dirty="0"/>
              <a:t>比如你让大模型根据你的上一次考试结果推荐下一步的学习计划，但是驾驭层没能正确找到你上一次的考试记录，而是找到了三年前的记录，那么这个模型再厉害，也不可能知道你现在的状态</a:t>
            </a:r>
            <a:endParaRPr lang="en-US" altLang="zh-CN" dirty="0"/>
          </a:p>
          <a:p>
            <a:pPr marL="171450" lvl="0" indent="-171450">
              <a:buFont typeface="Arial" panose="02080604020202020204" pitchFamily="34" charset="0"/>
              <a:buChar char="•"/>
            </a:pPr>
            <a:endParaRPr lang="en-US" altLang="zh-CN" dirty="0"/>
          </a:p>
          <a:p>
            <a:pPr marL="171450" lvl="0" indent="-171450">
              <a:buFont typeface="Arial" panose="02080604020202020204" pitchFamily="34" charset="0"/>
              <a:buChar char="•"/>
            </a:pPr>
            <a:r>
              <a:rPr lang="zh-CN" altLang="en-US" dirty="0"/>
              <a:t>比如老师让你们用 </a:t>
            </a:r>
            <a:r>
              <a:rPr lang="en-US" altLang="zh-CN" dirty="0"/>
              <a:t>DeepSeek </a:t>
            </a:r>
            <a:r>
              <a:rPr lang="zh-CN" altLang="en-US" dirty="0"/>
              <a:t>去查找一些资料，然后总结成一份包含</a:t>
            </a:r>
            <a:r>
              <a:rPr lang="en-US" altLang="zh-CN" dirty="0"/>
              <a:t>A</a:t>
            </a:r>
            <a:r>
              <a:rPr lang="zh-CN" altLang="en-US" dirty="0"/>
              <a:t>， </a:t>
            </a:r>
            <a:r>
              <a:rPr lang="en-US" altLang="zh-CN" dirty="0"/>
              <a:t>B, C </a:t>
            </a:r>
            <a:r>
              <a:rPr lang="zh-CN" altLang="en-US" dirty="0"/>
              <a:t>三个章节的报告，但是 </a:t>
            </a:r>
            <a:r>
              <a:rPr lang="en-US" altLang="zh-CN" dirty="0"/>
              <a:t>AI </a:t>
            </a:r>
            <a:r>
              <a:rPr lang="zh-CN" altLang="en-US" dirty="0"/>
              <a:t>只写了 </a:t>
            </a:r>
            <a:r>
              <a:rPr lang="en-US" altLang="zh-CN" dirty="0"/>
              <a:t>A</a:t>
            </a:r>
            <a:r>
              <a:rPr lang="zh-CN" altLang="en-US" dirty="0"/>
              <a:t> 和 </a:t>
            </a:r>
            <a:r>
              <a:rPr lang="en-US" altLang="zh-CN" dirty="0"/>
              <a:t>B</a:t>
            </a:r>
            <a:r>
              <a:rPr lang="zh-CN" altLang="en-US" dirty="0"/>
              <a:t>，内容太长了忘记了 </a:t>
            </a:r>
            <a:r>
              <a:rPr lang="en-US" altLang="zh-CN" dirty="0"/>
              <a:t>C</a:t>
            </a:r>
            <a:r>
              <a:rPr lang="zh-CN" altLang="en-US" dirty="0"/>
              <a:t>。那老师也不可能顺着网线去打 </a:t>
            </a:r>
            <a:r>
              <a:rPr lang="en-US" altLang="zh-CN" dirty="0"/>
              <a:t>DeepSeek </a:t>
            </a:r>
            <a:r>
              <a:rPr lang="zh-CN" altLang="en-US" dirty="0"/>
              <a:t>的屁股。</a:t>
            </a:r>
            <a:endParaRPr lang="en-US" altLang="zh-CN" dirty="0"/>
          </a:p>
          <a:p>
            <a:pPr marL="628650" lvl="1" indent="-171450">
              <a:buFont typeface="Arial" panose="02080604020202020204" pitchFamily="34" charset="0"/>
              <a:buChar char="•"/>
            </a:pPr>
            <a:r>
              <a:rPr lang="zh-CN" altLang="en-US" dirty="0"/>
              <a:t>另外，如果模型不能防范一些已知的风险，模型的提供商也要负责。</a:t>
            </a:r>
            <a:endParaRPr lang="en-US" altLang="zh-CN" dirty="0"/>
          </a:p>
          <a:p>
            <a:pPr marL="628650" lvl="1" indent="-171450">
              <a:buFont typeface="Arial" panose="02080604020202020204" pitchFamily="34" charset="0"/>
              <a:buChar char="•"/>
            </a:pPr>
            <a:r>
              <a:rPr lang="zh-CN" altLang="en-US" sz="1200" b="0" i="0" kern="1200" dirty="0">
                <a:solidFill>
                  <a:schemeClr val="tx1"/>
                </a:solidFill>
                <a:effectLst/>
                <a:latin typeface="+mn-lt"/>
                <a:ea typeface="+mn-ea"/>
                <a:cs typeface="+mn-cs"/>
              </a:rPr>
              <a:t>比如：</a:t>
            </a:r>
            <a:r>
              <a:rPr lang="zh-CN" altLang="zh-CN" sz="1200" b="1" i="0" kern="1200" dirty="0">
                <a:solidFill>
                  <a:schemeClr val="tx1"/>
                </a:solidFill>
                <a:effectLst/>
                <a:latin typeface="+mn-lt"/>
                <a:ea typeface="+mn-ea"/>
                <a:cs typeface="+mn-cs"/>
              </a:rPr>
              <a:t>2026年初发生在韩国的“江北汽车旅馆药物杀人案”</a:t>
            </a:r>
            <a:r>
              <a:rPr lang="zh-CN" altLang="zh-CN" sz="1200" b="0" i="0" kern="1200" dirty="0">
                <a:solidFill>
                  <a:schemeClr val="tx1"/>
                </a:solidFill>
                <a:effectLst/>
                <a:latin typeface="+mn-lt"/>
                <a:ea typeface="+mn-ea"/>
                <a:cs typeface="+mn-cs"/>
              </a:rPr>
              <a:t>。这起案件中，21岁的女子金某（Kim）利用ChatGPT获取投毒信息，并以此实施了连环杀人</a:t>
            </a:r>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a:t>这个问题连顶尖专家都还在吵。我们这节课不下结论</a:t>
            </a:r>
            <a:endParaRPr lang="zh-CN" altLang="en-US"/>
          </a:p>
          <a:p>
            <a:pPr marL="171450" indent="-171450">
              <a:buFont typeface="Arial" panose="02080604020202020204" pitchFamily="34" charset="0"/>
              <a:buChar char="•"/>
            </a:pPr>
            <a:r>
              <a:rPr lang="zh-CN" altLang="en-US"/>
              <a:t>既不神化它（「它觉醒了」），也不矮化它（「它只会背书」）</a:t>
            </a:r>
            <a:endParaRPr lang="zh-CN" altLang="en-US"/>
          </a:p>
          <a:p>
            <a:pPr marL="171450" indent="-171450">
              <a:buFont typeface="Arial" panose="02080604020202020204" pitchFamily="34" charset="0"/>
              <a:buChar char="•"/>
            </a:pPr>
            <a:r>
              <a:rPr lang="zh-CN" altLang="en-US"/>
              <a:t>面对一个未决的科学问题，诚实地悬置判断，本身就是一种能力。</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80604020202020204" pitchFamily="34" charset="0"/>
              <a:buChar char="•"/>
            </a:pPr>
            <a:r>
              <a:rPr lang="zh-CN" altLang="en-US" dirty="0"/>
              <a:t>以往的 </a:t>
            </a:r>
            <a:r>
              <a:rPr lang="en-US" altLang="zh-CN" dirty="0"/>
              <a:t>NLP </a:t>
            </a:r>
            <a:r>
              <a:rPr lang="zh-CN" altLang="en-US" dirty="0"/>
              <a:t>：分词，构造语法树，指代消解，歧义消解，</a:t>
            </a:r>
            <a:r>
              <a:rPr lang="en-US" altLang="zh-CN" dirty="0"/>
              <a:t>……</a:t>
            </a:r>
            <a:endParaRPr lang="en-US" altLang="zh-CN" dirty="0"/>
          </a:p>
          <a:p>
            <a:pPr marL="171450" indent="-171450">
              <a:buFont typeface="Arial" panose="02080604020202020204" pitchFamily="34" charset="0"/>
              <a:buChar char="•"/>
            </a:pPr>
            <a:endParaRPr lang="en-US" altLang="zh-CN" dirty="0"/>
          </a:p>
          <a:p>
            <a:pPr marL="171450" indent="-171450">
              <a:buFont typeface="Arial" panose="02080604020202020204" pitchFamily="34" charset="0"/>
              <a:buChar char="•"/>
            </a:pPr>
            <a:r>
              <a:rPr lang="zh-CN" altLang="en-US" dirty="0"/>
              <a:t>现在：直接回复</a:t>
            </a:r>
            <a:endParaRPr lang="en-US" altLang="zh-CN" dirty="0"/>
          </a:p>
          <a:p>
            <a:pPr marL="628650" lvl="1" indent="-171450">
              <a:buFont typeface="Arial" panose="02080604020202020204" pitchFamily="34" charset="0"/>
              <a:buChar char="•"/>
            </a:pPr>
            <a:r>
              <a:rPr lang="zh-CN" altLang="en-US" dirty="0"/>
              <a:t>能够自动发现问题并尝试修复</a:t>
            </a:r>
            <a:endParaRPr lang="en-US" altLang="zh-CN" dirty="0"/>
          </a:p>
          <a:p>
            <a:pPr marL="628650" lvl="1" indent="-171450">
              <a:buFont typeface="Arial" panose="02080604020202020204" pitchFamily="34" charset="0"/>
              <a:buChar char="•"/>
            </a:pPr>
            <a:r>
              <a:rPr lang="zh-CN" altLang="en-US" dirty="0"/>
              <a:t>在之前还需要专门训练模型</a:t>
            </a:r>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7" Type="http://schemas.openxmlformats.org/officeDocument/2006/relationships/image" Target="../media/image6.svg"/><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AutoShape 2"/>
          <p:cNvSpPr/>
          <p:nvPr userDrawn="1"/>
        </p:nvSpPr>
        <p:spPr>
          <a:xfrm>
            <a:off x="0" y="0"/>
            <a:ext cx="12192000" cy="6858000"/>
          </a:xfrm>
          <a:prstGeom prst="roundRect">
            <a:avLst>
              <a:gd name="adj" fmla="val 0"/>
            </a:avLst>
          </a:prstGeom>
          <a:pattFill prst="lgGrid">
            <a:fgClr>
              <a:srgbClr val="FFFFFF">
                <a:alpha val="5098"/>
              </a:srgbClr>
            </a:fgClr>
            <a:bgClr>
              <a:srgbClr val="121212">
                <a:alpha val="0"/>
              </a:srgbClr>
            </a:bgClr>
          </a:pattFill>
          <a:ln cap="flat" cmpd="sng">
            <a:solidFill>
              <a:srgbClr val="FFFFFF">
                <a:alpha val="0"/>
              </a:srgbClr>
            </a:solidFill>
            <a:prstDash val="solid"/>
            <a:round/>
          </a:ln>
        </p:spPr>
        <p:txBody>
          <a:bodyPr vert="horz" wrap="square" lIns="63500" tIns="63500" rIns="63500" bIns="63500" rtlCol="0" anchor="ctr"/>
          <a:lstStyle/>
          <a:p>
            <a:pPr algn="ctr">
              <a:defRPr/>
            </a:pPr>
          </a:p>
        </p:txBody>
      </p:sp>
      <p:sp>
        <p:nvSpPr>
          <p:cNvPr id="12" name="AutoShape 5"/>
          <p:cNvSpPr/>
          <p:nvPr userDrawn="1"/>
        </p:nvSpPr>
        <p:spPr>
          <a:xfrm>
            <a:off x="2286000" y="1524000"/>
            <a:ext cx="7620000" cy="4064000"/>
          </a:xfrm>
          <a:prstGeom prst="ellipse">
            <a:avLst/>
          </a:prstGeom>
          <a:gradFill rotWithShape="1">
            <a:gsLst>
              <a:gs pos="0">
                <a:srgbClr val="FFFFFF">
                  <a:alpha val="9000"/>
                </a:srgbClr>
              </a:gs>
              <a:gs pos="35000">
                <a:srgbClr val="FFFFFF">
                  <a:alpha val="3000"/>
                </a:srgbClr>
              </a:gs>
              <a:gs pos="65000">
                <a:srgbClr val="121212">
                  <a:alpha val="0"/>
                </a:srgbClr>
              </a:gs>
            </a:gsLst>
            <a:path path="circle">
              <a:fillToRect l="50000" t="50000" r="50000" b="50000"/>
            </a:path>
            <a:tileRect/>
          </a:gradFill>
          <a:ln cap="flat" cmpd="sng">
            <a:gradFill rotWithShape="1">
              <a:gsLst>
                <a:gs pos="0">
                  <a:srgbClr val="E6CFCF">
                    <a:alpha val="9000"/>
                  </a:srgbClr>
                </a:gs>
                <a:gs pos="35000">
                  <a:srgbClr val="E6CFCF">
                    <a:alpha val="3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0" name="AutoShape 3"/>
          <p:cNvSpPr/>
          <p:nvPr userDrawn="1"/>
        </p:nvSpPr>
        <p:spPr>
          <a:xfrm>
            <a:off x="-2032000" y="-2032000"/>
            <a:ext cx="5588000" cy="5588000"/>
          </a:xfrm>
          <a:prstGeom prst="ellipse">
            <a:avLst/>
          </a:prstGeom>
          <a:gradFill rotWithShape="1">
            <a:gsLst>
              <a:gs pos="0">
                <a:srgbClr val="00E5FF">
                  <a:alpha val="20000"/>
                </a:srgbClr>
              </a:gs>
              <a:gs pos="30000">
                <a:srgbClr val="00E5FF">
                  <a:alpha val="8000"/>
                </a:srgbClr>
              </a:gs>
              <a:gs pos="65000">
                <a:srgbClr val="121212">
                  <a:alpha val="0"/>
                </a:srgbClr>
              </a:gs>
            </a:gsLst>
            <a:path path="circle">
              <a:fillToRect l="50000" t="50000" r="50000" b="50000"/>
            </a:path>
            <a:tileRect/>
          </a:gradFill>
          <a:ln cap="flat" cmpd="sng">
            <a:gradFill rotWithShape="1">
              <a:gsLst>
                <a:gs pos="0">
                  <a:srgbClr val="00CEE6">
                    <a:alpha val="20000"/>
                  </a:srgbClr>
                </a:gs>
                <a:gs pos="30000">
                  <a:srgbClr val="00CEE6">
                    <a:alpha val="8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1" name="AutoShape 4"/>
          <p:cNvSpPr/>
          <p:nvPr userDrawn="1"/>
        </p:nvSpPr>
        <p:spPr>
          <a:xfrm>
            <a:off x="8636000" y="3556000"/>
            <a:ext cx="5588000" cy="5588000"/>
          </a:xfrm>
          <a:prstGeom prst="ellipse">
            <a:avLst/>
          </a:prstGeom>
          <a:gradFill rotWithShape="1">
            <a:gsLst>
              <a:gs pos="0">
                <a:srgbClr val="B388FF">
                  <a:alpha val="20000"/>
                </a:srgbClr>
              </a:gs>
              <a:gs pos="30000">
                <a:srgbClr val="B388FF">
                  <a:alpha val="8000"/>
                </a:srgbClr>
              </a:gs>
              <a:gs pos="65000">
                <a:srgbClr val="121212">
                  <a:alpha val="0"/>
                </a:srgbClr>
              </a:gs>
            </a:gsLst>
            <a:path path="circle">
              <a:fillToRect l="50000" t="50000" r="50000" b="50000"/>
            </a:path>
            <a:tileRect/>
          </a:gradFill>
          <a:ln cap="flat" cmpd="sng">
            <a:gradFill rotWithShape="1">
              <a:gsLst>
                <a:gs pos="0">
                  <a:srgbClr val="9263E6">
                    <a:alpha val="20000"/>
                  </a:srgbClr>
                </a:gs>
                <a:gs pos="30000">
                  <a:srgbClr val="9263E6">
                    <a:alpha val="8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3" name="AutoShape 6"/>
          <p:cNvSpPr/>
          <p:nvPr userDrawn="1"/>
        </p:nvSpPr>
        <p:spPr>
          <a:xfrm>
            <a:off x="1016000" y="2159000"/>
            <a:ext cx="76200" cy="1778000"/>
          </a:xfrm>
          <a:prstGeom prst="roundRect">
            <a:avLst>
              <a:gd name="adj" fmla="val 0"/>
            </a:avLst>
          </a:prstGeom>
          <a:gradFill rotWithShape="1">
            <a:gsLst>
              <a:gs pos="0">
                <a:srgbClr val="00E5FF">
                  <a:alpha val="0"/>
                </a:srgbClr>
              </a:gs>
              <a:gs pos="50000">
                <a:srgbClr val="00E5FF">
                  <a:alpha val="55000"/>
                </a:srgbClr>
              </a:gs>
              <a:gs pos="100000">
                <a:srgbClr val="00E5FF">
                  <a:alpha val="0"/>
                </a:srgbClr>
              </a:gs>
            </a:gsLst>
            <a:lin ang="5400000"/>
          </a:gradFill>
          <a:ln cap="flat" cmpd="sng">
            <a:gradFill rotWithShape="1">
              <a:gsLst>
                <a:gs pos="0">
                  <a:srgbClr val="00CEE6">
                    <a:alpha val="0"/>
                  </a:srgbClr>
                </a:gs>
                <a:gs pos="50000">
                  <a:srgbClr val="00CEE6">
                    <a:alpha val="55000"/>
                  </a:srgbClr>
                </a:gs>
                <a:gs pos="100000">
                  <a:srgbClr val="00CEE6">
                    <a:alpha val="0"/>
                  </a:srgbClr>
                </a:gs>
              </a:gsLst>
              <a:lin ang="5400000"/>
            </a:gradFill>
            <a:prstDash val="solid"/>
            <a:round/>
          </a:ln>
        </p:spPr>
        <p:txBody>
          <a:bodyPr vert="horz" wrap="square" lIns="63500" tIns="63500" rIns="63500" bIns="63500" rtlCol="0" anchor="ctr"/>
          <a:lstStyle/>
          <a:p>
            <a:pPr algn="ctr">
              <a:defRPr/>
            </a:pPr>
          </a:p>
        </p:txBody>
      </p:sp>
      <p:sp>
        <p:nvSpPr>
          <p:cNvPr id="14" name="AutoShape 7"/>
          <p:cNvSpPr/>
          <p:nvPr userDrawn="1"/>
        </p:nvSpPr>
        <p:spPr>
          <a:xfrm>
            <a:off x="11099800" y="2159000"/>
            <a:ext cx="76200" cy="1778000"/>
          </a:xfrm>
          <a:prstGeom prst="roundRect">
            <a:avLst>
              <a:gd name="adj" fmla="val 0"/>
            </a:avLst>
          </a:prstGeom>
          <a:gradFill rotWithShape="1">
            <a:gsLst>
              <a:gs pos="0">
                <a:srgbClr val="B388FF">
                  <a:alpha val="0"/>
                </a:srgbClr>
              </a:gs>
              <a:gs pos="50000">
                <a:srgbClr val="B388FF">
                  <a:alpha val="55000"/>
                </a:srgbClr>
              </a:gs>
              <a:gs pos="100000">
                <a:srgbClr val="B388FF">
                  <a:alpha val="0"/>
                </a:srgbClr>
              </a:gs>
            </a:gsLst>
            <a:lin ang="5400000"/>
          </a:gradFill>
          <a:ln cap="flat" cmpd="sng">
            <a:gradFill rotWithShape="1">
              <a:gsLst>
                <a:gs pos="0">
                  <a:srgbClr val="9263E6">
                    <a:alpha val="0"/>
                  </a:srgbClr>
                </a:gs>
                <a:gs pos="50000">
                  <a:srgbClr val="9263E6">
                    <a:alpha val="55000"/>
                  </a:srgbClr>
                </a:gs>
                <a:gs pos="100000">
                  <a:srgbClr val="9263E6">
                    <a:alpha val="0"/>
                  </a:srgbClr>
                </a:gs>
              </a:gsLst>
              <a:lin ang="5400000"/>
            </a:gradFill>
            <a:prstDash val="solid"/>
            <a:round/>
          </a:ln>
        </p:spPr>
        <p:txBody>
          <a:bodyPr vert="horz" wrap="square" lIns="63500" tIns="63500" rIns="63500" bIns="63500" rtlCol="0" anchor="ctr"/>
          <a:lstStyle/>
          <a:p>
            <a:pPr algn="ctr">
              <a:defRPr/>
            </a:pPr>
          </a:p>
        </p:txBody>
      </p:sp>
      <p:sp>
        <p:nvSpPr>
          <p:cNvPr id="17" name="AutoShape 10"/>
          <p:cNvSpPr/>
          <p:nvPr userDrawn="1"/>
        </p:nvSpPr>
        <p:spPr>
          <a:xfrm>
            <a:off x="2921000" y="5207000"/>
            <a:ext cx="6350000" cy="12700"/>
          </a:xfrm>
          <a:prstGeom prst="roundRect">
            <a:avLst>
              <a:gd name="adj" fmla="val 0"/>
            </a:avLst>
          </a:prstGeom>
          <a:gradFill rotWithShape="1">
            <a:gsLst>
              <a:gs pos="0">
                <a:srgbClr val="00E5FF">
                  <a:alpha val="0"/>
                </a:srgbClr>
              </a:gs>
              <a:gs pos="28000">
                <a:srgbClr val="00E5FF">
                  <a:alpha val="55000"/>
                </a:srgbClr>
              </a:gs>
              <a:gs pos="72000">
                <a:srgbClr val="B388FF">
                  <a:alpha val="55000"/>
                </a:srgbClr>
              </a:gs>
              <a:gs pos="100000">
                <a:srgbClr val="B388FF">
                  <a:alpha val="0"/>
                </a:srgbClr>
              </a:gs>
            </a:gsLst>
            <a:lin ang="0"/>
          </a:gradFill>
          <a:ln cap="flat" cmpd="sng">
            <a:gradFill rotWithShape="1">
              <a:gsLst>
                <a:gs pos="0">
                  <a:srgbClr val="00CEE6">
                    <a:alpha val="0"/>
                  </a:srgbClr>
                </a:gs>
                <a:gs pos="28000">
                  <a:srgbClr val="00CEE6">
                    <a:alpha val="55000"/>
                  </a:srgbClr>
                </a:gs>
                <a:gs pos="72000">
                  <a:srgbClr val="9263E6">
                    <a:alpha val="55000"/>
                  </a:srgbClr>
                </a:gs>
                <a:gs pos="100000">
                  <a:srgbClr val="9263E6">
                    <a:alpha val="0"/>
                  </a:srgbClr>
                </a:gs>
              </a:gsLst>
              <a:lin ang="0"/>
            </a:gradFill>
            <a:prstDash val="solid"/>
            <a:round/>
          </a:ln>
        </p:spPr>
        <p:txBody>
          <a:bodyPr vert="horz" wrap="square" lIns="63500" tIns="63500" rIns="63500" bIns="63500" rtlCol="0" anchor="ctr"/>
          <a:lstStyle/>
          <a:p>
            <a:pPr algn="ctr">
              <a:defRPr/>
            </a:pPr>
          </a:p>
        </p:txBody>
      </p:sp>
      <p:cxnSp>
        <p:nvCxnSpPr>
          <p:cNvPr id="19" name="Connector 12"/>
          <p:cNvCxnSpPr/>
          <p:nvPr userDrawn="1"/>
        </p:nvCxnSpPr>
        <p:spPr>
          <a:xfrm rot="5256843">
            <a:off x="5943600" y="5810382"/>
            <a:ext cx="304800" cy="12700"/>
          </a:xfrm>
          <a:prstGeom prst="straightConnector1">
            <a:avLst/>
          </a:prstGeom>
          <a:solidFill>
            <a:srgbClr val="DEE0E3">
              <a:alpha val="100000"/>
            </a:srgbClr>
          </a:solidFill>
          <a:ln w="12700" cap="flat" cmpd="sng">
            <a:solidFill>
              <a:srgbClr val="FFFFFF">
                <a:alpha val="28000"/>
              </a:srgbClr>
            </a:solidFill>
            <a:prstDash val="solid"/>
            <a:round/>
            <a:headEnd type="none" w="med" len="med"/>
            <a:tailEnd type="none" w="med" len="med"/>
          </a:ln>
        </p:spPr>
      </p:cxnSp>
      <p:sp>
        <p:nvSpPr>
          <p:cNvPr id="2" name="标题 1"/>
          <p:cNvSpPr>
            <a:spLocks noGrp="1"/>
          </p:cNvSpPr>
          <p:nvPr>
            <p:ph type="ctrTitle" hasCustomPrompt="1"/>
          </p:nvPr>
        </p:nvSpPr>
        <p:spPr>
          <a:xfrm>
            <a:off x="762000" y="1433195"/>
            <a:ext cx="10668000" cy="2325370"/>
          </a:xfrm>
        </p:spPr>
        <p:txBody>
          <a:bodyPr anchor="b">
            <a:normAutofit/>
          </a:bodyPr>
          <a:lstStyle>
            <a:lvl1pPr marL="0" marR="0" lvl="0" algn="ctr" rtl="0" eaLnBrk="1" fontAlgn="auto" latinLnBrk="0" hangingPunct="1">
              <a:lnSpc>
                <a:spcPct val="108000"/>
              </a:lnSpc>
              <a:spcBef>
                <a:spcPts val="0"/>
              </a:spcBef>
              <a:spcAft>
                <a:spcPts val="0"/>
              </a:spcAft>
              <a:buClr>
                <a:srgbClr val="000000"/>
              </a:buClr>
              <a:buSzTx/>
              <a:buFont typeface="Arial"/>
              <a:buNone/>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762000" y="4012565"/>
            <a:ext cx="10668000" cy="1753870"/>
          </a:xfrm>
        </p:spPr>
        <p:txBody>
          <a:bodyPr>
            <a:normAutofit/>
          </a:bodyPr>
          <a:lstStyle>
            <a:lvl1pPr marL="0" indent="0" algn="ctr">
              <a:buNone/>
              <a:defRPr sz="2800">
                <a:solidFill>
                  <a:schemeClr val="bg1">
                    <a:lumMod val="7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
        <p:nvSpPr>
          <p:cNvPr id="21" name="文本占位符 20"/>
          <p:cNvSpPr>
            <a:spLocks noGrp="1"/>
          </p:cNvSpPr>
          <p:nvPr>
            <p:ph type="body" idx="13" hasCustomPrompt="1"/>
          </p:nvPr>
        </p:nvSpPr>
        <p:spPr>
          <a:xfrm>
            <a:off x="757555" y="5588000"/>
            <a:ext cx="4831080" cy="431800"/>
          </a:xfrm>
        </p:spPr>
        <p:txBody>
          <a:bodyPr/>
          <a:lstStyle>
            <a:lvl1pPr indent="0">
              <a:buNone/>
              <a:defRPr sz="2000"/>
            </a:lvl1pPr>
          </a:lstStyle>
          <a:p>
            <a:pPr marL="0" indent="0" algn="l">
              <a:lnSpc>
                <a:spcPct val="100000"/>
              </a:lnSpc>
              <a:defRPr/>
            </a:pPr>
            <a:r>
              <a:rPr lang="en-US" spc="300">
                <a:solidFill>
                  <a:srgbClr val="BEBEBE"/>
                </a:solidFill>
                <a:latin typeface="Noto Sans SC"/>
                <a:ea typeface="Noto Sans SC"/>
                <a:cs typeface="Noto Sans SC"/>
                <a:sym typeface="Noto Sans SC"/>
              </a:rPr>
              <a:t>【授课人】</a:t>
            </a:r>
            <a:endParaRPr lang="zh-CN" altLang="en-US"/>
          </a:p>
        </p:txBody>
      </p:sp>
      <p:sp>
        <p:nvSpPr>
          <p:cNvPr id="24" name="文本占位符 23"/>
          <p:cNvSpPr>
            <a:spLocks noGrp="1"/>
          </p:cNvSpPr>
          <p:nvPr>
            <p:ph type="body" idx="16" hasCustomPrompt="1"/>
          </p:nvPr>
        </p:nvSpPr>
        <p:spPr>
          <a:xfrm>
            <a:off x="6604000" y="5588000"/>
            <a:ext cx="4830445" cy="431800"/>
          </a:xfrm>
        </p:spPr>
        <p:txBody>
          <a:bodyPr/>
          <a:lstStyle>
            <a:lvl1pPr marL="0" indent="0" algn="r">
              <a:buNone/>
              <a:defRPr kumimoji="0" lang="zh-CN" altLang="en-US" sz="2000" b="0" i="0" u="none" strike="noStrike" kern="1200" cap="none" spc="300" normalizeH="0" baseline="0" noProof="1">
                <a:solidFill>
                  <a:srgbClr val="BEBEBE"/>
                </a:solidFill>
                <a:latin typeface="Noto Sans SC"/>
                <a:ea typeface="SimSun" charset="0"/>
                <a:cs typeface="Noto Sans SC"/>
                <a:sym typeface="Noto Sans SC"/>
              </a:defRPr>
            </a:lvl1pPr>
            <a:lvl5pPr algn="ctr">
              <a:defRPr/>
            </a:lvl5pPr>
          </a:lstStyle>
          <a:p>
            <a:pPr lvl="0"/>
            <a:r>
              <a:rPr lang="zh-CN" altLang="en-US"/>
              <a:t>【日期】</a:t>
            </a:r>
            <a:endParaRPr lang="zh-CN" altLang="en-US"/>
          </a:p>
          <a:p>
            <a:pPr lvl="0"/>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1" name="AutoShape 3"/>
          <p:cNvSpPr/>
          <p:nvPr userDrawn="1"/>
        </p:nvSpPr>
        <p:spPr>
          <a:xfrm>
            <a:off x="9144000" y="4572000"/>
            <a:ext cx="4572000" cy="4572000"/>
          </a:xfrm>
          <a:prstGeom prst="ellipse">
            <a:avLst/>
          </a:prstGeom>
          <a:gradFill rotWithShape="1">
            <a:gsLst>
              <a:gs pos="0">
                <a:srgbClr val="00E5FF">
                  <a:alpha val="6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0" name="AutoShape 2"/>
          <p:cNvSpPr/>
          <p:nvPr userDrawn="1"/>
        </p:nvSpPr>
        <p:spPr>
          <a:xfrm>
            <a:off x="-2032000" y="-2032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2" name="标题 1"/>
          <p:cNvSpPr>
            <a:spLocks noGrp="1"/>
          </p:cNvSpPr>
          <p:nvPr>
            <p:ph type="title"/>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a:ea typeface="Noto Sans SC"/>
                <a:cs typeface="Noto Sans SC"/>
                <a:sym typeface="Noto Sans SC"/>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762000" y="1825625"/>
            <a:ext cx="10401300" cy="4351655"/>
          </a:xfrm>
        </p:spPr>
        <p:txBody>
          <a:bodyPr>
            <a:normAutofit/>
          </a:bodyPr>
          <a:lstStyle>
            <a:lvl1pPr>
              <a:lnSpc>
                <a:spcPct val="150000"/>
              </a:lnSpc>
              <a:buClr>
                <a:srgbClr val="00E5FA"/>
              </a:buClr>
              <a:defRPr sz="2000">
                <a:solidFill>
                  <a:schemeClr val="bg1"/>
                </a:solidFill>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fld>
            <a:endParaRPr lang="en-US" altLang="zh-CN"/>
          </a:p>
        </p:txBody>
      </p:sp>
      <p:sp>
        <p:nvSpPr>
          <p:cNvPr id="8" name="AutoShape 5"/>
          <p:cNvSpPr/>
          <p:nvPr userDrawn="1"/>
        </p:nvSpPr>
        <p:spPr>
          <a:xfrm>
            <a:off x="762000" y="1422400"/>
            <a:ext cx="9144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11" name="AutoShape 3"/>
          <p:cNvSpPr/>
          <p:nvPr userDrawn="1"/>
        </p:nvSpPr>
        <p:spPr>
          <a:xfrm>
            <a:off x="9144000" y="4572000"/>
            <a:ext cx="4572000" cy="4572000"/>
          </a:xfrm>
          <a:prstGeom prst="ellipse">
            <a:avLst/>
          </a:prstGeom>
          <a:gradFill rotWithShape="1">
            <a:gsLst>
              <a:gs pos="0">
                <a:srgbClr val="00E5FF">
                  <a:alpha val="6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0" name="AutoShape 2"/>
          <p:cNvSpPr/>
          <p:nvPr userDrawn="1"/>
        </p:nvSpPr>
        <p:spPr>
          <a:xfrm>
            <a:off x="-2032000" y="-2032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2" name="标题 1"/>
          <p:cNvSpPr>
            <a:spLocks noGrp="1"/>
          </p:cNvSpPr>
          <p:nvPr>
            <p:ph type="title"/>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a:ea typeface="Noto Sans SC"/>
                <a:cs typeface="Noto Sans SC"/>
                <a:sym typeface="Noto Sans SC"/>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762000" y="3298825"/>
            <a:ext cx="10401300" cy="2878455"/>
          </a:xfrm>
        </p:spPr>
        <p:txBody>
          <a:bodyPr>
            <a:normAutofit/>
          </a:bodyPr>
          <a:lstStyle>
            <a:lvl1pPr>
              <a:lnSpc>
                <a:spcPct val="150000"/>
              </a:lnSpc>
              <a:buClr>
                <a:srgbClr val="00E5FA"/>
              </a:buClr>
              <a:defRPr sz="2000">
                <a:solidFill>
                  <a:schemeClr val="bg1"/>
                </a:solidFill>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fld>
            <a:endParaRPr lang="en-US" altLang="zh-CN"/>
          </a:p>
        </p:txBody>
      </p:sp>
      <p:sp>
        <p:nvSpPr>
          <p:cNvPr id="8" name="AutoShape 5"/>
          <p:cNvSpPr/>
          <p:nvPr userDrawn="1"/>
        </p:nvSpPr>
        <p:spPr>
          <a:xfrm>
            <a:off x="762000" y="1422400"/>
            <a:ext cx="9144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7"/>
          <p:cNvSpPr/>
          <p:nvPr userDrawn="1"/>
        </p:nvSpPr>
        <p:spPr>
          <a:xfrm>
            <a:off x="762000" y="1676400"/>
            <a:ext cx="10401300" cy="1422400"/>
          </a:xfrm>
          <a:prstGeom prst="snip2DiagRect">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lstStyle/>
          <a:p>
            <a:pPr algn="ctr">
              <a:defRPr/>
            </a:pPr>
          </a:p>
        </p:txBody>
      </p:sp>
      <p:sp>
        <p:nvSpPr>
          <p:cNvPr id="9" name="内容占位符 8"/>
          <p:cNvSpPr>
            <a:spLocks noGrp="1"/>
          </p:cNvSpPr>
          <p:nvPr>
            <p:ph idx="13" hasCustomPrompt="1"/>
          </p:nvPr>
        </p:nvSpPr>
        <p:spPr>
          <a:xfrm>
            <a:off x="762000" y="1678305"/>
            <a:ext cx="10401300" cy="1421130"/>
          </a:xfrm>
        </p:spPr>
        <p:txBody>
          <a:bodyPr anchor="ctr" anchorCtr="0"/>
          <a:lstStyle>
            <a:lvl1pPr marL="0" indent="0" algn="ctr">
              <a:buNone/>
              <a:defRPr b="1"/>
            </a:lvl1pPr>
          </a:lstStyle>
          <a:p>
            <a:pPr lvl="0"/>
            <a:r>
              <a:rPr lang="zh-CN" altLang="en-US"/>
              <a:t>插入定义文本</a:t>
            </a:r>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13" name="AutoShape 2"/>
          <p:cNvSpPr/>
          <p:nvPr userDrawn="1"/>
        </p:nvSpPr>
        <p:spPr>
          <a:xfrm>
            <a:off x="-2286000" y="-2032000"/>
            <a:ext cx="5588000" cy="5588000"/>
          </a:xfrm>
          <a:prstGeom prst="ellipse">
            <a:avLst/>
          </a:prstGeom>
          <a:gradFill rotWithShape="1">
            <a:gsLst>
              <a:gs pos="0">
                <a:srgbClr val="00E5FF">
                  <a:alpha val="18000"/>
                </a:srgbClr>
              </a:gs>
              <a:gs pos="70000">
                <a:srgbClr val="00E5FF">
                  <a:alpha val="0"/>
                </a:srgbClr>
              </a:gs>
            </a:gsLst>
            <a:path path="circle">
              <a:fillToRect l="50000" t="50000" r="50000" b="50000"/>
            </a:path>
            <a:tileRect/>
          </a:gradFill>
          <a:ln cap="flat" cmpd="sng">
            <a:gradFill rotWithShape="1">
              <a:gsLst>
                <a:gs pos="0">
                  <a:srgbClr val="00CEE6">
                    <a:alpha val="18000"/>
                  </a:srgbClr>
                </a:gs>
                <a:gs pos="70000">
                  <a:srgbClr val="00CEE6">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4" name="AutoShape 3"/>
          <p:cNvSpPr/>
          <p:nvPr userDrawn="1"/>
        </p:nvSpPr>
        <p:spPr>
          <a:xfrm>
            <a:off x="8890000" y="4318000"/>
            <a:ext cx="5334000" cy="5334000"/>
          </a:xfrm>
          <a:prstGeom prst="ellipse">
            <a:avLst/>
          </a:prstGeom>
          <a:gradFill rotWithShape="1">
            <a:gsLst>
              <a:gs pos="0">
                <a:srgbClr val="69F0AE">
                  <a:alpha val="14000"/>
                </a:srgbClr>
              </a:gs>
              <a:gs pos="70000">
                <a:srgbClr val="69F0AE">
                  <a:alpha val="0"/>
                </a:srgbClr>
              </a:gs>
            </a:gsLst>
            <a:path path="circle">
              <a:fillToRect l="50000" t="50000" r="50000" b="50000"/>
            </a:path>
            <a:tileRect/>
          </a:gradFill>
          <a:ln cap="flat" cmpd="sng">
            <a:gradFill rotWithShape="1">
              <a:gsLst>
                <a:gs pos="0">
                  <a:srgbClr val="48D691">
                    <a:alpha val="14000"/>
                  </a:srgbClr>
                </a:gs>
                <a:gs pos="70000">
                  <a:srgbClr val="48D691">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2" name="标题 1"/>
          <p:cNvSpPr>
            <a:spLocks noGrp="1"/>
          </p:cNvSpPr>
          <p:nvPr>
            <p:ph type="title" hasCustomPrompt="1"/>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a:ea typeface="Noto Sans SC"/>
                <a:cs typeface="Noto Sans SC"/>
                <a:sym typeface="Noto Sans SC"/>
              </a:defRPr>
            </a:lvl1pPr>
          </a:lstStyle>
          <a:p>
            <a:r>
              <a:rPr lang="zh-CN" altLang="en-US" dirty="0"/>
              <a:t>【思考与讨论】</a:t>
            </a:r>
            <a:endParaRPr lang="zh-CN" altLang="en-US" dirty="0"/>
          </a:p>
        </p:txBody>
      </p:sp>
      <p:sp>
        <p:nvSpPr>
          <p:cNvPr id="3" name="内容占位符 2"/>
          <p:cNvSpPr>
            <a:spLocks noGrp="1"/>
          </p:cNvSpPr>
          <p:nvPr>
            <p:ph idx="1" hasCustomPrompt="1"/>
          </p:nvPr>
        </p:nvSpPr>
        <p:spPr>
          <a:xfrm>
            <a:off x="762000" y="4382135"/>
            <a:ext cx="10401300" cy="761365"/>
          </a:xfrm>
        </p:spPr>
        <p:txBody>
          <a:bodyPr>
            <a:normAutofit/>
          </a:bodyPr>
          <a:lstStyle>
            <a:lvl1pPr marL="0" indent="0" algn="ctr">
              <a:lnSpc>
                <a:spcPct val="100000"/>
              </a:lnSpc>
              <a:buClr>
                <a:srgbClr val="00E5FA"/>
              </a:buClr>
              <a:buNone/>
              <a:defRPr kumimoji="0" lang="en-US" sz="2800" b="0" i="0" u="none" strike="noStrike" kern="0" cap="none" spc="300" normalizeH="0" baseline="0" noProof="1">
                <a:solidFill>
                  <a:srgbClr val="FFFFFF"/>
                </a:solidFill>
                <a:latin typeface="Noto Sans SC"/>
                <a:ea typeface="Noto Sans SC"/>
                <a:cs typeface="Noto Sans SC"/>
                <a:sym typeface="Noto Sans SC"/>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【提出一个开放性问题,引导学生思考】</a:t>
            </a:r>
            <a:endParaRPr lang="zh-CN" altLang="en-US" dirty="0"/>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fld>
            <a:endParaRPr lang="en-US" altLang="zh-CN"/>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2" name="AutoShape 5"/>
          <p:cNvSpPr/>
          <p:nvPr userDrawn="1"/>
        </p:nvSpPr>
        <p:spPr>
          <a:xfrm>
            <a:off x="762000" y="1524000"/>
            <a:ext cx="10668000" cy="50800"/>
          </a:xfrm>
          <a:prstGeom prst="roundRect">
            <a:avLst>
              <a:gd name="adj" fmla="val 0"/>
            </a:avLst>
          </a:prstGeom>
          <a:gradFill rotWithShape="1">
            <a:gsLst>
              <a:gs pos="0">
                <a:srgbClr val="00E5FF">
                  <a:alpha val="0"/>
                </a:srgbClr>
              </a:gs>
              <a:gs pos="30000">
                <a:srgbClr val="00E5FF">
                  <a:alpha val="100000"/>
                </a:srgbClr>
              </a:gs>
              <a:gs pos="70000">
                <a:srgbClr val="00E5FF">
                  <a:alpha val="100000"/>
                </a:srgbClr>
              </a:gs>
              <a:gs pos="100000">
                <a:srgbClr val="00E5FF">
                  <a:alpha val="0"/>
                </a:srgbClr>
              </a:gs>
            </a:gsLst>
            <a:lin ang="0"/>
          </a:gradFill>
          <a:ln cap="flat" cmpd="sng">
            <a:gradFill rotWithShape="1">
              <a:gsLst>
                <a:gs pos="0">
                  <a:srgbClr val="00CEE6">
                    <a:alpha val="0"/>
                  </a:srgbClr>
                </a:gs>
                <a:gs pos="30000">
                  <a:srgbClr val="00CEE6">
                    <a:alpha val="100000"/>
                  </a:srgbClr>
                </a:gs>
                <a:gs pos="70000">
                  <a:srgbClr val="00CEE6">
                    <a:alpha val="100000"/>
                  </a:srgbClr>
                </a:gs>
                <a:gs pos="100000">
                  <a:srgbClr val="00CEE6">
                    <a:alpha val="0"/>
                  </a:srgbClr>
                </a:gs>
              </a:gsLst>
              <a:lin ang="0"/>
            </a:gradFill>
            <a:prstDash val="solid"/>
            <a:round/>
          </a:ln>
        </p:spPr>
        <p:txBody>
          <a:bodyPr vert="horz" wrap="square" lIns="63500" tIns="63500" rIns="63500" bIns="63500" rtlCol="0" anchor="ctr"/>
          <a:lstStyle/>
          <a:p>
            <a:pPr algn="ctr">
              <a:defRPr/>
            </a:pPr>
          </a:p>
        </p:txBody>
      </p:sp>
      <p:sp>
        <p:nvSpPr>
          <p:cNvPr id="15" name="AutoShape 6"/>
          <p:cNvSpPr/>
          <p:nvPr userDrawn="1"/>
        </p:nvSpPr>
        <p:spPr>
          <a:xfrm>
            <a:off x="0" y="2032000"/>
            <a:ext cx="12192000" cy="2032000"/>
          </a:xfrm>
          <a:prstGeom prst="rect">
            <a:avLst/>
          </a:prstGeom>
          <a:noFill/>
          <a:ln w="12700" cap="flat" cmpd="sng">
            <a:noFill/>
            <a:prstDash val="solid"/>
            <a:round/>
          </a:ln>
          <a:effectLst>
            <a:outerShdw blurRad="571500" dir="5400000" algn="ctr" rotWithShape="0">
              <a:srgbClr val="69F0AE">
                <a:alpha val="55000"/>
              </a:srgbClr>
            </a:outerShdw>
          </a:effectLst>
        </p:spPr>
        <p:txBody>
          <a:bodyPr vert="horz" wrap="square" lIns="0" tIns="0" rIns="0" bIns="0" rtlCol="0" anchor="ctr" anchorCtr="0"/>
          <a:lstStyle/>
          <a:p>
            <a:pPr marL="0" indent="0" algn="ctr">
              <a:lnSpc>
                <a:spcPct val="92000"/>
              </a:lnSpc>
              <a:defRPr/>
            </a:pPr>
            <a:r>
              <a:rPr lang="en-US" sz="12000" b="1" i="0" u="none" strike="noStrike">
                <a:solidFill>
                  <a:srgbClr val="69F0AE"/>
                </a:solidFill>
                <a:latin typeface="Noto Sans SC"/>
                <a:ea typeface="Noto Sans SC"/>
                <a:cs typeface="Noto Sans SC"/>
                <a:sym typeface="Noto Sans SC"/>
              </a:rPr>
              <a:t>?</a:t>
            </a:r>
            <a:endParaRPr lang="en-US" sz="1100"/>
          </a:p>
        </p:txBody>
      </p:sp>
      <p:sp>
        <p:nvSpPr>
          <p:cNvPr id="19" name="内容占位符 18"/>
          <p:cNvSpPr>
            <a:spLocks noGrp="1"/>
          </p:cNvSpPr>
          <p:nvPr>
            <p:ph idx="13" hasCustomPrompt="1"/>
          </p:nvPr>
        </p:nvSpPr>
        <p:spPr>
          <a:xfrm>
            <a:off x="762000" y="5398135"/>
            <a:ext cx="10401300" cy="405765"/>
          </a:xfrm>
        </p:spPr>
        <p:txBody>
          <a:bodyPr>
            <a:normAutofit/>
          </a:bodyPr>
          <a:lstStyle>
            <a:lvl1pPr marL="0" indent="0" algn="ctr">
              <a:lnSpc>
                <a:spcPct val="100000"/>
              </a:lnSpc>
              <a:buClr>
                <a:srgbClr val="00E5FA"/>
              </a:buClr>
              <a:buNone/>
              <a:defRPr kumimoji="0" lang="en-US" sz="1800" b="0" i="0" u="none" strike="noStrike" kern="0" cap="none" spc="200" normalizeH="0" baseline="0" noProof="1">
                <a:solidFill>
                  <a:srgbClr val="C8C8D2">
                    <a:alpha val="74902"/>
                  </a:srgbClr>
                </a:solidFill>
                <a:latin typeface="Noto Sans SC"/>
                <a:ea typeface="Noto Sans SC"/>
                <a:cs typeface="Noto Sans SC"/>
                <a:sym typeface="Noto Sans SC"/>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【提示:可以分组讨论 / 举手回答 / 课后思考】</a:t>
            </a:r>
            <a:endParaRPr lang="zh-CN" alt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8635" y="508000"/>
            <a:ext cx="10847070" cy="661035"/>
          </a:xfrm>
        </p:spPr>
        <p:txBody>
          <a:bodyPr/>
          <a:lstStyle>
            <a:lvl1pPr marL="0" marR="0" lvl="0" algn="l" defTabSz="914400" rtl="0" eaLnBrk="1" fontAlgn="auto" latinLnBrk="0" hangingPunct="1">
              <a:lnSpc>
                <a:spcPct val="90000"/>
              </a:lnSpc>
              <a:spcBef>
                <a:spcPct val="0"/>
              </a:spcBef>
              <a:buClrTx/>
              <a:buSzTx/>
              <a:buFontTx/>
              <a:buNone/>
              <a:defRPr kumimoji="0" lang="zh-CN" altLang="en-US" sz="3600" b="1" i="0" u="none" strike="noStrike" kern="0" cap="none" spc="200" normalizeH="0" baseline="0" noProof="1" dirty="0">
                <a:solidFill>
                  <a:srgbClr val="FFFFFF"/>
                </a:solidFill>
                <a:effectLst>
                  <a:outerShdw blurRad="38100" dist="38100" dir="2700000" algn="tl">
                    <a:srgbClr val="000000">
                      <a:alpha val="43137"/>
                    </a:srgbClr>
                  </a:outerShdw>
                </a:effectLst>
                <a:latin typeface="Noto Sans SC"/>
                <a:ea typeface="Noto Sans SC"/>
                <a:cs typeface="Noto Sans SC"/>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62635" y="1904365"/>
            <a:ext cx="5234940" cy="508635"/>
          </a:xfrm>
        </p:spPr>
        <p:txBody>
          <a:bodyPr anchor="b"/>
          <a:lstStyle>
            <a:lvl1pPr marL="0" indent="0">
              <a:buNone/>
              <a:defRPr kumimoji="0" lang="en-US" sz="2400" b="1" i="0" u="none" strike="noStrike" kern="1200" cap="none" spc="0" normalizeH="0" baseline="0" noProof="1">
                <a:solidFill>
                  <a:srgbClr val="00E5FF"/>
                </a:solidFill>
                <a:latin typeface="Noto Sans SC"/>
                <a:ea typeface="Noto Sans SC"/>
                <a:cs typeface="Noto Sans SC"/>
                <a:sym typeface="Noto Sans SC"/>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762635" y="2480310"/>
            <a:ext cx="5234940" cy="3709035"/>
          </a:xfrm>
        </p:spPr>
        <p:txBody>
          <a:bodyPr/>
          <a:lstStyle>
            <a:lvl1pPr>
              <a:lnSpc>
                <a:spcPct val="150000"/>
              </a:lnSpc>
              <a:buClr>
                <a:srgbClr val="00E5FF"/>
              </a:buClr>
              <a:defRPr/>
            </a:lvl1pPr>
            <a:lvl2pPr>
              <a:lnSpc>
                <a:spcPct val="150000"/>
              </a:lnSpc>
              <a:buClr>
                <a:srgbClr val="00E5FF"/>
              </a:buClr>
              <a:defRPr/>
            </a:lvl2pPr>
            <a:lvl3pPr>
              <a:lnSpc>
                <a:spcPct val="150000"/>
              </a:lnSpc>
              <a:buClr>
                <a:srgbClr val="00E5FF"/>
              </a:buClr>
              <a:defRPr/>
            </a:lvl3pPr>
            <a:lvl4pPr>
              <a:lnSpc>
                <a:spcPct val="150000"/>
              </a:lnSpc>
              <a:buClr>
                <a:srgbClr val="00E5FF"/>
              </a:buClr>
              <a:defRPr/>
            </a:lvl4pPr>
            <a:lvl5pPr>
              <a:lnSpc>
                <a:spcPct val="150000"/>
              </a:lnSpc>
              <a:buClr>
                <a:srgbClr val="00E5FF"/>
              </a:buClr>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604635" y="1903730"/>
            <a:ext cx="5079365" cy="509905"/>
          </a:xfrm>
        </p:spPr>
        <p:txBody>
          <a:bodyPr anchor="b"/>
          <a:lstStyle>
            <a:lvl1pPr marL="0" indent="0">
              <a:buNone/>
              <a:defRPr kumimoji="0" lang="en-US" sz="2400" b="1" i="0" u="none" strike="noStrike" kern="0" cap="none" spc="0" normalizeH="0" baseline="0" noProof="1">
                <a:solidFill>
                  <a:srgbClr val="B388FF"/>
                </a:solidFill>
                <a:latin typeface="Noto Sans SC"/>
                <a:ea typeface="Noto Sans SC"/>
                <a:cs typeface="Noto Sans SC"/>
                <a:sym typeface="Noto Sans SC"/>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604635" y="2480310"/>
            <a:ext cx="5078730" cy="3709035"/>
          </a:xfrm>
        </p:spPr>
        <p:txBody>
          <a:bodyPr/>
          <a:lstStyle>
            <a:lvl1pPr>
              <a:lnSpc>
                <a:spcPct val="150000"/>
              </a:lnSpc>
              <a:buClr>
                <a:srgbClr val="B388FF"/>
              </a:buClr>
              <a:defRPr/>
            </a:lvl1pPr>
            <a:lvl2pPr>
              <a:lnSpc>
                <a:spcPct val="150000"/>
              </a:lnSpc>
              <a:buClr>
                <a:srgbClr val="B388FF"/>
              </a:buClr>
              <a:defRPr/>
            </a:lvl2pPr>
            <a:lvl3pPr>
              <a:lnSpc>
                <a:spcPct val="150000"/>
              </a:lnSpc>
              <a:buClr>
                <a:srgbClr val="B388FF"/>
              </a:buClr>
              <a:defRPr/>
            </a:lvl3pPr>
            <a:lvl4pPr>
              <a:lnSpc>
                <a:spcPct val="150000"/>
              </a:lnSpc>
              <a:buClr>
                <a:srgbClr val="B388FF"/>
              </a:buClr>
              <a:defRPr/>
            </a:lvl4pPr>
            <a:lvl5pPr>
              <a:lnSpc>
                <a:spcPct val="150000"/>
              </a:lnSpc>
              <a:buClr>
                <a:srgbClr val="B388FF"/>
              </a:buClr>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AutoShape 2"/>
          <p:cNvSpPr/>
          <p:nvPr userDrawn="1"/>
        </p:nvSpPr>
        <p:spPr>
          <a:xfrm>
            <a:off x="-2286000" y="-2286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1" name="AutoShape 3"/>
          <p:cNvSpPr/>
          <p:nvPr userDrawn="1"/>
        </p:nvSpPr>
        <p:spPr>
          <a:xfrm>
            <a:off x="9398000" y="4318000"/>
            <a:ext cx="4826000" cy="4826000"/>
          </a:xfrm>
          <a:prstGeom prst="ellipse">
            <a:avLst/>
          </a:prstGeom>
          <a:gradFill rotWithShape="1">
            <a:gsLst>
              <a:gs pos="0">
                <a:srgbClr val="B388FF">
                  <a:alpha val="10000"/>
                </a:srgbClr>
              </a:gs>
              <a:gs pos="70000">
                <a:srgbClr val="B388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2" name="AutoShape 11"/>
          <p:cNvSpPr/>
          <p:nvPr userDrawn="1"/>
        </p:nvSpPr>
        <p:spPr>
          <a:xfrm>
            <a:off x="762000" y="5740400"/>
            <a:ext cx="482600" cy="482600"/>
          </a:xfrm>
          <a:prstGeom prst="ellipse">
            <a:avLst/>
          </a:prstGeom>
          <a:solidFill>
            <a:srgbClr val="00E5FF">
              <a:alpha val="0"/>
            </a:srgbClr>
          </a:solidFill>
          <a:ln w="25400" cap="flat" cmpd="sng">
            <a:solidFill>
              <a:srgbClr val="00E5FF">
                <a:alpha val="55000"/>
              </a:srgbClr>
            </a:solidFill>
            <a:prstDash val="solid"/>
            <a:round/>
          </a:ln>
        </p:spPr>
        <p:txBody>
          <a:bodyPr vert="horz" wrap="square" lIns="63500" tIns="63500" rIns="63500" bIns="63500" rtlCol="0" anchor="ctr"/>
          <a:lstStyle/>
          <a:p>
            <a:pPr algn="ctr">
              <a:defRPr/>
            </a:pPr>
          </a:p>
        </p:txBody>
      </p:sp>
      <p:sp>
        <p:nvSpPr>
          <p:cNvPr id="13" name="AutoShape 12"/>
          <p:cNvSpPr/>
          <p:nvPr userDrawn="1"/>
        </p:nvSpPr>
        <p:spPr>
          <a:xfrm>
            <a:off x="1397000" y="5740400"/>
            <a:ext cx="279400" cy="279400"/>
          </a:xfrm>
          <a:prstGeom prst="ellipse">
            <a:avLst/>
          </a:prstGeom>
          <a:solidFill>
            <a:srgbClr val="00E5FF">
              <a:alpha val="18000"/>
            </a:srgbClr>
          </a:solidFill>
          <a:ln w="12700" cap="flat" cmpd="sng">
            <a:solidFill>
              <a:srgbClr val="00E5FF">
                <a:alpha val="35000"/>
              </a:srgbClr>
            </a:solidFill>
            <a:prstDash val="solid"/>
            <a:round/>
          </a:ln>
        </p:spPr>
        <p:txBody>
          <a:bodyPr vert="horz" wrap="square" lIns="63500" tIns="63500" rIns="63500" bIns="63500" rtlCol="0" anchor="ctr"/>
          <a:lstStyle/>
          <a:p>
            <a:pPr algn="ctr">
              <a:defRPr/>
            </a:pPr>
          </a:p>
        </p:txBody>
      </p:sp>
      <p:sp>
        <p:nvSpPr>
          <p:cNvPr id="17" name="AutoShape 17"/>
          <p:cNvSpPr/>
          <p:nvPr userDrawn="1"/>
        </p:nvSpPr>
        <p:spPr>
          <a:xfrm rot="2700000">
            <a:off x="6604000" y="5740400"/>
            <a:ext cx="431800" cy="431800"/>
          </a:xfrm>
          <a:prstGeom prst="roundRect">
            <a:avLst>
              <a:gd name="adj" fmla="val 0"/>
            </a:avLst>
          </a:prstGeom>
          <a:solidFill>
            <a:srgbClr val="B388FF">
              <a:alpha val="0"/>
            </a:srgbClr>
          </a:solidFill>
          <a:ln w="25400" cap="flat" cmpd="sng">
            <a:solidFill>
              <a:srgbClr val="B388FF">
                <a:alpha val="55000"/>
              </a:srgbClr>
            </a:solidFill>
            <a:prstDash val="solid"/>
            <a:round/>
          </a:ln>
        </p:spPr>
        <p:txBody>
          <a:bodyPr vert="horz" wrap="square" lIns="63500" tIns="63500" rIns="63500" bIns="63500" rtlCol="0" anchor="ctr"/>
          <a:lstStyle/>
          <a:p>
            <a:pPr algn="ctr">
              <a:defRPr/>
            </a:pPr>
          </a:p>
        </p:txBody>
      </p:sp>
      <p:sp>
        <p:nvSpPr>
          <p:cNvPr id="18" name="AutoShape 18"/>
          <p:cNvSpPr/>
          <p:nvPr userDrawn="1"/>
        </p:nvSpPr>
        <p:spPr>
          <a:xfrm rot="2700000">
            <a:off x="7264400" y="5816600"/>
            <a:ext cx="279400" cy="279400"/>
          </a:xfrm>
          <a:prstGeom prst="roundRect">
            <a:avLst>
              <a:gd name="adj" fmla="val 0"/>
            </a:avLst>
          </a:prstGeom>
          <a:solidFill>
            <a:srgbClr val="B388FF">
              <a:alpha val="18000"/>
            </a:srgbClr>
          </a:solidFill>
          <a:ln w="12700" cap="flat" cmpd="sng">
            <a:solidFill>
              <a:srgbClr val="B388FF">
                <a:alpha val="35000"/>
              </a:srgbClr>
            </a:solidFill>
            <a:prstDash val="solid"/>
            <a:round/>
          </a:ln>
        </p:spPr>
        <p:txBody>
          <a:bodyPr vert="horz" wrap="square" lIns="63500" tIns="63500" rIns="63500" bIns="63500" rtlCol="0" anchor="ctr"/>
          <a:lstStyle/>
          <a:p>
            <a:pPr algn="ctr">
              <a:defRPr/>
            </a:pPr>
          </a:p>
        </p:txBody>
      </p:sp>
      <p:cxnSp>
        <p:nvCxnSpPr>
          <p:cNvPr id="15" name="Connector 6"/>
          <p:cNvCxnSpPr/>
          <p:nvPr userDrawn="1"/>
        </p:nvCxnSpPr>
        <p:spPr>
          <a:xfrm rot="5388540">
            <a:off x="4191000" y="3676661"/>
            <a:ext cx="3810000" cy="12700"/>
          </a:xfrm>
          <a:prstGeom prst="straightConnector1">
            <a:avLst/>
          </a:prstGeom>
          <a:solidFill>
            <a:srgbClr val="DEE0E3">
              <a:alpha val="100000"/>
            </a:srgbClr>
          </a:solidFill>
          <a:ln w="12700" cap="flat" cmpd="sng">
            <a:solidFill>
              <a:srgbClr val="FFFFFF">
                <a:alpha val="18000"/>
              </a:srgbClr>
            </a:solidFill>
            <a:prstDash val="solid"/>
            <a:round/>
            <a:headEnd type="none" w="med" len="med"/>
            <a:tailEnd type="none" w="med" len="med"/>
          </a:ln>
        </p:spPr>
      </p:cxnSp>
      <p:sp>
        <p:nvSpPr>
          <p:cNvPr id="19" name="AutoShape 5"/>
          <p:cNvSpPr/>
          <p:nvPr userDrawn="1"/>
        </p:nvSpPr>
        <p:spPr>
          <a:xfrm>
            <a:off x="508000" y="1295400"/>
            <a:ext cx="11176000" cy="50800"/>
          </a:xfrm>
          <a:prstGeom prst="roundRect">
            <a:avLst>
              <a:gd name="adj" fmla="val 0"/>
            </a:avLst>
          </a:prstGeom>
          <a:gradFill rotWithShape="1">
            <a:gsLst>
              <a:gs pos="0">
                <a:srgbClr val="00E5FF">
                  <a:alpha val="100000"/>
                </a:srgbClr>
              </a:gs>
              <a:gs pos="45000">
                <a:srgbClr val="00E5FF">
                  <a:alpha val="35000"/>
                </a:srgbClr>
              </a:gs>
              <a:gs pos="100000">
                <a:srgbClr val="00E5FF">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3" name="灯片编号占位符 22"/>
          <p:cNvSpPr>
            <a:spLocks noGrp="1"/>
          </p:cNvSpPr>
          <p:nvPr>
            <p:ph type="sldNum" sz="quarter" idx="12"/>
          </p:nvPr>
        </p:nvSpPr>
        <p:spPr>
          <a:xfrm>
            <a:off x="4724400" y="6356350"/>
            <a:ext cx="2743200" cy="365125"/>
          </a:xfrm>
        </p:spPr>
        <p:txBody>
          <a:bodyPr/>
          <a:lstStyle>
            <a:lvl1pPr algn="ctr">
              <a:defRPr/>
            </a:lvl1pPr>
          </a:lstStyle>
          <a:p>
            <a:fld id="{49AE70B2-8BF9-45C0-BB95-33D1B9D3A854}" type="slidenum">
              <a:rPr lang="zh-CN" altLang="en-US" smtClean="0"/>
            </a:fld>
            <a:endParaRPr lang="en-US" altLang="zh-C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508635" y="508000"/>
            <a:ext cx="10847070" cy="661035"/>
          </a:xfrm>
        </p:spPr>
        <p:txBody>
          <a:bodyPr/>
          <a:lstStyle>
            <a:lvl1pPr marL="0" marR="0" lvl="0" algn="l" defTabSz="914400" rtl="0" eaLnBrk="1" fontAlgn="auto" latinLnBrk="0" hangingPunct="1">
              <a:lnSpc>
                <a:spcPct val="90000"/>
              </a:lnSpc>
              <a:spcBef>
                <a:spcPct val="0"/>
              </a:spcBef>
              <a:buClrTx/>
              <a:buSzTx/>
              <a:buFontTx/>
              <a:buNone/>
              <a:defRPr kumimoji="0" lang="zh-CN" alt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a:ea typeface="Noto Sans SC"/>
                <a:cs typeface="Noto Sans SC"/>
              </a:defRPr>
            </a:lvl1pPr>
          </a:lstStyle>
          <a:p>
            <a:r>
              <a:rPr lang="zh-CN" altLang="en-US"/>
              <a:t>单击此处编辑母版标题样式</a:t>
            </a:r>
            <a:endParaRPr lang="zh-CN" altLang="en-US"/>
          </a:p>
        </p:txBody>
      </p:sp>
      <p:sp>
        <p:nvSpPr>
          <p:cNvPr id="10" name="AutoShape 2"/>
          <p:cNvSpPr/>
          <p:nvPr userDrawn="1"/>
        </p:nvSpPr>
        <p:spPr>
          <a:xfrm>
            <a:off x="-2286000" y="-2286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1" name="AutoShape 3"/>
          <p:cNvSpPr/>
          <p:nvPr userDrawn="1"/>
        </p:nvSpPr>
        <p:spPr>
          <a:xfrm>
            <a:off x="9398000" y="4318000"/>
            <a:ext cx="4826000" cy="4826000"/>
          </a:xfrm>
          <a:prstGeom prst="ellipse">
            <a:avLst/>
          </a:prstGeom>
          <a:gradFill rotWithShape="1">
            <a:gsLst>
              <a:gs pos="0">
                <a:srgbClr val="B388FF">
                  <a:alpha val="10000"/>
                </a:srgbClr>
              </a:gs>
              <a:gs pos="70000">
                <a:srgbClr val="B388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9" name="AutoShape 5"/>
          <p:cNvSpPr/>
          <p:nvPr userDrawn="1"/>
        </p:nvSpPr>
        <p:spPr>
          <a:xfrm>
            <a:off x="508000" y="1295400"/>
            <a:ext cx="11176000" cy="50800"/>
          </a:xfrm>
          <a:prstGeom prst="roundRect">
            <a:avLst>
              <a:gd name="adj" fmla="val 0"/>
            </a:avLst>
          </a:prstGeom>
          <a:gradFill rotWithShape="1">
            <a:gsLst>
              <a:gs pos="0">
                <a:srgbClr val="00E5FF">
                  <a:alpha val="100000"/>
                </a:srgbClr>
              </a:gs>
              <a:gs pos="45000">
                <a:srgbClr val="00E5FF">
                  <a:alpha val="35000"/>
                </a:srgbClr>
              </a:gs>
              <a:gs pos="100000">
                <a:srgbClr val="00E5FF">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3" name="灯片编号占位符 22"/>
          <p:cNvSpPr>
            <a:spLocks noGrp="1"/>
          </p:cNvSpPr>
          <p:nvPr>
            <p:ph type="sldNum" sz="quarter" idx="12"/>
          </p:nvPr>
        </p:nvSpPr>
        <p:spPr>
          <a:xfrm>
            <a:off x="4724400" y="6356350"/>
            <a:ext cx="2743200" cy="365125"/>
          </a:xfrm>
        </p:spPr>
        <p:txBody>
          <a:bodyPr/>
          <a:lstStyle>
            <a:lvl1pPr algn="ctr">
              <a:defRPr/>
            </a:lvl1pPr>
          </a:lstStyle>
          <a:p>
            <a:fld id="{49AE70B2-8BF9-45C0-BB95-33D1B9D3A854}" type="slidenum">
              <a:rPr lang="zh-CN" altLang="en-US" smtClean="0"/>
            </a:fld>
            <a:endParaRPr lang="en-US" altLang="zh-CN"/>
          </a:p>
        </p:txBody>
      </p:sp>
      <p:cxnSp>
        <p:nvCxnSpPr>
          <p:cNvPr id="7" name="Connector 7"/>
          <p:cNvCxnSpPr/>
          <p:nvPr userDrawn="1"/>
        </p:nvCxnSpPr>
        <p:spPr>
          <a:xfrm rot="5388145">
            <a:off x="2374900" y="3867161"/>
            <a:ext cx="3683000" cy="12700"/>
          </a:xfrm>
          <a:prstGeom prst="straightConnector1">
            <a:avLst/>
          </a:prstGeom>
          <a:solidFill>
            <a:srgbClr val="DEE0E3">
              <a:alpha val="100000"/>
            </a:srgbClr>
          </a:solidFill>
          <a:ln w="12700" cap="flat" cmpd="sng">
            <a:solidFill>
              <a:srgbClr val="FFFFFF">
                <a:alpha val="12000"/>
              </a:srgbClr>
            </a:solidFill>
            <a:prstDash val="solid"/>
            <a:round/>
            <a:headEnd type="none" w="med" len="med"/>
            <a:tailEnd type="none" w="med" len="med"/>
          </a:ln>
        </p:spPr>
      </p:cxnSp>
      <p:cxnSp>
        <p:nvCxnSpPr>
          <p:cNvPr id="8" name="Connector 8"/>
          <p:cNvCxnSpPr/>
          <p:nvPr userDrawn="1"/>
        </p:nvCxnSpPr>
        <p:spPr>
          <a:xfrm rot="5388145">
            <a:off x="6134100" y="3867161"/>
            <a:ext cx="3683000" cy="12700"/>
          </a:xfrm>
          <a:prstGeom prst="straightConnector1">
            <a:avLst/>
          </a:prstGeom>
          <a:solidFill>
            <a:srgbClr val="DEE0E3">
              <a:alpha val="100000"/>
            </a:srgbClr>
          </a:solidFill>
          <a:ln w="12700" cap="flat" cmpd="sng">
            <a:solidFill>
              <a:srgbClr val="FFFFFF">
                <a:alpha val="12000"/>
              </a:srgbClr>
            </a:solidFill>
            <a:prstDash val="solid"/>
            <a:round/>
            <a:headEnd type="none" w="med" len="med"/>
            <a:tailEnd type="none" w="med" len="med"/>
          </a:ln>
        </p:spPr>
      </p:cxn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588635" y="1651635"/>
            <a:ext cx="5967730" cy="2440305"/>
          </a:xfrm>
        </p:spPr>
        <p:txBody>
          <a:bodyPr anchor="b" anchorCtr="0">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12" name="AutoShape 2"/>
          <p:cNvSpPr/>
          <p:nvPr userDrawn="1"/>
        </p:nvSpPr>
        <p:spPr>
          <a:xfrm>
            <a:off x="7112000" y="3048000"/>
            <a:ext cx="7874000" cy="7874000"/>
          </a:xfrm>
          <a:prstGeom prst="ellipse">
            <a:avLst/>
          </a:prstGeom>
          <a:gradFill rotWithShape="1">
            <a:gsLst>
              <a:gs pos="0">
                <a:srgbClr val="00E5FF">
                  <a:alpha val="22000"/>
                </a:srgbClr>
              </a:gs>
              <a:gs pos="28000">
                <a:srgbClr val="B388FF">
                  <a:alpha val="12000"/>
                </a:srgbClr>
              </a:gs>
              <a:gs pos="65000">
                <a:srgbClr val="121212">
                  <a:alpha val="0"/>
                </a:srgbClr>
              </a:gs>
            </a:gsLst>
            <a:path path="circle">
              <a:fillToRect l="50000" t="50000" r="50000" b="50000"/>
            </a:path>
            <a:tileRect/>
          </a:gradFill>
          <a:ln cap="flat" cmpd="sng">
            <a:gradFill rotWithShape="1">
              <a:gsLst>
                <a:gs pos="0">
                  <a:srgbClr val="00CEE6">
                    <a:alpha val="22000"/>
                  </a:srgbClr>
                </a:gs>
                <a:gs pos="28000">
                  <a:srgbClr val="9263E6">
                    <a:alpha val="12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3" name="AutoShape 3"/>
          <p:cNvSpPr/>
          <p:nvPr userDrawn="1"/>
        </p:nvSpPr>
        <p:spPr>
          <a:xfrm>
            <a:off x="5588635" y="4572000"/>
            <a:ext cx="6350000" cy="6350000"/>
          </a:xfrm>
          <a:prstGeom prst="ellipse">
            <a:avLst/>
          </a:prstGeom>
          <a:gradFill rotWithShape="1">
            <a:gsLst>
              <a:gs pos="0">
                <a:srgbClr val="B388FF">
                  <a:alpha val="18000"/>
                </a:srgbClr>
              </a:gs>
              <a:gs pos="60000">
                <a:srgbClr val="121212">
                  <a:alpha val="0"/>
                </a:srgbClr>
              </a:gs>
            </a:gsLst>
            <a:path path="circle">
              <a:fillToRect l="50000" t="50000" r="50000" b="50000"/>
            </a:path>
            <a:tileRect/>
          </a:gradFill>
          <a:ln cap="flat" cmpd="sng">
            <a:gradFill rotWithShape="1">
              <a:gsLst>
                <a:gs pos="0">
                  <a:srgbClr val="9263E6">
                    <a:alpha val="18000"/>
                  </a:srgbClr>
                </a:gs>
                <a:gs pos="60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6" name="AutoShape 6"/>
          <p:cNvSpPr/>
          <p:nvPr userDrawn="1"/>
        </p:nvSpPr>
        <p:spPr>
          <a:xfrm>
            <a:off x="6350000" y="4110355"/>
            <a:ext cx="762000" cy="38100"/>
          </a:xfrm>
          <a:prstGeom prst="roundRect">
            <a:avLst>
              <a:gd name="adj" fmla="val 0"/>
            </a:avLst>
          </a:prstGeom>
          <a:gradFill rotWithShape="1">
            <a:gsLst>
              <a:gs pos="0">
                <a:srgbClr val="00E5FF">
                  <a:alpha val="100000"/>
                </a:srgbClr>
              </a:gs>
              <a:gs pos="100000">
                <a:srgbClr val="B388FF">
                  <a:alpha val="100000"/>
                </a:srgbClr>
              </a:gs>
            </a:gsLst>
            <a:lin ang="0"/>
          </a:gradFill>
          <a:ln cap="flat" cmpd="sng">
            <a:gradFill rotWithShape="1">
              <a:gsLst>
                <a:gs pos="0">
                  <a:srgbClr val="00CEE6">
                    <a:alpha val="100000"/>
                  </a:srgbClr>
                </a:gs>
                <a:gs pos="100000">
                  <a:srgbClr val="9263E6">
                    <a:alpha val="100000"/>
                  </a:srgbClr>
                </a:gs>
              </a:gsLst>
              <a:lin ang="0"/>
            </a:gradFill>
            <a:prstDash val="solid"/>
            <a:round/>
          </a:ln>
        </p:spPr>
        <p:txBody>
          <a:bodyPr vert="horz" wrap="square" lIns="63500" tIns="63500" rIns="63500" bIns="63500" rtlCol="0" anchor="ctr"/>
          <a:lstStyle/>
          <a:p>
            <a:pPr algn="ctr">
              <a:defRPr/>
            </a:pPr>
          </a:p>
        </p:txBody>
      </p:sp>
      <p:sp>
        <p:nvSpPr>
          <p:cNvPr id="6" name="文本占位符 5"/>
          <p:cNvSpPr>
            <a:spLocks noGrp="1"/>
          </p:cNvSpPr>
          <p:nvPr>
            <p:ph type="body" idx="13" hasCustomPrompt="1"/>
          </p:nvPr>
        </p:nvSpPr>
        <p:spPr>
          <a:xfrm>
            <a:off x="889635" y="1651635"/>
            <a:ext cx="4699000" cy="3160395"/>
          </a:xfrm>
        </p:spPr>
        <p:txBody>
          <a:bodyPr anchor="ctr" anchorCtr="0"/>
          <a:lstStyle>
            <a:lvl1pPr marL="0" marR="0" lvl="0" indent="0" algn="ctr" defTabSz="914400" rtl="0" eaLnBrk="1" fontAlgn="auto" latinLnBrk="0" hangingPunct="1">
              <a:lnSpc>
                <a:spcPct val="92000"/>
              </a:lnSpc>
              <a:spcBef>
                <a:spcPts val="1000"/>
              </a:spcBef>
              <a:buClrTx/>
              <a:buSzTx/>
              <a:buFontTx/>
              <a:buNone/>
              <a:defRPr/>
            </a:lvl1pPr>
          </a:lstStyle>
          <a:p>
            <a:pPr lvl="0"/>
            <a:r>
              <a:rPr lang="zh-CN" altLang="en-US"/>
              <a:t>编号</a:t>
            </a:r>
            <a:endParaRPr lang="zh-CN" altLang="en-US"/>
          </a:p>
        </p:txBody>
      </p:sp>
      <p:sp>
        <p:nvSpPr>
          <p:cNvPr id="7" name="文本占位符 6"/>
          <p:cNvSpPr>
            <a:spLocks noGrp="1"/>
          </p:cNvSpPr>
          <p:nvPr>
            <p:ph type="body" idx="14" hasCustomPrompt="1"/>
          </p:nvPr>
        </p:nvSpPr>
        <p:spPr>
          <a:xfrm>
            <a:off x="6096000" y="4304030"/>
            <a:ext cx="5461635" cy="683895"/>
          </a:xfrm>
        </p:spPr>
        <p:txBody>
          <a:bodyPr anchor="ctr" anchorCtr="0"/>
          <a:lstStyle>
            <a:lvl1pPr marL="0" marR="0" lvl="0" indent="0" algn="l" defTabSz="914400" rtl="0" eaLnBrk="1" fontAlgn="auto" latinLnBrk="0" hangingPunct="1">
              <a:lnSpc>
                <a:spcPct val="117000"/>
              </a:lnSpc>
              <a:spcBef>
                <a:spcPts val="1000"/>
              </a:spcBef>
              <a:buClrTx/>
              <a:buSzTx/>
              <a:buFontTx/>
              <a:buNone/>
              <a:defRPr/>
            </a:lvl1pPr>
          </a:lstStyle>
          <a:p>
            <a:pPr marL="0" indent="0" algn="l">
              <a:lnSpc>
                <a:spcPct val="117000"/>
              </a:lnSpc>
              <a:defRPr/>
            </a:pPr>
            <a:r>
              <a:rPr lang="en-US" spc="300">
                <a:solidFill>
                  <a:srgbClr val="B4B4BE"/>
                </a:solidFill>
                <a:latin typeface="Noto Sans SC"/>
                <a:ea typeface="Noto Sans SC"/>
                <a:cs typeface="Noto Sans SC"/>
                <a:sym typeface="Noto Sans SC"/>
              </a:rPr>
              <a:t>【章节副标题 / 引言】</a:t>
            </a:r>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AutoShape 2"/>
          <p:cNvSpPr/>
          <p:nvPr userDrawn="1"/>
        </p:nvSpPr>
        <p:spPr>
          <a:xfrm>
            <a:off x="-2286000" y="-2286000"/>
            <a:ext cx="16764000" cy="9144000"/>
          </a:xfrm>
          <a:prstGeom prst="ellipse">
            <a:avLst/>
          </a:prstGeom>
          <a:gradFill rotWithShape="1">
            <a:gsLst>
              <a:gs pos="0">
                <a:srgbClr val="38BDF8">
                  <a:alpha val="22000"/>
                </a:srgbClr>
              </a:gs>
              <a:gs pos="22000">
                <a:srgbClr val="A855F7">
                  <a:alpha val="14000"/>
                </a:srgbClr>
              </a:gs>
              <a:gs pos="62000">
                <a:srgbClr val="121212">
                  <a:alpha val="0"/>
                </a:srgbClr>
              </a:gs>
            </a:gsLst>
            <a:path path="circle">
              <a:fillToRect l="50000" t="50000" r="50000" b="50000"/>
            </a:path>
            <a:tileRect/>
          </a:gradFill>
          <a:ln cap="flat" cmpd="sng">
            <a:gradFill rotWithShape="1">
              <a:gsLst>
                <a:gs pos="0">
                  <a:srgbClr val="1CA3DF">
                    <a:alpha val="22000"/>
                  </a:srgbClr>
                </a:gs>
                <a:gs pos="22000">
                  <a:srgbClr val="8C36DE">
                    <a:alpha val="14000"/>
                  </a:srgbClr>
                </a:gs>
                <a:gs pos="62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7" name="AutoShape 3"/>
          <p:cNvSpPr/>
          <p:nvPr userDrawn="1"/>
        </p:nvSpPr>
        <p:spPr>
          <a:xfrm>
            <a:off x="-1778000" y="-1524000"/>
            <a:ext cx="15748000" cy="7874000"/>
          </a:xfrm>
          <a:prstGeom prst="ellipse">
            <a:avLst/>
          </a:prstGeom>
          <a:gradFill rotWithShape="1">
            <a:gsLst>
              <a:gs pos="0">
                <a:srgbClr val="A855F7">
                  <a:alpha val="18000"/>
                </a:srgbClr>
              </a:gs>
              <a:gs pos="20000">
                <a:srgbClr val="38BDF8">
                  <a:alpha val="8000"/>
                </a:srgbClr>
              </a:gs>
              <a:gs pos="57999">
                <a:srgbClr val="121212">
                  <a:alpha val="0"/>
                </a:srgbClr>
              </a:gs>
            </a:gsLst>
            <a:path path="circle">
              <a:fillToRect l="50000" t="50000" r="50000" b="50000"/>
            </a:path>
            <a:tileRect/>
          </a:gradFill>
          <a:ln cap="flat" cmpd="sng">
            <a:gradFill rotWithShape="1">
              <a:gsLst>
                <a:gs pos="0">
                  <a:srgbClr val="8C36DE">
                    <a:alpha val="18000"/>
                  </a:srgbClr>
                </a:gs>
                <a:gs pos="20000">
                  <a:srgbClr val="1CA3DF">
                    <a:alpha val="8000"/>
                  </a:srgbClr>
                </a:gs>
                <a:gs pos="57999">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8" name="AutoShape 4"/>
          <p:cNvSpPr/>
          <p:nvPr userDrawn="1"/>
        </p:nvSpPr>
        <p:spPr>
          <a:xfrm>
            <a:off x="762000" y="1778000"/>
            <a:ext cx="10668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7200" b="1" i="0" u="none" strike="noStrike" spc="1200">
                <a:solidFill>
                  <a:srgbClr val="FFFFFF"/>
                </a:solidFill>
                <a:latin typeface="Noto Sans SC"/>
                <a:ea typeface="Noto Sans SC"/>
                <a:cs typeface="Noto Sans SC"/>
                <a:sym typeface="Noto Sans SC"/>
              </a:rPr>
              <a:t>谢谢聆听</a:t>
            </a:r>
            <a:endParaRPr lang="en-US" sz="1100"/>
          </a:p>
        </p:txBody>
      </p:sp>
      <p:sp>
        <p:nvSpPr>
          <p:cNvPr id="9" name="AutoShape 5"/>
          <p:cNvSpPr/>
          <p:nvPr userDrawn="1"/>
        </p:nvSpPr>
        <p:spPr>
          <a:xfrm>
            <a:off x="762000" y="3530600"/>
            <a:ext cx="10668000" cy="5842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2800" b="0" i="0" u="none" strike="noStrike" spc="800">
                <a:solidFill>
                  <a:srgbClr val="E5E7EB">
                    <a:alpha val="87843"/>
                  </a:srgbClr>
                </a:solidFill>
                <a:latin typeface="Noto Sans SC"/>
                <a:ea typeface="Noto Sans SC"/>
                <a:cs typeface="Noto Sans SC"/>
                <a:sym typeface="Noto Sans SC"/>
              </a:rPr>
              <a:t>【Q &amp; A / 提问交流环节】</a:t>
            </a:r>
            <a:endParaRPr lang="en-US" sz="1100"/>
          </a:p>
        </p:txBody>
      </p:sp>
      <p:cxnSp>
        <p:nvCxnSpPr>
          <p:cNvPr id="10" name="Connector 6"/>
          <p:cNvCxnSpPr/>
          <p:nvPr userDrawn="1"/>
        </p:nvCxnSpPr>
        <p:spPr>
          <a:xfrm rot="-57290">
            <a:off x="5715053" y="4565650"/>
            <a:ext cx="762000" cy="12700"/>
          </a:xfrm>
          <a:prstGeom prst="straightConnector1">
            <a:avLst/>
          </a:prstGeom>
          <a:solidFill>
            <a:srgbClr val="DEE0E3">
              <a:alpha val="100000"/>
            </a:srgbClr>
          </a:solidFill>
          <a:ln w="25400" cap="flat" cmpd="sng">
            <a:solidFill>
              <a:srgbClr val="A855F7">
                <a:alpha val="60000"/>
              </a:srgbClr>
            </a:solidFill>
            <a:prstDash val="solid"/>
            <a:round/>
            <a:headEnd type="none" w="lg" len="lg"/>
            <a:tailEnd type="none" w="lg" len="lg"/>
          </a:ln>
        </p:spPr>
      </p:cxnSp>
      <p:pic>
        <p:nvPicPr>
          <p:cNvPr id="11" name="Picture 7"/>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6000" y="4978400"/>
            <a:ext cx="279400" cy="279400"/>
          </a:xfrm>
          <a:prstGeom prst="rect">
            <a:avLst/>
          </a:prstGeom>
        </p:spPr>
      </p:pic>
      <p:cxnSp>
        <p:nvCxnSpPr>
          <p:cNvPr id="13" name="Connector 9"/>
          <p:cNvCxnSpPr/>
          <p:nvPr userDrawn="1"/>
        </p:nvCxnSpPr>
        <p:spPr>
          <a:xfrm rot="5267844">
            <a:off x="4787900" y="5162672"/>
            <a:ext cx="330200" cy="12700"/>
          </a:xfrm>
          <a:prstGeom prst="straightConnector1">
            <a:avLst/>
          </a:prstGeom>
          <a:solidFill>
            <a:srgbClr val="DEE0E3">
              <a:alpha val="100000"/>
            </a:srgbClr>
          </a:solidFill>
          <a:ln w="12700" cap="flat" cmpd="sng">
            <a:solidFill>
              <a:srgbClr val="FFFFFF">
                <a:alpha val="22000"/>
              </a:srgbClr>
            </a:solidFill>
            <a:prstDash val="solid"/>
            <a:round/>
            <a:headEnd type="none" w="med" len="med"/>
            <a:tailEnd type="none" w="med" len="med"/>
          </a:ln>
        </p:spPr>
      </p:cxnSp>
      <p:pic>
        <p:nvPicPr>
          <p:cNvPr id="14" name="Picture 10"/>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34000" y="4978400"/>
            <a:ext cx="279400" cy="279400"/>
          </a:xfrm>
          <a:prstGeom prst="rect">
            <a:avLst/>
          </a:prstGeom>
        </p:spPr>
      </p:pic>
      <p:cxnSp>
        <p:nvCxnSpPr>
          <p:cNvPr id="16" name="Connector 12"/>
          <p:cNvCxnSpPr/>
          <p:nvPr userDrawn="1"/>
        </p:nvCxnSpPr>
        <p:spPr>
          <a:xfrm rot="5267844">
            <a:off x="7772400" y="5162672"/>
            <a:ext cx="330200" cy="12700"/>
          </a:xfrm>
          <a:prstGeom prst="straightConnector1">
            <a:avLst/>
          </a:prstGeom>
          <a:solidFill>
            <a:srgbClr val="DEE0E3">
              <a:alpha val="100000"/>
            </a:srgbClr>
          </a:solidFill>
          <a:ln w="12700" cap="flat" cmpd="sng">
            <a:solidFill>
              <a:srgbClr val="FFFFFF">
                <a:alpha val="22000"/>
              </a:srgbClr>
            </a:solidFill>
            <a:prstDash val="solid"/>
            <a:round/>
            <a:headEnd type="none" w="med" len="med"/>
            <a:tailEnd type="none" w="med" len="med"/>
          </a:ln>
        </p:spPr>
      </p:cxnSp>
      <p:pic>
        <p:nvPicPr>
          <p:cNvPr id="17" name="Picture 13"/>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18500" y="4978400"/>
            <a:ext cx="279400" cy="279400"/>
          </a:xfrm>
          <a:prstGeom prst="rect">
            <a:avLst/>
          </a:prstGeom>
        </p:spPr>
      </p:pic>
      <p:sp>
        <p:nvSpPr>
          <p:cNvPr id="21" name="内容占位符 20"/>
          <p:cNvSpPr>
            <a:spLocks noGrp="1"/>
          </p:cNvSpPr>
          <p:nvPr>
            <p:ph idx="13" hasCustomPrompt="1"/>
          </p:nvPr>
        </p:nvSpPr>
        <p:spPr>
          <a:xfrm>
            <a:off x="2693035" y="4952365"/>
            <a:ext cx="203073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a:ea typeface="Noto Sans SC"/>
                <a:cs typeface="Noto Sans SC"/>
                <a:sym typeface="Noto Sans SC"/>
              </a:defRPr>
            </a:lvl1pPr>
          </a:lstStyle>
          <a:p>
            <a:pPr marL="0" indent="0" algn="l">
              <a:lnSpc>
                <a:spcPct val="100000"/>
              </a:lnSpc>
              <a:defRPr/>
            </a:pPr>
            <a:r>
              <a:rPr>
                <a:sym typeface="Noto Sans SC"/>
              </a:rPr>
              <a:t>contact@xxx.com</a:t>
            </a:r>
            <a:endParaRPr lang="en-US" altLang="zh-CN"/>
          </a:p>
        </p:txBody>
      </p:sp>
      <p:sp>
        <p:nvSpPr>
          <p:cNvPr id="22" name="内容占位符 21"/>
          <p:cNvSpPr>
            <a:spLocks noGrp="1"/>
          </p:cNvSpPr>
          <p:nvPr>
            <p:ph idx="14" hasCustomPrompt="1"/>
          </p:nvPr>
        </p:nvSpPr>
        <p:spPr>
          <a:xfrm>
            <a:off x="5740400" y="4953000"/>
            <a:ext cx="203200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a:ea typeface="Noto Sans SC"/>
                <a:cs typeface="Noto Sans SC"/>
                <a:sym typeface="Noto Sans SC"/>
              </a:defRPr>
            </a:lvl1pPr>
          </a:lstStyle>
          <a:p>
            <a:pPr marL="0" indent="0" algn="l">
              <a:lnSpc>
                <a:spcPct val="100000"/>
              </a:lnSpc>
              <a:defRPr/>
            </a:pPr>
            <a:r>
              <a:rPr lang="zh-CN" altLang="en-US"/>
              <a:t>公众号：</a:t>
            </a:r>
            <a:r>
              <a:rPr altLang="zh-CN"/>
              <a:t>XXX</a:t>
            </a:r>
            <a:endParaRPr altLang="zh-CN"/>
          </a:p>
        </p:txBody>
      </p:sp>
      <p:sp>
        <p:nvSpPr>
          <p:cNvPr id="23" name="内容占位符 22"/>
          <p:cNvSpPr>
            <a:spLocks noGrp="1"/>
          </p:cNvSpPr>
          <p:nvPr>
            <p:ph idx="15" hasCustomPrompt="1"/>
          </p:nvPr>
        </p:nvSpPr>
        <p:spPr>
          <a:xfrm>
            <a:off x="8724900" y="4953000"/>
            <a:ext cx="215900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a:ea typeface="SimSun" charset="0"/>
                <a:cs typeface="Noto Sans SC"/>
                <a:sym typeface="Noto Sans SC"/>
              </a:defRPr>
            </a:lvl1pPr>
          </a:lstStyle>
          <a:p>
            <a:pPr marL="0" indent="0" algn="l">
              <a:lnSpc>
                <a:spcPct val="100000"/>
              </a:lnSpc>
              <a:defRPr/>
            </a:pPr>
            <a:r>
              <a:rPr lang="zh-CN" altLang="en-US"/>
              <a:t>公众号：</a:t>
            </a:r>
            <a:r>
              <a:rPr altLang="zh-CN"/>
              <a:t>XXX</a:t>
            </a:r>
            <a:r>
              <a:rPr lang="zh-CN" altLang="en-US"/>
              <a:t>事实</a:t>
            </a:r>
            <a:endParaRPr lang="zh-CN" altLang="en-US"/>
          </a:p>
        </p:txBody>
      </p:sp>
      <p:sp>
        <p:nvSpPr>
          <p:cNvPr id="25" name="内容占位符 24"/>
          <p:cNvSpPr>
            <a:spLocks noGrp="1"/>
          </p:cNvSpPr>
          <p:nvPr>
            <p:ph idx="16" hasCustomPrompt="1"/>
          </p:nvPr>
        </p:nvSpPr>
        <p:spPr>
          <a:xfrm>
            <a:off x="3215958" y="6121400"/>
            <a:ext cx="5760085" cy="329565"/>
          </a:xfrm>
        </p:spPr>
        <p:txBody>
          <a:bodyPr anchor="ctr" anchorCtr="0"/>
          <a:lstStyle>
            <a:lvl1pPr marL="0" indent="0" algn="ctr">
              <a:buNone/>
              <a:defRPr kumimoji="0" lang="en-US" sz="1400" b="0" i="0" u="none" strike="noStrike" kern="1200" cap="none" spc="400" normalizeH="0" baseline="0" noProof="1">
                <a:solidFill>
                  <a:srgbClr val="FFFFFF">
                    <a:alpha val="40000"/>
                  </a:srgbClr>
                </a:solidFill>
                <a:latin typeface="Noto Sans SC"/>
                <a:ea typeface="Noto Sans SC"/>
                <a:cs typeface="Noto Sans SC"/>
                <a:sym typeface="Noto Sans SC"/>
              </a:defRPr>
            </a:lvl1pPr>
          </a:lstStyle>
          <a:p>
            <a:pPr marL="0" indent="0" algn="ctr">
              <a:lnSpc>
                <a:spcPct val="100000"/>
              </a:lnSpc>
              <a:defRPr/>
            </a:pPr>
            <a:r>
              <a:rPr>
                <a:sym typeface="Noto Sans SC"/>
              </a:rPr>
              <a:t>【课程名称 / 机构名】</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7.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6132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pic>
        <p:nvPicPr>
          <p:cNvPr id="34" name="Image 0" descr="香港科技大学与上海产教融合中心反白Logo"/>
          <p:cNvPicPr>
            <a:picLocks noChangeAspect="1"/>
          </p:cNvPicPr>
          <p:nvPr userDrawn="1"/>
        </p:nvPicPr>
        <p:blipFill>
          <a:blip r:embed="rId15"/>
          <a:stretch>
            <a:fillRect/>
          </a:stretch>
        </p:blipFill>
        <p:spPr>
          <a:xfrm>
            <a:off x="8741664" y="274320"/>
            <a:ext cx="2788920" cy="6858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0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9.GI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ctrTitle"/>
          </p:nvPr>
        </p:nvSpPr>
        <p:spPr/>
        <p:txBody>
          <a:bodyPr>
            <a:normAutofit/>
          </a:bodyPr>
          <a:lstStyle/>
          <a:p>
            <a:r>
              <a:rPr lang="zh-CN" altLang="en-US" sz="6000"/>
              <a:t>第二课</a:t>
            </a:r>
            <a:br>
              <a:rPr lang="zh-CN" altLang="en-US" sz="6000"/>
            </a:br>
            <a:r>
              <a:rPr lang="zh-CN" sz="6000"/>
              <a:t>大模型是如何生成内容的</a:t>
            </a:r>
            <a:endParaRPr lang="zh-CN" sz="6000"/>
          </a:p>
        </p:txBody>
      </p:sp>
      <p:sp>
        <p:nvSpPr>
          <p:cNvPr id="11" name="副标题 10"/>
          <p:cNvSpPr>
            <a:spLocks noGrp="1"/>
          </p:cNvSpPr>
          <p:nvPr>
            <p:ph type="subTitle" idx="1"/>
          </p:nvPr>
        </p:nvSpPr>
        <p:spPr/>
        <p:txBody>
          <a:bodyPr/>
          <a:lstStyle/>
          <a:p>
            <a:r>
              <a:rPr lang="zh-CN" altLang="en-US"/>
              <a:t>港科大人工智能前沿系列课程——大模型基础通识</a:t>
            </a:r>
            <a:endParaRPr lang="zh-CN" altLang="en-US"/>
          </a:p>
          <a:p>
            <a:endParaRPr lang="zh-CN" altLang="en-US"/>
          </a:p>
        </p:txBody>
      </p:sp>
      <p:sp>
        <p:nvSpPr>
          <p:cNvPr id="12" name="文本占位符 11"/>
          <p:cNvSpPr>
            <a:spLocks noGrp="1"/>
          </p:cNvSpPr>
          <p:nvPr>
            <p:ph type="body" idx="13"/>
          </p:nvPr>
        </p:nvSpPr>
        <p:spPr/>
        <p:txBody>
          <a:bodyPr/>
          <a:lstStyle/>
          <a:p>
            <a:r>
              <a:rPr lang="zh-CN" altLang="en-US"/>
              <a:t>授课人：王若愚</a:t>
            </a:r>
            <a:endParaRPr lang="zh-CN" altLang="en-US"/>
          </a:p>
        </p:txBody>
      </p:sp>
      <p:sp>
        <p:nvSpPr>
          <p:cNvPr id="13" name="文本占位符 12"/>
          <p:cNvSpPr>
            <a:spLocks noGrp="1"/>
          </p:cNvSpPr>
          <p:nvPr>
            <p:ph type="body" idx="16"/>
          </p:nvPr>
        </p:nvSpPr>
        <p:spPr/>
        <p:txBody>
          <a:bodyPr/>
          <a:lstStyle/>
          <a:p>
            <a:r>
              <a:rPr lang="en-US" altLang="zh-CN" dirty="0"/>
              <a:t>2026/09/01</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回顾</a:t>
            </a:r>
            <a:endParaRPr lang="zh-CN" altLang="en-US"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pic>
        <p:nvPicPr>
          <p:cNvPr id="5" name="图片 4"/>
          <p:cNvPicPr>
            <a:picLocks noChangeAspect="1"/>
          </p:cNvPicPr>
          <p:nvPr/>
        </p:nvPicPr>
        <p:blipFill>
          <a:blip r:embed="rId1">
            <a:alphaModFix amt="50000"/>
          </a:blip>
          <a:stretch>
            <a:fillRect/>
          </a:stretch>
        </p:blipFill>
        <p:spPr>
          <a:xfrm>
            <a:off x="1595755" y="1221105"/>
            <a:ext cx="9000000" cy="5067118"/>
          </a:xfrm>
          <a:prstGeom prst="rect">
            <a:avLst/>
          </a:prstGeom>
        </p:spPr>
      </p:pic>
      <p:sp>
        <p:nvSpPr>
          <p:cNvPr id="6" name="文本框 5"/>
          <p:cNvSpPr txBox="1"/>
          <p:nvPr/>
        </p:nvSpPr>
        <p:spPr>
          <a:xfrm>
            <a:off x="3162935" y="3429000"/>
            <a:ext cx="2392680" cy="645160"/>
          </a:xfrm>
          <a:prstGeom prst="rect">
            <a:avLst/>
          </a:prstGeom>
          <a:noFill/>
        </p:spPr>
        <p:txBody>
          <a:bodyPr wrap="square" rtlCol="0">
            <a:spAutoFit/>
          </a:bodyPr>
          <a:lstStyle/>
          <a:p>
            <a:pPr algn="ctr"/>
            <a:r>
              <a:rPr lang="zh-CN" altLang="en-US">
                <a:solidFill>
                  <a:schemeClr val="bg1"/>
                </a:solidFill>
              </a:rPr>
              <a:t>发动机</a:t>
            </a:r>
            <a:endParaRPr lang="zh-CN" altLang="en-US">
              <a:solidFill>
                <a:schemeClr val="bg1"/>
              </a:solidFill>
            </a:endParaRPr>
          </a:p>
          <a:p>
            <a:pPr algn="ctr"/>
            <a:r>
              <a:rPr lang="zh-CN" altLang="en-US">
                <a:solidFill>
                  <a:schemeClr val="bg1"/>
                </a:solidFill>
              </a:rPr>
              <a:t>（模型本体</a:t>
            </a:r>
            <a:r>
              <a:rPr lang="en-US" altLang="zh-CN">
                <a:solidFill>
                  <a:schemeClr val="bg1"/>
                </a:solidFill>
              </a:rPr>
              <a:t>/Model</a:t>
            </a:r>
            <a:r>
              <a:rPr lang="zh-CN" altLang="en-US">
                <a:solidFill>
                  <a:schemeClr val="bg1"/>
                </a:solidFill>
              </a:rPr>
              <a:t>）</a:t>
            </a:r>
            <a:endParaRPr lang="zh-CN" altLang="en-US">
              <a:solidFill>
                <a:schemeClr val="bg1"/>
              </a:solidFill>
            </a:endParaRPr>
          </a:p>
        </p:txBody>
      </p:sp>
      <p:sp>
        <p:nvSpPr>
          <p:cNvPr id="7" name="文本框 6"/>
          <p:cNvSpPr txBox="1"/>
          <p:nvPr/>
        </p:nvSpPr>
        <p:spPr>
          <a:xfrm>
            <a:off x="5542280" y="4318000"/>
            <a:ext cx="1388745" cy="645160"/>
          </a:xfrm>
          <a:prstGeom prst="rect">
            <a:avLst/>
          </a:prstGeom>
          <a:noFill/>
        </p:spPr>
        <p:txBody>
          <a:bodyPr wrap="square" rtlCol="0">
            <a:spAutoFit/>
          </a:bodyPr>
          <a:lstStyle/>
          <a:p>
            <a:pPr algn="ctr"/>
            <a:r>
              <a:rPr lang="zh-CN" altLang="en-US">
                <a:solidFill>
                  <a:schemeClr val="bg1"/>
                </a:solidFill>
              </a:rPr>
              <a:t>车轮</a:t>
            </a:r>
            <a:endParaRPr lang="zh-CN" altLang="en-US">
              <a:solidFill>
                <a:schemeClr val="bg1"/>
              </a:solidFill>
            </a:endParaRPr>
          </a:p>
          <a:p>
            <a:pPr algn="ctr"/>
            <a:r>
              <a:rPr lang="zh-CN" altLang="en-US">
                <a:solidFill>
                  <a:schemeClr val="bg1"/>
                </a:solidFill>
              </a:rPr>
              <a:t>（工具</a:t>
            </a:r>
            <a:r>
              <a:rPr lang="en-US" altLang="zh-CN">
                <a:solidFill>
                  <a:schemeClr val="bg1"/>
                </a:solidFill>
              </a:rPr>
              <a:t>/Tool</a:t>
            </a:r>
            <a:r>
              <a:rPr lang="zh-CN" altLang="en-US">
                <a:solidFill>
                  <a:schemeClr val="bg1"/>
                </a:solidFill>
              </a:rPr>
              <a:t>）</a:t>
            </a:r>
            <a:endParaRPr lang="zh-CN" altLang="en-US">
              <a:solidFill>
                <a:schemeClr val="bg1"/>
              </a:solidFill>
            </a:endParaRPr>
          </a:p>
        </p:txBody>
      </p:sp>
      <p:sp>
        <p:nvSpPr>
          <p:cNvPr id="8" name="文本框 7"/>
          <p:cNvSpPr txBox="1"/>
          <p:nvPr/>
        </p:nvSpPr>
        <p:spPr>
          <a:xfrm>
            <a:off x="6789420" y="3672840"/>
            <a:ext cx="2748280" cy="645160"/>
          </a:xfrm>
          <a:prstGeom prst="rect">
            <a:avLst/>
          </a:prstGeom>
          <a:noFill/>
        </p:spPr>
        <p:txBody>
          <a:bodyPr wrap="square" rtlCol="0">
            <a:spAutoFit/>
          </a:bodyPr>
          <a:lstStyle/>
          <a:p>
            <a:pPr algn="ctr"/>
            <a:r>
              <a:rPr lang="zh-CN" altLang="en-US">
                <a:solidFill>
                  <a:schemeClr val="bg1"/>
                </a:solidFill>
              </a:rPr>
              <a:t>车架</a:t>
            </a:r>
            <a:r>
              <a:rPr lang="en-US" altLang="zh-CN">
                <a:solidFill>
                  <a:schemeClr val="bg1"/>
                </a:solidFill>
              </a:rPr>
              <a:t>+</a:t>
            </a:r>
            <a:r>
              <a:rPr lang="zh-CN" altLang="en-US">
                <a:solidFill>
                  <a:schemeClr val="bg1"/>
                </a:solidFill>
              </a:rPr>
              <a:t>底盘</a:t>
            </a:r>
            <a:endParaRPr lang="zh-CN" altLang="en-US">
              <a:solidFill>
                <a:schemeClr val="bg1"/>
              </a:solidFill>
            </a:endParaRPr>
          </a:p>
          <a:p>
            <a:pPr algn="ctr"/>
            <a:r>
              <a:rPr lang="zh-CN" altLang="en-US">
                <a:solidFill>
                  <a:schemeClr val="bg1"/>
                </a:solidFill>
              </a:rPr>
              <a:t>（驾驭层</a:t>
            </a:r>
            <a:r>
              <a:rPr lang="en-US" altLang="zh-CN">
                <a:solidFill>
                  <a:schemeClr val="bg1"/>
                </a:solidFill>
              </a:rPr>
              <a:t>/Harness</a:t>
            </a:r>
            <a:r>
              <a:rPr lang="zh-CN" altLang="en-US">
                <a:solidFill>
                  <a:schemeClr val="bg1"/>
                </a:solidFill>
              </a:rPr>
              <a:t>）</a:t>
            </a:r>
            <a:endParaRPr lang="zh-CN" altLang="en-US">
              <a:solidFill>
                <a:schemeClr val="bg1"/>
              </a:solidFill>
            </a:endParaRPr>
          </a:p>
        </p:txBody>
      </p:sp>
      <p:sp>
        <p:nvSpPr>
          <p:cNvPr id="9" name="文本框 8"/>
          <p:cNvSpPr txBox="1"/>
          <p:nvPr/>
        </p:nvSpPr>
        <p:spPr>
          <a:xfrm>
            <a:off x="5189855" y="2864485"/>
            <a:ext cx="2748280" cy="645160"/>
          </a:xfrm>
          <a:prstGeom prst="rect">
            <a:avLst/>
          </a:prstGeom>
          <a:noFill/>
        </p:spPr>
        <p:txBody>
          <a:bodyPr wrap="square" rtlCol="0">
            <a:spAutoFit/>
          </a:bodyPr>
          <a:lstStyle/>
          <a:p>
            <a:pPr algn="ctr"/>
            <a:r>
              <a:rPr lang="zh-CN">
                <a:solidFill>
                  <a:schemeClr val="bg1"/>
                </a:solidFill>
              </a:rPr>
              <a:t>方向盘</a:t>
            </a:r>
            <a:endParaRPr lang="zh-CN">
              <a:solidFill>
                <a:schemeClr val="bg1"/>
              </a:solidFill>
            </a:endParaRPr>
          </a:p>
          <a:p>
            <a:pPr algn="ctr"/>
            <a:r>
              <a:rPr lang="zh-CN">
                <a:solidFill>
                  <a:schemeClr val="bg1"/>
                </a:solidFill>
              </a:rPr>
              <a:t>（操作界面</a:t>
            </a:r>
            <a:r>
              <a:rPr lang="en-US" altLang="zh-CN">
                <a:solidFill>
                  <a:schemeClr val="bg1"/>
                </a:solidFill>
              </a:rPr>
              <a:t>/UI</a:t>
            </a:r>
            <a:r>
              <a:rPr lang="zh-CN" altLang="en-US">
                <a:solidFill>
                  <a:schemeClr val="bg1"/>
                </a:solidFill>
              </a:rPr>
              <a:t>）</a:t>
            </a:r>
            <a:endParaRPr lang="zh-CN" altLang="en-US">
              <a:solidFill>
                <a:schemeClr val="bg1"/>
              </a:solidFill>
            </a:endParaRPr>
          </a:p>
        </p:txBody>
      </p:sp>
      <p:sp>
        <p:nvSpPr>
          <p:cNvPr id="10" name="文本框 9"/>
          <p:cNvSpPr txBox="1"/>
          <p:nvPr/>
        </p:nvSpPr>
        <p:spPr>
          <a:xfrm>
            <a:off x="4721860" y="5422900"/>
            <a:ext cx="2748280" cy="645160"/>
          </a:xfrm>
          <a:prstGeom prst="rect">
            <a:avLst/>
          </a:prstGeom>
          <a:noFill/>
        </p:spPr>
        <p:txBody>
          <a:bodyPr wrap="square" rtlCol="0">
            <a:spAutoFit/>
          </a:bodyPr>
          <a:lstStyle/>
          <a:p>
            <a:pPr algn="ctr"/>
            <a:r>
              <a:rPr lang="zh-CN">
                <a:solidFill>
                  <a:schemeClr val="bg1"/>
                </a:solidFill>
              </a:rPr>
              <a:t>整车</a:t>
            </a:r>
            <a:endParaRPr lang="zh-CN">
              <a:solidFill>
                <a:schemeClr val="bg1"/>
              </a:solidFill>
            </a:endParaRPr>
          </a:p>
          <a:p>
            <a:pPr algn="ctr"/>
            <a:r>
              <a:rPr lang="zh-CN">
                <a:solidFill>
                  <a:schemeClr val="bg1"/>
                </a:solidFill>
              </a:rPr>
              <a:t>（大模型产品</a:t>
            </a:r>
            <a:r>
              <a:rPr lang="en-US" altLang="zh-CN">
                <a:solidFill>
                  <a:schemeClr val="bg1"/>
                </a:solidFill>
              </a:rPr>
              <a:t>/Product</a:t>
            </a:r>
            <a:r>
              <a:rPr lang="zh-CN" altLang="en-US">
                <a:solidFill>
                  <a:schemeClr val="bg1"/>
                </a:solidFill>
              </a:rPr>
              <a:t>）</a:t>
            </a:r>
            <a:endParaRPr lang="zh-CN" altLang="en-US">
              <a:solidFill>
                <a:schemeClr val="bg1"/>
              </a:solidFill>
            </a:endParaRPr>
          </a:p>
        </p:txBody>
      </p:sp>
      <p:sp>
        <p:nvSpPr>
          <p:cNvPr id="14" name="文本框 13"/>
          <p:cNvSpPr txBox="1"/>
          <p:nvPr/>
        </p:nvSpPr>
        <p:spPr>
          <a:xfrm>
            <a:off x="7641590" y="2462530"/>
            <a:ext cx="4064000" cy="2537874"/>
          </a:xfrm>
          <a:prstGeom prst="rect">
            <a:avLst/>
          </a:prstGeom>
          <a:noFill/>
        </p:spPr>
        <p:txBody>
          <a:bodyPr wrap="square" rtlCol="0">
            <a:spAutoFit/>
          </a:bodyPr>
          <a:lstStyle/>
          <a:p>
            <a:pPr marL="285750" indent="-285750">
              <a:lnSpc>
                <a:spcPct val="150000"/>
              </a:lnSpc>
              <a:buFont typeface="Arial" panose="02080604020202020204" pitchFamily="34" charset="0"/>
              <a:buChar char="•"/>
            </a:pPr>
            <a:r>
              <a:rPr lang="en-US" altLang="zh-CN" dirty="0">
                <a:solidFill>
                  <a:schemeClr val="bg1"/>
                </a:solidFill>
                <a:sym typeface="+mn-ea"/>
              </a:rPr>
              <a:t>AI</a:t>
            </a:r>
            <a:r>
              <a:rPr lang="zh-CN" altLang="en-US" dirty="0">
                <a:solidFill>
                  <a:schemeClr val="bg1"/>
                </a:solidFill>
                <a:sym typeface="+mn-ea"/>
              </a:rPr>
              <a:t>产品是</a:t>
            </a:r>
            <a:r>
              <a:rPr lang="zh-CN" altLang="en-US" dirty="0">
                <a:solidFill>
                  <a:srgbClr val="00E5FF"/>
                </a:solidFill>
                <a:sym typeface="+mn-ea"/>
              </a:rPr>
              <a:t>“</a:t>
            </a:r>
            <a:r>
              <a:rPr lang="zh-CN" altLang="en-US" b="1" dirty="0">
                <a:solidFill>
                  <a:srgbClr val="00E5FF"/>
                </a:solidFill>
                <a:sym typeface="+mn-ea"/>
              </a:rPr>
              <a:t>整车”</a:t>
            </a:r>
            <a:endParaRPr lang="zh-CN" altLang="en-US" dirty="0">
              <a:solidFill>
                <a:schemeClr val="bg1"/>
              </a:solidFill>
            </a:endParaRPr>
          </a:p>
          <a:p>
            <a:pPr marL="285750" indent="-285750">
              <a:lnSpc>
                <a:spcPct val="150000"/>
              </a:lnSpc>
              <a:buFont typeface="Arial" panose="02080604020202020204" pitchFamily="34" charset="0"/>
              <a:buChar char="•"/>
            </a:pPr>
            <a:r>
              <a:rPr lang="zh-CN" altLang="en-US" dirty="0">
                <a:solidFill>
                  <a:schemeClr val="bg1"/>
                </a:solidFill>
                <a:sym typeface="+mn-ea"/>
              </a:rPr>
              <a:t>大模型本体是</a:t>
            </a:r>
            <a:r>
              <a:rPr lang="zh-CN" altLang="en-US" dirty="0">
                <a:solidFill>
                  <a:srgbClr val="00E5FF"/>
                </a:solidFill>
                <a:sym typeface="+mn-ea"/>
              </a:rPr>
              <a:t>“</a:t>
            </a:r>
            <a:r>
              <a:rPr lang="zh-CN" altLang="en-US" b="1" dirty="0">
                <a:solidFill>
                  <a:srgbClr val="00E5FF"/>
                </a:solidFill>
                <a:sym typeface="+mn-ea"/>
              </a:rPr>
              <a:t>发动机”</a:t>
            </a:r>
            <a:endParaRPr lang="zh-CN" altLang="en-US" b="1" dirty="0">
              <a:solidFill>
                <a:srgbClr val="00E5FF"/>
              </a:solidFill>
            </a:endParaRPr>
          </a:p>
          <a:p>
            <a:pPr marL="285750" indent="-285750">
              <a:lnSpc>
                <a:spcPct val="150000"/>
              </a:lnSpc>
              <a:buFont typeface="Arial" panose="02080604020202020204" pitchFamily="34" charset="0"/>
              <a:buChar char="•"/>
            </a:pPr>
            <a:r>
              <a:rPr lang="zh-CN" altLang="en-US" dirty="0">
                <a:solidFill>
                  <a:schemeClr val="bg1"/>
                </a:solidFill>
                <a:sym typeface="+mn-ea"/>
              </a:rPr>
              <a:t>模型本体是</a:t>
            </a:r>
            <a:r>
              <a:rPr lang="zh-CN" altLang="en-US" b="1" dirty="0">
                <a:solidFill>
                  <a:srgbClr val="00E5FF"/>
                </a:solidFill>
                <a:sym typeface="+mn-ea"/>
              </a:rPr>
              <a:t>无状态</a:t>
            </a:r>
            <a:r>
              <a:rPr lang="zh-CN" altLang="en-US" dirty="0">
                <a:solidFill>
                  <a:schemeClr val="bg1"/>
                </a:solidFill>
                <a:sym typeface="+mn-ea"/>
              </a:rPr>
              <a:t>的、内部信息是</a:t>
            </a:r>
            <a:r>
              <a:rPr lang="zh-CN" altLang="en-US" b="1" dirty="0">
                <a:solidFill>
                  <a:srgbClr val="00E5FF"/>
                </a:solidFill>
                <a:sym typeface="+mn-ea"/>
              </a:rPr>
              <a:t>有截止日期</a:t>
            </a:r>
            <a:r>
              <a:rPr lang="zh-CN" altLang="en-US" dirty="0">
                <a:solidFill>
                  <a:schemeClr val="bg1"/>
                </a:solidFill>
                <a:sym typeface="+mn-ea"/>
              </a:rPr>
              <a:t>的</a:t>
            </a:r>
            <a:endParaRPr lang="zh-CN" altLang="en-US" dirty="0">
              <a:solidFill>
                <a:schemeClr val="bg1"/>
              </a:solidFill>
            </a:endParaRPr>
          </a:p>
          <a:p>
            <a:pPr marL="285750" indent="-285750">
              <a:lnSpc>
                <a:spcPct val="150000"/>
              </a:lnSpc>
              <a:buFont typeface="Arial" panose="02080604020202020204" pitchFamily="34" charset="0"/>
              <a:buChar char="•"/>
            </a:pPr>
            <a:r>
              <a:rPr lang="zh-CN" altLang="en-US" dirty="0">
                <a:solidFill>
                  <a:schemeClr val="bg1"/>
                </a:solidFill>
                <a:sym typeface="+mn-ea"/>
              </a:rPr>
              <a:t>我们平常操作的是</a:t>
            </a:r>
            <a:r>
              <a:rPr lang="zh-CN" altLang="en-US" b="1" dirty="0">
                <a:solidFill>
                  <a:srgbClr val="00E5FF"/>
                </a:solidFill>
                <a:sym typeface="+mn-ea"/>
              </a:rPr>
              <a:t>“方向盘”</a:t>
            </a:r>
            <a:r>
              <a:rPr lang="zh-CN" altLang="en-US" dirty="0">
                <a:solidFill>
                  <a:schemeClr val="bg1"/>
                </a:solidFill>
                <a:sym typeface="+mn-ea"/>
              </a:rPr>
              <a:t>，通过“驾驭层”控制“发动机”运转</a:t>
            </a:r>
            <a:endParaRPr lang="en-US" altLang="zh-CN"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1"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1"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1500"/>
                            </p:stCondLst>
                            <p:childTnLst>
                              <p:par>
                                <p:cTn id="17" presetID="10" presetClass="entr" presetSubtype="0" fill="hold" grpId="1"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1"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par>
                          <p:cTn id="24" fill="hold">
                            <p:stCondLst>
                              <p:cond delay="2500"/>
                            </p:stCondLst>
                            <p:childTnLst>
                              <p:par>
                                <p:cTn id="25" presetID="10" presetClass="entr" presetSubtype="0" fill="hold" grpId="1"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35" presetClass="path" presetSubtype="0" accel="50000" decel="50000" fill="hold" nodeType="clickEffect">
                                  <p:stCondLst>
                                    <p:cond delay="0"/>
                                  </p:stCondLst>
                                  <p:childTnLst>
                                    <p:animMotion origin="layout" path="M 0 0 L -0.165312 0 " pathEditMode="relative" rAng="0" ptsTypes="">
                                      <p:cBhvr>
                                        <p:cTn id="31" dur="1000" fill="hold"/>
                                        <p:tgtEl>
                                          <p:spTgt spid="5"/>
                                        </p:tgtEl>
                                        <p:attrNameLst>
                                          <p:attrName>ppt_x</p:attrName>
                                          <p:attrName>ppt_y</p:attrName>
                                        </p:attrNameLst>
                                      </p:cBhvr>
                                      <p:rCtr x="-98" y="0"/>
                                    </p:animMotion>
                                  </p:childTnLst>
                                </p:cTn>
                              </p:par>
                              <p:par>
                                <p:cTn id="32" presetID="35" presetClass="path" presetSubtype="0" accel="50000" decel="50000" fill="hold" grpId="0" nodeType="withEffect">
                                  <p:stCondLst>
                                    <p:cond delay="0"/>
                                  </p:stCondLst>
                                  <p:childTnLst>
                                    <p:animMotion origin="layout" path="M 0 0 L -0.165312 0 " pathEditMode="relative" rAng="0" ptsTypes="">
                                      <p:cBhvr>
                                        <p:cTn id="33" dur="1000" fill="hold"/>
                                        <p:tgtEl>
                                          <p:spTgt spid="6"/>
                                        </p:tgtEl>
                                        <p:attrNameLst>
                                          <p:attrName>ppt_x</p:attrName>
                                          <p:attrName>ppt_y</p:attrName>
                                        </p:attrNameLst>
                                      </p:cBhvr>
                                      <p:rCtr x="-98" y="0"/>
                                    </p:animMotion>
                                  </p:childTnLst>
                                </p:cTn>
                              </p:par>
                              <p:par>
                                <p:cTn id="34" presetID="35" presetClass="path" presetSubtype="0" accel="50000" decel="50000" fill="hold" grpId="0" nodeType="withEffect">
                                  <p:stCondLst>
                                    <p:cond delay="0"/>
                                  </p:stCondLst>
                                  <p:childTnLst>
                                    <p:animMotion origin="layout" path="M 0 0 L -0.165312 0 " pathEditMode="relative" rAng="0" ptsTypes="">
                                      <p:cBhvr>
                                        <p:cTn id="35" dur="1000" fill="hold"/>
                                        <p:tgtEl>
                                          <p:spTgt spid="9"/>
                                        </p:tgtEl>
                                        <p:attrNameLst>
                                          <p:attrName>ppt_x</p:attrName>
                                          <p:attrName>ppt_y</p:attrName>
                                        </p:attrNameLst>
                                      </p:cBhvr>
                                      <p:rCtr x="-98" y="0"/>
                                    </p:animMotion>
                                  </p:childTnLst>
                                </p:cTn>
                              </p:par>
                              <p:par>
                                <p:cTn id="36" presetID="35" presetClass="path" presetSubtype="0" accel="50000" decel="50000" fill="hold" grpId="0" nodeType="withEffect">
                                  <p:stCondLst>
                                    <p:cond delay="0"/>
                                  </p:stCondLst>
                                  <p:childTnLst>
                                    <p:animMotion origin="layout" path="M 0 0 L -0.165312 0 " pathEditMode="relative" rAng="0" ptsTypes="">
                                      <p:cBhvr>
                                        <p:cTn id="37" dur="1000" fill="hold"/>
                                        <p:tgtEl>
                                          <p:spTgt spid="7"/>
                                        </p:tgtEl>
                                        <p:attrNameLst>
                                          <p:attrName>ppt_x</p:attrName>
                                          <p:attrName>ppt_y</p:attrName>
                                        </p:attrNameLst>
                                      </p:cBhvr>
                                      <p:rCtr x="-98" y="0"/>
                                    </p:animMotion>
                                  </p:childTnLst>
                                </p:cTn>
                              </p:par>
                              <p:par>
                                <p:cTn id="38" presetID="35" presetClass="path" presetSubtype="0" accel="50000" decel="50000" fill="hold" grpId="0" nodeType="withEffect">
                                  <p:stCondLst>
                                    <p:cond delay="0"/>
                                  </p:stCondLst>
                                  <p:childTnLst>
                                    <p:animMotion origin="layout" path="M 0 0 L -0.165312 0 " pathEditMode="relative" rAng="0" ptsTypes="">
                                      <p:cBhvr>
                                        <p:cTn id="39" dur="1000" fill="hold"/>
                                        <p:tgtEl>
                                          <p:spTgt spid="8"/>
                                        </p:tgtEl>
                                        <p:attrNameLst>
                                          <p:attrName>ppt_x</p:attrName>
                                          <p:attrName>ppt_y</p:attrName>
                                        </p:attrNameLst>
                                      </p:cBhvr>
                                      <p:rCtr x="-98" y="0"/>
                                    </p:animMotion>
                                  </p:childTnLst>
                                </p:cTn>
                              </p:par>
                              <p:par>
                                <p:cTn id="40" presetID="35" presetClass="path" presetSubtype="0" accel="50000" decel="50000" fill="hold" grpId="0" nodeType="withEffect">
                                  <p:stCondLst>
                                    <p:cond delay="0"/>
                                  </p:stCondLst>
                                  <p:childTnLst>
                                    <p:animMotion origin="layout" path="M 0 0 L -0.165312 0 " pathEditMode="relative" rAng="0" ptsTypes="">
                                      <p:cBhvr>
                                        <p:cTn id="41" dur="1000" fill="hold"/>
                                        <p:tgtEl>
                                          <p:spTgt spid="10"/>
                                        </p:tgtEl>
                                        <p:attrNameLst>
                                          <p:attrName>ppt_x</p:attrName>
                                          <p:attrName>ppt_y</p:attrName>
                                        </p:attrNameLst>
                                      </p:cBhvr>
                                      <p:rCtr x="-98" y="0"/>
                                    </p:animMotion>
                                  </p:childTnLst>
                                </p:cTn>
                              </p:par>
                            </p:childTnLst>
                          </p:cTn>
                        </p:par>
                        <p:par>
                          <p:cTn id="42" fill="hold">
                            <p:stCondLst>
                              <p:cond delay="1000"/>
                            </p:stCondLst>
                            <p:childTnLst>
                              <p:par>
                                <p:cTn id="43" presetID="10" presetClass="entr" presetSubtype="0" fill="hold" grpId="0" nodeType="after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7" grpId="1"/>
      <p:bldP spid="8" grpId="0"/>
      <p:bldP spid="8" grpId="1"/>
      <p:bldP spid="9" grpId="0"/>
      <p:bldP spid="9" grpId="1"/>
      <p:bldP spid="10" grpId="0"/>
      <p:bldP spid="10" grpId="1"/>
      <p:bldP spid="14" grpId="0"/>
      <p:bldP spid="14"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6" name="内容占位符 5"/>
          <p:cNvSpPr>
            <a:spLocks noGrp="1"/>
          </p:cNvSpPr>
          <p:nvPr>
            <p:ph idx="1"/>
          </p:nvPr>
        </p:nvSpPr>
        <p:spPr/>
        <p:txBody>
          <a:bodyPr/>
          <a:lstStyle/>
          <a:p>
            <a:r>
              <a:rPr lang="zh-CN" altLang="en-US"/>
              <a:t>这台“发动机”是如何运转的</a:t>
            </a:r>
            <a:endParaRPr lang="zh-CN" altLang="en-US"/>
          </a:p>
        </p:txBody>
      </p:sp>
      <p:sp>
        <p:nvSpPr>
          <p:cNvPr id="7" name="内容占位符 6"/>
          <p:cNvSpPr>
            <a:spLocks noGrp="1"/>
          </p:cNvSpPr>
          <p:nvPr>
            <p:ph idx="13"/>
          </p:nvPr>
        </p:nvSpPr>
        <p:spPr/>
        <p:txBody>
          <a:bodyPr/>
          <a:lstStyle/>
          <a:p>
            <a:r>
              <a:rPr lang="zh-CN" altLang="en-US"/>
              <a:t>大模型的本体为什么能够源源不断地输出各种各样智能且合理的文字？</a:t>
            </a:r>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课程路线图</a:t>
            </a:r>
            <a:endParaRPr lang="zh-CN" altLang="en-US"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sp>
        <p:nvSpPr>
          <p:cNvPr id="6" name="AutoShape 6"/>
          <p:cNvSpPr/>
          <p:nvPr/>
        </p:nvSpPr>
        <p:spPr>
          <a:xfrm>
            <a:off x="2231390" y="1752600"/>
            <a:ext cx="899795" cy="4319905"/>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大</a:t>
            </a:r>
            <a:endParaRPr lang="zh-CN" altLang="en-US" sz="32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模</a:t>
            </a:r>
            <a:endParaRPr lang="zh-CN" altLang="en-US" sz="32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型</a:t>
            </a:r>
            <a:endParaRPr lang="zh-CN" altLang="en-US" sz="32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产</a:t>
            </a:r>
            <a:endParaRPr lang="zh-CN" altLang="en-US" sz="32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品</a:t>
            </a:r>
            <a:endParaRPr lang="zh-CN" altLang="en-US" sz="3200" b="1" i="0" u="none" strike="noStrike">
              <a:solidFill>
                <a:srgbClr val="FFFFFF"/>
              </a:solidFill>
              <a:latin typeface="Noto Sans SC"/>
              <a:ea typeface="SimSun" charset="0"/>
              <a:cs typeface="Noto Sans SC"/>
              <a:sym typeface="Noto Sans SC"/>
            </a:endParaRPr>
          </a:p>
        </p:txBody>
      </p:sp>
      <p:grpSp>
        <p:nvGrpSpPr>
          <p:cNvPr id="17" name="组合 16"/>
          <p:cNvGrpSpPr/>
          <p:nvPr/>
        </p:nvGrpSpPr>
        <p:grpSpPr>
          <a:xfrm>
            <a:off x="4561205" y="1752600"/>
            <a:ext cx="5400040" cy="431800"/>
            <a:chOff x="7140" y="2760"/>
            <a:chExt cx="8504" cy="680"/>
          </a:xfrm>
        </p:grpSpPr>
        <p:sp>
          <p:nvSpPr>
            <p:cNvPr id="10"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11"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p>
          </p:txBody>
        </p:sp>
        <p:sp>
          <p:nvSpPr>
            <p:cNvPr id="13" name="文本框 12"/>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a:ea typeface="Noto Sans SC"/>
                  <a:cs typeface="Noto Sans SC"/>
                </a:rPr>
                <a:t>01</a:t>
              </a:r>
              <a:endParaRPr lang="en-US" b="1" kern="0">
                <a:solidFill>
                  <a:srgbClr val="69F0AE"/>
                </a:solidFill>
                <a:latin typeface="Noto Sans SC"/>
                <a:ea typeface="Noto Sans SC"/>
                <a:cs typeface="Noto Sans SC"/>
              </a:endParaRPr>
            </a:p>
          </p:txBody>
        </p:sp>
        <p:sp>
          <p:nvSpPr>
            <p:cNvPr id="15" name="文本框 14"/>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a:ea typeface="Noto Sans SC"/>
                  <a:cs typeface="Noto Sans SC"/>
                </a:rPr>
                <a:t>AI产品定位和介绍</a:t>
              </a:r>
              <a:endParaRPr lang="zh-CN" altLang="en-US" b="1" kern="0">
                <a:solidFill>
                  <a:srgbClr val="69F0AE"/>
                </a:solidFill>
                <a:latin typeface="Noto Sans SC"/>
                <a:ea typeface="Noto Sans SC"/>
                <a:cs typeface="Noto Sans SC"/>
              </a:endParaRPr>
            </a:p>
          </p:txBody>
        </p:sp>
      </p:grpSp>
      <p:grpSp>
        <p:nvGrpSpPr>
          <p:cNvPr id="18" name="组合 17"/>
          <p:cNvGrpSpPr/>
          <p:nvPr/>
        </p:nvGrpSpPr>
        <p:grpSpPr>
          <a:xfrm>
            <a:off x="4561205" y="3975100"/>
            <a:ext cx="5400040" cy="431800"/>
            <a:chOff x="7140" y="2760"/>
            <a:chExt cx="8504" cy="680"/>
          </a:xfrm>
        </p:grpSpPr>
        <p:sp>
          <p:nvSpPr>
            <p:cNvPr id="19" name="AutoShape 6"/>
            <p:cNvSpPr/>
            <p:nvPr/>
          </p:nvSpPr>
          <p:spPr>
            <a:xfrm>
              <a:off x="7140" y="2760"/>
              <a:ext cx="8504" cy="680"/>
            </a:xfrm>
            <a:prstGeom prst="roundRect">
              <a:avLst>
                <a:gd name="adj" fmla="val 0"/>
              </a:avLst>
            </a:prstGeom>
            <a:solidFill>
              <a:schemeClr val="bg1">
                <a:lumMod val="50000"/>
                <a:alpha val="8000"/>
              </a:schemeClr>
            </a:solidFill>
            <a:ln w="12700" cap="flat" cmpd="sng">
              <a:solidFill>
                <a:schemeClr val="bg1">
                  <a:lumMod val="50000"/>
                  <a:alpha val="40000"/>
                </a:scheme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0" name="AutoShape 7"/>
            <p:cNvSpPr/>
            <p:nvPr/>
          </p:nvSpPr>
          <p:spPr>
            <a:xfrm>
              <a:off x="7140" y="2760"/>
              <a:ext cx="85" cy="680"/>
            </a:xfrm>
            <a:prstGeom prst="roundRect">
              <a:avLst>
                <a:gd name="adj" fmla="val 0"/>
              </a:avLst>
            </a:prstGeom>
            <a:solidFill>
              <a:schemeClr val="bg1">
                <a:lumMod val="50000"/>
              </a:schemeClr>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1" name="文本框 20"/>
            <p:cNvSpPr txBox="1"/>
            <p:nvPr/>
          </p:nvSpPr>
          <p:spPr>
            <a:xfrm>
              <a:off x="7140" y="2760"/>
              <a:ext cx="850" cy="680"/>
            </a:xfrm>
            <a:prstGeom prst="rect">
              <a:avLst/>
            </a:prstGeom>
            <a:noFill/>
          </p:spPr>
          <p:txBody>
            <a:bodyPr wrap="square" rtlCol="0" anchor="ctr" anchorCtr="0">
              <a:noAutofit/>
            </a:bodyPr>
            <a:lstStyle/>
            <a:p>
              <a:pPr algn="ctr"/>
              <a:r>
                <a:rPr lang="en-US" b="1" kern="0">
                  <a:solidFill>
                    <a:schemeClr val="bg1">
                      <a:lumMod val="50000"/>
                    </a:schemeClr>
                  </a:solidFill>
                  <a:latin typeface="Noto Sans SC"/>
                  <a:ea typeface="Noto Sans SC"/>
                  <a:cs typeface="Noto Sans SC"/>
                </a:rPr>
                <a:t>05</a:t>
              </a:r>
              <a:endParaRPr lang="en-US" b="1" kern="0">
                <a:solidFill>
                  <a:schemeClr val="bg1">
                    <a:lumMod val="50000"/>
                  </a:schemeClr>
                </a:solidFill>
                <a:latin typeface="Noto Sans SC"/>
                <a:ea typeface="Noto Sans SC"/>
                <a:cs typeface="Noto Sans SC"/>
              </a:endParaRPr>
            </a:p>
          </p:txBody>
        </p:sp>
        <p:sp>
          <p:nvSpPr>
            <p:cNvPr id="22" name="文本框 2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chemeClr val="bg1">
                      <a:lumMod val="50000"/>
                    </a:schemeClr>
                  </a:solidFill>
                  <a:latin typeface="Noto Sans SC"/>
                  <a:ea typeface="Noto Sans SC"/>
                  <a:cs typeface="Noto Sans SC"/>
                </a:rPr>
                <a:t>大模型的训练、选型与评估</a:t>
              </a:r>
              <a:endParaRPr lang="zh-CN" altLang="en-US" b="1" kern="0">
                <a:solidFill>
                  <a:schemeClr val="bg1">
                    <a:lumMod val="50000"/>
                  </a:schemeClr>
                </a:solidFill>
                <a:latin typeface="Noto Sans SC"/>
                <a:ea typeface="Noto Sans SC"/>
                <a:cs typeface="Noto Sans SC"/>
              </a:endParaRPr>
            </a:p>
          </p:txBody>
        </p:sp>
      </p:grpSp>
      <p:grpSp>
        <p:nvGrpSpPr>
          <p:cNvPr id="23" name="组合 22"/>
          <p:cNvGrpSpPr/>
          <p:nvPr/>
        </p:nvGrpSpPr>
        <p:grpSpPr>
          <a:xfrm>
            <a:off x="4561205" y="5086350"/>
            <a:ext cx="5400040" cy="431800"/>
            <a:chOff x="7140" y="2760"/>
            <a:chExt cx="8504" cy="680"/>
          </a:xfrm>
        </p:grpSpPr>
        <p:sp>
          <p:nvSpPr>
            <p:cNvPr id="24" name="AutoShape 6"/>
            <p:cNvSpPr/>
            <p:nvPr/>
          </p:nvSpPr>
          <p:spPr>
            <a:xfrm>
              <a:off x="7140" y="2760"/>
              <a:ext cx="8504" cy="680"/>
            </a:xfrm>
            <a:prstGeom prst="roundRect">
              <a:avLst>
                <a:gd name="adj" fmla="val 0"/>
              </a:avLst>
            </a:prstGeom>
            <a:solidFill>
              <a:schemeClr val="bg1">
                <a:lumMod val="50000"/>
                <a:alpha val="8000"/>
              </a:schemeClr>
            </a:solidFill>
            <a:ln w="12700" cap="flat" cmpd="sng">
              <a:solidFill>
                <a:schemeClr val="bg1">
                  <a:lumMod val="50000"/>
                  <a:alpha val="40000"/>
                </a:scheme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5" name="AutoShape 7"/>
            <p:cNvSpPr/>
            <p:nvPr/>
          </p:nvSpPr>
          <p:spPr>
            <a:xfrm>
              <a:off x="7140" y="2760"/>
              <a:ext cx="85" cy="680"/>
            </a:xfrm>
            <a:prstGeom prst="roundRect">
              <a:avLst>
                <a:gd name="adj" fmla="val 0"/>
              </a:avLst>
            </a:prstGeom>
            <a:solidFill>
              <a:schemeClr val="bg1">
                <a:lumMod val="50000"/>
              </a:schemeClr>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6" name="文本框 25"/>
            <p:cNvSpPr txBox="1"/>
            <p:nvPr/>
          </p:nvSpPr>
          <p:spPr>
            <a:xfrm>
              <a:off x="7140" y="2760"/>
              <a:ext cx="850" cy="680"/>
            </a:xfrm>
            <a:prstGeom prst="rect">
              <a:avLst/>
            </a:prstGeom>
            <a:noFill/>
          </p:spPr>
          <p:txBody>
            <a:bodyPr wrap="square" rtlCol="0" anchor="ctr" anchorCtr="0">
              <a:noAutofit/>
            </a:bodyPr>
            <a:lstStyle/>
            <a:p>
              <a:pPr algn="ctr"/>
              <a:r>
                <a:rPr lang="en-US" b="1" kern="0">
                  <a:solidFill>
                    <a:schemeClr val="bg1">
                      <a:lumMod val="50000"/>
                    </a:schemeClr>
                  </a:solidFill>
                  <a:latin typeface="Noto Sans SC"/>
                  <a:ea typeface="Noto Sans SC"/>
                  <a:cs typeface="Noto Sans SC"/>
                </a:rPr>
                <a:t>07</a:t>
              </a:r>
              <a:endParaRPr lang="en-US" b="1" kern="0">
                <a:solidFill>
                  <a:schemeClr val="bg1">
                    <a:lumMod val="50000"/>
                  </a:schemeClr>
                </a:solidFill>
                <a:latin typeface="Noto Sans SC"/>
                <a:ea typeface="Noto Sans SC"/>
                <a:cs typeface="Noto Sans SC"/>
              </a:endParaRPr>
            </a:p>
          </p:txBody>
        </p:sp>
        <p:sp>
          <p:nvSpPr>
            <p:cNvPr id="27" name="文本框 26"/>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chemeClr val="bg1">
                      <a:lumMod val="50000"/>
                    </a:schemeClr>
                  </a:solidFill>
                  <a:latin typeface="Noto Sans SC"/>
                  <a:ea typeface="Noto Sans SC"/>
                  <a:cs typeface="Noto Sans SC"/>
                </a:rPr>
                <a:t>大模型的思维提示、智能体与工具</a:t>
              </a:r>
              <a:endParaRPr lang="zh-CN" altLang="en-US" b="1" kern="0">
                <a:solidFill>
                  <a:schemeClr val="bg1">
                    <a:lumMod val="50000"/>
                  </a:schemeClr>
                </a:solidFill>
                <a:latin typeface="Noto Sans SC"/>
                <a:ea typeface="Noto Sans SC"/>
                <a:cs typeface="Noto Sans SC"/>
              </a:endParaRPr>
            </a:p>
          </p:txBody>
        </p:sp>
      </p:grpSp>
      <p:grpSp>
        <p:nvGrpSpPr>
          <p:cNvPr id="28" name="组合 27"/>
          <p:cNvGrpSpPr/>
          <p:nvPr/>
        </p:nvGrpSpPr>
        <p:grpSpPr>
          <a:xfrm>
            <a:off x="4561205" y="2308225"/>
            <a:ext cx="5400040" cy="431800"/>
            <a:chOff x="7140" y="2760"/>
            <a:chExt cx="8504" cy="680"/>
          </a:xfrm>
        </p:grpSpPr>
        <p:sp>
          <p:nvSpPr>
            <p:cNvPr id="29" name="AutoShape 6"/>
            <p:cNvSpPr/>
            <p:nvPr/>
          </p:nvSpPr>
          <p:spPr>
            <a:xfrm>
              <a:off x="7140" y="2760"/>
              <a:ext cx="8504" cy="680"/>
            </a:xfrm>
            <a:prstGeom prst="roundRect">
              <a:avLst>
                <a:gd name="adj" fmla="val 0"/>
              </a:avLst>
            </a:prstGeom>
            <a:solidFill>
              <a:srgbClr val="FFE3B1">
                <a:alpha val="8000"/>
              </a:srgbClr>
            </a:solidFill>
            <a:ln w="12700" cap="flat" cmpd="sng">
              <a:solidFill>
                <a:srgbClr val="FFE3B1">
                  <a:alpha val="40000"/>
                </a:srgbClr>
              </a:solidFill>
              <a:prstDash val="solid"/>
              <a:round/>
            </a:ln>
          </p:spPr>
          <p:txBody>
            <a:bodyPr vert="horz" wrap="square" lIns="63500" tIns="63500" rIns="63500" bIns="63500" rtlCol="0" anchor="ctr"/>
            <a:lstStyle/>
            <a:p>
              <a:pPr algn="ctr">
                <a:defRPr/>
              </a:pPr>
            </a:p>
          </p:txBody>
        </p:sp>
        <p:sp>
          <p:nvSpPr>
            <p:cNvPr id="30" name="AutoShape 7"/>
            <p:cNvSpPr/>
            <p:nvPr/>
          </p:nvSpPr>
          <p:spPr>
            <a:xfrm>
              <a:off x="7140" y="2760"/>
              <a:ext cx="85" cy="680"/>
            </a:xfrm>
            <a:prstGeom prst="roundRect">
              <a:avLst>
                <a:gd name="adj" fmla="val 0"/>
              </a:avLst>
            </a:prstGeom>
            <a:solidFill>
              <a:srgbClr val="FFE3B1"/>
            </a:solidFill>
            <a:ln w="25400" cap="flat" cmpd="sng">
              <a:noFill/>
              <a:prstDash val="solid"/>
              <a:round/>
            </a:ln>
          </p:spPr>
          <p:txBody>
            <a:bodyPr vert="horz" wrap="square" lIns="63500" tIns="63500" rIns="63500" bIns="63500" rtlCol="0" anchor="ctr"/>
            <a:lstStyle/>
            <a:p>
              <a:pPr algn="ctr">
                <a:defRPr/>
              </a:pPr>
            </a:p>
          </p:txBody>
        </p:sp>
        <p:sp>
          <p:nvSpPr>
            <p:cNvPr id="31" name="文本框 3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FFE3B1"/>
                  </a:solidFill>
                  <a:latin typeface="Noto Sans SC"/>
                  <a:ea typeface="Noto Sans SC"/>
                  <a:cs typeface="Noto Sans SC"/>
                </a:rPr>
                <a:t>02</a:t>
              </a:r>
              <a:endParaRPr lang="en-US" b="1" kern="0">
                <a:solidFill>
                  <a:srgbClr val="FFE3B1"/>
                </a:solidFill>
                <a:latin typeface="Noto Sans SC"/>
                <a:ea typeface="Noto Sans SC"/>
                <a:cs typeface="Noto Sans SC"/>
              </a:endParaRPr>
            </a:p>
          </p:txBody>
        </p:sp>
        <p:sp>
          <p:nvSpPr>
            <p:cNvPr id="32" name="文本框 3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FFE3B1"/>
                  </a:solidFill>
                  <a:latin typeface="Noto Sans SC"/>
                  <a:ea typeface="Noto Sans SC"/>
                  <a:cs typeface="Noto Sans SC"/>
                </a:rPr>
                <a:t>大模型的生成机制</a:t>
              </a:r>
              <a:endParaRPr lang="zh-CN" altLang="en-US" b="1" kern="0">
                <a:solidFill>
                  <a:srgbClr val="FFE3B1"/>
                </a:solidFill>
                <a:latin typeface="Noto Sans SC"/>
                <a:ea typeface="Noto Sans SC"/>
                <a:cs typeface="Noto Sans SC"/>
              </a:endParaRPr>
            </a:p>
          </p:txBody>
        </p:sp>
      </p:grpSp>
      <p:grpSp>
        <p:nvGrpSpPr>
          <p:cNvPr id="33" name="组合 32"/>
          <p:cNvGrpSpPr/>
          <p:nvPr/>
        </p:nvGrpSpPr>
        <p:grpSpPr>
          <a:xfrm>
            <a:off x="4561205" y="2863850"/>
            <a:ext cx="5400040" cy="431800"/>
            <a:chOff x="7140" y="2760"/>
            <a:chExt cx="8504" cy="680"/>
          </a:xfrm>
        </p:grpSpPr>
        <p:sp>
          <p:nvSpPr>
            <p:cNvPr id="34" name="AutoShape 6"/>
            <p:cNvSpPr/>
            <p:nvPr/>
          </p:nvSpPr>
          <p:spPr>
            <a:xfrm>
              <a:off x="7140" y="2760"/>
              <a:ext cx="8504" cy="680"/>
            </a:xfrm>
            <a:prstGeom prst="roundRect">
              <a:avLst>
                <a:gd name="adj" fmla="val 0"/>
              </a:avLst>
            </a:prstGeom>
            <a:solidFill>
              <a:schemeClr val="bg1">
                <a:lumMod val="50000"/>
                <a:alpha val="8000"/>
              </a:schemeClr>
            </a:solidFill>
            <a:ln w="12700" cap="flat" cmpd="sng">
              <a:solidFill>
                <a:schemeClr val="bg1">
                  <a:lumMod val="50000"/>
                  <a:alpha val="40000"/>
                </a:schemeClr>
              </a:solidFill>
              <a:prstDash val="solid"/>
              <a:round/>
            </a:ln>
          </p:spPr>
          <p:txBody>
            <a:bodyPr vert="horz" wrap="square" lIns="63500" tIns="63500" rIns="63500" bIns="63500" rtlCol="0" anchor="ctr"/>
            <a:lstStyle/>
            <a:p>
              <a:pPr algn="ctr">
                <a:defRPr/>
              </a:pPr>
            </a:p>
          </p:txBody>
        </p:sp>
        <p:sp>
          <p:nvSpPr>
            <p:cNvPr id="35" name="AutoShape 7"/>
            <p:cNvSpPr/>
            <p:nvPr/>
          </p:nvSpPr>
          <p:spPr>
            <a:xfrm>
              <a:off x="7140" y="2760"/>
              <a:ext cx="85" cy="680"/>
            </a:xfrm>
            <a:prstGeom prst="roundRect">
              <a:avLst>
                <a:gd name="adj" fmla="val 0"/>
              </a:avLst>
            </a:prstGeom>
            <a:solidFill>
              <a:schemeClr val="bg1">
                <a:lumMod val="50000"/>
              </a:schemeClr>
            </a:solidFill>
            <a:ln w="25400" cap="flat" cmpd="sng">
              <a:noFill/>
              <a:prstDash val="solid"/>
              <a:round/>
            </a:ln>
          </p:spPr>
          <p:txBody>
            <a:bodyPr vert="horz" wrap="square" lIns="63500" tIns="63500" rIns="63500" bIns="63500" rtlCol="0" anchor="ctr"/>
            <a:lstStyle/>
            <a:p>
              <a:pPr algn="ctr">
                <a:defRPr/>
              </a:pPr>
            </a:p>
          </p:txBody>
        </p:sp>
        <p:sp>
          <p:nvSpPr>
            <p:cNvPr id="36" name="文本框 35"/>
            <p:cNvSpPr txBox="1"/>
            <p:nvPr/>
          </p:nvSpPr>
          <p:spPr>
            <a:xfrm>
              <a:off x="7140" y="2760"/>
              <a:ext cx="850" cy="680"/>
            </a:xfrm>
            <a:prstGeom prst="rect">
              <a:avLst/>
            </a:prstGeom>
            <a:noFill/>
          </p:spPr>
          <p:txBody>
            <a:bodyPr wrap="square" rtlCol="0" anchor="ctr" anchorCtr="0">
              <a:noAutofit/>
            </a:bodyPr>
            <a:lstStyle/>
            <a:p>
              <a:pPr algn="ctr"/>
              <a:r>
                <a:rPr lang="en-US" b="1" kern="0">
                  <a:solidFill>
                    <a:schemeClr val="bg1">
                      <a:lumMod val="50000"/>
                    </a:schemeClr>
                  </a:solidFill>
                  <a:latin typeface="Noto Sans SC"/>
                  <a:ea typeface="Noto Sans SC"/>
                  <a:cs typeface="Noto Sans SC"/>
                </a:rPr>
                <a:t>03</a:t>
              </a:r>
              <a:endParaRPr lang="en-US" b="1" kern="0">
                <a:solidFill>
                  <a:schemeClr val="bg1">
                    <a:lumMod val="50000"/>
                  </a:schemeClr>
                </a:solidFill>
                <a:latin typeface="Noto Sans SC"/>
                <a:ea typeface="Noto Sans SC"/>
                <a:cs typeface="Noto Sans SC"/>
              </a:endParaRPr>
            </a:p>
          </p:txBody>
        </p:sp>
        <p:sp>
          <p:nvSpPr>
            <p:cNvPr id="37" name="文本框 36"/>
            <p:cNvSpPr txBox="1"/>
            <p:nvPr/>
          </p:nvSpPr>
          <p:spPr>
            <a:xfrm>
              <a:off x="7990" y="2760"/>
              <a:ext cx="7654" cy="680"/>
            </a:xfrm>
            <a:prstGeom prst="rect">
              <a:avLst/>
            </a:prstGeom>
            <a:noFill/>
          </p:spPr>
          <p:txBody>
            <a:bodyPr wrap="square" rtlCol="0" anchor="ctr" anchorCtr="0">
              <a:noAutofit/>
            </a:bodyPr>
            <a:lstStyle/>
            <a:p>
              <a:pPr algn="ctr"/>
              <a:r>
                <a:rPr lang="en-US" altLang="zh-CN" b="1" kern="0">
                  <a:solidFill>
                    <a:schemeClr val="bg1">
                      <a:lumMod val="50000"/>
                    </a:schemeClr>
                  </a:solidFill>
                  <a:latin typeface="Noto Sans SC"/>
                  <a:ea typeface="Noto Sans SC"/>
                  <a:cs typeface="Noto Sans SC"/>
                </a:rPr>
                <a:t>Token</a:t>
              </a:r>
              <a:r>
                <a:rPr lang="zh-CN" altLang="en-US" b="1" kern="0">
                  <a:solidFill>
                    <a:schemeClr val="bg1">
                      <a:lumMod val="50000"/>
                    </a:schemeClr>
                  </a:solidFill>
                  <a:latin typeface="Noto Sans SC"/>
                  <a:ea typeface="SimSun" charset="0"/>
                  <a:cs typeface="Noto Sans SC"/>
                </a:rPr>
                <a:t>、</a:t>
              </a:r>
              <a:r>
                <a:rPr lang="en-US" altLang="zh-CN" b="1" kern="0">
                  <a:solidFill>
                    <a:schemeClr val="bg1">
                      <a:lumMod val="50000"/>
                    </a:schemeClr>
                  </a:solidFill>
                  <a:latin typeface="Noto Sans SC"/>
                  <a:ea typeface="Noto Sans SC"/>
                  <a:cs typeface="Noto Sans SC"/>
                </a:rPr>
                <a:t>Embedding </a:t>
              </a:r>
              <a:r>
                <a:rPr lang="zh-CN" altLang="en-US" b="1" kern="0">
                  <a:solidFill>
                    <a:schemeClr val="bg1">
                      <a:lumMod val="50000"/>
                    </a:schemeClr>
                  </a:solidFill>
                  <a:latin typeface="Noto Sans SC"/>
                  <a:ea typeface="Noto Sans SC"/>
                  <a:cs typeface="Noto Sans SC"/>
                </a:rPr>
                <a:t>和 RAG</a:t>
              </a:r>
              <a:endParaRPr lang="zh-CN" altLang="en-US" b="1" kern="0">
                <a:solidFill>
                  <a:schemeClr val="bg1">
                    <a:lumMod val="50000"/>
                  </a:schemeClr>
                </a:solidFill>
                <a:latin typeface="Noto Sans SC"/>
                <a:ea typeface="Noto Sans SC"/>
                <a:cs typeface="Noto Sans SC"/>
              </a:endParaRPr>
            </a:p>
          </p:txBody>
        </p:sp>
      </p:grpSp>
      <p:grpSp>
        <p:nvGrpSpPr>
          <p:cNvPr id="38" name="组合 37"/>
          <p:cNvGrpSpPr/>
          <p:nvPr/>
        </p:nvGrpSpPr>
        <p:grpSpPr>
          <a:xfrm>
            <a:off x="4561205" y="3419475"/>
            <a:ext cx="5400040" cy="431800"/>
            <a:chOff x="7140" y="2760"/>
            <a:chExt cx="8504" cy="680"/>
          </a:xfrm>
        </p:grpSpPr>
        <p:sp>
          <p:nvSpPr>
            <p:cNvPr id="39" name="AutoShape 6"/>
            <p:cNvSpPr/>
            <p:nvPr/>
          </p:nvSpPr>
          <p:spPr>
            <a:xfrm>
              <a:off x="7140" y="2760"/>
              <a:ext cx="8504" cy="680"/>
            </a:xfrm>
            <a:prstGeom prst="roundRect">
              <a:avLst>
                <a:gd name="adj" fmla="val 0"/>
              </a:avLst>
            </a:prstGeom>
            <a:solidFill>
              <a:schemeClr val="bg1">
                <a:lumMod val="50000"/>
                <a:alpha val="8000"/>
              </a:schemeClr>
            </a:solidFill>
            <a:ln w="12700" cap="flat" cmpd="sng">
              <a:solidFill>
                <a:schemeClr val="bg1">
                  <a:lumMod val="50000"/>
                  <a:alpha val="40000"/>
                </a:scheme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0" name="AutoShape 7"/>
            <p:cNvSpPr/>
            <p:nvPr/>
          </p:nvSpPr>
          <p:spPr>
            <a:xfrm>
              <a:off x="7140" y="2760"/>
              <a:ext cx="85" cy="680"/>
            </a:xfrm>
            <a:prstGeom prst="roundRect">
              <a:avLst>
                <a:gd name="adj" fmla="val 0"/>
              </a:avLst>
            </a:prstGeom>
            <a:solidFill>
              <a:schemeClr val="bg1">
                <a:lumMod val="50000"/>
              </a:schemeClr>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1" name="文本框 40"/>
            <p:cNvSpPr txBox="1"/>
            <p:nvPr/>
          </p:nvSpPr>
          <p:spPr>
            <a:xfrm>
              <a:off x="7140" y="2760"/>
              <a:ext cx="850" cy="680"/>
            </a:xfrm>
            <a:prstGeom prst="rect">
              <a:avLst/>
            </a:prstGeom>
            <a:noFill/>
          </p:spPr>
          <p:txBody>
            <a:bodyPr wrap="square" rtlCol="0" anchor="ctr" anchorCtr="0">
              <a:noAutofit/>
            </a:bodyPr>
            <a:lstStyle/>
            <a:p>
              <a:pPr algn="ctr"/>
              <a:r>
                <a:rPr lang="en-US" b="1" kern="0">
                  <a:solidFill>
                    <a:schemeClr val="bg1">
                      <a:lumMod val="50000"/>
                    </a:schemeClr>
                  </a:solidFill>
                  <a:latin typeface="Noto Sans SC"/>
                  <a:ea typeface="Noto Sans SC"/>
                  <a:cs typeface="Noto Sans SC"/>
                </a:rPr>
                <a:t>04</a:t>
              </a:r>
              <a:endParaRPr lang="en-US" b="1" kern="0">
                <a:solidFill>
                  <a:schemeClr val="bg1">
                    <a:lumMod val="50000"/>
                  </a:schemeClr>
                </a:solidFill>
                <a:latin typeface="Noto Sans SC"/>
                <a:ea typeface="Noto Sans SC"/>
                <a:cs typeface="Noto Sans SC"/>
              </a:endParaRPr>
            </a:p>
          </p:txBody>
        </p:sp>
        <p:sp>
          <p:nvSpPr>
            <p:cNvPr id="42" name="文本框 4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chemeClr val="bg1">
                      <a:lumMod val="50000"/>
                    </a:schemeClr>
                  </a:solidFill>
                  <a:latin typeface="Noto Sans SC"/>
                  <a:ea typeface="Noto Sans SC"/>
                  <a:cs typeface="Noto Sans SC"/>
                </a:rPr>
                <a:t>Transformer、注意力、算力与缓存机制</a:t>
              </a:r>
              <a:endParaRPr lang="zh-CN" altLang="en-US" b="1" kern="0">
                <a:solidFill>
                  <a:schemeClr val="bg1">
                    <a:lumMod val="50000"/>
                  </a:schemeClr>
                </a:solidFill>
                <a:latin typeface="Noto Sans SC"/>
                <a:ea typeface="Noto Sans SC"/>
                <a:cs typeface="Noto Sans SC"/>
              </a:endParaRPr>
            </a:p>
          </p:txBody>
        </p:sp>
      </p:grpSp>
      <p:grpSp>
        <p:nvGrpSpPr>
          <p:cNvPr id="43" name="组合 42"/>
          <p:cNvGrpSpPr/>
          <p:nvPr/>
        </p:nvGrpSpPr>
        <p:grpSpPr>
          <a:xfrm>
            <a:off x="4561205" y="4530725"/>
            <a:ext cx="5400040" cy="431800"/>
            <a:chOff x="7140" y="2760"/>
            <a:chExt cx="8504" cy="680"/>
          </a:xfrm>
        </p:grpSpPr>
        <p:sp>
          <p:nvSpPr>
            <p:cNvPr id="44" name="AutoShape 6"/>
            <p:cNvSpPr/>
            <p:nvPr/>
          </p:nvSpPr>
          <p:spPr>
            <a:xfrm>
              <a:off x="7140" y="2760"/>
              <a:ext cx="8504" cy="680"/>
            </a:xfrm>
            <a:prstGeom prst="roundRect">
              <a:avLst>
                <a:gd name="adj" fmla="val 0"/>
              </a:avLst>
            </a:prstGeom>
            <a:solidFill>
              <a:schemeClr val="bg1">
                <a:lumMod val="50000"/>
                <a:alpha val="8000"/>
              </a:schemeClr>
            </a:solidFill>
            <a:ln w="12700" cap="flat" cmpd="sng">
              <a:solidFill>
                <a:schemeClr val="bg1">
                  <a:lumMod val="50000"/>
                  <a:alpha val="40000"/>
                </a:scheme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5" name="AutoShape 7"/>
            <p:cNvSpPr/>
            <p:nvPr/>
          </p:nvSpPr>
          <p:spPr>
            <a:xfrm>
              <a:off x="7140" y="2760"/>
              <a:ext cx="85" cy="680"/>
            </a:xfrm>
            <a:prstGeom prst="roundRect">
              <a:avLst>
                <a:gd name="adj" fmla="val 0"/>
              </a:avLst>
            </a:prstGeom>
            <a:solidFill>
              <a:schemeClr val="bg1">
                <a:lumMod val="50000"/>
              </a:schemeClr>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6" name="文本框 45"/>
            <p:cNvSpPr txBox="1"/>
            <p:nvPr/>
          </p:nvSpPr>
          <p:spPr>
            <a:xfrm>
              <a:off x="7140" y="2760"/>
              <a:ext cx="850" cy="680"/>
            </a:xfrm>
            <a:prstGeom prst="rect">
              <a:avLst/>
            </a:prstGeom>
            <a:noFill/>
          </p:spPr>
          <p:txBody>
            <a:bodyPr wrap="square" rtlCol="0" anchor="ctr" anchorCtr="0">
              <a:noAutofit/>
            </a:bodyPr>
            <a:lstStyle/>
            <a:p>
              <a:pPr algn="ctr"/>
              <a:r>
                <a:rPr lang="en-US" b="1" kern="0">
                  <a:solidFill>
                    <a:schemeClr val="bg1">
                      <a:lumMod val="50000"/>
                    </a:schemeClr>
                  </a:solidFill>
                  <a:latin typeface="Noto Sans SC"/>
                  <a:ea typeface="Noto Sans SC"/>
                  <a:cs typeface="Noto Sans SC"/>
                </a:rPr>
                <a:t>06</a:t>
              </a:r>
              <a:endParaRPr lang="en-US" b="1" kern="0">
                <a:solidFill>
                  <a:schemeClr val="bg1">
                    <a:lumMod val="50000"/>
                  </a:schemeClr>
                </a:solidFill>
                <a:latin typeface="Noto Sans SC"/>
                <a:ea typeface="Noto Sans SC"/>
                <a:cs typeface="Noto Sans SC"/>
              </a:endParaRPr>
            </a:p>
          </p:txBody>
        </p:sp>
        <p:sp>
          <p:nvSpPr>
            <p:cNvPr id="47" name="文本框 46"/>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chemeClr val="bg1">
                      <a:lumMod val="50000"/>
                    </a:schemeClr>
                  </a:solidFill>
                  <a:latin typeface="Noto Sans SC"/>
                  <a:ea typeface="Noto Sans SC"/>
                  <a:cs typeface="Noto Sans SC"/>
                </a:rPr>
                <a:t>提示词与提示词工程</a:t>
              </a:r>
              <a:endParaRPr lang="zh-CN" altLang="en-US" b="1" kern="0">
                <a:solidFill>
                  <a:schemeClr val="bg1">
                    <a:lumMod val="50000"/>
                  </a:schemeClr>
                </a:solidFill>
                <a:latin typeface="Noto Sans SC"/>
                <a:ea typeface="Noto Sans SC"/>
                <a:cs typeface="Noto Sans SC"/>
              </a:endParaRPr>
            </a:p>
          </p:txBody>
        </p:sp>
      </p:grpSp>
      <p:grpSp>
        <p:nvGrpSpPr>
          <p:cNvPr id="48" name="组合 47"/>
          <p:cNvGrpSpPr/>
          <p:nvPr/>
        </p:nvGrpSpPr>
        <p:grpSpPr>
          <a:xfrm>
            <a:off x="4561205" y="5641975"/>
            <a:ext cx="5400040" cy="431800"/>
            <a:chOff x="7140" y="2760"/>
            <a:chExt cx="8504" cy="680"/>
          </a:xfrm>
        </p:grpSpPr>
        <p:sp>
          <p:nvSpPr>
            <p:cNvPr id="49" name="AutoShape 6"/>
            <p:cNvSpPr/>
            <p:nvPr/>
          </p:nvSpPr>
          <p:spPr>
            <a:xfrm>
              <a:off x="7140" y="2760"/>
              <a:ext cx="8504" cy="680"/>
            </a:xfrm>
            <a:prstGeom prst="roundRect">
              <a:avLst>
                <a:gd name="adj" fmla="val 0"/>
              </a:avLst>
            </a:prstGeom>
            <a:solidFill>
              <a:schemeClr val="bg1">
                <a:lumMod val="50000"/>
                <a:alpha val="8000"/>
              </a:schemeClr>
            </a:solidFill>
            <a:ln w="12700" cap="flat" cmpd="sng">
              <a:solidFill>
                <a:schemeClr val="bg1">
                  <a:lumMod val="50000"/>
                  <a:alpha val="40000"/>
                </a:scheme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50" name="AutoShape 7"/>
            <p:cNvSpPr/>
            <p:nvPr/>
          </p:nvSpPr>
          <p:spPr>
            <a:xfrm>
              <a:off x="7140" y="2760"/>
              <a:ext cx="85" cy="680"/>
            </a:xfrm>
            <a:prstGeom prst="roundRect">
              <a:avLst>
                <a:gd name="adj" fmla="val 0"/>
              </a:avLst>
            </a:prstGeom>
            <a:solidFill>
              <a:schemeClr val="bg1">
                <a:lumMod val="50000"/>
              </a:schemeClr>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51" name="文本框 50"/>
            <p:cNvSpPr txBox="1"/>
            <p:nvPr/>
          </p:nvSpPr>
          <p:spPr>
            <a:xfrm>
              <a:off x="7140" y="2760"/>
              <a:ext cx="850" cy="680"/>
            </a:xfrm>
            <a:prstGeom prst="rect">
              <a:avLst/>
            </a:prstGeom>
            <a:noFill/>
          </p:spPr>
          <p:txBody>
            <a:bodyPr wrap="square" rtlCol="0" anchor="ctr" anchorCtr="0">
              <a:noAutofit/>
            </a:bodyPr>
            <a:lstStyle/>
            <a:p>
              <a:pPr algn="ctr"/>
              <a:r>
                <a:rPr lang="en-US" b="1" kern="0">
                  <a:solidFill>
                    <a:schemeClr val="bg1">
                      <a:lumMod val="50000"/>
                    </a:schemeClr>
                  </a:solidFill>
                  <a:latin typeface="Noto Sans SC"/>
                  <a:ea typeface="Noto Sans SC"/>
                  <a:cs typeface="Noto Sans SC"/>
                </a:rPr>
                <a:t>08</a:t>
              </a:r>
              <a:endParaRPr lang="en-US" b="1" kern="0">
                <a:solidFill>
                  <a:schemeClr val="bg1">
                    <a:lumMod val="50000"/>
                  </a:schemeClr>
                </a:solidFill>
                <a:latin typeface="Noto Sans SC"/>
                <a:ea typeface="Noto Sans SC"/>
                <a:cs typeface="Noto Sans SC"/>
              </a:endParaRPr>
            </a:p>
          </p:txBody>
        </p:sp>
        <p:sp>
          <p:nvSpPr>
            <p:cNvPr id="52" name="文本框 5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chemeClr val="bg1">
                      <a:lumMod val="50000"/>
                    </a:schemeClr>
                  </a:solidFill>
                  <a:latin typeface="Noto Sans SC"/>
                  <a:ea typeface="Noto Sans SC"/>
                  <a:cs typeface="Noto Sans SC"/>
                </a:rPr>
                <a:t>智能体记忆、技能与案例</a:t>
              </a:r>
              <a:endParaRPr lang="zh-CN" altLang="en-US" b="1" kern="0">
                <a:solidFill>
                  <a:schemeClr val="bg1">
                    <a:lumMod val="50000"/>
                  </a:schemeClr>
                </a:solidFill>
                <a:latin typeface="Noto Sans SC"/>
                <a:ea typeface="Noto Sans SC"/>
                <a:cs typeface="Noto Sans SC"/>
              </a:endParaRPr>
            </a:p>
          </p:txBody>
        </p:sp>
      </p:grpSp>
      <p:sp>
        <p:nvSpPr>
          <p:cNvPr id="3" name="AutoShape 6"/>
          <p:cNvSpPr/>
          <p:nvPr/>
        </p:nvSpPr>
        <p:spPr>
          <a:xfrm>
            <a:off x="3395980" y="1753235"/>
            <a:ext cx="899795" cy="2653665"/>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zh-CN" altLang="en-US" sz="2400" b="1" i="0" u="none" strike="noStrike">
                <a:solidFill>
                  <a:srgbClr val="FFFFFF"/>
                </a:solidFill>
                <a:latin typeface="Noto Sans SC"/>
                <a:ea typeface="SimSun" charset="0"/>
                <a:cs typeface="Noto Sans SC"/>
                <a:sym typeface="Noto Sans SC"/>
              </a:rPr>
              <a:t>模型</a:t>
            </a:r>
            <a:endParaRPr lang="zh-CN" altLang="en-US" sz="24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2400" b="1" i="0" u="none" strike="noStrike">
                <a:solidFill>
                  <a:srgbClr val="FFFFFF"/>
                </a:solidFill>
                <a:latin typeface="Noto Sans SC"/>
                <a:ea typeface="SimSun" charset="0"/>
                <a:cs typeface="Noto Sans SC"/>
                <a:sym typeface="Noto Sans SC"/>
              </a:rPr>
              <a:t>原理</a:t>
            </a:r>
            <a:endParaRPr lang="zh-CN" altLang="en-US" sz="2400" b="1" i="0" u="none" strike="noStrike">
              <a:solidFill>
                <a:srgbClr val="FFFFFF"/>
              </a:solidFill>
              <a:latin typeface="Noto Sans SC"/>
              <a:ea typeface="SimSun" charset="0"/>
              <a:cs typeface="Noto Sans SC"/>
              <a:sym typeface="Noto Sans SC"/>
            </a:endParaRPr>
          </a:p>
        </p:txBody>
      </p:sp>
      <p:sp>
        <p:nvSpPr>
          <p:cNvPr id="9" name="AutoShape 6"/>
          <p:cNvSpPr/>
          <p:nvPr/>
        </p:nvSpPr>
        <p:spPr>
          <a:xfrm>
            <a:off x="3395980" y="4530725"/>
            <a:ext cx="899795" cy="154559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00000"/>
              </a:lnSpc>
              <a:buClrTx/>
              <a:buSzTx/>
              <a:buFontTx/>
              <a:defRPr/>
            </a:pPr>
            <a:r>
              <a:rPr lang="zh-CN" altLang="en-US" sz="2400" b="1">
                <a:solidFill>
                  <a:srgbClr val="FFFFFF"/>
                </a:solidFill>
                <a:latin typeface="Noto Sans SC"/>
                <a:ea typeface="SimSun" charset="0"/>
                <a:cs typeface="Noto Sans SC"/>
                <a:sym typeface="Noto Sans SC"/>
              </a:rPr>
              <a:t>应用</a:t>
            </a:r>
            <a:endParaRPr lang="zh-CN" altLang="en-US" sz="2400" b="1">
              <a:solidFill>
                <a:srgbClr val="FFFFFF"/>
              </a:solidFill>
              <a:latin typeface="Noto Sans SC"/>
              <a:ea typeface="SimSun" charset="0"/>
              <a:cs typeface="Noto Sans SC"/>
              <a:sym typeface="Noto Sans SC"/>
            </a:endParaRPr>
          </a:p>
          <a:p>
            <a:pPr lvl="0" algn="ctr">
              <a:lnSpc>
                <a:spcPct val="100000"/>
              </a:lnSpc>
              <a:buClrTx/>
              <a:buSzTx/>
              <a:buFontTx/>
              <a:defRPr/>
            </a:pPr>
            <a:r>
              <a:rPr lang="zh-CN" altLang="en-US" sz="2400" b="1">
                <a:solidFill>
                  <a:srgbClr val="FFFFFF"/>
                </a:solidFill>
                <a:latin typeface="Noto Sans SC"/>
                <a:ea typeface="SimSun" charset="0"/>
                <a:cs typeface="Noto Sans SC"/>
                <a:sym typeface="Noto Sans SC"/>
              </a:rPr>
              <a:t>与智</a:t>
            </a:r>
            <a:endParaRPr lang="zh-CN" altLang="en-US" sz="2400" b="1">
              <a:solidFill>
                <a:srgbClr val="FFFFFF"/>
              </a:solidFill>
              <a:latin typeface="Noto Sans SC"/>
              <a:ea typeface="SimSun" charset="0"/>
              <a:cs typeface="Noto Sans SC"/>
              <a:sym typeface="Noto Sans SC"/>
            </a:endParaRPr>
          </a:p>
          <a:p>
            <a:pPr lvl="0" algn="ctr">
              <a:lnSpc>
                <a:spcPct val="100000"/>
              </a:lnSpc>
              <a:buClrTx/>
              <a:buSzTx/>
              <a:buFontTx/>
              <a:defRPr/>
            </a:pPr>
            <a:r>
              <a:rPr lang="zh-CN" altLang="en-US" sz="2400" b="1">
                <a:solidFill>
                  <a:srgbClr val="FFFFFF"/>
                </a:solidFill>
                <a:latin typeface="Noto Sans SC"/>
                <a:ea typeface="SimSun" charset="0"/>
                <a:cs typeface="Noto Sans SC"/>
                <a:sym typeface="Noto Sans SC"/>
              </a:rPr>
              <a:t>能体</a:t>
            </a:r>
            <a:endParaRPr lang="zh-CN" altLang="en-US" sz="2400" b="1">
              <a:solidFill>
                <a:srgbClr val="FFFFFF"/>
              </a:solidFill>
              <a:latin typeface="Noto Sans SC"/>
              <a:ea typeface="SimSun" charset="0"/>
              <a:cs typeface="Noto Sans SC"/>
              <a:sym typeface="Noto Sans SC"/>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par>
                                <p:cTn id="17" presetID="10"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500"/>
                                        <p:tgtEl>
                                          <p:spTgt spid="38"/>
                                        </p:tgtEl>
                                      </p:cBhvr>
                                    </p:animEffect>
                                  </p:childTnLst>
                                </p:cTn>
                              </p:par>
                              <p:par>
                                <p:cTn id="20" presetID="10"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nodeType="with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500"/>
                                        <p:tgtEl>
                                          <p:spTgt spid="43"/>
                                        </p:tgtEl>
                                      </p:cBhvr>
                                    </p:animEffect>
                                  </p:childTnLst>
                                </p:cTn>
                              </p:par>
                              <p:par>
                                <p:cTn id="26" presetID="10" presetClass="entr" presetSubtype="0" fill="hold"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par>
                                <p:cTn id="29" presetID="10" presetClass="entr" presetSubtype="0" fill="hold" nodeType="with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500"/>
                                        <p:tgtEl>
                                          <p:spTgt spid="4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fade">
                                      <p:cBhvr>
                                        <p:cTn id="34" dur="500"/>
                                        <p:tgtEl>
                                          <p:spTgt spid="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3" grpId="0" bldLvl="0" animBg="1"/>
      <p:bldP spid="3" grpId="1" animBg="1"/>
      <p:bldP spid="9" grpId="0" bldLvl="0" animBg="1"/>
      <p:bldP spid="9"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dirty="0"/>
              <a:t>大模型的循环工作模式</a:t>
            </a:r>
            <a:endParaRPr lang="zh-CN" altLang="en-US" dirty="0"/>
          </a:p>
        </p:txBody>
      </p:sp>
      <p:sp>
        <p:nvSpPr>
          <p:cNvPr id="7" name="文本占位符 6"/>
          <p:cNvSpPr>
            <a:spLocks noGrp="1"/>
          </p:cNvSpPr>
          <p:nvPr>
            <p:ph type="body" idx="1"/>
          </p:nvPr>
        </p:nvSpPr>
        <p:spPr/>
        <p:txBody>
          <a:bodyPr/>
          <a:lstStyle/>
          <a:p>
            <a:r>
              <a:rPr lang="zh-CN" altLang="en-US"/>
              <a:t>发动机的循环：冲程</a:t>
            </a:r>
            <a:endParaRPr lang="zh-CN" altLang="en-US"/>
          </a:p>
        </p:txBody>
      </p:sp>
      <p:sp>
        <p:nvSpPr>
          <p:cNvPr id="9" name="文本占位符 8"/>
          <p:cNvSpPr>
            <a:spLocks noGrp="1"/>
          </p:cNvSpPr>
          <p:nvPr>
            <p:ph type="body" sz="quarter" idx="3"/>
          </p:nvPr>
        </p:nvSpPr>
        <p:spPr/>
        <p:txBody>
          <a:bodyPr/>
          <a:lstStyle/>
          <a:p>
            <a:r>
              <a:rPr lang="zh-CN" altLang="en-US"/>
              <a:t>大模型的循环：自回归生成</a:t>
            </a:r>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en-US" altLang="zh-CN"/>
          </a:p>
        </p:txBody>
      </p:sp>
      <p:sp>
        <p:nvSpPr>
          <p:cNvPr id="12" name="AutoShape 6"/>
          <p:cNvSpPr/>
          <p:nvPr/>
        </p:nvSpPr>
        <p:spPr>
          <a:xfrm>
            <a:off x="9721465" y="2889250"/>
            <a:ext cx="719455" cy="720000"/>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sz="1600" i="0" u="none" strike="noStrike">
                <a:solidFill>
                  <a:srgbClr val="FFFFFF"/>
                </a:solidFill>
                <a:latin typeface="Noto Sans SC"/>
                <a:ea typeface="SimSun" charset="0"/>
                <a:cs typeface="Noto Sans SC"/>
                <a:sym typeface="Noto Sans SC"/>
              </a:rPr>
              <a:t>初始</a:t>
            </a:r>
            <a:endParaRPr lang="zh-CN" altLang="en-US" sz="1600"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1600" i="0" u="none" strike="noStrike">
                <a:solidFill>
                  <a:srgbClr val="FFFFFF"/>
                </a:solidFill>
                <a:latin typeface="Noto Sans SC"/>
                <a:ea typeface="SimSun" charset="0"/>
                <a:cs typeface="Noto Sans SC"/>
                <a:sym typeface="Noto Sans SC"/>
              </a:rPr>
              <a:t>文本</a:t>
            </a:r>
            <a:endParaRPr lang="zh-CN" altLang="en-US" sz="1600" i="0" u="none" strike="noStrike">
              <a:solidFill>
                <a:srgbClr val="FFFFFF"/>
              </a:solidFill>
              <a:latin typeface="Noto Sans SC"/>
              <a:ea typeface="SimSun" charset="0"/>
              <a:cs typeface="Noto Sans SC"/>
              <a:sym typeface="Noto Sans SC"/>
            </a:endParaRPr>
          </a:p>
        </p:txBody>
      </p:sp>
      <p:cxnSp>
        <p:nvCxnSpPr>
          <p:cNvPr id="25" name="直接箭头连接符 24"/>
          <p:cNvCxnSpPr/>
          <p:nvPr/>
        </p:nvCxnSpPr>
        <p:spPr>
          <a:xfrm>
            <a:off x="7423785" y="4928235"/>
            <a:ext cx="539750" cy="0"/>
          </a:xfrm>
          <a:prstGeom prst="straightConnector1">
            <a:avLst/>
          </a:prstGeom>
          <a:ln w="19050">
            <a:solidFill>
              <a:schemeClr val="bg1"/>
            </a:solidFill>
            <a:prstDash val="sysDash"/>
            <a:headEnd type="none" w="lg" len="lg"/>
            <a:tailEnd type="stealth" w="lg" len="lg"/>
          </a:ln>
        </p:spPr>
        <p:style>
          <a:lnRef idx="2">
            <a:schemeClr val="accent1"/>
          </a:lnRef>
          <a:fillRef idx="0">
            <a:srgbClr val="FFFFFF"/>
          </a:fillRef>
          <a:effectRef idx="0">
            <a:srgbClr val="FFFFFF"/>
          </a:effectRef>
          <a:fontRef idx="minor">
            <a:schemeClr val="tx1"/>
          </a:fontRef>
        </p:style>
      </p:cxnSp>
      <p:cxnSp>
        <p:nvCxnSpPr>
          <p:cNvPr id="34" name="直接箭头连接符 33"/>
          <p:cNvCxnSpPr/>
          <p:nvPr/>
        </p:nvCxnSpPr>
        <p:spPr>
          <a:xfrm>
            <a:off x="7423150" y="3249295"/>
            <a:ext cx="539750" cy="0"/>
          </a:xfrm>
          <a:prstGeom prst="straightConnector1">
            <a:avLst/>
          </a:prstGeom>
          <a:ln w="19050">
            <a:solidFill>
              <a:srgbClr val="B388FF"/>
            </a:solidFill>
            <a:prstDash val="sysDash"/>
            <a:headEnd type="stealth" w="lg" len="lg"/>
            <a:tailEnd type="none"/>
          </a:ln>
        </p:spPr>
        <p:style>
          <a:lnRef idx="2">
            <a:schemeClr val="accent1"/>
          </a:lnRef>
          <a:fillRef idx="0">
            <a:srgbClr val="FFFFFF"/>
          </a:fillRef>
          <a:effectRef idx="0">
            <a:srgbClr val="FFFFFF"/>
          </a:effectRef>
          <a:fontRef idx="minor">
            <a:schemeClr val="tx1"/>
          </a:fontRef>
        </p:style>
      </p:cxnSp>
      <p:cxnSp>
        <p:nvCxnSpPr>
          <p:cNvPr id="43" name="直接箭头连接符 42"/>
          <p:cNvCxnSpPr/>
          <p:nvPr/>
        </p:nvCxnSpPr>
        <p:spPr>
          <a:xfrm>
            <a:off x="9015345" y="3249250"/>
            <a:ext cx="539750" cy="0"/>
          </a:xfrm>
          <a:prstGeom prst="straightConnector1">
            <a:avLst/>
          </a:prstGeom>
          <a:ln w="19050">
            <a:solidFill>
              <a:srgbClr val="00E5FA"/>
            </a:solidFill>
            <a:prstDash val="sysDash"/>
            <a:headEnd type="stealth" w="lg" len="lg"/>
            <a:tailEnd type="none" w="lg" len="lg"/>
          </a:ln>
        </p:spPr>
        <p:style>
          <a:lnRef idx="2">
            <a:schemeClr val="accent1"/>
          </a:lnRef>
          <a:fillRef idx="0">
            <a:srgbClr val="FFFFFF"/>
          </a:fillRef>
          <a:effectRef idx="0">
            <a:srgbClr val="FFFFFF"/>
          </a:effectRef>
          <a:fontRef idx="minor">
            <a:schemeClr val="tx1"/>
          </a:fontRef>
        </p:style>
      </p:cxnSp>
      <p:sp>
        <p:nvSpPr>
          <p:cNvPr id="13" name="AutoShape 6"/>
          <p:cNvSpPr/>
          <p:nvPr/>
        </p:nvSpPr>
        <p:spPr>
          <a:xfrm>
            <a:off x="8129270" y="2889250"/>
            <a:ext cx="719455" cy="72009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zh-CN" sz="1600" i="0" u="none" strike="noStrike">
                <a:solidFill>
                  <a:srgbClr val="FFFFFF"/>
                </a:solidFill>
                <a:latin typeface="Noto Sans SC"/>
                <a:ea typeface="SimSun" charset="0"/>
                <a:cs typeface="Noto Sans SC"/>
                <a:sym typeface="Noto Sans SC"/>
              </a:rPr>
              <a:t>输入</a:t>
            </a:r>
            <a:endParaRPr lang="zh-CN" sz="1600"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sz="1600" i="0" u="none" strike="noStrike">
                <a:solidFill>
                  <a:srgbClr val="FFFFFF"/>
                </a:solidFill>
                <a:latin typeface="Noto Sans SC"/>
                <a:ea typeface="SimSun" charset="0"/>
                <a:cs typeface="Noto Sans SC"/>
                <a:sym typeface="Noto Sans SC"/>
              </a:rPr>
              <a:t>文本</a:t>
            </a:r>
            <a:endParaRPr lang="zh-CN" sz="1600" i="0" u="none" strike="noStrike">
              <a:solidFill>
                <a:srgbClr val="FFFFFF"/>
              </a:solidFill>
              <a:latin typeface="Noto Sans SC"/>
              <a:ea typeface="SimSun" charset="0"/>
              <a:cs typeface="Noto Sans SC"/>
              <a:sym typeface="Noto Sans SC"/>
            </a:endParaRPr>
          </a:p>
        </p:txBody>
      </p:sp>
      <p:sp>
        <p:nvSpPr>
          <p:cNvPr id="45" name="AutoShape 6"/>
          <p:cNvSpPr/>
          <p:nvPr/>
        </p:nvSpPr>
        <p:spPr>
          <a:xfrm>
            <a:off x="8129270" y="4568190"/>
            <a:ext cx="720090" cy="720090"/>
          </a:xfrm>
          <a:prstGeom prst="roundRect">
            <a:avLst>
              <a:gd name="adj" fmla="val 0"/>
            </a:avLst>
          </a:prstGeom>
          <a:solidFill>
            <a:srgbClr val="69F0AE">
              <a:alpha val="8000"/>
            </a:srgbClr>
          </a:solidFill>
          <a:ln w="25400" cap="flat" cmpd="sng">
            <a:solidFill>
              <a:srgbClr val="69F0AE">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indent="0" algn="ctr" fontAlgn="auto">
              <a:spcAft>
                <a:spcPts val="600"/>
              </a:spcAft>
              <a:defRPr/>
            </a:pPr>
            <a:r>
              <a:rPr lang="zh-CN" sz="1600" i="0" u="none" strike="noStrike">
                <a:solidFill>
                  <a:schemeClr val="bg1"/>
                </a:solidFill>
                <a:latin typeface="Noto Sans SC"/>
                <a:ea typeface="SimSun" charset="0"/>
                <a:cs typeface="Noto Sans SC"/>
                <a:sym typeface="+mn-ea"/>
              </a:rPr>
              <a:t>后续</a:t>
            </a:r>
            <a:endParaRPr lang="zh-CN" sz="1600" i="0" u="none" strike="noStrike">
              <a:solidFill>
                <a:schemeClr val="bg1"/>
              </a:solidFill>
              <a:latin typeface="Noto Sans SC"/>
              <a:ea typeface="SimSun" charset="0"/>
              <a:cs typeface="Noto Sans SC"/>
              <a:sym typeface="+mn-ea"/>
            </a:endParaRPr>
          </a:p>
          <a:p>
            <a:pPr indent="0" algn="ctr" fontAlgn="auto">
              <a:spcAft>
                <a:spcPts val="600"/>
              </a:spcAft>
              <a:defRPr/>
            </a:pPr>
            <a:r>
              <a:rPr lang="zh-CN" sz="1600" i="0" u="none" strike="noStrike">
                <a:solidFill>
                  <a:schemeClr val="bg1"/>
                </a:solidFill>
                <a:latin typeface="Noto Sans SC"/>
                <a:ea typeface="SimSun" charset="0"/>
                <a:cs typeface="Noto Sans SC"/>
                <a:sym typeface="+mn-ea"/>
              </a:rPr>
              <a:t>文本</a:t>
            </a:r>
            <a:endParaRPr lang="zh-CN" sz="1600" i="0" u="none" strike="noStrike">
              <a:solidFill>
                <a:schemeClr val="bg1"/>
              </a:solidFill>
              <a:latin typeface="Noto Sans SC"/>
              <a:ea typeface="SimSun" charset="0"/>
              <a:cs typeface="Noto Sans SC"/>
              <a:sym typeface="+mn-ea"/>
            </a:endParaRPr>
          </a:p>
        </p:txBody>
      </p:sp>
      <p:grpSp>
        <p:nvGrpSpPr>
          <p:cNvPr id="18" name="组合 17"/>
          <p:cNvGrpSpPr/>
          <p:nvPr/>
        </p:nvGrpSpPr>
        <p:grpSpPr>
          <a:xfrm>
            <a:off x="8341995" y="3904615"/>
            <a:ext cx="294640" cy="368300"/>
            <a:chOff x="13186" y="7084"/>
            <a:chExt cx="464" cy="580"/>
          </a:xfrm>
        </p:grpSpPr>
        <p:cxnSp>
          <p:nvCxnSpPr>
            <p:cNvPr id="16" name="直接箭头连接符 15"/>
            <p:cNvCxnSpPr/>
            <p:nvPr/>
          </p:nvCxnSpPr>
          <p:spPr>
            <a:xfrm flipV="1">
              <a:off x="13186" y="7084"/>
              <a:ext cx="0" cy="567"/>
            </a:xfrm>
            <a:prstGeom prst="straightConnector1">
              <a:avLst/>
            </a:prstGeom>
            <a:ln w="19050">
              <a:solidFill>
                <a:srgbClr val="69F0AE"/>
              </a:solidFill>
              <a:prstDash val="sysDash"/>
              <a:headEnd type="none" w="lg" len="lg"/>
              <a:tailEnd type="stealth" w="lg" len="lg"/>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13258" y="7084"/>
              <a:ext cx="392" cy="580"/>
            </a:xfrm>
            <a:prstGeom prst="rect">
              <a:avLst/>
            </a:prstGeom>
            <a:noFill/>
          </p:spPr>
          <p:txBody>
            <a:bodyPr wrap="square" rtlCol="0">
              <a:spAutoFit/>
            </a:bodyPr>
            <a:lstStyle/>
            <a:p>
              <a:pPr algn="ctr"/>
              <a:r>
                <a:rPr lang="en-US" altLang="zh-CN">
                  <a:solidFill>
                    <a:srgbClr val="69F0AE"/>
                  </a:solidFill>
                </a:rPr>
                <a:t>+</a:t>
              </a:r>
              <a:endParaRPr lang="en-US" altLang="zh-CN">
                <a:solidFill>
                  <a:srgbClr val="69F0AE"/>
                </a:solidFill>
              </a:endParaRPr>
            </a:p>
          </p:txBody>
        </p:sp>
      </p:grpSp>
      <p:sp>
        <p:nvSpPr>
          <p:cNvPr id="14" name="AutoShape 6"/>
          <p:cNvSpPr/>
          <p:nvPr/>
        </p:nvSpPr>
        <p:spPr>
          <a:xfrm>
            <a:off x="6718300" y="2889250"/>
            <a:ext cx="540000" cy="2340000"/>
          </a:xfrm>
          <a:prstGeom prst="roundRect">
            <a:avLst>
              <a:gd name="adj" fmla="val 0"/>
            </a:avLst>
          </a:prstGeom>
          <a:solidFill>
            <a:schemeClr val="bg1">
              <a:alpha val="8000"/>
            </a:schemeClr>
          </a:solidFill>
          <a:ln w="25400" cap="flat" cmpd="sng">
            <a:solidFill>
              <a:schemeClr val="bg1">
                <a:alpha val="100000"/>
              </a:scheme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sz="2000" b="1" i="0" u="none" strike="noStrike">
                <a:solidFill>
                  <a:srgbClr val="FFFFFF"/>
                </a:solidFill>
                <a:latin typeface="Noto Sans SC"/>
                <a:ea typeface="SimSun" charset="0"/>
                <a:cs typeface="Noto Sans SC"/>
                <a:sym typeface="Noto Sans SC"/>
              </a:rPr>
              <a:t>大</a:t>
            </a:r>
            <a:endParaRPr lang="zh-CN" altLang="en-US" sz="20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2000" b="1" i="0" u="none" strike="noStrike">
                <a:solidFill>
                  <a:srgbClr val="FFFFFF"/>
                </a:solidFill>
                <a:latin typeface="Noto Sans SC"/>
                <a:ea typeface="SimSun" charset="0"/>
                <a:cs typeface="Noto Sans SC"/>
                <a:sym typeface="Noto Sans SC"/>
              </a:rPr>
              <a:t>模</a:t>
            </a:r>
            <a:endParaRPr lang="zh-CN" altLang="en-US" sz="20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2000" b="1" i="0" u="none" strike="noStrike">
                <a:solidFill>
                  <a:srgbClr val="FFFFFF"/>
                </a:solidFill>
                <a:latin typeface="Noto Sans SC"/>
                <a:ea typeface="SimSun" charset="0"/>
                <a:cs typeface="Noto Sans SC"/>
                <a:sym typeface="Noto Sans SC"/>
              </a:rPr>
              <a:t>型</a:t>
            </a:r>
            <a:endParaRPr lang="zh-CN" altLang="en-US" sz="2000" b="1" i="0" u="none" strike="noStrike">
              <a:solidFill>
                <a:srgbClr val="FFFFFF"/>
              </a:solidFill>
              <a:latin typeface="Noto Sans SC"/>
              <a:ea typeface="SimSun" charset="0"/>
              <a:cs typeface="Noto Sans SC"/>
              <a:sym typeface="Noto Sans SC"/>
            </a:endParaRPr>
          </a:p>
        </p:txBody>
      </p:sp>
      <p:pic>
        <p:nvPicPr>
          <p:cNvPr id="21" name="图片 20" descr="4-Stroke-Engine"/>
          <p:cNvPicPr>
            <a:picLocks noChangeAspect="1"/>
          </p:cNvPicPr>
          <p:nvPr/>
        </p:nvPicPr>
        <p:blipFill>
          <a:blip r:embed="rId1"/>
          <a:stretch>
            <a:fillRect/>
          </a:stretch>
        </p:blipFill>
        <p:spPr>
          <a:xfrm>
            <a:off x="2409825" y="2498090"/>
            <a:ext cx="1466850" cy="3181350"/>
          </a:xfrm>
          <a:prstGeom prst="rect">
            <a:avLst/>
          </a:prstGeom>
        </p:spPr>
      </p:pic>
      <p:sp>
        <p:nvSpPr>
          <p:cNvPr id="2" name="AutoShape 6"/>
          <p:cNvSpPr/>
          <p:nvPr/>
        </p:nvSpPr>
        <p:spPr>
          <a:xfrm>
            <a:off x="9720330" y="4568190"/>
            <a:ext cx="719455" cy="720000"/>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sz="1600" i="0" u="none" strike="noStrike" dirty="0">
                <a:solidFill>
                  <a:srgbClr val="FFFFFF"/>
                </a:solidFill>
                <a:latin typeface="Noto Sans SC"/>
                <a:ea typeface="SimSun" charset="0"/>
                <a:cs typeface="Noto Sans SC"/>
                <a:sym typeface="Noto Sans SC"/>
              </a:rPr>
              <a:t>输出</a:t>
            </a:r>
            <a:endParaRPr lang="en-US" altLang="zh-CN" sz="1600" i="0" u="none" strike="noStrike" dirty="0">
              <a:solidFill>
                <a:srgbClr val="FFFFFF"/>
              </a:solidFill>
              <a:latin typeface="Noto Sans SC"/>
              <a:ea typeface="SimSun" charset="0"/>
              <a:cs typeface="Noto Sans SC"/>
              <a:sym typeface="Noto Sans SC"/>
            </a:endParaRPr>
          </a:p>
          <a:p>
            <a:pPr marL="0" indent="0" algn="ctr">
              <a:lnSpc>
                <a:spcPct val="125000"/>
              </a:lnSpc>
              <a:defRPr/>
            </a:pPr>
            <a:r>
              <a:rPr lang="zh-CN" altLang="en-US" sz="1600" i="0" u="none" strike="noStrike" dirty="0">
                <a:solidFill>
                  <a:srgbClr val="FFFFFF"/>
                </a:solidFill>
                <a:latin typeface="Noto Sans SC"/>
                <a:ea typeface="SimSun" charset="0"/>
                <a:cs typeface="Noto Sans SC"/>
                <a:sym typeface="Noto Sans SC"/>
              </a:rPr>
              <a:t>文本</a:t>
            </a:r>
            <a:endParaRPr lang="zh-CN" altLang="en-US" sz="1600" i="0" u="none" strike="noStrike" dirty="0">
              <a:solidFill>
                <a:srgbClr val="FFFFFF"/>
              </a:solidFill>
              <a:latin typeface="Noto Sans SC"/>
              <a:ea typeface="SimSun" charset="0"/>
              <a:cs typeface="Noto Sans SC"/>
              <a:sym typeface="Noto Sans SC"/>
            </a:endParaRPr>
          </a:p>
        </p:txBody>
      </p:sp>
      <p:cxnSp>
        <p:nvCxnSpPr>
          <p:cNvPr id="3" name="直接箭头连接符 2"/>
          <p:cNvCxnSpPr/>
          <p:nvPr/>
        </p:nvCxnSpPr>
        <p:spPr>
          <a:xfrm>
            <a:off x="9015345" y="4928190"/>
            <a:ext cx="539750" cy="0"/>
          </a:xfrm>
          <a:prstGeom prst="straightConnector1">
            <a:avLst/>
          </a:prstGeom>
          <a:ln w="19050">
            <a:solidFill>
              <a:srgbClr val="00E5FA"/>
            </a:solidFill>
            <a:prstDash val="sysDash"/>
            <a:headEnd type="none" w="lg" len="lg"/>
            <a:tailEnd type="stealth" w="lg" len="lg"/>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fade">
                                      <p:cBhvr>
                                        <p:cTn id="17" dur="500"/>
                                        <p:tgtEl>
                                          <p:spTgt spid="9">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wipe(right)">
                                      <p:cBhvr>
                                        <p:cTn id="31" dur="500"/>
                                        <p:tgtEl>
                                          <p:spTgt spid="43"/>
                                        </p:tgtEl>
                                      </p:cBhvr>
                                    </p:animEffec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nodeType="click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wipe(right)">
                                      <p:cBhvr>
                                        <p:cTn id="40" dur="500"/>
                                        <p:tgtEl>
                                          <p:spTgt spid="34"/>
                                        </p:tgtEl>
                                      </p:cBhvr>
                                    </p:animEffect>
                                  </p:childTnLst>
                                </p:cTn>
                              </p:par>
                            </p:childTnLst>
                          </p:cTn>
                        </p:par>
                        <p:par>
                          <p:cTn id="41" fill="hold">
                            <p:stCondLst>
                              <p:cond delay="500"/>
                            </p:stCondLst>
                            <p:childTnLst>
                              <p:par>
                                <p:cTn id="42" presetID="22" presetClass="entr" presetSubtype="8" fill="hold" nodeType="afterEffect">
                                  <p:stCondLst>
                                    <p:cond delay="1000"/>
                                  </p:stCondLst>
                                  <p:childTnLst>
                                    <p:set>
                                      <p:cBhvr>
                                        <p:cTn id="43" dur="1" fill="hold">
                                          <p:stCondLst>
                                            <p:cond delay="0"/>
                                          </p:stCondLst>
                                        </p:cTn>
                                        <p:tgtEl>
                                          <p:spTgt spid="25"/>
                                        </p:tgtEl>
                                        <p:attrNameLst>
                                          <p:attrName>style.visibility</p:attrName>
                                        </p:attrNameLst>
                                      </p:cBhvr>
                                      <p:to>
                                        <p:strVal val="visible"/>
                                      </p:to>
                                    </p:set>
                                    <p:animEffect transition="in" filter="wipe(left)">
                                      <p:cBhvr>
                                        <p:cTn id="44" dur="500"/>
                                        <p:tgtEl>
                                          <p:spTgt spid="25"/>
                                        </p:tgtEl>
                                      </p:cBhvr>
                                    </p:animEffect>
                                  </p:childTnLst>
                                </p:cTn>
                              </p:par>
                            </p:childTnLst>
                          </p:cTn>
                        </p:par>
                        <p:par>
                          <p:cTn id="45" fill="hold">
                            <p:stCondLst>
                              <p:cond delay="2000"/>
                            </p:stCondLst>
                            <p:childTnLst>
                              <p:par>
                                <p:cTn id="46" presetID="10" presetClass="entr" presetSubtype="0" fill="hold" grpId="0" nodeType="after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fade">
                                      <p:cBhvr>
                                        <p:cTn id="48" dur="500"/>
                                        <p:tgtEl>
                                          <p:spTgt spid="4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down)">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wipe(left)">
                                      <p:cBhvr>
                                        <p:cTn id="58" dur="500"/>
                                        <p:tgtEl>
                                          <p:spTgt spid="3"/>
                                        </p:tgtEl>
                                      </p:cBhvr>
                                    </p:animEffect>
                                  </p:childTnLst>
                                </p:cTn>
                              </p:par>
                            </p:childTnLst>
                          </p:cTn>
                        </p:par>
                        <p:par>
                          <p:cTn id="59" fill="hold">
                            <p:stCondLst>
                              <p:cond delay="500"/>
                            </p:stCondLst>
                            <p:childTnLst>
                              <p:par>
                                <p:cTn id="60" presetID="10" presetClass="entr" presetSubtype="0" fill="hold" grpId="2" nodeType="after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fade">
                                      <p:cBhvr>
                                        <p:cTn id="6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7" grpId="1" build="p"/>
      <p:bldP spid="9" grpId="0" build="p"/>
      <p:bldP spid="9" grpId="1" build="p"/>
      <p:bldP spid="12" grpId="0" bldLvl="0" animBg="1"/>
      <p:bldP spid="12" grpId="1" animBg="1"/>
      <p:bldP spid="13" grpId="0" bldLvl="0" animBg="1"/>
      <p:bldP spid="13" grpId="1" animBg="1"/>
      <p:bldP spid="45" grpId="0" bldLvl="0" animBg="1"/>
      <p:bldP spid="45" grpId="1" animBg="1"/>
      <p:bldP spid="14" grpId="0" bldLvl="0" animBg="1"/>
      <p:bldP spid="14" grpId="1" animBg="1"/>
      <p:bldP spid="2" grpId="1" animBg="1"/>
      <p:bldP spid="2" grpId="2"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t>自回归生成</a:t>
            </a:r>
            <a:r>
              <a:rPr lang="zh-CN" altLang="zh-CN" sz="3200" dirty="0"/>
              <a:t> —— </a:t>
            </a:r>
            <a:r>
              <a:rPr lang="zh-CN" altLang="en-US" sz="3200" dirty="0"/>
              <a:t>示例</a:t>
            </a:r>
            <a:endParaRPr lang="zh-CN" altLang="en-US" sz="3200"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en-US" altLang="zh-CN"/>
          </a:p>
        </p:txBody>
      </p:sp>
      <p:graphicFrame>
        <p:nvGraphicFramePr>
          <p:cNvPr id="7" name="表格 6"/>
          <p:cNvGraphicFramePr/>
          <p:nvPr/>
        </p:nvGraphicFramePr>
        <p:xfrm>
          <a:off x="1332230" y="5587365"/>
          <a:ext cx="9121140" cy="381000"/>
        </p:xfrm>
        <a:graphic>
          <a:graphicData uri="http://schemas.openxmlformats.org/drawingml/2006/table">
            <a:tbl>
              <a:tblPr firstRow="1" bandRow="1">
                <a:tableStyleId>{5C22544A-7EE6-4342-B048-85BDC9FD1C3A}</a:tableStyleId>
              </a:tblPr>
              <a:tblGrid>
                <a:gridCol w="1013460"/>
                <a:gridCol w="1013460"/>
                <a:gridCol w="1013460"/>
                <a:gridCol w="1013460"/>
                <a:gridCol w="1013460"/>
                <a:gridCol w="1013460"/>
                <a:gridCol w="1013460"/>
                <a:gridCol w="1013460"/>
                <a:gridCol w="1013460"/>
              </a:tblGrid>
              <a:tr h="381000">
                <a:tc>
                  <a:txBody>
                    <a:bodyPr/>
                    <a:lstStyle/>
                    <a:p>
                      <a:pPr algn="ctr">
                        <a:buNone/>
                      </a:pPr>
                      <a:r>
                        <a:rPr lang="zh-CN" altLang="en-US"/>
                        <a:t>港科大</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在</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今年</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排名</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第</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en-US" altLang="zh-CN"/>
                        <a:t>33</a:t>
                      </a:r>
                      <a:endParaRPr lang="en-US" altLang="zh-CN"/>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位</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endParaRPr lang="en-US" altLang="zh-CN" sz="1400">
                        <a:solidFill>
                          <a:srgbClr val="69F0AE"/>
                        </a:solidFill>
                      </a:endParaRP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bl>
          </a:graphicData>
        </a:graphic>
      </p:graphicFrame>
      <p:graphicFrame>
        <p:nvGraphicFramePr>
          <p:cNvPr id="8" name="表格 7"/>
          <p:cNvGraphicFramePr/>
          <p:nvPr/>
        </p:nvGraphicFramePr>
        <p:xfrm>
          <a:off x="1332230" y="1777365"/>
          <a:ext cx="4053840" cy="381000"/>
        </p:xfrm>
        <a:graphic>
          <a:graphicData uri="http://schemas.openxmlformats.org/drawingml/2006/table">
            <a:tbl>
              <a:tblPr firstRow="1" bandRow="1">
                <a:tableStyleId>{5C22544A-7EE6-4342-B048-85BDC9FD1C3A}</a:tableStyleId>
              </a:tblPr>
              <a:tblGrid>
                <a:gridCol w="1013460"/>
                <a:gridCol w="1013460"/>
                <a:gridCol w="1013460"/>
                <a:gridCol w="1013460"/>
              </a:tblGrid>
              <a:tr h="381000">
                <a:tc>
                  <a:txBody>
                    <a:bodyPr/>
                    <a:lstStyle/>
                    <a:p>
                      <a:pPr algn="ctr">
                        <a:buNone/>
                      </a:pPr>
                      <a:r>
                        <a:rPr lang="zh-CN" altLang="en-US"/>
                        <a:t>港科大</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在</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今年</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endParaRPr lang="zh-CN" altLang="en-US" dirty="0">
                        <a:solidFill>
                          <a:srgbClr val="69F0AE"/>
                        </a:solidFill>
                      </a:endParaRP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bl>
          </a:graphicData>
        </a:graphic>
      </p:graphicFrame>
      <p:graphicFrame>
        <p:nvGraphicFramePr>
          <p:cNvPr id="10" name="表格 9"/>
          <p:cNvGraphicFramePr/>
          <p:nvPr/>
        </p:nvGraphicFramePr>
        <p:xfrm>
          <a:off x="1332230" y="2539365"/>
          <a:ext cx="5067300" cy="381000"/>
        </p:xfrm>
        <a:graphic>
          <a:graphicData uri="http://schemas.openxmlformats.org/drawingml/2006/table">
            <a:tbl>
              <a:tblPr firstRow="1" bandRow="1">
                <a:tableStyleId>{5C22544A-7EE6-4342-B048-85BDC9FD1C3A}</a:tableStyleId>
              </a:tblPr>
              <a:tblGrid>
                <a:gridCol w="1013460"/>
                <a:gridCol w="1013460"/>
                <a:gridCol w="1013460"/>
                <a:gridCol w="1013460"/>
                <a:gridCol w="1013460"/>
              </a:tblGrid>
              <a:tr h="381000">
                <a:tc>
                  <a:txBody>
                    <a:bodyPr/>
                    <a:lstStyle/>
                    <a:p>
                      <a:pPr algn="ctr">
                        <a:buNone/>
                      </a:pPr>
                      <a:r>
                        <a:rPr lang="zh-CN" altLang="en-US"/>
                        <a:t>港科大</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在</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今年</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排名</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endParaRPr lang="zh-CN" altLang="en-US">
                        <a:solidFill>
                          <a:srgbClr val="69F0AE"/>
                        </a:solidFill>
                      </a:endParaRP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bl>
          </a:graphicData>
        </a:graphic>
      </p:graphicFrame>
      <p:graphicFrame>
        <p:nvGraphicFramePr>
          <p:cNvPr id="11" name="表格 10"/>
          <p:cNvGraphicFramePr/>
          <p:nvPr/>
        </p:nvGraphicFramePr>
        <p:xfrm>
          <a:off x="1332230" y="3301365"/>
          <a:ext cx="6080760" cy="381000"/>
        </p:xfrm>
        <a:graphic>
          <a:graphicData uri="http://schemas.openxmlformats.org/drawingml/2006/table">
            <a:tbl>
              <a:tblPr firstRow="1" bandRow="1">
                <a:tableStyleId>{5C22544A-7EE6-4342-B048-85BDC9FD1C3A}</a:tableStyleId>
              </a:tblPr>
              <a:tblGrid>
                <a:gridCol w="1013460"/>
                <a:gridCol w="1013460"/>
                <a:gridCol w="1013460"/>
                <a:gridCol w="1013460"/>
                <a:gridCol w="1013460"/>
                <a:gridCol w="1013460"/>
              </a:tblGrid>
              <a:tr h="381000">
                <a:tc>
                  <a:txBody>
                    <a:bodyPr/>
                    <a:lstStyle/>
                    <a:p>
                      <a:pPr algn="ctr">
                        <a:buNone/>
                      </a:pPr>
                      <a:r>
                        <a:rPr lang="zh-CN" altLang="en-US"/>
                        <a:t>港科大</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在</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今年</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排名</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第</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endParaRPr lang="en-US" altLang="zh-CN">
                        <a:solidFill>
                          <a:srgbClr val="69F0AE"/>
                        </a:solidFill>
                      </a:endParaRP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bl>
          </a:graphicData>
        </a:graphic>
      </p:graphicFrame>
      <p:graphicFrame>
        <p:nvGraphicFramePr>
          <p:cNvPr id="12" name="表格 11"/>
          <p:cNvGraphicFramePr/>
          <p:nvPr/>
        </p:nvGraphicFramePr>
        <p:xfrm>
          <a:off x="1332230" y="4063365"/>
          <a:ext cx="7094220" cy="381000"/>
        </p:xfrm>
        <a:graphic>
          <a:graphicData uri="http://schemas.openxmlformats.org/drawingml/2006/table">
            <a:tbl>
              <a:tblPr firstRow="1" bandRow="1">
                <a:tableStyleId>{5C22544A-7EE6-4342-B048-85BDC9FD1C3A}</a:tableStyleId>
              </a:tblPr>
              <a:tblGrid>
                <a:gridCol w="1013460"/>
                <a:gridCol w="1013460"/>
                <a:gridCol w="1013460"/>
                <a:gridCol w="1013460"/>
                <a:gridCol w="1013460"/>
                <a:gridCol w="1013460"/>
                <a:gridCol w="1013460"/>
              </a:tblGrid>
              <a:tr h="381000">
                <a:tc>
                  <a:txBody>
                    <a:bodyPr/>
                    <a:lstStyle/>
                    <a:p>
                      <a:pPr algn="ctr">
                        <a:buNone/>
                      </a:pPr>
                      <a:r>
                        <a:rPr lang="zh-CN" altLang="en-US"/>
                        <a:t>港科大</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在</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今年</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排名</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第</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en-US" altLang="zh-CN"/>
                        <a:t>33</a:t>
                      </a:r>
                      <a:endParaRPr lang="en-US" altLang="zh-CN"/>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endParaRPr lang="zh-CN" altLang="en-US">
                        <a:solidFill>
                          <a:srgbClr val="69F0AE"/>
                        </a:solidFill>
                      </a:endParaRP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bl>
          </a:graphicData>
        </a:graphic>
      </p:graphicFrame>
      <p:graphicFrame>
        <p:nvGraphicFramePr>
          <p:cNvPr id="13" name="表格 12"/>
          <p:cNvGraphicFramePr/>
          <p:nvPr/>
        </p:nvGraphicFramePr>
        <p:xfrm>
          <a:off x="1332230" y="4825365"/>
          <a:ext cx="8107680" cy="381000"/>
        </p:xfrm>
        <a:graphic>
          <a:graphicData uri="http://schemas.openxmlformats.org/drawingml/2006/table">
            <a:tbl>
              <a:tblPr firstRow="1" bandRow="1">
                <a:tableStyleId>{5C22544A-7EE6-4342-B048-85BDC9FD1C3A}</a:tableStyleId>
              </a:tblPr>
              <a:tblGrid>
                <a:gridCol w="1013460"/>
                <a:gridCol w="1013460"/>
                <a:gridCol w="1013460"/>
                <a:gridCol w="1013460"/>
                <a:gridCol w="1013460"/>
                <a:gridCol w="1013460"/>
                <a:gridCol w="1013460"/>
                <a:gridCol w="1013460"/>
              </a:tblGrid>
              <a:tr h="381000">
                <a:tc>
                  <a:txBody>
                    <a:bodyPr/>
                    <a:lstStyle/>
                    <a:p>
                      <a:pPr algn="ctr">
                        <a:buNone/>
                      </a:pPr>
                      <a:r>
                        <a:rPr lang="zh-CN" altLang="en-US"/>
                        <a:t>港科大</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在</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今年</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排名</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第</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en-US" altLang="zh-CN"/>
                        <a:t>33</a:t>
                      </a:r>
                      <a:endParaRPr lang="en-US" altLang="zh-CN"/>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位</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endParaRPr lang="zh-CN" altLang="en-US">
                        <a:solidFill>
                          <a:srgbClr val="69F0AE"/>
                        </a:solidFill>
                      </a:endParaRP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bl>
          </a:graphicData>
        </a:graphic>
      </p:graphicFrame>
      <p:sp>
        <p:nvSpPr>
          <p:cNvPr id="16" name="环形箭头 15"/>
          <p:cNvSpPr/>
          <p:nvPr/>
        </p:nvSpPr>
        <p:spPr>
          <a:xfrm>
            <a:off x="5002530" y="1777365"/>
            <a:ext cx="1186180" cy="1186180"/>
          </a:xfrm>
          <a:prstGeom prst="circularArrow">
            <a:avLst>
              <a:gd name="adj1" fmla="val 8606"/>
              <a:gd name="adj2" fmla="val 1142319"/>
              <a:gd name="adj3" fmla="val 20385647"/>
              <a:gd name="adj4" fmla="val 16064854"/>
              <a:gd name="adj5" fmla="val 9651"/>
            </a:avLst>
          </a:prstGeom>
          <a:solidFill>
            <a:srgbClr val="00E5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7" name="环形箭头 16"/>
          <p:cNvSpPr/>
          <p:nvPr/>
        </p:nvSpPr>
        <p:spPr>
          <a:xfrm>
            <a:off x="6035040" y="2539365"/>
            <a:ext cx="1186180" cy="1186180"/>
          </a:xfrm>
          <a:prstGeom prst="circularArrow">
            <a:avLst>
              <a:gd name="adj1" fmla="val 8606"/>
              <a:gd name="adj2" fmla="val 1142319"/>
              <a:gd name="adj3" fmla="val 20385647"/>
              <a:gd name="adj4" fmla="val 16064854"/>
              <a:gd name="adj5" fmla="val 9651"/>
            </a:avLst>
          </a:prstGeom>
          <a:solidFill>
            <a:srgbClr val="00E5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8" name="环形箭头 17"/>
          <p:cNvSpPr/>
          <p:nvPr/>
        </p:nvSpPr>
        <p:spPr>
          <a:xfrm>
            <a:off x="7018655" y="3301365"/>
            <a:ext cx="1186180" cy="1186180"/>
          </a:xfrm>
          <a:prstGeom prst="circularArrow">
            <a:avLst>
              <a:gd name="adj1" fmla="val 8606"/>
              <a:gd name="adj2" fmla="val 1142319"/>
              <a:gd name="adj3" fmla="val 20385647"/>
              <a:gd name="adj4" fmla="val 16064854"/>
              <a:gd name="adj5" fmla="val 9651"/>
            </a:avLst>
          </a:prstGeom>
          <a:solidFill>
            <a:srgbClr val="00E5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9" name="环形箭头 18"/>
          <p:cNvSpPr/>
          <p:nvPr/>
        </p:nvSpPr>
        <p:spPr>
          <a:xfrm>
            <a:off x="8036560" y="4063365"/>
            <a:ext cx="1186180" cy="1186180"/>
          </a:xfrm>
          <a:prstGeom prst="circularArrow">
            <a:avLst>
              <a:gd name="adj1" fmla="val 8606"/>
              <a:gd name="adj2" fmla="val 1142319"/>
              <a:gd name="adj3" fmla="val 20385647"/>
              <a:gd name="adj4" fmla="val 16064854"/>
              <a:gd name="adj5" fmla="val 9651"/>
            </a:avLst>
          </a:prstGeom>
          <a:solidFill>
            <a:srgbClr val="00E5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20" name="环形箭头 19"/>
          <p:cNvSpPr/>
          <p:nvPr/>
        </p:nvSpPr>
        <p:spPr>
          <a:xfrm>
            <a:off x="9074785" y="4825365"/>
            <a:ext cx="1186180" cy="1186180"/>
          </a:xfrm>
          <a:prstGeom prst="circularArrow">
            <a:avLst>
              <a:gd name="adj1" fmla="val 8606"/>
              <a:gd name="adj2" fmla="val 1142319"/>
              <a:gd name="adj3" fmla="val 20385647"/>
              <a:gd name="adj4" fmla="val 16064854"/>
              <a:gd name="adj5" fmla="val 9651"/>
            </a:avLst>
          </a:prstGeom>
          <a:solidFill>
            <a:srgbClr val="00E5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3" name="文本框 2"/>
          <p:cNvSpPr txBox="1"/>
          <p:nvPr/>
        </p:nvSpPr>
        <p:spPr>
          <a:xfrm>
            <a:off x="14166215" y="4756150"/>
            <a:ext cx="4064000" cy="368300"/>
          </a:xfrm>
          <a:prstGeom prst="rect">
            <a:avLst/>
          </a:prstGeom>
          <a:noFill/>
        </p:spPr>
        <p:txBody>
          <a:bodyPr wrap="square" rtlCol="0">
            <a:spAutoFit/>
          </a:bodyPr>
          <a:lstStyle/>
          <a:p>
            <a:endParaRPr lang="zh-CN" altLang="en-US"/>
          </a:p>
        </p:txBody>
      </p:sp>
      <p:sp>
        <p:nvSpPr>
          <p:cNvPr id="4" name="文本框 3"/>
          <p:cNvSpPr txBox="1"/>
          <p:nvPr/>
        </p:nvSpPr>
        <p:spPr>
          <a:xfrm>
            <a:off x="4372610" y="1774825"/>
            <a:ext cx="1012825" cy="375920"/>
          </a:xfrm>
          <a:prstGeom prst="rect">
            <a:avLst/>
          </a:prstGeom>
          <a:noFill/>
        </p:spPr>
        <p:txBody>
          <a:bodyPr wrap="square" rtlCol="0" anchor="ctr" anchorCtr="0">
            <a:noAutofit/>
          </a:bodyPr>
          <a:lstStyle/>
          <a:p>
            <a:pPr algn="ctr"/>
            <a:r>
              <a:rPr lang="zh-CN" altLang="en-US" b="1">
                <a:solidFill>
                  <a:srgbClr val="69F0AE"/>
                </a:solidFill>
              </a:rPr>
              <a:t>排名</a:t>
            </a:r>
            <a:endParaRPr lang="zh-CN" altLang="en-US" b="1">
              <a:solidFill>
                <a:srgbClr val="69F0AE"/>
              </a:solidFill>
            </a:endParaRPr>
          </a:p>
        </p:txBody>
      </p:sp>
      <p:sp>
        <p:nvSpPr>
          <p:cNvPr id="6" name="文本框 5"/>
          <p:cNvSpPr txBox="1"/>
          <p:nvPr/>
        </p:nvSpPr>
        <p:spPr>
          <a:xfrm>
            <a:off x="5385435" y="2541905"/>
            <a:ext cx="1012825" cy="375920"/>
          </a:xfrm>
          <a:prstGeom prst="rect">
            <a:avLst/>
          </a:prstGeom>
          <a:noFill/>
        </p:spPr>
        <p:txBody>
          <a:bodyPr wrap="square" rtlCol="0" anchor="ctr" anchorCtr="0">
            <a:noAutofit/>
          </a:bodyPr>
          <a:lstStyle/>
          <a:p>
            <a:pPr algn="ctr"/>
            <a:r>
              <a:rPr lang="zh-CN" altLang="en-US" b="1">
                <a:solidFill>
                  <a:srgbClr val="69F0AE"/>
                </a:solidFill>
              </a:rPr>
              <a:t>第</a:t>
            </a:r>
            <a:endParaRPr lang="zh-CN" altLang="en-US" b="1">
              <a:solidFill>
                <a:srgbClr val="69F0AE"/>
              </a:solidFill>
            </a:endParaRPr>
          </a:p>
        </p:txBody>
      </p:sp>
      <p:sp>
        <p:nvSpPr>
          <p:cNvPr id="9" name="文本框 8"/>
          <p:cNvSpPr txBox="1"/>
          <p:nvPr/>
        </p:nvSpPr>
        <p:spPr>
          <a:xfrm>
            <a:off x="6400165" y="3306445"/>
            <a:ext cx="1012825" cy="375920"/>
          </a:xfrm>
          <a:prstGeom prst="rect">
            <a:avLst/>
          </a:prstGeom>
          <a:noFill/>
        </p:spPr>
        <p:txBody>
          <a:bodyPr wrap="square" rtlCol="0" anchor="ctr" anchorCtr="0">
            <a:noAutofit/>
          </a:bodyPr>
          <a:lstStyle/>
          <a:p>
            <a:pPr algn="ctr"/>
            <a:r>
              <a:rPr lang="en-US" altLang="zh-CN" b="1">
                <a:solidFill>
                  <a:srgbClr val="69F0AE"/>
                </a:solidFill>
              </a:rPr>
              <a:t>33</a:t>
            </a:r>
            <a:endParaRPr lang="en-US" altLang="zh-CN" b="1">
              <a:solidFill>
                <a:srgbClr val="69F0AE"/>
              </a:solidFill>
            </a:endParaRPr>
          </a:p>
        </p:txBody>
      </p:sp>
      <p:sp>
        <p:nvSpPr>
          <p:cNvPr id="14" name="文本框 13"/>
          <p:cNvSpPr txBox="1"/>
          <p:nvPr/>
        </p:nvSpPr>
        <p:spPr>
          <a:xfrm>
            <a:off x="7412990" y="4068445"/>
            <a:ext cx="1012825" cy="375920"/>
          </a:xfrm>
          <a:prstGeom prst="rect">
            <a:avLst/>
          </a:prstGeom>
          <a:noFill/>
        </p:spPr>
        <p:txBody>
          <a:bodyPr wrap="square" rtlCol="0" anchor="ctr" anchorCtr="0">
            <a:noAutofit/>
          </a:bodyPr>
          <a:lstStyle/>
          <a:p>
            <a:pPr algn="ctr"/>
            <a:r>
              <a:rPr lang="zh-CN" altLang="en-US" b="1">
                <a:solidFill>
                  <a:srgbClr val="69F0AE"/>
                </a:solidFill>
              </a:rPr>
              <a:t>位</a:t>
            </a:r>
            <a:endParaRPr lang="zh-CN" altLang="en-US" b="1">
              <a:solidFill>
                <a:srgbClr val="69F0AE"/>
              </a:solidFill>
            </a:endParaRPr>
          </a:p>
        </p:txBody>
      </p:sp>
      <p:sp>
        <p:nvSpPr>
          <p:cNvPr id="15" name="文本框 14"/>
          <p:cNvSpPr txBox="1"/>
          <p:nvPr/>
        </p:nvSpPr>
        <p:spPr>
          <a:xfrm>
            <a:off x="8425815" y="4827905"/>
            <a:ext cx="1012825" cy="375920"/>
          </a:xfrm>
          <a:prstGeom prst="rect">
            <a:avLst/>
          </a:prstGeom>
          <a:noFill/>
        </p:spPr>
        <p:txBody>
          <a:bodyPr wrap="square" rtlCol="0" anchor="ctr" anchorCtr="0">
            <a:noAutofit/>
          </a:bodyPr>
          <a:lstStyle/>
          <a:p>
            <a:pPr algn="ctr"/>
            <a:r>
              <a:rPr lang="zh-CN" altLang="en-US" b="1">
                <a:solidFill>
                  <a:srgbClr val="69F0AE"/>
                </a:solidFill>
              </a:rPr>
              <a:t>。</a:t>
            </a:r>
            <a:endParaRPr lang="zh-CN" altLang="en-US" b="1">
              <a:solidFill>
                <a:srgbClr val="69F0AE"/>
              </a:solidFill>
            </a:endParaRPr>
          </a:p>
        </p:txBody>
      </p:sp>
      <p:sp>
        <p:nvSpPr>
          <p:cNvPr id="21" name="文本框 20"/>
          <p:cNvSpPr txBox="1"/>
          <p:nvPr/>
        </p:nvSpPr>
        <p:spPr>
          <a:xfrm>
            <a:off x="9440545" y="5587365"/>
            <a:ext cx="1012825" cy="375920"/>
          </a:xfrm>
          <a:prstGeom prst="rect">
            <a:avLst/>
          </a:prstGeom>
          <a:noFill/>
        </p:spPr>
        <p:txBody>
          <a:bodyPr wrap="square" rtlCol="0" anchor="ctr" anchorCtr="0">
            <a:noAutofit/>
          </a:bodyPr>
          <a:lstStyle/>
          <a:p>
            <a:pPr algn="ctr"/>
            <a:r>
              <a:rPr lang="en-US" altLang="zh-CN" sz="1400" b="1">
                <a:solidFill>
                  <a:srgbClr val="69F0AE"/>
                </a:solidFill>
              </a:rPr>
              <a:t>&lt;|end|&gt;</a:t>
            </a:r>
            <a:endParaRPr lang="en-US" altLang="zh-CN" sz="1400" b="1">
              <a:solidFill>
                <a:srgbClr val="69F0AE"/>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par>
                          <p:cTn id="46" fill="hold">
                            <p:stCondLst>
                              <p:cond delay="500"/>
                            </p:stCondLst>
                            <p:childTnLst>
                              <p:par>
                                <p:cTn id="47" presetID="10" presetClass="entr" presetSubtype="0" fill="hold" nodeType="after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childTnLst>
                          </p:cTn>
                        </p:par>
                        <p:par>
                          <p:cTn id="60" fill="hold">
                            <p:stCondLst>
                              <p:cond delay="500"/>
                            </p:stCondLst>
                            <p:childTnLst>
                              <p:par>
                                <p:cTn id="61" presetID="10" presetClass="entr" presetSubtype="0" fill="hold" nodeType="after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500"/>
                                        <p:tgtEl>
                                          <p:spTgt spid="1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5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500"/>
                                        <p:tgtEl>
                                          <p:spTgt spid="20"/>
                                        </p:tgtEl>
                                      </p:cBhvr>
                                    </p:animEffect>
                                  </p:childTnLst>
                                </p:cTn>
                              </p:par>
                            </p:childTnLst>
                          </p:cTn>
                        </p:par>
                        <p:par>
                          <p:cTn id="74" fill="hold">
                            <p:stCondLst>
                              <p:cond delay="500"/>
                            </p:stCondLst>
                            <p:childTnLst>
                              <p:par>
                                <p:cTn id="75" presetID="10" presetClass="entr" presetSubtype="0" fill="hold" nodeType="after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fade">
                                      <p:cBhvr>
                                        <p:cTn id="77" dur="500"/>
                                        <p:tgtEl>
                                          <p:spTgt spid="7"/>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16" grpId="1" animBg="1"/>
      <p:bldP spid="17" grpId="0" bldLvl="0" animBg="1"/>
      <p:bldP spid="17" grpId="1" animBg="1"/>
      <p:bldP spid="18" grpId="0" bldLvl="0" animBg="1"/>
      <p:bldP spid="18" grpId="1" animBg="1"/>
      <p:bldP spid="19" grpId="0" bldLvl="0" animBg="1"/>
      <p:bldP spid="19" grpId="1" animBg="1"/>
      <p:bldP spid="20" grpId="0" bldLvl="0" animBg="1"/>
      <p:bldP spid="20" grpId="1" animBg="1"/>
      <p:bldP spid="4" grpId="0"/>
      <p:bldP spid="4" grpId="1"/>
      <p:bldP spid="6" grpId="0"/>
      <p:bldP spid="6" grpId="1"/>
      <p:bldP spid="9" grpId="0"/>
      <p:bldP spid="9" grpId="1"/>
      <p:bldP spid="14" grpId="0"/>
      <p:bldP spid="14" grpId="1"/>
      <p:bldP spid="15" grpId="0"/>
      <p:bldP spid="15" grpId="1"/>
      <p:bldP spid="21" grpId="0"/>
      <p:bldP spid="21"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续写文本的选择</a:t>
            </a:r>
            <a:endParaRPr lang="zh-CN" altLang="en-US"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graphicFrame>
        <p:nvGraphicFramePr>
          <p:cNvPr id="5" name="表格 4"/>
          <p:cNvGraphicFramePr/>
          <p:nvPr/>
        </p:nvGraphicFramePr>
        <p:xfrm>
          <a:off x="2280386" y="2408765"/>
          <a:ext cx="4053840" cy="381000"/>
        </p:xfrm>
        <a:graphic>
          <a:graphicData uri="http://schemas.openxmlformats.org/drawingml/2006/table">
            <a:tbl>
              <a:tblPr firstRow="1" bandRow="1">
                <a:tableStyleId>{5C22544A-7EE6-4342-B048-85BDC9FD1C3A}</a:tableStyleId>
              </a:tblPr>
              <a:tblGrid>
                <a:gridCol w="1013460"/>
                <a:gridCol w="1013460"/>
                <a:gridCol w="1013460"/>
                <a:gridCol w="1013460"/>
              </a:tblGrid>
              <a:tr h="381000">
                <a:tc>
                  <a:txBody>
                    <a:bodyPr/>
                    <a:lstStyle/>
                    <a:p>
                      <a:pPr algn="ctr">
                        <a:buNone/>
                      </a:pPr>
                      <a:r>
                        <a:rPr lang="zh-CN" altLang="en-US" dirty="0"/>
                        <a:t>港科大</a:t>
                      </a:r>
                      <a:endParaRPr lang="zh-CN" altLang="en-US" dirty="0"/>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在</a:t>
                      </a:r>
                      <a:endParaRPr lang="zh-CN" altLang="en-US"/>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dirty="0"/>
                        <a:t>今年</a:t>
                      </a:r>
                      <a:endParaRPr lang="zh-CN" altLang="en-US" dirty="0"/>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endParaRPr lang="zh-CN" altLang="en-US" dirty="0">
                        <a:solidFill>
                          <a:srgbClr val="69F0AE"/>
                        </a:solidFill>
                      </a:endParaRP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bl>
          </a:graphicData>
        </a:graphic>
      </p:graphicFrame>
      <p:sp>
        <p:nvSpPr>
          <p:cNvPr id="6" name="文本框 5"/>
          <p:cNvSpPr txBox="1"/>
          <p:nvPr/>
        </p:nvSpPr>
        <p:spPr>
          <a:xfrm>
            <a:off x="5321401" y="2408765"/>
            <a:ext cx="1012825" cy="375920"/>
          </a:xfrm>
          <a:prstGeom prst="rect">
            <a:avLst/>
          </a:prstGeom>
          <a:noFill/>
        </p:spPr>
        <p:txBody>
          <a:bodyPr wrap="square" rtlCol="0" anchor="ctr" anchorCtr="0">
            <a:noAutofit/>
          </a:bodyPr>
          <a:lstStyle/>
          <a:p>
            <a:pPr algn="ctr"/>
            <a:r>
              <a:rPr lang="zh-CN" altLang="en-US" b="1" dirty="0">
                <a:solidFill>
                  <a:srgbClr val="69F0AE"/>
                </a:solidFill>
              </a:rPr>
              <a:t>排名</a:t>
            </a:r>
            <a:endParaRPr lang="zh-CN" altLang="en-US" b="1" dirty="0">
              <a:solidFill>
                <a:srgbClr val="69F0AE"/>
              </a:solidFill>
            </a:endParaRPr>
          </a:p>
        </p:txBody>
      </p:sp>
      <p:sp>
        <p:nvSpPr>
          <p:cNvPr id="7" name="文本框 6"/>
          <p:cNvSpPr txBox="1"/>
          <p:nvPr/>
        </p:nvSpPr>
        <p:spPr>
          <a:xfrm>
            <a:off x="5321401" y="3016990"/>
            <a:ext cx="1012825" cy="375920"/>
          </a:xfrm>
          <a:prstGeom prst="rect">
            <a:avLst/>
          </a:prstGeom>
          <a:noFill/>
        </p:spPr>
        <p:txBody>
          <a:bodyPr wrap="square" rtlCol="0" anchor="ctr" anchorCtr="0">
            <a:noAutofit/>
          </a:bodyPr>
          <a:lstStyle/>
          <a:p>
            <a:pPr algn="ctr"/>
            <a:r>
              <a:rPr lang="zh-CN" altLang="en-US" b="1" dirty="0">
                <a:solidFill>
                  <a:srgbClr val="69F0AE"/>
                </a:solidFill>
              </a:rPr>
              <a:t>建造</a:t>
            </a:r>
            <a:endParaRPr lang="zh-CN" altLang="en-US" b="1" dirty="0">
              <a:solidFill>
                <a:srgbClr val="69F0AE"/>
              </a:solidFill>
            </a:endParaRPr>
          </a:p>
        </p:txBody>
      </p:sp>
      <p:sp>
        <p:nvSpPr>
          <p:cNvPr id="8" name="文本框 7"/>
          <p:cNvSpPr txBox="1"/>
          <p:nvPr/>
        </p:nvSpPr>
        <p:spPr>
          <a:xfrm>
            <a:off x="5321401" y="3625215"/>
            <a:ext cx="1012825" cy="375920"/>
          </a:xfrm>
          <a:prstGeom prst="rect">
            <a:avLst/>
          </a:prstGeom>
          <a:noFill/>
        </p:spPr>
        <p:txBody>
          <a:bodyPr wrap="square" rtlCol="0" anchor="ctr" anchorCtr="0">
            <a:noAutofit/>
          </a:bodyPr>
          <a:lstStyle/>
          <a:p>
            <a:pPr algn="ctr"/>
            <a:r>
              <a:rPr lang="zh-CN" altLang="en-US" b="1" dirty="0">
                <a:solidFill>
                  <a:srgbClr val="69F0AE"/>
                </a:solidFill>
              </a:rPr>
              <a:t>开展</a:t>
            </a:r>
            <a:endParaRPr lang="zh-CN" altLang="en-US" b="1" dirty="0">
              <a:solidFill>
                <a:srgbClr val="69F0AE"/>
              </a:solidFill>
            </a:endParaRPr>
          </a:p>
        </p:txBody>
      </p:sp>
      <p:sp>
        <p:nvSpPr>
          <p:cNvPr id="9" name="文本框 8"/>
          <p:cNvSpPr txBox="1"/>
          <p:nvPr/>
        </p:nvSpPr>
        <p:spPr>
          <a:xfrm>
            <a:off x="5321401" y="4233440"/>
            <a:ext cx="1012825" cy="375920"/>
          </a:xfrm>
          <a:prstGeom prst="rect">
            <a:avLst/>
          </a:prstGeom>
          <a:noFill/>
        </p:spPr>
        <p:txBody>
          <a:bodyPr wrap="square" rtlCol="0" anchor="ctr" anchorCtr="0">
            <a:noAutofit/>
          </a:bodyPr>
          <a:lstStyle/>
          <a:p>
            <a:pPr algn="ctr"/>
            <a:r>
              <a:rPr lang="zh-CN" altLang="en-US" b="1" dirty="0">
                <a:solidFill>
                  <a:srgbClr val="69F0AE"/>
                </a:solidFill>
              </a:rPr>
              <a:t>有</a:t>
            </a:r>
            <a:endParaRPr lang="zh-CN" altLang="en-US" b="1" dirty="0">
              <a:solidFill>
                <a:srgbClr val="69F0AE"/>
              </a:solidFill>
            </a:endParaRPr>
          </a:p>
        </p:txBody>
      </p:sp>
      <p:sp>
        <p:nvSpPr>
          <p:cNvPr id="10" name="文本框 9"/>
          <p:cNvSpPr txBox="1"/>
          <p:nvPr/>
        </p:nvSpPr>
        <p:spPr>
          <a:xfrm>
            <a:off x="5321401" y="4841665"/>
            <a:ext cx="1012825" cy="375920"/>
          </a:xfrm>
          <a:prstGeom prst="rect">
            <a:avLst/>
          </a:prstGeom>
          <a:noFill/>
        </p:spPr>
        <p:txBody>
          <a:bodyPr wrap="square" rtlCol="0" anchor="ctr" anchorCtr="0">
            <a:noAutofit/>
          </a:bodyPr>
          <a:lstStyle/>
          <a:p>
            <a:pPr algn="ctr"/>
            <a:r>
              <a:rPr lang="en-US" altLang="zh-CN" b="1" dirty="0">
                <a:solidFill>
                  <a:srgbClr val="69F0AE"/>
                </a:solidFill>
              </a:rPr>
              <a:t>……</a:t>
            </a:r>
            <a:endParaRPr lang="zh-CN" altLang="en-US" b="1" dirty="0">
              <a:solidFill>
                <a:srgbClr val="69F0AE"/>
              </a:solidFill>
            </a:endParaRPr>
          </a:p>
        </p:txBody>
      </p:sp>
      <p:grpSp>
        <p:nvGrpSpPr>
          <p:cNvPr id="21" name="组合 20"/>
          <p:cNvGrpSpPr/>
          <p:nvPr/>
        </p:nvGrpSpPr>
        <p:grpSpPr>
          <a:xfrm>
            <a:off x="6629289" y="2408765"/>
            <a:ext cx="915148" cy="1592370"/>
            <a:chOff x="6629289" y="2408765"/>
            <a:chExt cx="915148" cy="1592370"/>
          </a:xfrm>
        </p:grpSpPr>
        <p:sp>
          <p:nvSpPr>
            <p:cNvPr id="11" name="右大括号 10"/>
            <p:cNvSpPr/>
            <p:nvPr/>
          </p:nvSpPr>
          <p:spPr>
            <a:xfrm>
              <a:off x="6629289" y="2408765"/>
              <a:ext cx="270933" cy="1592370"/>
            </a:xfrm>
            <a:prstGeom prst="rightBrace">
              <a:avLst>
                <a:gd name="adj1" fmla="val 83333"/>
                <a:gd name="adj2" fmla="val 50000"/>
              </a:avLst>
            </a:prstGeom>
            <a:ln w="19050">
              <a:solidFill>
                <a:srgbClr val="B388FF"/>
              </a:solidFill>
            </a:ln>
            <a:effectLst>
              <a:outerShdw blurRad="63500" sx="102000" sy="102000" algn="ctr" rotWithShape="0">
                <a:srgbClr val="B388FF">
                  <a:alpha val="40000"/>
                </a:srgb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文本框 11"/>
            <p:cNvSpPr txBox="1"/>
            <p:nvPr/>
          </p:nvSpPr>
          <p:spPr>
            <a:xfrm>
              <a:off x="6898106" y="3016990"/>
              <a:ext cx="646331" cy="369332"/>
            </a:xfrm>
            <a:prstGeom prst="rect">
              <a:avLst/>
            </a:prstGeom>
            <a:noFill/>
          </p:spPr>
          <p:txBody>
            <a:bodyPr wrap="none" rtlCol="0">
              <a:spAutoFit/>
            </a:bodyPr>
            <a:lstStyle/>
            <a:p>
              <a:pPr algn="ctr"/>
              <a:r>
                <a:rPr lang="zh-CN" altLang="en-US" b="1" dirty="0">
                  <a:solidFill>
                    <a:srgbClr val="B388FF"/>
                  </a:solidFill>
                </a:rPr>
                <a:t>温度</a:t>
              </a:r>
              <a:endParaRPr lang="zh-CN" altLang="en-US" b="1" dirty="0">
                <a:solidFill>
                  <a:srgbClr val="B388FF"/>
                </a:solidFill>
              </a:endParaRPr>
            </a:p>
          </p:txBody>
        </p:sp>
      </p:grpSp>
      <p:grpSp>
        <p:nvGrpSpPr>
          <p:cNvPr id="22" name="组合 21"/>
          <p:cNvGrpSpPr/>
          <p:nvPr/>
        </p:nvGrpSpPr>
        <p:grpSpPr>
          <a:xfrm>
            <a:off x="7781170" y="2408764"/>
            <a:ext cx="1181759" cy="2200595"/>
            <a:chOff x="7781170" y="2408764"/>
            <a:chExt cx="1181759" cy="2200595"/>
          </a:xfrm>
        </p:grpSpPr>
        <p:sp>
          <p:nvSpPr>
            <p:cNvPr id="14" name="右大括号 13"/>
            <p:cNvSpPr/>
            <p:nvPr/>
          </p:nvSpPr>
          <p:spPr>
            <a:xfrm>
              <a:off x="7781170" y="2408764"/>
              <a:ext cx="270933" cy="2200595"/>
            </a:xfrm>
            <a:prstGeom prst="rightBrace">
              <a:avLst>
                <a:gd name="adj1" fmla="val 83333"/>
                <a:gd name="adj2" fmla="val 50000"/>
              </a:avLst>
            </a:prstGeom>
            <a:ln w="19050">
              <a:solidFill>
                <a:srgbClr val="B388FF"/>
              </a:solidFill>
            </a:ln>
            <a:effectLst>
              <a:outerShdw blurRad="63500" sx="102000" sy="102000" algn="ctr" rotWithShape="0">
                <a:srgbClr val="B388FF">
                  <a:alpha val="40000"/>
                </a:srgb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文本框 15"/>
            <p:cNvSpPr txBox="1"/>
            <p:nvPr/>
          </p:nvSpPr>
          <p:spPr>
            <a:xfrm>
              <a:off x="8052103" y="3324395"/>
              <a:ext cx="910826" cy="369332"/>
            </a:xfrm>
            <a:prstGeom prst="rect">
              <a:avLst/>
            </a:prstGeom>
            <a:noFill/>
          </p:spPr>
          <p:txBody>
            <a:bodyPr wrap="none" rtlCol="0">
              <a:spAutoFit/>
            </a:bodyPr>
            <a:lstStyle/>
            <a:p>
              <a:pPr algn="ctr"/>
              <a:r>
                <a:rPr lang="zh-CN" altLang="en-US" b="1" dirty="0">
                  <a:solidFill>
                    <a:srgbClr val="B388FF"/>
                  </a:solidFill>
                </a:rPr>
                <a:t>温度 ↑</a:t>
              </a:r>
              <a:endParaRPr lang="zh-CN" altLang="en-US" b="1" dirty="0">
                <a:solidFill>
                  <a:srgbClr val="B388FF"/>
                </a:solidFill>
              </a:endParaRPr>
            </a:p>
          </p:txBody>
        </p:sp>
      </p:grpSp>
      <p:grpSp>
        <p:nvGrpSpPr>
          <p:cNvPr id="23" name="组合 22"/>
          <p:cNvGrpSpPr/>
          <p:nvPr/>
        </p:nvGrpSpPr>
        <p:grpSpPr>
          <a:xfrm>
            <a:off x="9104308" y="2408765"/>
            <a:ext cx="1181759" cy="1020235"/>
            <a:chOff x="9104308" y="2408765"/>
            <a:chExt cx="1181759" cy="1020235"/>
          </a:xfrm>
        </p:grpSpPr>
        <p:sp>
          <p:nvSpPr>
            <p:cNvPr id="18" name="右大括号 17"/>
            <p:cNvSpPr/>
            <p:nvPr/>
          </p:nvSpPr>
          <p:spPr>
            <a:xfrm>
              <a:off x="9104308" y="2408765"/>
              <a:ext cx="270933" cy="1020235"/>
            </a:xfrm>
            <a:prstGeom prst="rightBrace">
              <a:avLst>
                <a:gd name="adj1" fmla="val 83333"/>
                <a:gd name="adj2" fmla="val 50000"/>
              </a:avLst>
            </a:prstGeom>
            <a:ln w="19050">
              <a:solidFill>
                <a:srgbClr val="B388FF"/>
              </a:solidFill>
            </a:ln>
            <a:effectLst>
              <a:outerShdw blurRad="63500" sx="102000" sy="102000" algn="ctr" rotWithShape="0">
                <a:srgbClr val="B388FF">
                  <a:alpha val="40000"/>
                </a:srgb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p:cNvSpPr txBox="1"/>
            <p:nvPr/>
          </p:nvSpPr>
          <p:spPr>
            <a:xfrm>
              <a:off x="9375241" y="2734216"/>
              <a:ext cx="910826" cy="369332"/>
            </a:xfrm>
            <a:prstGeom prst="rect">
              <a:avLst/>
            </a:prstGeom>
            <a:noFill/>
          </p:spPr>
          <p:txBody>
            <a:bodyPr wrap="none" rtlCol="0">
              <a:spAutoFit/>
            </a:bodyPr>
            <a:lstStyle/>
            <a:p>
              <a:pPr algn="ctr"/>
              <a:r>
                <a:rPr lang="zh-CN" altLang="en-US" b="1" dirty="0">
                  <a:solidFill>
                    <a:srgbClr val="B388FF"/>
                  </a:solidFill>
                </a:rPr>
                <a:t>温度 ↓</a:t>
              </a:r>
              <a:endParaRPr lang="zh-CN" altLang="en-US" b="1" dirty="0">
                <a:solidFill>
                  <a:srgbClr val="B388FF"/>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2"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2"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500"/>
                            </p:stCondLst>
                            <p:childTnLst>
                              <p:par>
                                <p:cTn id="18" presetID="10" presetClass="entr" presetSubtype="0" fill="hold" grpId="2"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21" fill="hold">
                            <p:stCondLst>
                              <p:cond delay="1000"/>
                            </p:stCondLst>
                            <p:childTnLst>
                              <p:par>
                                <p:cTn id="22" presetID="10" presetClass="entr" presetSubtype="0" fill="hold" grpId="2"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par>
                          <p:cTn id="25" fill="hold">
                            <p:stCondLst>
                              <p:cond delay="1500"/>
                            </p:stCondLst>
                            <p:childTnLst>
                              <p:par>
                                <p:cTn id="26" presetID="10" presetClass="entr" presetSubtype="0" fill="hold" grpId="2"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500"/>
                                        <p:tgtEl>
                                          <p:spTgt spid="2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p:bldP spid="6" grpId="2"/>
      <p:bldP spid="7" grpId="1"/>
      <p:bldP spid="7" grpId="2"/>
      <p:bldP spid="8" grpId="1"/>
      <p:bldP spid="8" grpId="2"/>
      <p:bldP spid="9" grpId="1"/>
      <p:bldP spid="9" grpId="2"/>
      <p:bldP spid="10" grpId="1"/>
      <p:bldP spid="10" grpId="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把大模型看作一个函数</a:t>
            </a:r>
            <a:endParaRPr lang="zh-CN" altLang="en-US" dirty="0"/>
          </a:p>
        </p:txBody>
      </p:sp>
      <p:sp>
        <p:nvSpPr>
          <p:cNvPr id="5" name="内容占位符 4"/>
          <p:cNvSpPr>
            <a:spLocks noGrp="1"/>
          </p:cNvSpPr>
          <p:nvPr>
            <p:ph idx="1"/>
          </p:nvPr>
        </p:nvSpPr>
        <p:spPr/>
        <p:txBody>
          <a:bodyPr/>
          <a:lstStyle/>
          <a:p>
            <a:r>
              <a:rPr lang="zh-CN" altLang="en-US" dirty="0"/>
              <a:t>无状态</a:t>
            </a:r>
            <a:endParaRPr lang="zh-CN" altLang="en-US" dirty="0"/>
          </a:p>
          <a:p>
            <a:pPr lvl="1"/>
            <a:r>
              <a:rPr lang="zh-CN" altLang="en-US" dirty="0"/>
              <a:t>在计算时不会动态更新函数的定义本身</a:t>
            </a:r>
            <a:endParaRPr lang="zh-CN" altLang="en-US" dirty="0"/>
          </a:p>
          <a:p>
            <a:r>
              <a:rPr lang="zh-CN" altLang="en-US" dirty="0"/>
              <a:t>模型数据有截止日期</a:t>
            </a:r>
            <a:endParaRPr lang="zh-CN" altLang="en-US" dirty="0"/>
          </a:p>
          <a:p>
            <a:pPr lvl="1"/>
            <a:r>
              <a:rPr lang="zh-CN" altLang="en-US" dirty="0"/>
              <a:t>模型参数在固定到一个特定的版本后才发布</a:t>
            </a:r>
            <a:endParaRPr lang="zh-CN" altLang="en-US" dirty="0"/>
          </a:p>
          <a:p>
            <a:pPr lvl="0"/>
            <a:r>
              <a:rPr lang="zh-CN" dirty="0"/>
              <a:t>本身不会改变外部环境，只能调用工具</a:t>
            </a:r>
            <a:endParaRPr lang="zh-CN" dirty="0"/>
          </a:p>
        </p:txBody>
      </p:sp>
      <mc:AlternateContent xmlns:mc="http://schemas.openxmlformats.org/markup-compatibility/2006">
        <mc:Choice xmlns:a14="http://schemas.microsoft.com/office/drawing/2010/main" Requires="a14">
          <p:sp>
            <p:nvSpPr>
              <p:cNvPr id="6" name="内容占位符 5"/>
              <p:cNvSpPr>
                <a:spLocks noGrp="1"/>
              </p:cNvSpPr>
              <p:nvPr>
                <p:ph idx="13"/>
              </p:nvPr>
            </p:nvSpPr>
            <p:spPr/>
            <p:txBody>
              <a:bodyPr/>
              <a:lstStyle/>
              <a:p>
                <a:pPr>
                  <a:lnSpc>
                    <a:spcPct val="150000"/>
                  </a:lnSpc>
                </a:pPr>
                <a:r>
                  <a:rPr lang="zh-CN" altLang="en-US" dirty="0"/>
                  <a:t>输出文本</a:t>
                </a:r>
                <a:r>
                  <a:rPr lang="en-US" altLang="zh-CN" dirty="0"/>
                  <a:t> = </a:t>
                </a:r>
                <a14:m>
                  <m:oMath xmlns:m="http://schemas.openxmlformats.org/officeDocument/2006/math">
                    <m:r>
                      <m:rPr>
                        <m:sty m:val="p"/>
                      </m:rPr>
                      <a:rPr lang="en-US" altLang="zh-CN">
                        <a:latin typeface="Cambria Math" panose="02040503050406030204" pitchFamily="18" charset="0"/>
                        <a:cs typeface="DejaVu Math TeX Gyre" panose="02000503000000000000" charset="0"/>
                      </a:rPr>
                      <m:t>f</m:t>
                    </m:r>
                  </m:oMath>
                </a14:m>
                <a:r>
                  <a:rPr lang="en-US" altLang="zh-CN" dirty="0"/>
                  <a:t> (</a:t>
                </a:r>
                <a:r>
                  <a:rPr lang="zh-CN" altLang="en-US" dirty="0"/>
                  <a:t>输入文本</a:t>
                </a:r>
                <a:r>
                  <a:rPr lang="en-US" altLang="zh-CN" dirty="0"/>
                  <a:t>)</a:t>
                </a:r>
                <a:endParaRPr lang="en-US" altLang="zh-CN" dirty="0"/>
              </a:p>
              <a:p>
                <a:pPr>
                  <a:lnSpc>
                    <a:spcPct val="150000"/>
                  </a:lnSpc>
                </a:pPr>
                <a:r>
                  <a:rPr lang="zh-CN" altLang="en-US" sz="2000" b="0" dirty="0">
                    <a:sym typeface="+mn-ea"/>
                  </a:rPr>
                  <a:t>输入文本</a:t>
                </a:r>
                <a:r>
                  <a:rPr lang="en-US" altLang="zh-CN" sz="2000" b="0" dirty="0">
                    <a:sym typeface="+mn-ea"/>
                  </a:rPr>
                  <a:t> = </a:t>
                </a:r>
                <a:r>
                  <a:rPr lang="zh-CN" altLang="en-US" sz="2000" b="0" dirty="0">
                    <a:sym typeface="+mn-ea"/>
                  </a:rPr>
                  <a:t>系统指令</a:t>
                </a:r>
                <a:r>
                  <a:rPr lang="en-US" altLang="zh-CN" sz="2000" b="0" dirty="0">
                    <a:sym typeface="+mn-ea"/>
                  </a:rPr>
                  <a:t> + </a:t>
                </a:r>
                <a:r>
                  <a:rPr lang="zh-CN" altLang="en-US" sz="2000" b="0" dirty="0">
                    <a:sym typeface="+mn-ea"/>
                  </a:rPr>
                  <a:t>用户指令</a:t>
                </a:r>
                <a:r>
                  <a:rPr lang="en-US" altLang="zh-CN" sz="2000" b="0" dirty="0">
                    <a:sym typeface="+mn-ea"/>
                  </a:rPr>
                  <a:t> + </a:t>
                </a:r>
                <a:r>
                  <a:rPr lang="zh-CN" altLang="en-US" sz="2000" b="0" dirty="0">
                    <a:sym typeface="+mn-ea"/>
                  </a:rPr>
                  <a:t>会话历史（模型回复</a:t>
                </a:r>
                <a:r>
                  <a:rPr lang="en-US" altLang="zh-CN" sz="2000" b="0" dirty="0">
                    <a:sym typeface="+mn-ea"/>
                  </a:rPr>
                  <a:t> + </a:t>
                </a:r>
                <a:r>
                  <a:rPr lang="zh-CN" altLang="en-US" sz="2000" b="0" dirty="0">
                    <a:sym typeface="+mn-ea"/>
                  </a:rPr>
                  <a:t>工具使用结果）</a:t>
                </a:r>
                <a:endParaRPr lang="zh-CN" altLang="en-US" sz="2000" b="0" dirty="0">
                  <a:sym typeface="+mn-ea"/>
                </a:endParaRPr>
              </a:p>
            </p:txBody>
          </p:sp>
        </mc:Choice>
        <mc:Fallback>
          <p:sp>
            <p:nvSpPr>
              <p:cNvPr id="6" name="内容占位符 5"/>
              <p:cNvSpPr>
                <a:spLocks noRot="1" noChangeAspect="1" noMove="1" noResize="1" noEditPoints="1" noAdjustHandles="1" noChangeArrowheads="1" noChangeShapeType="1" noTextEdit="1"/>
              </p:cNvSpPr>
              <p:nvPr>
                <p:ph idx="13"/>
              </p:nvPr>
            </p:nvSpPr>
            <p:spPr>
              <a:blipFill rotWithShape="1">
                <a:blip r:embed="rId1"/>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fade">
                                      <p:cBhvr>
                                        <p:cTn id="11" dur="500"/>
                                        <p:tgtEl>
                                          <p:spTgt spid="6">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fade">
                                      <p:cBhvr>
                                        <p:cTn id="16" dur="500"/>
                                        <p:tgtEl>
                                          <p:spTgt spid="5">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fade">
                                      <p:cBhvr>
                                        <p:cTn id="20" dur="500"/>
                                        <p:tgtEl>
                                          <p:spTgt spid="5">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Effect transition="in" filter="fade">
                                      <p:cBhvr>
                                        <p:cTn id="25" dur="500"/>
                                        <p:tgtEl>
                                          <p:spTgt spid="5">
                                            <p:txEl>
                                              <p:pRg st="2" end="2"/>
                                            </p:txEl>
                                          </p:spTgt>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animEffect transition="in" filter="fade">
                                      <p:cBhvr>
                                        <p:cTn id="29" dur="500"/>
                                        <p:tgtEl>
                                          <p:spTgt spid="5">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5">
                                            <p:txEl>
                                              <p:pRg st="4" end="4"/>
                                            </p:txEl>
                                          </p:spTgt>
                                        </p:tgtEl>
                                        <p:attrNameLst>
                                          <p:attrName>style.visibility</p:attrName>
                                        </p:attrNameLst>
                                      </p:cBhvr>
                                      <p:to>
                                        <p:strVal val="visible"/>
                                      </p:to>
                                    </p:set>
                                    <p:animEffect transition="in" filter="fade">
                                      <p:cBhvr>
                                        <p:cTn id="34"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P spid="6" grpId="0" uiExpand="1" build="p"/>
      <p:bldP spid="6" grpI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a:t>智能体（</a:t>
            </a:r>
            <a:r>
              <a:rPr lang="en-US" altLang="zh-CN"/>
              <a:t>AI </a:t>
            </a:r>
            <a:r>
              <a:rPr lang="zh-CN" altLang="en-US"/>
              <a:t>产品）</a:t>
            </a:r>
            <a:br>
              <a:rPr lang="zh-CN" altLang="en-US"/>
            </a:br>
            <a:r>
              <a:rPr lang="zh-CN" altLang="en-US"/>
              <a:t> </a:t>
            </a:r>
            <a:r>
              <a:rPr lang="en-US" altLang="zh-CN"/>
              <a:t>=</a:t>
            </a:r>
            <a:br>
              <a:rPr lang="en-US" altLang="zh-CN"/>
            </a:br>
            <a:r>
              <a:rPr lang="zh-CN" altLang="en-US"/>
              <a:t>模型</a:t>
            </a:r>
            <a:r>
              <a:rPr lang="en-US" altLang="zh-CN"/>
              <a:t> + </a:t>
            </a:r>
            <a:r>
              <a:rPr lang="zh-CN" altLang="en-US"/>
              <a:t>驾驭层</a:t>
            </a:r>
            <a:endParaRPr lang="zh-CN" altLang="en-US"/>
          </a:p>
        </p:txBody>
      </p:sp>
      <p:sp>
        <p:nvSpPr>
          <p:cNvPr id="9" name="文本占位符 8"/>
          <p:cNvSpPr>
            <a:spLocks noGrp="1"/>
          </p:cNvSpPr>
          <p:nvPr>
            <p:ph type="body" idx="13"/>
          </p:nvPr>
        </p:nvSpPr>
        <p:spPr/>
        <p:txBody>
          <a:bodyPr>
            <a:normAutofit/>
          </a:bodyPr>
          <a:lstStyle/>
          <a:p>
            <a:pPr algn="r"/>
            <a:r>
              <a:rPr lang="zh-CN" altLang="en-US" sz="8800" dirty="0"/>
              <a:t>！</a:t>
            </a:r>
            <a:endParaRPr lang="zh-CN" altLang="en-US" sz="8800" dirty="0"/>
          </a:p>
        </p:txBody>
      </p:sp>
      <p:sp>
        <p:nvSpPr>
          <p:cNvPr id="10" name="文本占位符 9"/>
          <p:cNvSpPr>
            <a:spLocks noGrp="1"/>
          </p:cNvSpPr>
          <p:nvPr>
            <p:ph type="body" idx="14"/>
          </p:nvPr>
        </p:nvSpPr>
        <p:spPr/>
        <p:txBody>
          <a:bodyPr/>
          <a:lstStyle/>
          <a:p>
            <a:r>
              <a:rPr lang="zh-CN" altLang="en-US"/>
              <a:t>模型只负责</a:t>
            </a:r>
            <a:r>
              <a:rPr lang="zh-CN" altLang="en-US" sz="2400" b="1">
                <a:ea typeface="SimSun" charset="0"/>
              </a:rPr>
              <a:t>决策</a:t>
            </a:r>
            <a:r>
              <a:rPr lang="zh-CN" altLang="en-US">
                <a:ea typeface="SimSun" charset="0"/>
              </a:rPr>
              <a:t>与</a:t>
            </a:r>
            <a:r>
              <a:rPr lang="zh-CN" altLang="en-US" sz="2400" b="1">
                <a:ea typeface="SimSun" charset="0"/>
              </a:rPr>
              <a:t>生成</a:t>
            </a:r>
            <a:endParaRPr lang="zh-CN" altLang="en-US" sz="2400" b="1">
              <a:ea typeface="SimSun" charset="0"/>
            </a:endParaRPr>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dirty="0"/>
              <a:t>实践的经验</a:t>
            </a:r>
            <a:endParaRPr lang="zh-CN" altLang="en-US"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grpSp>
        <p:nvGrpSpPr>
          <p:cNvPr id="18" name="组合 17"/>
          <p:cNvGrpSpPr/>
          <p:nvPr/>
        </p:nvGrpSpPr>
        <p:grpSpPr>
          <a:xfrm>
            <a:off x="762000" y="1651635"/>
            <a:ext cx="10440035" cy="1333500"/>
            <a:chOff x="800" y="2600"/>
            <a:chExt cx="16441" cy="2100"/>
          </a:xfrm>
        </p:grpSpPr>
        <p:sp>
          <p:nvSpPr>
            <p:cNvPr id="6" name="AutoShape 6"/>
            <p:cNvSpPr/>
            <p:nvPr/>
          </p:nvSpPr>
          <p:spPr>
            <a:xfrm>
              <a:off x="800" y="2600"/>
              <a:ext cx="16441" cy="210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800" y="2600"/>
              <a:ext cx="120" cy="210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200" y="2800"/>
              <a:ext cx="14252"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69F0AE"/>
                  </a:solidFill>
                  <a:latin typeface="Noto Sans SC"/>
                  <a:ea typeface="Noto Sans SC"/>
                  <a:cs typeface="Noto Sans SC"/>
                  <a:sym typeface="Noto Sans SC"/>
                </a:rPr>
                <a:t>01 </a:t>
              </a:r>
              <a:r>
                <a:rPr lang="zh-CN" altLang="en-US" sz="2400" b="1" i="0" u="none" strike="noStrike">
                  <a:solidFill>
                    <a:srgbClr val="69F0AE"/>
                  </a:solidFill>
                  <a:latin typeface="Noto Sans SC"/>
                  <a:ea typeface="Noto Sans SC"/>
                  <a:cs typeface="Noto Sans SC"/>
                  <a:sym typeface="Noto Sans SC"/>
                </a:rPr>
                <a:t>模型决定能力上限</a:t>
              </a:r>
              <a:endParaRPr lang="zh-CN" altLang="en-US" sz="2400" b="1" i="0" u="none" strike="noStrike">
                <a:solidFill>
                  <a:srgbClr val="69F0AE"/>
                </a:solidFill>
                <a:latin typeface="Noto Sans SC"/>
                <a:ea typeface="Noto Sans SC"/>
                <a:cs typeface="Noto Sans SC"/>
                <a:sym typeface="Noto Sans SC"/>
              </a:endParaRPr>
            </a:p>
          </p:txBody>
        </p:sp>
        <p:sp>
          <p:nvSpPr>
            <p:cNvPr id="9" name="AutoShape 9"/>
            <p:cNvSpPr/>
            <p:nvPr/>
          </p:nvSpPr>
          <p:spPr>
            <a:xfrm>
              <a:off x="1200" y="3560"/>
              <a:ext cx="14252" cy="11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600" b="0" i="0" u="none" strike="noStrike">
                  <a:solidFill>
                    <a:srgbClr val="AAAAAA"/>
                  </a:solidFill>
                  <a:latin typeface="Noto Sans SC"/>
                  <a:ea typeface="SimSun" charset="0"/>
                  <a:cs typeface="Noto Sans SC"/>
                  <a:sym typeface="Noto Sans SC"/>
                </a:rPr>
                <a:t>如果模型本身不了解某类任务，驾驭层设计再精巧也不能让模型凭空习得新的能力。</a:t>
              </a:r>
              <a:endParaRPr lang="zh-CN" altLang="en-US" sz="1600" b="0" i="0" u="none" strike="noStrike">
                <a:solidFill>
                  <a:srgbClr val="AAAAAA"/>
                </a:solidFill>
                <a:latin typeface="Noto Sans SC"/>
                <a:ea typeface="SimSun" charset="0"/>
                <a:cs typeface="Noto Sans SC"/>
                <a:sym typeface="Noto Sans SC"/>
              </a:endParaRPr>
            </a:p>
          </p:txBody>
        </p:sp>
      </p:grpSp>
      <p:grpSp>
        <p:nvGrpSpPr>
          <p:cNvPr id="19" name="组合 18"/>
          <p:cNvGrpSpPr/>
          <p:nvPr/>
        </p:nvGrpSpPr>
        <p:grpSpPr>
          <a:xfrm>
            <a:off x="762000" y="3175635"/>
            <a:ext cx="10440035" cy="1333500"/>
            <a:chOff x="800" y="5000"/>
            <a:chExt cx="16441" cy="2100"/>
          </a:xfrm>
        </p:grpSpPr>
        <p:sp>
          <p:nvSpPr>
            <p:cNvPr id="10" name="AutoShape 10"/>
            <p:cNvSpPr/>
            <p:nvPr/>
          </p:nvSpPr>
          <p:spPr>
            <a:xfrm>
              <a:off x="800" y="5000"/>
              <a:ext cx="16441" cy="2100"/>
            </a:xfrm>
            <a:prstGeom prst="roundRect">
              <a:avLst>
                <a:gd name="adj" fmla="val 0"/>
              </a:avLst>
            </a:prstGeom>
            <a:solidFill>
              <a:srgbClr val="B388FF">
                <a:alpha val="8000"/>
              </a:srgbClr>
            </a:solidFill>
            <a:ln w="12700" cap="flat" cmpd="sng">
              <a:solidFill>
                <a:srgbClr val="B388FF">
                  <a:alpha val="4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800" y="5000"/>
              <a:ext cx="120" cy="2100"/>
            </a:xfrm>
            <a:prstGeom prst="roundRect">
              <a:avLst>
                <a:gd name="adj" fmla="val 0"/>
              </a:avLst>
            </a:prstGeom>
            <a:solidFill>
              <a:srgbClr val="B388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200" y="5200"/>
              <a:ext cx="14252"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B388FF"/>
                  </a:solidFill>
                  <a:latin typeface="Noto Sans SC"/>
                  <a:ea typeface="Noto Sans SC"/>
                  <a:cs typeface="Noto Sans SC"/>
                  <a:sym typeface="Noto Sans SC"/>
                </a:rPr>
                <a:t>02 </a:t>
              </a:r>
              <a:r>
                <a:rPr lang="zh-CN" altLang="en-US" sz="2400" b="1" i="0" u="none" strike="noStrike">
                  <a:solidFill>
                    <a:srgbClr val="B388FF"/>
                  </a:solidFill>
                  <a:latin typeface="Noto Sans SC"/>
                  <a:ea typeface="Noto Sans SC"/>
                  <a:cs typeface="Noto Sans SC"/>
                  <a:sym typeface="Noto Sans SC"/>
                </a:rPr>
                <a:t>驾驭层决定实际效果</a:t>
              </a:r>
              <a:endParaRPr lang="zh-CN" altLang="en-US" sz="2400" b="1" i="0" u="none" strike="noStrike">
                <a:solidFill>
                  <a:srgbClr val="B388FF"/>
                </a:solidFill>
                <a:latin typeface="Noto Sans SC"/>
                <a:ea typeface="Noto Sans SC"/>
                <a:cs typeface="Noto Sans SC"/>
                <a:sym typeface="Noto Sans SC"/>
              </a:endParaRPr>
            </a:p>
          </p:txBody>
        </p:sp>
        <p:sp>
          <p:nvSpPr>
            <p:cNvPr id="13" name="AutoShape 13"/>
            <p:cNvSpPr/>
            <p:nvPr/>
          </p:nvSpPr>
          <p:spPr>
            <a:xfrm>
              <a:off x="1200" y="5960"/>
              <a:ext cx="14252" cy="11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600">
                  <a:solidFill>
                    <a:srgbClr val="AAAAAA"/>
                  </a:solidFill>
                  <a:latin typeface="Noto Sans SC"/>
                  <a:ea typeface="SimSun" charset="0"/>
                  <a:cs typeface="Noto Sans SC"/>
                </a:rPr>
                <a:t>多数情况下，模型的能力并没有完全发挥出来，是因为驾驭层没有进行正确的引导和有效的编排。</a:t>
              </a:r>
              <a:endParaRPr lang="zh-CN" altLang="en-US" sz="1600">
                <a:solidFill>
                  <a:srgbClr val="AAAAAA"/>
                </a:solidFill>
                <a:latin typeface="Noto Sans SC"/>
                <a:ea typeface="SimSun" charset="0"/>
                <a:cs typeface="Noto Sans SC"/>
              </a:endParaRPr>
            </a:p>
          </p:txBody>
        </p:sp>
      </p:grpSp>
      <p:grpSp>
        <p:nvGrpSpPr>
          <p:cNvPr id="20" name="组合 19"/>
          <p:cNvGrpSpPr/>
          <p:nvPr/>
        </p:nvGrpSpPr>
        <p:grpSpPr>
          <a:xfrm>
            <a:off x="762000" y="4699635"/>
            <a:ext cx="10440035" cy="1460500"/>
            <a:chOff x="800" y="7400"/>
            <a:chExt cx="16441" cy="2300"/>
          </a:xfrm>
        </p:grpSpPr>
        <p:sp>
          <p:nvSpPr>
            <p:cNvPr id="14" name="AutoShape 14"/>
            <p:cNvSpPr/>
            <p:nvPr/>
          </p:nvSpPr>
          <p:spPr>
            <a:xfrm>
              <a:off x="800" y="7400"/>
              <a:ext cx="16441" cy="2300"/>
            </a:xfrm>
            <a:prstGeom prst="roundRect">
              <a:avLst>
                <a:gd name="adj" fmla="val 0"/>
              </a:avLst>
            </a:prstGeom>
            <a:solidFill>
              <a:srgbClr val="00E5FF">
                <a:alpha val="15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800" y="7400"/>
              <a:ext cx="120" cy="23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200" y="7600"/>
              <a:ext cx="14252"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E5FF"/>
                  </a:solidFill>
                  <a:latin typeface="Noto Sans SC"/>
                  <a:ea typeface="Noto Sans SC"/>
                  <a:cs typeface="Noto Sans SC"/>
                  <a:sym typeface="Noto Sans SC"/>
                </a:rPr>
                <a:t>03 </a:t>
              </a:r>
              <a:r>
                <a:rPr lang="zh-CN" sz="2400" b="1" i="0" u="none" strike="noStrike">
                  <a:solidFill>
                    <a:srgbClr val="00E5FF"/>
                  </a:solidFill>
                  <a:latin typeface="Noto Sans SC"/>
                  <a:ea typeface="Noto Sans SC"/>
                  <a:cs typeface="Noto Sans SC"/>
                  <a:sym typeface="Noto Sans SC"/>
                </a:rPr>
                <a:t>人是责任的最终归属</a:t>
              </a:r>
              <a:endParaRPr lang="zh-CN" sz="2400" b="1" i="0" u="none" strike="noStrike">
                <a:solidFill>
                  <a:srgbClr val="00E5FF"/>
                </a:solidFill>
                <a:latin typeface="Noto Sans SC"/>
                <a:ea typeface="SimSun" charset="0"/>
                <a:cs typeface="Noto Sans SC"/>
                <a:sym typeface="Noto Sans SC"/>
              </a:endParaRPr>
            </a:p>
          </p:txBody>
        </p:sp>
        <p:sp>
          <p:nvSpPr>
            <p:cNvPr id="17" name="AutoShape 17"/>
            <p:cNvSpPr/>
            <p:nvPr/>
          </p:nvSpPr>
          <p:spPr>
            <a:xfrm>
              <a:off x="1200" y="8360"/>
              <a:ext cx="15756" cy="13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600" dirty="0">
                  <a:solidFill>
                    <a:srgbClr val="AAAAAA"/>
                  </a:solidFill>
                  <a:latin typeface="Noto Sans SC"/>
                  <a:ea typeface="SimSun" charset="0"/>
                  <a:cs typeface="Noto Sans SC"/>
                </a:rPr>
                <a:t>最初的需求来源于发布它的人，需求方需要审核最终得到的结果并对它负责。模型的供应商通过训练直接决定了模型的能力和偏好，对模型输出的安全性和道德性负责。</a:t>
              </a:r>
              <a:endParaRPr lang="en-US" altLang="zh-CN" sz="1600" dirty="0">
                <a:solidFill>
                  <a:srgbClr val="AAAAAA"/>
                </a:solidFill>
                <a:latin typeface="Noto Sans SC"/>
                <a:ea typeface="SimSun" charset="0"/>
                <a:cs typeface="Noto Sans SC"/>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50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能预测</a:t>
            </a:r>
            <a:r>
              <a:rPr lang="zh-CN" altLang="zh-CN" dirty="0"/>
              <a:t> = </a:t>
            </a:r>
            <a:r>
              <a:rPr lang="zh-CN" altLang="en-US" dirty="0"/>
              <a:t>能理解？</a:t>
            </a:r>
            <a:endParaRPr lang="zh-CN" altLang="en-US" dirty="0"/>
          </a:p>
        </p:txBody>
      </p:sp>
      <p:sp>
        <p:nvSpPr>
          <p:cNvPr id="5" name="文本占位符 4"/>
          <p:cNvSpPr>
            <a:spLocks noGrp="1"/>
          </p:cNvSpPr>
          <p:nvPr>
            <p:ph type="body" idx="1"/>
          </p:nvPr>
        </p:nvSpPr>
        <p:spPr/>
        <p:txBody>
          <a:bodyPr/>
          <a:lstStyle/>
          <a:p>
            <a:r>
              <a:rPr lang="zh-CN" altLang="en-US"/>
              <a:t>随机鹦鹉派</a:t>
            </a:r>
            <a:endParaRPr lang="zh-CN" altLang="en-US"/>
          </a:p>
        </p:txBody>
      </p:sp>
      <p:sp>
        <p:nvSpPr>
          <p:cNvPr id="6" name="内容占位符 5"/>
          <p:cNvSpPr>
            <a:spLocks noGrp="1"/>
          </p:cNvSpPr>
          <p:nvPr>
            <p:ph sz="half" idx="2"/>
          </p:nvPr>
        </p:nvSpPr>
        <p:spPr/>
        <p:txBody>
          <a:bodyPr/>
          <a:lstStyle/>
          <a:p>
            <a:r>
              <a:rPr lang="zh-CN" altLang="en-US" dirty="0">
                <a:sym typeface="+mn-ea"/>
              </a:rPr>
              <a:t>大模型像一只背了很多话的鹦鹉</a:t>
            </a:r>
            <a:r>
              <a:rPr lang="zh-CN" altLang="en-US" dirty="0"/>
              <a:t>，只是在统计上模仿人类的语言，并没有真正理解</a:t>
            </a:r>
            <a:endParaRPr lang="zh-CN" altLang="en-US" dirty="0"/>
          </a:p>
          <a:p>
            <a:r>
              <a:rPr lang="zh-CN" altLang="en-US" dirty="0"/>
              <a:t>思想实验：中文房间（</a:t>
            </a:r>
            <a:r>
              <a:rPr lang="en-US" altLang="zh-CN" dirty="0"/>
              <a:t>1980</a:t>
            </a:r>
            <a:r>
              <a:rPr lang="zh-CN" altLang="en-US" dirty="0"/>
              <a:t>）</a:t>
            </a:r>
            <a:endParaRPr lang="zh-CN" altLang="en-US" dirty="0"/>
          </a:p>
        </p:txBody>
      </p:sp>
      <p:sp>
        <p:nvSpPr>
          <p:cNvPr id="7" name="文本占位符 6"/>
          <p:cNvSpPr>
            <a:spLocks noGrp="1"/>
          </p:cNvSpPr>
          <p:nvPr>
            <p:ph type="body" sz="quarter" idx="3"/>
          </p:nvPr>
        </p:nvSpPr>
        <p:spPr/>
        <p:txBody>
          <a:bodyPr/>
          <a:lstStyle/>
          <a:p>
            <a:r>
              <a:rPr lang="zh-CN" altLang="en-US"/>
              <a:t>世界模型派</a:t>
            </a:r>
            <a:endParaRPr lang="zh-CN" altLang="en-US"/>
          </a:p>
        </p:txBody>
      </p:sp>
      <p:sp>
        <p:nvSpPr>
          <p:cNvPr id="8" name="内容占位符 7"/>
          <p:cNvSpPr>
            <a:spLocks noGrp="1"/>
          </p:cNvSpPr>
          <p:nvPr>
            <p:ph sz="quarter" idx="4"/>
          </p:nvPr>
        </p:nvSpPr>
        <p:spPr/>
        <p:txBody>
          <a:bodyPr/>
          <a:lstStyle/>
          <a:p>
            <a:r>
              <a:rPr lang="zh-CN" altLang="en-US"/>
              <a:t>要预测得足够好，大模型必须学到语言背后的现实世界模型</a:t>
            </a:r>
            <a:endParaRPr lang="zh-CN" altLang="en-US"/>
          </a:p>
          <a:p>
            <a:r>
              <a:rPr lang="zh-CN" altLang="en-US"/>
              <a:t>人与人之间认识世界的方式亦有差异，大模型只是用它自己的方式去理解罢了</a:t>
            </a:r>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5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fade">
                                      <p:cBhvr>
                                        <p:cTn id="27" dur="500"/>
                                        <p:tgtEl>
                                          <p:spTgt spid="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xEl>
                                              <p:pRg st="1" end="1"/>
                                            </p:txEl>
                                          </p:spTgt>
                                        </p:tgtEl>
                                        <p:attrNameLst>
                                          <p:attrName>style.visibility</p:attrName>
                                        </p:attrNameLst>
                                      </p:cBhvr>
                                      <p:to>
                                        <p:strVal val="visible"/>
                                      </p:to>
                                    </p:set>
                                    <p:animEffect transition="in" filter="fade">
                                      <p:cBhvr>
                                        <p:cTn id="32"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P spid="6" grpId="0" build="p"/>
      <p:bldP spid="6" grpId="1" build="p"/>
      <p:bldP spid="7" grpId="0" build="p"/>
      <p:bldP spid="7" grpId="1" build="p"/>
      <p:bldP spid="8" grpId="0" build="p"/>
      <p:bldP spid="8" grpI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为什么是大模型改变了世界？</a:t>
            </a:r>
            <a:endParaRPr lang="zh-CN" altLang="en-US"/>
          </a:p>
        </p:txBody>
      </p:sp>
      <p:sp>
        <p:nvSpPr>
          <p:cNvPr id="3" name="内容占位符 2"/>
          <p:cNvSpPr>
            <a:spLocks noGrp="1"/>
          </p:cNvSpPr>
          <p:nvPr>
            <p:ph idx="1"/>
          </p:nvPr>
        </p:nvSpPr>
        <p:spPr/>
        <p:txBody>
          <a:bodyPr/>
          <a:lstStyle/>
          <a:p>
            <a:r>
              <a:rPr lang="zh-CN" altLang="en-US" dirty="0"/>
              <a:t>核心：通用性</a:t>
            </a:r>
            <a:endParaRPr lang="zh-CN" altLang="en-US" dirty="0"/>
          </a:p>
          <a:p>
            <a:r>
              <a:rPr lang="zh-CN" altLang="en-US" dirty="0"/>
              <a:t>以前的机器学习模型是专用工具：</a:t>
            </a:r>
            <a:endParaRPr lang="zh-CN" altLang="en-US" dirty="0"/>
          </a:p>
          <a:p>
            <a:pPr lvl="1"/>
            <a:r>
              <a:rPr lang="zh-CN" altLang="en-US" dirty="0"/>
              <a:t>认图、翻译、下棋</a:t>
            </a:r>
            <a:endParaRPr lang="zh-CN" altLang="en-US" dirty="0"/>
          </a:p>
          <a:p>
            <a:pPr lvl="1"/>
            <a:r>
              <a:rPr lang="zh-CN" altLang="en-US" dirty="0"/>
              <a:t>流水线组合</a:t>
            </a:r>
            <a:endParaRPr lang="zh-CN" altLang="en-US" dirty="0"/>
          </a:p>
          <a:p>
            <a:pPr lvl="0"/>
            <a:endParaRPr lang="zh-CN" altLang="en-US" dirty="0"/>
          </a:p>
          <a:p>
            <a:pPr lvl="0"/>
            <a:r>
              <a:rPr lang="zh-CN" altLang="en-US" dirty="0"/>
              <a:t>大语言模型是通用基座：</a:t>
            </a:r>
            <a:endParaRPr lang="zh-CN" altLang="en-US" dirty="0"/>
          </a:p>
          <a:p>
            <a:pPr lvl="1"/>
            <a:r>
              <a:rPr lang="zh-CN" altLang="en-US" dirty="0"/>
              <a:t>用统一的自然语言形式发布和处理不同任务</a:t>
            </a:r>
            <a:endParaRPr lang="zh-CN" altLang="en-US"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pic>
        <p:nvPicPr>
          <p:cNvPr id="10" name="图片 9"/>
          <p:cNvPicPr>
            <a:picLocks noChangeAspect="1"/>
          </p:cNvPicPr>
          <p:nvPr/>
        </p:nvPicPr>
        <p:blipFill>
          <a:blip r:embed="rId1"/>
          <a:stretch>
            <a:fillRect/>
          </a:stretch>
        </p:blipFill>
        <p:spPr>
          <a:xfrm>
            <a:off x="6613865" y="1632744"/>
            <a:ext cx="4950460" cy="668655"/>
          </a:xfrm>
          <a:prstGeom prst="rect">
            <a:avLst/>
          </a:prstGeom>
        </p:spPr>
      </p:pic>
      <p:pic>
        <p:nvPicPr>
          <p:cNvPr id="7" name="图片 6"/>
          <p:cNvPicPr>
            <a:picLocks noChangeAspect="1"/>
          </p:cNvPicPr>
          <p:nvPr/>
        </p:nvPicPr>
        <p:blipFill>
          <a:blip r:embed="rId2"/>
          <a:stretch>
            <a:fillRect/>
          </a:stretch>
        </p:blipFill>
        <p:spPr>
          <a:xfrm>
            <a:off x="6748190" y="4001452"/>
            <a:ext cx="4681810" cy="2032036"/>
          </a:xfrm>
          <a:prstGeom prst="rect">
            <a:avLst/>
          </a:prstGeom>
        </p:spPr>
      </p:pic>
      <p:pic>
        <p:nvPicPr>
          <p:cNvPr id="9" name="图片 8"/>
          <p:cNvPicPr>
            <a:picLocks noChangeAspect="1"/>
          </p:cNvPicPr>
          <p:nvPr/>
        </p:nvPicPr>
        <p:blipFill>
          <a:blip r:embed="rId3"/>
          <a:stretch>
            <a:fillRect/>
          </a:stretch>
        </p:blipFill>
        <p:spPr>
          <a:xfrm>
            <a:off x="6914146" y="2534092"/>
            <a:ext cx="4163411" cy="12346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500"/>
                                        <p:tgtEl>
                                          <p:spTgt spid="3">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总结</a:t>
            </a:r>
            <a:endParaRPr lang="zh-CN" altLang="en-US"/>
          </a:p>
        </p:txBody>
      </p:sp>
      <p:sp>
        <p:nvSpPr>
          <p:cNvPr id="3" name="内容占位符 2"/>
          <p:cNvSpPr>
            <a:spLocks noGrp="1"/>
          </p:cNvSpPr>
          <p:nvPr>
            <p:ph idx="1"/>
          </p:nvPr>
        </p:nvSpPr>
        <p:spPr/>
        <p:txBody>
          <a:bodyPr>
            <a:normAutofit/>
          </a:bodyPr>
          <a:lstStyle/>
          <a:p>
            <a:r>
              <a:rPr lang="zh-CN" sz="2800" dirty="0">
                <a:solidFill>
                  <a:schemeClr val="bg1"/>
                </a:solidFill>
              </a:rPr>
              <a:t>大模型的文本是通过</a:t>
            </a:r>
            <a:r>
              <a:rPr lang="zh-CN" sz="2800" b="1" dirty="0">
                <a:solidFill>
                  <a:srgbClr val="00E5FF"/>
                </a:solidFill>
              </a:rPr>
              <a:t>自回归</a:t>
            </a:r>
            <a:r>
              <a:rPr lang="zh-CN" sz="2800" dirty="0">
                <a:solidFill>
                  <a:schemeClr val="bg1"/>
                </a:solidFill>
              </a:rPr>
              <a:t>的方式循环生成的</a:t>
            </a:r>
            <a:endParaRPr lang="zh-CN" altLang="en-US" sz="2800" b="1" dirty="0">
              <a:solidFill>
                <a:srgbClr val="00E5FA"/>
              </a:solidFill>
            </a:endParaRPr>
          </a:p>
          <a:p>
            <a:r>
              <a:rPr lang="zh-CN" altLang="en-US" sz="2800" dirty="0">
                <a:sym typeface="+mn-ea"/>
              </a:rPr>
              <a:t>智能体 </a:t>
            </a:r>
            <a:r>
              <a:rPr lang="en-US" altLang="zh-CN" sz="2800" dirty="0">
                <a:sym typeface="+mn-ea"/>
              </a:rPr>
              <a:t>= </a:t>
            </a:r>
            <a:r>
              <a:rPr lang="zh-CN" altLang="en-US" sz="2800" dirty="0">
                <a:sym typeface="+mn-ea"/>
              </a:rPr>
              <a:t>模型</a:t>
            </a:r>
            <a:r>
              <a:rPr lang="en-US" altLang="zh-CN" sz="2800" dirty="0">
                <a:sym typeface="+mn-ea"/>
              </a:rPr>
              <a:t> + </a:t>
            </a:r>
            <a:r>
              <a:rPr lang="zh-CN" altLang="en-US" sz="2800" dirty="0">
                <a:sym typeface="+mn-ea"/>
              </a:rPr>
              <a:t>驾驭层</a:t>
            </a:r>
            <a:endParaRPr lang="zh-CN" altLang="en-US" sz="2800" dirty="0">
              <a:solidFill>
                <a:schemeClr val="bg1"/>
              </a:solidFill>
            </a:endParaRPr>
          </a:p>
          <a:p>
            <a:r>
              <a:rPr lang="zh-CN" altLang="en-US" sz="2800" dirty="0">
                <a:solidFill>
                  <a:schemeClr val="bg1"/>
                </a:solidFill>
              </a:rPr>
              <a:t>下一节课：</a:t>
            </a:r>
            <a:endParaRPr lang="zh-CN" altLang="en-US" sz="2800" dirty="0">
              <a:solidFill>
                <a:schemeClr val="bg1"/>
              </a:solidFill>
            </a:endParaRPr>
          </a:p>
          <a:p>
            <a:pPr lvl="1"/>
            <a:r>
              <a:rPr lang="zh-CN" altLang="en-US" sz="2400" dirty="0">
                <a:solidFill>
                  <a:schemeClr val="bg1"/>
                </a:solidFill>
              </a:rPr>
              <a:t>为什么模型有时候生成一个字，有时候却一次生成多个字？</a:t>
            </a:r>
            <a:endParaRPr lang="zh-CN" altLang="en-US" sz="2400" dirty="0">
              <a:solidFill>
                <a:schemeClr val="bg1"/>
              </a:solidFill>
            </a:endParaRPr>
          </a:p>
          <a:p>
            <a:pPr lvl="1"/>
            <a:r>
              <a:rPr lang="zh-CN" altLang="en-US" sz="2400" dirty="0">
                <a:solidFill>
                  <a:schemeClr val="bg1"/>
                </a:solidFill>
              </a:rPr>
              <a:t>文字内容是如何转换成大模型内部进行计算的数字的？</a:t>
            </a:r>
            <a:endParaRPr lang="zh-CN" altLang="en-US" sz="2400" dirty="0">
              <a:solidFill>
                <a:schemeClr val="bg1"/>
              </a:solidFill>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1223</Words>
  <Application>WPS 演示</Application>
  <PresentationFormat>宽屏</PresentationFormat>
  <Paragraphs>295</Paragraphs>
  <Slides>13</Slides>
  <Notes>11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13</vt:i4>
      </vt:variant>
    </vt:vector>
  </HeadingPairs>
  <TitlesOfParts>
    <vt:vector size="32" baseType="lpstr">
      <vt:lpstr>Arial</vt:lpstr>
      <vt:lpstr>SimSun</vt:lpstr>
      <vt:lpstr>Wingdings</vt:lpstr>
      <vt:lpstr>DejaVu Sans</vt:lpstr>
      <vt:lpstr>Arial</vt:lpstr>
      <vt:lpstr>Noto Sans SC</vt:lpstr>
      <vt:lpstr>C059</vt:lpstr>
      <vt:lpstr>SimSun</vt:lpstr>
      <vt:lpstr>Calibri</vt:lpstr>
      <vt:lpstr>Noto Serif CJK SC</vt:lpstr>
      <vt:lpstr>Calibri Light</vt:lpstr>
      <vt:lpstr>Microsoft YaHei</vt:lpstr>
      <vt:lpstr>Droid Sans Fallback</vt:lpstr>
      <vt:lpstr>Arial Unicode MS</vt:lpstr>
      <vt:lpstr>SimSun</vt:lpstr>
      <vt:lpstr>Cambria Math</vt:lpstr>
      <vt:lpstr>DejaVu Math TeX Gyre</vt:lpstr>
      <vt:lpstr>OpenSymbol</vt:lpstr>
      <vt:lpstr>WPS</vt:lpstr>
      <vt:lpstr>第二课 大模型是如何生成内容的</vt:lpstr>
      <vt:lpstr>回顾</vt:lpstr>
      <vt:lpstr>PowerPoint 演示文稿</vt:lpstr>
      <vt:lpstr>课程路线图</vt:lpstr>
      <vt:lpstr>大模型的循环工作模式</vt:lpstr>
      <vt:lpstr>自回归生成 —— 示例</vt:lpstr>
      <vt:lpstr>续写文本的选择</vt:lpstr>
      <vt:lpstr>把大模型看作一个函数</vt:lpstr>
      <vt:lpstr>智能体（AI 产品）  = 模型 + 驾驭层</vt:lpstr>
      <vt:lpstr>实践的经验</vt:lpstr>
      <vt:lpstr>能预测 = 能理解？</vt:lpstr>
      <vt:lpstr>为什么是大模型改变了世界？</vt:lpstr>
      <vt:lpstr>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上海钢琴师</cp:lastModifiedBy>
  <cp:revision>406</cp:revision>
  <dcterms:created xsi:type="dcterms:W3CDTF">2026-10-03T11:49:50Z</dcterms:created>
  <dcterms:modified xsi:type="dcterms:W3CDTF">2026-10-03T11:49:50Z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2052-12.1.2.28080</vt:lpwstr>
  </property>
  <property fmtid="{D5CDD505-2E9C-101B-9397-08002B2CF9AE}" pid="3" name="ICV">
    <vt:lpwstr>AF1A490D30A00710C6B26D6AE3DED764_43</vt:lpwstr>
  </property>
</Properties>
</file>